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20"/>
  </p:notesMasterIdLst>
  <p:sldIdLst>
    <p:sldId id="675" r:id="rId3"/>
    <p:sldId id="671" r:id="rId4"/>
    <p:sldId id="750" r:id="rId5"/>
    <p:sldId id="678" r:id="rId6"/>
    <p:sldId id="737" r:id="rId7"/>
    <p:sldId id="739" r:id="rId8"/>
    <p:sldId id="738" r:id="rId9"/>
    <p:sldId id="740" r:id="rId10"/>
    <p:sldId id="742" r:id="rId11"/>
    <p:sldId id="743" r:id="rId12"/>
    <p:sldId id="751" r:id="rId13"/>
    <p:sldId id="744" r:id="rId14"/>
    <p:sldId id="745" r:id="rId15"/>
    <p:sldId id="746" r:id="rId16"/>
    <p:sldId id="747" r:id="rId17"/>
    <p:sldId id="748" r:id="rId18"/>
    <p:sldId id="749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0033CC"/>
    <a:srgbClr val="47FFD1"/>
    <a:srgbClr val="0000CC"/>
    <a:srgbClr val="0000FF"/>
    <a:srgbClr val="CC6600"/>
    <a:srgbClr val="6699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5" autoAdjust="0"/>
    <p:restoredTop sz="93418" autoAdjust="0"/>
  </p:normalViewPr>
  <p:slideViewPr>
    <p:cSldViewPr>
      <p:cViewPr varScale="1">
        <p:scale>
          <a:sx n="60" d="100"/>
          <a:sy n="60" d="100"/>
        </p:scale>
        <p:origin x="898" y="1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1D15426-1D08-4C5A-895B-59DBAD2FD4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85546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fld id="{0551BAF1-43DB-4046-AB23-6747624ADACF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88533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80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99B80-BBC6-4923-BFC8-1F9F33FB64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74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53937-9BB9-40F9-91CC-AA18D07A99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1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62F42-27CD-4FAE-980F-036FB8427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40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A8987-0481-4125-8D8E-5349E5ED43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DF614-C5FC-4C55-9C5E-2FC3F43DA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025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1604E-36EC-4446-8875-EAC9227CF5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39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E4B2D-55AB-4F40-AA53-BC8A8F37BC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09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AD4C-35F9-4F58-AFCD-D4C0B8B4B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24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63B20-E380-4E93-A7BB-980790A99E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7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43088-D7AB-4EC4-AFD5-0E79AD763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100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6D2B04-88AB-4572-8A48-C451A15A4C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929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37FE17-9FF0-4344-98C9-C258329B37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506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501FB-C33C-416C-9087-52877609B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97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F894B-8592-4A81-863E-40FF279CCF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69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EB22C-7899-4AA3-B9A8-BE7E8BEE4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4400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C5043-F201-4D7D-8DEE-930C75C57C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661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6BF38-7166-4666-B54B-988E7A795E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828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7D6FA-B15D-40C7-92F3-DE7932113B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459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9695F-721F-46BB-A853-313BEC2E10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0725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43922-55A8-4F3C-BFC4-3495BCD0F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69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75EA8-9727-44CA-84B9-A2EBAFE991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0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4047426-8241-409A-A9BB-79DBDCCBA7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92" r:id="rId1"/>
    <p:sldLayoutId id="2147485471" r:id="rId2"/>
    <p:sldLayoutId id="2147485472" r:id="rId3"/>
    <p:sldLayoutId id="2147485473" r:id="rId4"/>
    <p:sldLayoutId id="2147485474" r:id="rId5"/>
    <p:sldLayoutId id="2147485475" r:id="rId6"/>
    <p:sldLayoutId id="2147485476" r:id="rId7"/>
    <p:sldLayoutId id="2147485477" r:id="rId8"/>
    <p:sldLayoutId id="2147485478" r:id="rId9"/>
    <p:sldLayoutId id="2147485479" r:id="rId10"/>
    <p:sldLayoutId id="2147485480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2CEF38EC-C54E-4148-AB98-7F69B794F6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81" r:id="rId1"/>
    <p:sldLayoutId id="2147485482" r:id="rId2"/>
    <p:sldLayoutId id="2147485483" r:id="rId3"/>
    <p:sldLayoutId id="2147485484" r:id="rId4"/>
    <p:sldLayoutId id="2147485485" r:id="rId5"/>
    <p:sldLayoutId id="2147485486" r:id="rId6"/>
    <p:sldLayoutId id="2147485487" r:id="rId7"/>
    <p:sldLayoutId id="2147485488" r:id="rId8"/>
    <p:sldLayoutId id="2147485489" r:id="rId9"/>
    <p:sldLayoutId id="2147485490" r:id="rId10"/>
    <p:sldLayoutId id="21474854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a-IR" dirty="0" smtClean="0"/>
              <a:t>بهینه‌سازی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9963" y="6388100"/>
            <a:ext cx="554037" cy="334963"/>
          </a:xfrm>
        </p:spPr>
        <p:txBody>
          <a:bodyPr/>
          <a:lstStyle/>
          <a:p>
            <a:pPr>
              <a:defRPr/>
            </a:pPr>
            <a:fld id="{5A899B80-BBC6-4923-BFC8-1F9F33FB645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12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معیارهای بهینه‌سازی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5040560"/>
          </a:xfrm>
        </p:spPr>
        <p:txBody>
          <a:bodyPr/>
          <a:lstStyle/>
          <a:p>
            <a:r>
              <a:rPr lang="fa-IR" sz="3600" dirty="0" smtClean="0"/>
              <a:t>هدف:</a:t>
            </a:r>
            <a:endParaRPr lang="en-US" sz="3600" dirty="0" smtClean="0"/>
          </a:p>
          <a:p>
            <a:pPr lvl="1"/>
            <a:r>
              <a:rPr lang="fa-IR" sz="3200" dirty="0" smtClean="0"/>
              <a:t>طراحی بهتر:</a:t>
            </a:r>
          </a:p>
          <a:p>
            <a:pPr lvl="2"/>
            <a:r>
              <a:rPr lang="fa-IR" dirty="0" smtClean="0"/>
              <a:t> مساحت</a:t>
            </a:r>
          </a:p>
          <a:p>
            <a:pPr lvl="2"/>
            <a:r>
              <a:rPr lang="fa-IR" dirty="0" smtClean="0"/>
              <a:t> کارایی (سرعت)</a:t>
            </a:r>
          </a:p>
          <a:p>
            <a:pPr lvl="2"/>
            <a:r>
              <a:rPr lang="fa-IR" dirty="0" smtClean="0"/>
              <a:t> توان مصرفی</a:t>
            </a:r>
          </a:p>
          <a:p>
            <a:pPr lvl="1"/>
            <a:endParaRPr lang="fa-IR" dirty="0"/>
          </a:p>
          <a:p>
            <a:pPr lvl="1"/>
            <a:r>
              <a:rPr lang="fa-IR" dirty="0" smtClean="0"/>
              <a:t>تفاوت طراح خوب با طراح مبتدی:</a:t>
            </a:r>
          </a:p>
          <a:p>
            <a:pPr lvl="2"/>
            <a:r>
              <a:rPr lang="fa-IR" dirty="0" smtClean="0"/>
              <a:t> کدنویسی مناسب </a:t>
            </a:r>
          </a:p>
          <a:p>
            <a:pPr lvl="2"/>
            <a:r>
              <a:rPr lang="fa-IR" dirty="0" smtClean="0"/>
              <a:t> تعیین محدودیت‌های مناسب</a:t>
            </a:r>
          </a:p>
          <a:p>
            <a:pPr lvl="2"/>
            <a:r>
              <a:rPr lang="fa-IR" dirty="0" smtClean="0"/>
              <a:t> استفاده از سایر امکانات و تنظیمات ابزار </a:t>
            </a:r>
          </a:p>
          <a:p>
            <a:pPr lvl="2"/>
            <a:endParaRPr lang="fa-IR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9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endParaRPr lang="en-US" altLang="en-US" sz="1400" b="0" dirty="0" smtClean="0">
              <a:cs typeface="Nazanin" panose="00000400000000000000" pitchFamily="2" charset="-78"/>
            </a:endParaRP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fld id="{0C5DA8DA-0211-42CC-BAB3-8A02354CF436}" type="slidenum">
              <a:rPr lang="en-US" altLang="en-US" sz="1400" b="0">
                <a:cs typeface="Times New Roman" panose="02020603050405020304" pitchFamily="18" charset="0"/>
              </a:rPr>
              <a:pPr eaLnBrk="1" hangingPunct="1"/>
              <a:t>3</a:t>
            </a:fld>
            <a:endParaRPr lang="en-US" altLang="en-US" sz="1400" b="0">
              <a:cs typeface="Times New Roman" panose="02020603050405020304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altLang="en-US" dirty="0" smtClean="0"/>
              <a:t>فرایند بهینه سازی</a:t>
            </a:r>
            <a:endParaRPr lang="en-US" altLang="en-US" dirty="0" smtClean="0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1771330" y="2141240"/>
            <a:ext cx="1371600" cy="395288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Synthesis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323528" y="2141240"/>
            <a:ext cx="990601" cy="646331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Design Entry</a:t>
            </a:r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>
            <a:off x="1314130" y="236984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>
            <a:off x="3142930" y="2369840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8" name="Line 13"/>
          <p:cNvSpPr>
            <a:spLocks noChangeShapeType="1"/>
          </p:cNvSpPr>
          <p:nvPr/>
        </p:nvSpPr>
        <p:spPr bwMode="auto">
          <a:xfrm>
            <a:off x="4860032" y="2389238"/>
            <a:ext cx="513754" cy="100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349" name="Text Box 14"/>
          <p:cNvSpPr txBox="1">
            <a:spLocks noChangeArrowheads="1"/>
          </p:cNvSpPr>
          <p:nvPr/>
        </p:nvSpPr>
        <p:spPr bwMode="auto">
          <a:xfrm>
            <a:off x="4877781" y="1999084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r>
              <a:rPr lang="en-US" altLang="en-US" sz="1800" dirty="0"/>
              <a:t>yes</a:t>
            </a:r>
          </a:p>
        </p:txBody>
      </p:sp>
      <p:sp>
        <p:nvSpPr>
          <p:cNvPr id="14350" name="Text Box 15"/>
          <p:cNvSpPr txBox="1">
            <a:spLocks noChangeArrowheads="1"/>
          </p:cNvSpPr>
          <p:nvPr/>
        </p:nvSpPr>
        <p:spPr bwMode="auto">
          <a:xfrm>
            <a:off x="4666930" y="259844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r>
              <a:rPr lang="en-US" altLang="en-US" sz="1800"/>
              <a:t>no</a:t>
            </a:r>
          </a:p>
        </p:txBody>
      </p:sp>
      <p:sp>
        <p:nvSpPr>
          <p:cNvPr id="14351" name="Line 16"/>
          <p:cNvSpPr>
            <a:spLocks noChangeShapeType="1"/>
          </p:cNvSpPr>
          <p:nvPr/>
        </p:nvSpPr>
        <p:spPr bwMode="auto">
          <a:xfrm>
            <a:off x="4438330" y="2492896"/>
            <a:ext cx="0" cy="2819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2" name="Line 17"/>
          <p:cNvSpPr>
            <a:spLocks noChangeShapeType="1"/>
          </p:cNvSpPr>
          <p:nvPr/>
        </p:nvSpPr>
        <p:spPr bwMode="auto">
          <a:xfrm flipH="1">
            <a:off x="3219130" y="3131840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3" name="Text Box 18"/>
          <p:cNvSpPr txBox="1">
            <a:spLocks noChangeArrowheads="1"/>
          </p:cNvSpPr>
          <p:nvPr/>
        </p:nvSpPr>
        <p:spPr bwMode="auto">
          <a:xfrm>
            <a:off x="1847530" y="2827040"/>
            <a:ext cx="1371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Constraints</a:t>
            </a:r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 flipH="1">
            <a:off x="1618930" y="3131840"/>
            <a:ext cx="228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5" name="Line 20"/>
          <p:cNvSpPr>
            <a:spLocks noChangeShapeType="1"/>
          </p:cNvSpPr>
          <p:nvPr/>
        </p:nvSpPr>
        <p:spPr bwMode="auto">
          <a:xfrm flipH="1" flipV="1">
            <a:off x="1618930" y="2369840"/>
            <a:ext cx="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6" name="Line 21"/>
          <p:cNvSpPr>
            <a:spLocks noChangeShapeType="1"/>
          </p:cNvSpPr>
          <p:nvPr/>
        </p:nvSpPr>
        <p:spPr bwMode="auto">
          <a:xfrm flipH="1">
            <a:off x="3219130" y="4198640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7" name="Text Box 22"/>
          <p:cNvSpPr txBox="1">
            <a:spLocks noChangeArrowheads="1"/>
          </p:cNvSpPr>
          <p:nvPr/>
        </p:nvSpPr>
        <p:spPr bwMode="auto">
          <a:xfrm>
            <a:off x="1847530" y="3893840"/>
            <a:ext cx="1371600" cy="944563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VHDL Code</a:t>
            </a:r>
          </a:p>
        </p:txBody>
      </p:sp>
      <p:sp>
        <p:nvSpPr>
          <p:cNvPr id="14358" name="Line 23"/>
          <p:cNvSpPr>
            <a:spLocks noChangeShapeType="1"/>
          </p:cNvSpPr>
          <p:nvPr/>
        </p:nvSpPr>
        <p:spPr bwMode="auto">
          <a:xfrm flipH="1">
            <a:off x="1618930" y="4198640"/>
            <a:ext cx="228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9" name="Line 24"/>
          <p:cNvSpPr>
            <a:spLocks noChangeShapeType="1"/>
          </p:cNvSpPr>
          <p:nvPr/>
        </p:nvSpPr>
        <p:spPr bwMode="auto">
          <a:xfrm flipH="1" flipV="1">
            <a:off x="1618930" y="3131840"/>
            <a:ext cx="0" cy="1066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0" name="Line 25"/>
          <p:cNvSpPr>
            <a:spLocks noChangeShapeType="1"/>
          </p:cNvSpPr>
          <p:nvPr/>
        </p:nvSpPr>
        <p:spPr bwMode="auto">
          <a:xfrm flipH="1">
            <a:off x="805138" y="1932287"/>
            <a:ext cx="13690" cy="19359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361" name="Text Box 26"/>
          <p:cNvSpPr txBox="1">
            <a:spLocks noChangeArrowheads="1"/>
          </p:cNvSpPr>
          <p:nvPr/>
        </p:nvSpPr>
        <p:spPr bwMode="auto">
          <a:xfrm>
            <a:off x="323529" y="1262363"/>
            <a:ext cx="990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Arch’re Design</a:t>
            </a:r>
          </a:p>
        </p:txBody>
      </p:sp>
      <p:sp>
        <p:nvSpPr>
          <p:cNvPr id="14362" name="Line 27"/>
          <p:cNvSpPr>
            <a:spLocks noChangeShapeType="1"/>
          </p:cNvSpPr>
          <p:nvPr/>
        </p:nvSpPr>
        <p:spPr bwMode="auto">
          <a:xfrm flipH="1">
            <a:off x="3219130" y="5311478"/>
            <a:ext cx="1219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3" name="Text Box 28"/>
          <p:cNvSpPr txBox="1">
            <a:spLocks noChangeArrowheads="1"/>
          </p:cNvSpPr>
          <p:nvPr/>
        </p:nvSpPr>
        <p:spPr bwMode="auto">
          <a:xfrm>
            <a:off x="1847530" y="5006678"/>
            <a:ext cx="1371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Arch’re</a:t>
            </a:r>
          </a:p>
        </p:txBody>
      </p:sp>
      <p:sp>
        <p:nvSpPr>
          <p:cNvPr id="14364" name="Line 29"/>
          <p:cNvSpPr>
            <a:spLocks noChangeShapeType="1"/>
          </p:cNvSpPr>
          <p:nvPr/>
        </p:nvSpPr>
        <p:spPr bwMode="auto">
          <a:xfrm flipH="1">
            <a:off x="818828" y="5311478"/>
            <a:ext cx="102870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365" name="Line 30"/>
          <p:cNvSpPr>
            <a:spLocks noChangeShapeType="1"/>
          </p:cNvSpPr>
          <p:nvPr/>
        </p:nvSpPr>
        <p:spPr bwMode="auto">
          <a:xfrm flipV="1">
            <a:off x="805138" y="2787570"/>
            <a:ext cx="0" cy="252390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5373960" y="2145283"/>
            <a:ext cx="1371600" cy="369332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 dirty="0" smtClean="0"/>
              <a:t>P&amp;R</a:t>
            </a:r>
            <a:endParaRPr lang="en-US" altLang="en-US" sz="1800" dirty="0"/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7202760" y="2060848"/>
            <a:ext cx="985394" cy="646331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 dirty="0"/>
              <a:t>Results OK?</a:t>
            </a:r>
          </a:p>
        </p:txBody>
      </p:sp>
      <p:sp>
        <p:nvSpPr>
          <p:cNvPr id="34" name="Line 12"/>
          <p:cNvSpPr>
            <a:spLocks noChangeShapeType="1"/>
          </p:cNvSpPr>
          <p:nvPr/>
        </p:nvSpPr>
        <p:spPr bwMode="auto">
          <a:xfrm>
            <a:off x="6745560" y="2373883"/>
            <a:ext cx="457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8188328" y="2399300"/>
            <a:ext cx="632144" cy="18736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8345759" y="1912639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r>
              <a:rPr lang="en-US" altLang="en-US" sz="1800" dirty="0"/>
              <a:t>yes</a:t>
            </a:r>
          </a:p>
        </p:txBody>
      </p:sp>
      <p:sp>
        <p:nvSpPr>
          <p:cNvPr id="37" name="Text Box 15"/>
          <p:cNvSpPr txBox="1">
            <a:spLocks noChangeArrowheads="1"/>
          </p:cNvSpPr>
          <p:nvPr/>
        </p:nvSpPr>
        <p:spPr bwMode="auto">
          <a:xfrm>
            <a:off x="8269560" y="2602483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eaLnBrk="1" hangingPunct="1"/>
            <a:r>
              <a:rPr lang="en-US" altLang="en-US" sz="1800"/>
              <a:t>no</a:t>
            </a:r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 flipH="1">
            <a:off x="8609854" y="2399301"/>
            <a:ext cx="2" cy="169297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 flipH="1">
            <a:off x="6821759" y="3119710"/>
            <a:ext cx="1788095" cy="1617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0" name="Text Box 18"/>
          <p:cNvSpPr txBox="1">
            <a:spLocks noChangeArrowheads="1"/>
          </p:cNvSpPr>
          <p:nvPr/>
        </p:nvSpPr>
        <p:spPr bwMode="auto">
          <a:xfrm>
            <a:off x="5450160" y="2831083"/>
            <a:ext cx="1371600" cy="669925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Alter Constraints</a:t>
            </a:r>
          </a:p>
        </p:txBody>
      </p:sp>
      <p:sp>
        <p:nvSpPr>
          <p:cNvPr id="41" name="Line 19"/>
          <p:cNvSpPr>
            <a:spLocks noChangeShapeType="1"/>
          </p:cNvSpPr>
          <p:nvPr/>
        </p:nvSpPr>
        <p:spPr bwMode="auto">
          <a:xfrm flipH="1">
            <a:off x="5221560" y="3135883"/>
            <a:ext cx="2286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 flipH="1" flipV="1">
            <a:off x="5221560" y="2369840"/>
            <a:ext cx="0" cy="762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3" name="Line 21"/>
          <p:cNvSpPr>
            <a:spLocks noChangeShapeType="1"/>
          </p:cNvSpPr>
          <p:nvPr/>
        </p:nvSpPr>
        <p:spPr bwMode="auto">
          <a:xfrm flipH="1" flipV="1">
            <a:off x="4438329" y="4074220"/>
            <a:ext cx="4171526" cy="1805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3619604" y="2048838"/>
            <a:ext cx="1219198" cy="646331"/>
          </a:xfrm>
          <a:prstGeom prst="rect">
            <a:avLst/>
          </a:prstGeom>
          <a:solidFill>
            <a:srgbClr val="99FFCC"/>
          </a:solidFill>
          <a:ln w="2857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Lotus" panose="00000400000000000000" pitchFamily="2" charset="-78"/>
              </a:defRPr>
            </a:lvl9pPr>
          </a:lstStyle>
          <a:p>
            <a:pPr algn="ctr" rtl="0" eaLnBrk="1" hangingPunct="1"/>
            <a:r>
              <a:rPr lang="en-US" altLang="en-US" sz="1800"/>
              <a:t>Results OK?</a:t>
            </a:r>
          </a:p>
        </p:txBody>
      </p:sp>
    </p:spTree>
    <p:extLst>
      <p:ext uri="{BB962C8B-B14F-4D97-AF65-F5344CB8AC3E}">
        <p14:creationId xmlns:p14="http://schemas.microsoft.com/office/powerpoint/2010/main" val="389165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smtClean="0"/>
              <a:t>بهینه‌سازی مساحت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pPr algn="r"/>
            <a:r>
              <a:rPr lang="fa-IR" dirty="0" smtClean="0"/>
              <a:t>بهینه‌سازی مساحت:</a:t>
            </a:r>
          </a:p>
          <a:p>
            <a:pPr lvl="1"/>
            <a:r>
              <a:rPr lang="fa-IR" dirty="0" smtClean="0">
                <a:sym typeface="Wingdings" panose="05000000000000000000" pitchFamily="2" charset="2"/>
              </a:rPr>
              <a:t> </a:t>
            </a:r>
            <a:r>
              <a:rPr lang="fa-IR" dirty="0" smtClean="0"/>
              <a:t>کاهش منابع مصرفی</a:t>
            </a:r>
          </a:p>
          <a:p>
            <a:pPr lvl="1"/>
            <a:r>
              <a:rPr lang="fa-IR" dirty="0" smtClean="0"/>
              <a:t>با هدف استفاده از تراشة ارزان‌تر</a:t>
            </a:r>
          </a:p>
          <a:p>
            <a:pPr lvl="1"/>
            <a:r>
              <a:rPr lang="fa-IR" dirty="0" smtClean="0"/>
              <a:t>معمولاً همراستا با کاهش توان</a:t>
            </a:r>
          </a:p>
          <a:p>
            <a:pPr lvl="2"/>
            <a:r>
              <a:rPr lang="fa-IR" dirty="0" smtClean="0"/>
              <a:t>بر خلاف سرعت</a:t>
            </a:r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98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pPr algn="r"/>
            <a:r>
              <a:rPr lang="fa-IR" dirty="0" smtClean="0"/>
              <a:t>تخمین مساحت:</a:t>
            </a:r>
          </a:p>
          <a:p>
            <a:pPr lvl="1"/>
            <a:r>
              <a:rPr lang="fa-IR" dirty="0" smtClean="0"/>
              <a:t>برای تصمیم مناسب در هر مرحله</a:t>
            </a:r>
          </a:p>
          <a:p>
            <a:pPr lvl="1"/>
            <a:r>
              <a:rPr lang="fa-IR" dirty="0" smtClean="0"/>
              <a:t>برای انتخاب تراشه در مراحل اولیه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شروع زودتر طراحی بورد</a:t>
            </a:r>
            <a:endParaRPr lang="fa-IR" dirty="0"/>
          </a:p>
          <a:p>
            <a:pPr lvl="1"/>
            <a:r>
              <a:rPr lang="fa-IR" dirty="0" smtClean="0"/>
              <a:t>مرحلة قبل از سنتز:</a:t>
            </a:r>
          </a:p>
          <a:p>
            <a:pPr lvl="2"/>
            <a:r>
              <a:rPr lang="fa-IR" dirty="0" smtClean="0"/>
              <a:t>تجربی</a:t>
            </a:r>
          </a:p>
          <a:p>
            <a:pPr lvl="2"/>
            <a:r>
              <a:rPr lang="fa-IR" dirty="0" smtClean="0"/>
              <a:t>از طرح های مشابه گذشته</a:t>
            </a:r>
          </a:p>
          <a:p>
            <a:pPr lvl="2"/>
            <a:r>
              <a:rPr lang="fa-IR" dirty="0" smtClean="0"/>
              <a:t>اطلاعات </a:t>
            </a:r>
            <a:r>
              <a:rPr lang="en-US" dirty="0" smtClean="0"/>
              <a:t>IP</a:t>
            </a:r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644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آشنایی با رفتار ابزار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کدنویسی مناسب</a:t>
            </a:r>
          </a:p>
          <a:p>
            <a:pPr lvl="1"/>
            <a:r>
              <a:rPr lang="fa-IR" dirty="0" smtClean="0">
                <a:sym typeface="Wingdings" panose="05000000000000000000" pitchFamily="2" charset="2"/>
              </a:rPr>
              <a:t>آشنایی با معماری تراشه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بلوک های منطقی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بلوک های محاسباتی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حافظه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...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مثال: ابزار اجازه می دهد محتویات </a:t>
            </a:r>
            <a:r>
              <a:rPr lang="en-US" dirty="0" smtClean="0">
                <a:sym typeface="Wingdings" panose="05000000000000000000" pitchFamily="2" charset="2"/>
              </a:rPr>
              <a:t>LUT</a:t>
            </a:r>
            <a:r>
              <a:rPr lang="fa-IR" dirty="0" smtClean="0">
                <a:sym typeface="Wingdings" panose="05000000000000000000" pitchFamily="2" charset="2"/>
              </a:rPr>
              <a:t> را دستی پر کنید</a:t>
            </a: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20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sz="3200" dirty="0" smtClean="0"/>
              <a:t>بررسی گزارش ابزارها</a:t>
            </a:r>
          </a:p>
          <a:p>
            <a:pPr lvl="2"/>
            <a:r>
              <a:rPr lang="fa-IR" sz="2800" dirty="0" smtClean="0">
                <a:sym typeface="Wingdings" panose="05000000000000000000" pitchFamily="2" charset="2"/>
              </a:rPr>
              <a:t> مشاهدة مصرف هر پودمان</a:t>
            </a: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 تمرکز روی بهینه سازی پودمان پرمصرف</a:t>
            </a:r>
          </a:p>
          <a:p>
            <a:pPr lvl="2"/>
            <a:r>
              <a:rPr lang="fa-IR" sz="2800" dirty="0" smtClean="0">
                <a:sym typeface="Wingdings" panose="05000000000000000000" pitchFamily="2" charset="2"/>
              </a:rPr>
              <a:t> فدا کردن معیاری برای بهبود معیار دیگر  طراح جلوگیری کند</a:t>
            </a: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مثال: تکرار بخشی از مدار برای بهبود سرعت</a:t>
            </a:r>
          </a:p>
          <a:p>
            <a:pPr lvl="3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1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sz="3200" dirty="0" smtClean="0"/>
              <a:t>اشتراک منابع (</a:t>
            </a:r>
            <a:r>
              <a:rPr lang="en-US" dirty="0" smtClean="0"/>
              <a:t>resource sharing</a:t>
            </a:r>
            <a:r>
              <a:rPr lang="fa-IR" sz="3200" dirty="0" smtClean="0"/>
              <a:t>)</a:t>
            </a:r>
          </a:p>
          <a:p>
            <a:pPr lvl="2"/>
            <a:r>
              <a:rPr lang="fa-IR" sz="2800" dirty="0" smtClean="0"/>
              <a:t> استفاده </a:t>
            </a:r>
            <a:r>
              <a:rPr lang="fa-IR" sz="2800" dirty="0" smtClean="0"/>
              <a:t>از منابع سخت­افزاری مشترک برای </a:t>
            </a:r>
          </a:p>
          <a:p>
            <a:pPr lvl="3"/>
            <a:r>
              <a:rPr lang="fa-IR" sz="2400" dirty="0">
                <a:sym typeface="Wingdings" panose="05000000000000000000" pitchFamily="2" charset="2"/>
              </a:rPr>
              <a:t>اعمال یکسان</a:t>
            </a:r>
          </a:p>
          <a:p>
            <a:pPr lvl="3"/>
            <a:r>
              <a:rPr lang="fa-IR" sz="2400" dirty="0" smtClean="0"/>
              <a:t>اعمال مشابه (مانند جمع­کننده، تفریق­کننده، و مقایسه­کننده) ولی مستقل</a:t>
            </a:r>
          </a:p>
          <a:p>
            <a:pPr lvl="2"/>
            <a:r>
              <a:rPr lang="fa-IR" sz="2800" smtClean="0">
                <a:sym typeface="Wingdings" panose="05000000000000000000" pitchFamily="2" charset="2"/>
              </a:rPr>
              <a:t> گاهی </a:t>
            </a:r>
            <a:r>
              <a:rPr lang="fa-IR" sz="2800" dirty="0" smtClean="0">
                <a:sym typeface="Wingdings" panose="05000000000000000000" pitchFamily="2" charset="2"/>
              </a:rPr>
              <a:t>باعث کاهش فرکانس</a:t>
            </a: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می‌توان جلوگیری کرد</a:t>
            </a:r>
          </a:p>
          <a:p>
            <a:pPr lvl="2"/>
            <a:endParaRPr lang="fa-IR" sz="2800" dirty="0" smtClean="0">
              <a:sym typeface="Wingdings" panose="05000000000000000000" pitchFamily="2" charset="2"/>
            </a:endParaRPr>
          </a:p>
          <a:p>
            <a:pPr lvl="2"/>
            <a:endParaRPr lang="fa-IR" sz="2800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679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260648"/>
            <a:ext cx="7773988" cy="444500"/>
          </a:xfrm>
        </p:spPr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440" y="692696"/>
            <a:ext cx="5399728" cy="590931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(CUR_STATE, IN1, IN2)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ZOUT &lt;= IN1;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(IN1 = IN2)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IN1 * IN2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IN1 - IN2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S2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(IN1 = "0001_1010_0000_1111")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IN1 * IN2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4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IN1 - IN2</a:t>
            </a: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others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  <p:extLst>
      <p:ext uri="{BB962C8B-B14F-4D97-AF65-F5344CB8AC3E}">
        <p14:creationId xmlns:p14="http://schemas.microsoft.com/office/powerpoint/2010/main" val="113276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150" y="260648"/>
            <a:ext cx="7773988" cy="444500"/>
          </a:xfrm>
        </p:spPr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439" y="738862"/>
            <a:ext cx="8113485" cy="581697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(CUR_STATE, IN1, IN2)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TEMP1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</a:t>
            </a:r>
            <a:r>
              <a:rPr lang="en-US" altLang="en-US" sz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(15 </a:t>
            </a:r>
            <a:r>
              <a:rPr lang="en-US" altLang="en-US" sz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TEMP2 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(15 </a:t>
            </a:r>
            <a:r>
              <a:rPr lang="en-US" altLang="en-US" sz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TEMP1 := IN1 * IN2;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TEMP2 := IN1 - IN2;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S0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ZOUT &lt;= IN1;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S1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(IN1 = IN2)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S0;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TEMP1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TEMP2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S2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if (IN1 = "0001_1010_0000_1111")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TEMP1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NEXT_STATE &lt;= S3;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ZOUT &lt;= </a:t>
            </a:r>
            <a:r>
              <a:rPr lang="en-US" altLang="en-US" sz="1200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TEMP2</a:t>
            </a: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when others =&gt;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  <p:extLst>
      <p:ext uri="{BB962C8B-B14F-4D97-AF65-F5344CB8AC3E}">
        <p14:creationId xmlns:p14="http://schemas.microsoft.com/office/powerpoint/2010/main" val="5052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1800" y="908720"/>
            <a:ext cx="5686400" cy="1224136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اشتراک منابع (</a:t>
            </a:r>
            <a:r>
              <a:rPr lang="en-US" sz="2400" dirty="0" smtClean="0"/>
              <a:t>resource sharing</a:t>
            </a:r>
            <a:r>
              <a:rPr lang="fa-IR" dirty="0" smtClean="0"/>
              <a:t>)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fa-IR" dirty="0" smtClean="0"/>
              <a:t>سرعت؟</a:t>
            </a: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9552" y="1244887"/>
            <a:ext cx="2807543" cy="206210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(SEL,A,B)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SEL = `1`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 +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 +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552" y="3728025"/>
            <a:ext cx="7200800" cy="255454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(SEL,A,B)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variable  TEMP :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(31 </a:t>
            </a:r>
            <a:r>
              <a:rPr lang="en-US" altLang="en-US" sz="16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SEL = `1`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TEMP :=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TEMP :=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Z &lt;= A + TEMP;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370" y="1984747"/>
            <a:ext cx="1605617" cy="16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393" y="4588366"/>
            <a:ext cx="213518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741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اشتراک منابع (</a:t>
            </a:r>
            <a:r>
              <a:rPr lang="en-US" sz="2400" dirty="0" smtClean="0"/>
              <a:t>resource sharing</a:t>
            </a:r>
            <a:r>
              <a:rPr lang="fa-IR" dirty="0" smtClean="0"/>
              <a:t>)</a:t>
            </a:r>
          </a:p>
          <a:p>
            <a:pPr lvl="2"/>
            <a:r>
              <a:rPr lang="fa-IR" dirty="0" smtClean="0"/>
              <a:t>ابزارها در حالت کلی نمی دانند کدام برای طراح مناسب تر</a:t>
            </a:r>
          </a:p>
          <a:p>
            <a:pPr lvl="3"/>
            <a:r>
              <a:rPr lang="fa-IR" dirty="0" smtClean="0">
                <a:sym typeface="Wingdings" panose="05000000000000000000" pitchFamily="2" charset="2"/>
              </a:rPr>
              <a:t> توصیه می کنند طراح در توصیف مشخص کند.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گاهی اتوماتیک </a:t>
            </a:r>
            <a:r>
              <a:rPr lang="en-US" sz="2000" dirty="0" smtClean="0">
                <a:sym typeface="Wingdings" panose="05000000000000000000" pitchFamily="2" charset="2"/>
              </a:rPr>
              <a:t>resource sharing</a:t>
            </a:r>
            <a:r>
              <a:rPr lang="fa-IR" sz="2000" dirty="0" smtClean="0">
                <a:sym typeface="Wingdings" panose="05000000000000000000" pitchFamily="2" charset="2"/>
              </a:rPr>
              <a:t> </a:t>
            </a:r>
            <a:r>
              <a:rPr lang="fa-IR" dirty="0" smtClean="0">
                <a:sym typeface="Wingdings" panose="05000000000000000000" pitchFamily="2" charset="2"/>
              </a:rPr>
              <a:t>می کنند.</a:t>
            </a:r>
          </a:p>
          <a:p>
            <a:pPr lvl="3"/>
            <a:r>
              <a:rPr lang="fa-IR" dirty="0" smtClean="0">
                <a:sym typeface="Wingdings" panose="05000000000000000000" pitchFamily="2" charset="2"/>
              </a:rPr>
              <a:t>مثلاً با محدودیت بهینه سازی مساحت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برای اطمینان، در کد مشخص کنید.</a:t>
            </a: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343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/>
              <a:t>تنظیم </a:t>
            </a:r>
            <a:r>
              <a:rPr lang="fa-IR" dirty="0" smtClean="0"/>
              <a:t>گزینه های ابزارها</a:t>
            </a:r>
          </a:p>
          <a:p>
            <a:pPr marL="914400" lvl="2" indent="0" algn="l" rtl="0">
              <a:buNone/>
            </a:pPr>
            <a:r>
              <a:rPr lang="en-US" sz="1600" b="1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synth_design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1600" b="1" kern="12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–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directive </a:t>
            </a:r>
            <a:r>
              <a:rPr lang="en-US" sz="1600" b="1" kern="12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AreaOptimized_high</a:t>
            </a:r>
            <a:endParaRPr lang="en-US" dirty="0" smtClean="0">
              <a:sym typeface="Wingdings" panose="05000000000000000000" pitchFamily="2" charset="2"/>
            </a:endParaRP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گاهی باعث کاهش سرعت</a:t>
            </a:r>
          </a:p>
          <a:p>
            <a:pPr lvl="3"/>
            <a:r>
              <a:rPr lang="fa-IR" sz="2400" dirty="0" smtClean="0">
                <a:sym typeface="Wingdings" panose="05000000000000000000" pitchFamily="2" charset="2"/>
              </a:rPr>
              <a:t>می توان روی پودمان(های) مشخصی اعمال کرد.</a:t>
            </a:r>
            <a:endParaRPr lang="en-US" sz="2400" dirty="0" smtClean="0">
              <a:sym typeface="Wingdings" panose="05000000000000000000" pitchFamily="2" charset="2"/>
            </a:endParaRPr>
          </a:p>
          <a:p>
            <a:pPr lvl="1"/>
            <a:r>
              <a:rPr lang="fa-IR" dirty="0" smtClean="0">
                <a:sym typeface="Wingdings" panose="05000000000000000000" pitchFamily="2" charset="2"/>
              </a:rPr>
              <a:t>اشتراک منابع برای بلوک پودمان خاص</a:t>
            </a:r>
            <a:endParaRPr lang="en-US" dirty="0" smtClean="0">
              <a:sym typeface="Wingdings" panose="05000000000000000000" pitchFamily="2" charset="2"/>
            </a:endParaRPr>
          </a:p>
          <a:p>
            <a:pPr marL="914400" lvl="2" indent="0" algn="l" rtl="0">
              <a:buNone/>
            </a:pP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sz="1600" b="1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resource_sharing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string;</a:t>
            </a:r>
          </a:p>
          <a:p>
            <a:pPr marL="914400" lvl="2" indent="0" algn="l" rtl="0">
              <a:buNone/>
            </a:pP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sz="1600" b="1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resource_sharing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</a:t>
            </a:r>
            <a:r>
              <a:rPr lang="en-US" sz="1600" b="1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entity_name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entity is "{</a:t>
            </a:r>
            <a:r>
              <a:rPr lang="en-US" sz="1600" b="1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yes|no</a:t>
            </a:r>
            <a:r>
              <a:rPr lang="en-US" sz="1600" b="1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}";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080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18648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پیاده سازی مدارهای منطقی و محاسباتی و </a:t>
            </a:r>
            <a:r>
              <a:rPr lang="en-US" dirty="0" smtClean="0"/>
              <a:t>FSM</a:t>
            </a:r>
            <a:r>
              <a:rPr lang="fa-IR" dirty="0" smtClean="0"/>
              <a:t> با حافظه</a:t>
            </a:r>
          </a:p>
          <a:p>
            <a:pPr lvl="2"/>
            <a:r>
              <a:rPr lang="fa-IR" dirty="0" smtClean="0"/>
              <a:t>اگر حافظة اضافی داریم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با کدنویسی مناسب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با ایجاد محدودیت:</a:t>
            </a:r>
          </a:p>
          <a:p>
            <a:pPr marL="114300" indent="0" algn="l" rtl="0">
              <a:buNone/>
            </a:pP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attribute </a:t>
            </a:r>
            <a:r>
              <a:rPr lang="en-US" sz="1600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bram_map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: string;</a:t>
            </a:r>
          </a:p>
          <a:p>
            <a:pPr marL="114300" indent="0" algn="l" rtl="0">
              <a:buNone/>
            </a:pP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attribute </a:t>
            </a:r>
            <a:r>
              <a:rPr lang="en-US" sz="1600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bram_map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 of MY_COMPONENT : component is "yes”;</a:t>
            </a:r>
          </a:p>
          <a:p>
            <a:pPr lvl="3"/>
            <a:endParaRPr lang="en-US" dirty="0" smtClean="0">
              <a:sym typeface="Wingdings" panose="05000000000000000000" pitchFamily="2" charset="2"/>
            </a:endParaRPr>
          </a:p>
          <a:p>
            <a:pPr lvl="2"/>
            <a:endParaRPr lang="en-US" dirty="0" smtClean="0">
              <a:sym typeface="Wingdings" panose="05000000000000000000" pitchFamily="2" charset="2"/>
            </a:endParaRP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marL="0" indent="0" algn="l" rtl="0">
              <a:buNone/>
            </a:pP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sz="1600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fsm_style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string;</a:t>
            </a:r>
          </a:p>
          <a:p>
            <a:pPr marL="0" indent="0" algn="l" rtl="0">
              <a:buNone/>
            </a:pP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</a:p>
          <a:p>
            <a:pPr marL="0" indent="0" algn="l" rtl="0">
              <a:buNone/>
            </a:pP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attribute </a:t>
            </a:r>
            <a:r>
              <a:rPr lang="en-US" sz="1600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fsm_style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of </a:t>
            </a:r>
            <a:r>
              <a:rPr lang="en-US" sz="1600" kern="12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MY_ENTITY : 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is "</a:t>
            </a:r>
            <a:r>
              <a:rPr lang="en-US" sz="1600" kern="1200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bram</a:t>
            </a:r>
            <a:r>
              <a:rPr lang="en-US" sz="1600" kern="1200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";</a:t>
            </a: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>
              <a:sym typeface="Wingdings" panose="05000000000000000000" pitchFamily="2" charset="2"/>
            </a:endParaRPr>
          </a:p>
          <a:p>
            <a:pPr lvl="2"/>
            <a:endParaRPr lang="fa-IR" dirty="0" smtClean="0"/>
          </a:p>
          <a:p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87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18648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انتخاب مناسب کدهای حالت </a:t>
            </a:r>
            <a:r>
              <a:rPr lang="en-US" dirty="0" smtClean="0"/>
              <a:t>FSM</a:t>
            </a:r>
          </a:p>
          <a:p>
            <a:pPr lvl="2"/>
            <a:r>
              <a:rPr lang="fa-IR" dirty="0" smtClean="0"/>
              <a:t>با توجه به مزایای هر کد</a:t>
            </a:r>
          </a:p>
          <a:p>
            <a:pPr lvl="2"/>
            <a:r>
              <a:rPr lang="fa-IR" dirty="0" smtClean="0"/>
              <a:t>با سعی و خطا</a:t>
            </a:r>
          </a:p>
          <a:p>
            <a:pPr lvl="1"/>
            <a:endParaRPr lang="fa-IR" dirty="0"/>
          </a:p>
          <a:p>
            <a:pPr lvl="1"/>
            <a:r>
              <a:rPr lang="fa-IR" dirty="0" smtClean="0"/>
              <a:t>استفاده از </a:t>
            </a:r>
            <a:r>
              <a:rPr lang="fa-IR" dirty="0"/>
              <a:t>سیگنال­های کنترلی یکسان </a:t>
            </a:r>
            <a:r>
              <a:rPr lang="fa-IR" dirty="0" smtClean="0"/>
              <a:t>برای ثبات­های گوناگون</a:t>
            </a:r>
          </a:p>
          <a:p>
            <a:pPr lvl="2"/>
            <a:r>
              <a:rPr lang="en-US" dirty="0" smtClean="0"/>
              <a:t>Clock</a:t>
            </a:r>
          </a:p>
          <a:p>
            <a:pPr lvl="2"/>
            <a:r>
              <a:rPr lang="en-US" dirty="0" smtClean="0"/>
              <a:t>Reset</a:t>
            </a:r>
          </a:p>
          <a:p>
            <a:pPr lvl="2"/>
            <a:r>
              <a:rPr lang="en-US" dirty="0" smtClean="0"/>
              <a:t>Enable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نگاشت این ثبات ها روی یک </a:t>
            </a:r>
            <a:r>
              <a:rPr lang="en-US" dirty="0" smtClean="0">
                <a:sym typeface="Wingdings" panose="05000000000000000000" pitchFamily="2" charset="2"/>
              </a:rPr>
              <a:t>LB</a:t>
            </a:r>
            <a:r>
              <a:rPr lang="fa-IR" dirty="0" smtClean="0">
                <a:sym typeface="Wingdings" panose="05000000000000000000" pitchFamily="2" charset="2"/>
              </a:rPr>
              <a:t> (مثلاً </a:t>
            </a:r>
            <a:r>
              <a:rPr lang="en-US" dirty="0" smtClean="0">
                <a:sym typeface="Wingdings" panose="05000000000000000000" pitchFamily="2" charset="2"/>
              </a:rPr>
              <a:t>slice</a:t>
            </a:r>
            <a:r>
              <a:rPr lang="fa-IR" dirty="0" smtClean="0">
                <a:sym typeface="Wingdings" panose="05000000000000000000" pitchFamily="2" charset="2"/>
              </a:rPr>
              <a:t>)</a:t>
            </a:r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47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18648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 smtClean="0"/>
              <a:t>مسطح سازی</a:t>
            </a:r>
          </a:p>
          <a:p>
            <a:pPr lvl="1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26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فنون بهینه‌سازی مساحت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7918648" cy="4648200"/>
          </a:xfrm>
        </p:spPr>
        <p:txBody>
          <a:bodyPr/>
          <a:lstStyle/>
          <a:p>
            <a:r>
              <a:rPr lang="fa-IR" dirty="0" smtClean="0"/>
              <a:t>فنون </a:t>
            </a:r>
            <a:r>
              <a:rPr lang="fa-IR" dirty="0"/>
              <a:t>بهینه‌سازی مساحت</a:t>
            </a:r>
            <a:r>
              <a:rPr lang="fa-IR" dirty="0" smtClean="0"/>
              <a:t>:</a:t>
            </a:r>
          </a:p>
          <a:p>
            <a:pPr lvl="1"/>
            <a:r>
              <a:rPr lang="fa-IR" dirty="0"/>
              <a:t>استفادة متوازن از منابع </a:t>
            </a:r>
            <a:r>
              <a:rPr lang="fa-IR" dirty="0" smtClean="0"/>
              <a:t>سخت افزاری</a:t>
            </a:r>
            <a:endParaRPr lang="fa-IR" dirty="0"/>
          </a:p>
          <a:p>
            <a:pPr lvl="2"/>
            <a:r>
              <a:rPr lang="en-US" dirty="0" smtClean="0"/>
              <a:t>LUT</a:t>
            </a:r>
          </a:p>
          <a:p>
            <a:pPr lvl="2"/>
            <a:r>
              <a:rPr lang="fa-IR" dirty="0" smtClean="0"/>
              <a:t>حافظة بلوکی</a:t>
            </a:r>
          </a:p>
          <a:p>
            <a:pPr lvl="2"/>
            <a:r>
              <a:rPr lang="fa-IR" dirty="0" smtClean="0"/>
              <a:t>حافظة توزیع شده</a:t>
            </a:r>
          </a:p>
          <a:p>
            <a:pPr lvl="2"/>
            <a:r>
              <a:rPr lang="fa-IR" dirty="0" smtClean="0"/>
              <a:t>بلوک محاسباتی</a:t>
            </a:r>
          </a:p>
          <a:p>
            <a:pPr lvl="2"/>
            <a:r>
              <a:rPr lang="fa-IR" dirty="0" smtClean="0"/>
              <a:t>...</a:t>
            </a:r>
          </a:p>
          <a:p>
            <a:pPr lvl="1"/>
            <a:r>
              <a:rPr lang="fa-IR" dirty="0" smtClean="0"/>
              <a:t>بعضی چندکاره</a:t>
            </a:r>
          </a:p>
          <a:p>
            <a:pPr lvl="2"/>
            <a:r>
              <a:rPr lang="fa-IR" dirty="0" smtClean="0">
                <a:sym typeface="Wingdings" panose="05000000000000000000" pitchFamily="2" charset="2"/>
              </a:rPr>
              <a:t> اجتناب از مصرف بی رویة یک نوع و بیکار ماندن نوع دیگر</a:t>
            </a:r>
            <a:endParaRPr lang="fa-IR" dirty="0" smtClean="0"/>
          </a:p>
          <a:p>
            <a:pPr lvl="1"/>
            <a:endParaRPr lang="fa-IR" dirty="0" smtClean="0"/>
          </a:p>
          <a:p>
            <a:pPr lvl="1"/>
            <a:endParaRPr lang="fa-I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DB1581-2FDF-4DA0-8CA5-6FBE80F200C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20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n w="19050">
              <a:solidFill>
                <a:schemeClr val="tx1"/>
              </a:solidFill>
            </a:ln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26282</TotalTime>
  <Words>899</Words>
  <Application>Microsoft Office PowerPoint</Application>
  <PresentationFormat>On-screen Show (4:3)</PresentationFormat>
  <Paragraphs>234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 Mitra</vt:lpstr>
      <vt:lpstr>B Titr</vt:lpstr>
      <vt:lpstr>Calibri</vt:lpstr>
      <vt:lpstr>Courier New</vt:lpstr>
      <vt:lpstr>Lotus</vt:lpstr>
      <vt:lpstr>Nazanin</vt:lpstr>
      <vt:lpstr>Times New Roman</vt:lpstr>
      <vt:lpstr>Wingdings</vt:lpstr>
      <vt:lpstr>1_presentation_template</vt:lpstr>
      <vt:lpstr>Custom Design</vt:lpstr>
      <vt:lpstr>بهینه‌سازی</vt:lpstr>
      <vt:lpstr>معیارهای بهینه‌سازی</vt:lpstr>
      <vt:lpstr>فرایند بهینه سازی</vt:lpstr>
      <vt:lpstr>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  <vt:lpstr>فنون بهینه‌سازی مساحت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1209</cp:revision>
  <dcterms:created xsi:type="dcterms:W3CDTF">1601-01-01T00:00:00Z</dcterms:created>
  <dcterms:modified xsi:type="dcterms:W3CDTF">2021-12-04T18:22:46Z</dcterms:modified>
</cp:coreProperties>
</file>