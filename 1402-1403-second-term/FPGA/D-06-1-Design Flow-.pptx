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  <p:sldMasterId id="2147485332" r:id="rId3"/>
  </p:sldMasterIdLst>
  <p:notesMasterIdLst>
    <p:notesMasterId r:id="rId52"/>
  </p:notesMasterIdLst>
  <p:sldIdLst>
    <p:sldId id="256" r:id="rId4"/>
    <p:sldId id="493" r:id="rId5"/>
    <p:sldId id="494" r:id="rId6"/>
    <p:sldId id="495" r:id="rId7"/>
    <p:sldId id="496" r:id="rId8"/>
    <p:sldId id="501" r:id="rId9"/>
    <p:sldId id="497" r:id="rId10"/>
    <p:sldId id="500" r:id="rId11"/>
    <p:sldId id="502" r:id="rId12"/>
    <p:sldId id="503" r:id="rId13"/>
    <p:sldId id="504" r:id="rId14"/>
    <p:sldId id="505" r:id="rId15"/>
    <p:sldId id="506" r:id="rId16"/>
    <p:sldId id="507" r:id="rId17"/>
    <p:sldId id="508" r:id="rId18"/>
    <p:sldId id="509" r:id="rId19"/>
    <p:sldId id="524" r:id="rId20"/>
    <p:sldId id="510" r:id="rId21"/>
    <p:sldId id="548" r:id="rId22"/>
    <p:sldId id="511" r:id="rId23"/>
    <p:sldId id="526" r:id="rId24"/>
    <p:sldId id="512" r:id="rId25"/>
    <p:sldId id="513" r:id="rId26"/>
    <p:sldId id="546" r:id="rId27"/>
    <p:sldId id="514" r:id="rId28"/>
    <p:sldId id="517" r:id="rId29"/>
    <p:sldId id="518" r:id="rId30"/>
    <p:sldId id="549" r:id="rId31"/>
    <p:sldId id="525" r:id="rId32"/>
    <p:sldId id="519" r:id="rId33"/>
    <p:sldId id="527" r:id="rId34"/>
    <p:sldId id="550" r:id="rId35"/>
    <p:sldId id="521" r:id="rId36"/>
    <p:sldId id="522" r:id="rId37"/>
    <p:sldId id="523" r:id="rId38"/>
    <p:sldId id="534" r:id="rId39"/>
    <p:sldId id="528" r:id="rId40"/>
    <p:sldId id="529" r:id="rId41"/>
    <p:sldId id="530" r:id="rId42"/>
    <p:sldId id="531" r:id="rId43"/>
    <p:sldId id="535" r:id="rId44"/>
    <p:sldId id="536" r:id="rId45"/>
    <p:sldId id="537" r:id="rId46"/>
    <p:sldId id="538" r:id="rId47"/>
    <p:sldId id="542" r:id="rId48"/>
    <p:sldId id="540" r:id="rId49"/>
    <p:sldId id="541" r:id="rId50"/>
    <p:sldId id="545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CC"/>
    <a:srgbClr val="0000FF"/>
    <a:srgbClr val="0033CC"/>
    <a:srgbClr val="CC6600"/>
    <a:srgbClr val="669900"/>
    <a:srgbClr val="CCFFCC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620" autoAdjust="0"/>
    <p:restoredTop sz="90493" autoAdjust="0"/>
  </p:normalViewPr>
  <p:slideViewPr>
    <p:cSldViewPr>
      <p:cViewPr varScale="1">
        <p:scale>
          <a:sx n="64" d="100"/>
          <a:sy n="64" d="100"/>
        </p:scale>
        <p:origin x="50" y="65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9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CE8209A-A014-4E79-9FEB-2647BB9126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81696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8544811-3770-4937-A945-F712A74AE278}" type="slidenum">
              <a:rPr lang="en-US" altLang="en-US" sz="1200" smtClean="0"/>
              <a:pPr/>
              <a:t>1</a:t>
            </a:fld>
            <a:endParaRPr lang="en-US" altLang="en-US" sz="1200" smtClean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34040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3C1A3D0-2BE4-4346-85CE-95BE44542F90}" type="slidenum">
              <a:rPr lang="en-US" altLang="en-US" b="1" smtClean="0"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6</a:t>
            </a:fld>
            <a:endParaRPr lang="en-US" altLang="en-US" b="1" smtClean="0">
              <a:cs typeface="Lotus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7311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5A6EF8B-9794-4334-A830-04FB2EF11E14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750374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19BDC30-99DB-4B69-ADC3-FBF7D0F5BB80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35647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4510E70-95D6-4E00-9D80-EF782DD6ACC5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669626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1B6928C-78C2-4D8E-B97E-455F2BF951BD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76508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3B92787-CF50-41FA-8D76-494BD3083DFD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83956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947105F-5BDE-480E-99B4-361A58754F7C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242561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807C594-8637-4DEE-899F-EF01A25210DC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578709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C5E3E84-8582-4BE7-9CBB-C12CC3A686F7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949688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A6EDE60-40A3-4E1B-ACE1-14A133DB5F3A}" type="slidenum">
              <a:rPr lang="en-US" altLang="en-US" sz="1200" smtClean="0"/>
              <a:pPr/>
              <a:t>18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256418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897011D-39C8-41FE-8166-5153A37CF3D8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4448009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1F6C3BD-8A09-46A0-BDC2-C6A007B06195}" type="slidenum">
              <a:rPr lang="en-US" altLang="en-US" sz="1200" smtClean="0"/>
              <a:pPr/>
              <a:t>21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273866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7824E0-4D91-4BD8-A483-F531537E122E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5392554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0BB4162-1721-440A-B88E-43ACA6C8BCD5}" type="slidenum">
              <a:rPr lang="en-US" altLang="en-US" sz="1200" smtClean="0"/>
              <a:pPr/>
              <a:t>23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183037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49941FE-85D0-4D74-8890-C65D51C7C887}" type="slidenum">
              <a:rPr lang="en-US" altLang="en-US" sz="1200" smtClean="0"/>
              <a:pPr/>
              <a:t>25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2098053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E62B523-6F75-4CF4-8BD0-8BCF1B5AEE04}" type="slidenum">
              <a:rPr lang="en-US" altLang="en-US" sz="1200" smtClean="0"/>
              <a:pPr/>
              <a:t>26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140866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C2F9911-0E6F-432F-96D8-22E44C5403B2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921162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908019E-2ABA-4B6D-9D64-30103ADC4A39}" type="slidenum">
              <a:rPr lang="en-US" altLang="en-US" sz="1200" smtClean="0"/>
              <a:pPr/>
              <a:t>36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677852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1748885-68C5-427F-99A9-31B5F9BA0C15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642821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1EE6B7-584A-4777-90DC-543BF58B9124}" type="slidenum">
              <a:rPr lang="en-US" altLang="en-US" smtClean="0">
                <a:solidFill>
                  <a:srgbClr val="000000"/>
                </a:solidFill>
                <a:cs typeface="Lotus" panose="00000400000000000000" pitchFamily="2" charset="-78"/>
              </a:rPr>
              <a:pPr>
                <a:spcBef>
                  <a:spcPct val="0"/>
                </a:spcBef>
              </a:pPr>
              <a:t>48</a:t>
            </a:fld>
            <a:endParaRPr lang="en-US" altLang="en-US" smtClean="0">
              <a:solidFill>
                <a:srgbClr val="000000"/>
              </a:solidFill>
              <a:cs typeface="Lotus" panose="00000400000000000000" pitchFamily="2" charset="-78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99381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4783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7BA50-72B2-4363-BDF9-B8DFDF2871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3529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9EEAC-2D4B-4DDD-A241-A14ACD953C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73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A2DB7-A1DE-41F3-A621-F99C832727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76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5786C-AD80-49ED-B2A4-5F3FB656DA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608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79AAD-B9D0-4668-9061-0C007F4D4B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3127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FD0EA-4E7C-4EB4-A947-C90CCA4984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54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B8B52-BDB2-4F8E-BE6A-160B77204E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48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EEACE-7534-4B01-9ADB-C537983F5D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809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1899C-4E79-4022-9B41-B9531A07BE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64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702AF-3D50-40D3-9F2C-EE932B1F1C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6481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99703-4F1F-4B4C-9DED-559C43CB2D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32040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B5181-308E-4137-8623-CDD647287B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8194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2705C-1645-4720-A13E-115276DAF3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486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6D03B9-8170-457F-BEE5-3BE337D818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5515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78BB2-7B1B-4546-B1C6-56B1F15079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9609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D31A8-03E2-4435-95F5-D32625410C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1134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3072E-6646-4E4A-B4AB-03BE472B67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87686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F31702-FE57-45DC-978A-9C19FDE835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62290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C1554-B472-4409-BBFF-B53FB13D38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300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F37D6-B93B-4BA0-893B-0D5856DC47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2471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CF5B1-3ECA-44D5-BA89-FDC4B7330D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28803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>
              <a:solidFill>
                <a:srgbClr val="000000"/>
              </a:solidFill>
            </a:endParaRPr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>
                <a:cs typeface="B Titr" pitchFamily="2" charset="-7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6512683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cs typeface="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cs typeface="Lotus" panose="00000400000000000000" pitchFamily="2" charset="-78"/>
              </a:defRPr>
            </a:lvl1pPr>
            <a:lvl2pPr>
              <a:defRPr baseline="0">
                <a:cs typeface="Lotus" panose="00000400000000000000" pitchFamily="2" charset="-78"/>
              </a:defRPr>
            </a:lvl2pPr>
            <a:lvl3pPr>
              <a:defRPr baseline="0">
                <a:cs typeface="Lotus" panose="00000400000000000000" pitchFamily="2" charset="-78"/>
              </a:defRPr>
            </a:lvl3pPr>
            <a:lvl4pPr>
              <a:defRPr baseline="0">
                <a:cs typeface="Lotus" panose="00000400000000000000" pitchFamily="2" charset="-78"/>
              </a:defRPr>
            </a:lvl4pPr>
            <a:lvl5pPr>
              <a:defRPr baseline="0">
                <a:cs typeface="Lotus" panose="00000400000000000000" pitchFamily="2" charset="-7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50D61-D9FC-452F-B462-9DC8934B1E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9322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7B48F-B542-49EC-891A-7299A44EBE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22270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B2B48-C554-4D79-B94D-4510605835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20228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254D2-E84F-41C6-8A19-2366A000F2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37996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defTabSz="1019175" rtl="0" eaLnBrk="0" fontAlgn="base" hangingPunct="0">
              <a:spcBef>
                <a:spcPct val="0"/>
              </a:spcBef>
              <a:spcAft>
                <a:spcPct val="0"/>
              </a:spcAft>
              <a:defRPr lang="en-US" sz="3100" b="1" baseline="0" dirty="0">
                <a:solidFill>
                  <a:srgbClr val="E44EE4"/>
                </a:solidFill>
                <a:latin typeface="+mj-lt"/>
                <a:ea typeface="+mj-ea"/>
                <a:cs typeface="Titr" pitchFamily="2" charset="-78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1DAB0-00AF-43F1-A6A6-CA32100586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34828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2F136-C319-43C7-B4CF-3318B9519D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1351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DF82C-2647-4822-9E74-635EE273E1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84854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7C199-54DE-4183-9D6C-BAA81AADB6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85815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5DE90-E2E7-4593-AD2A-F4A836AD2F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8079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ADBF71-8922-43A3-AAD7-FDFAC712D7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3161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191A7C7-AFBB-45C7-9896-0133D8C655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52" r:id="rId1"/>
    <p:sldLayoutId id="2147485521" r:id="rId2"/>
    <p:sldLayoutId id="2147485522" r:id="rId3"/>
    <p:sldLayoutId id="2147485523" r:id="rId4"/>
    <p:sldLayoutId id="2147485524" r:id="rId5"/>
    <p:sldLayoutId id="2147485525" r:id="rId6"/>
    <p:sldLayoutId id="2147485526" r:id="rId7"/>
    <p:sldLayoutId id="2147485527" r:id="rId8"/>
    <p:sldLayoutId id="2147485528" r:id="rId9"/>
    <p:sldLayoutId id="2147485529" r:id="rId10"/>
    <p:sldLayoutId id="2147485530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75DEAD3-9E74-4153-9D8D-2727D1BE9F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31" r:id="rId1"/>
    <p:sldLayoutId id="2147485532" r:id="rId2"/>
    <p:sldLayoutId id="2147485533" r:id="rId3"/>
    <p:sldLayoutId id="2147485534" r:id="rId4"/>
    <p:sldLayoutId id="2147485535" r:id="rId5"/>
    <p:sldLayoutId id="2147485536" r:id="rId6"/>
    <p:sldLayoutId id="2147485537" r:id="rId7"/>
    <p:sldLayoutId id="2147485538" r:id="rId8"/>
    <p:sldLayoutId id="2147485539" r:id="rId9"/>
    <p:sldLayoutId id="2147485540" r:id="rId10"/>
    <p:sldLayoutId id="214748554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0000"/>
              </a:solidFill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EB5019-DDB8-400E-A001-9C8FD832D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53" r:id="rId1"/>
    <p:sldLayoutId id="2147485542" r:id="rId2"/>
    <p:sldLayoutId id="2147485543" r:id="rId3"/>
    <p:sldLayoutId id="2147485544" r:id="rId4"/>
    <p:sldLayoutId id="2147485545" r:id="rId5"/>
    <p:sldLayoutId id="2147485546" r:id="rId6"/>
    <p:sldLayoutId id="2147485547" r:id="rId7"/>
    <p:sldLayoutId id="2147485548" r:id="rId8"/>
    <p:sldLayoutId id="2147485549" r:id="rId9"/>
    <p:sldLayoutId id="2147485550" r:id="rId10"/>
    <p:sldLayoutId id="2147485551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+mj-cs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+mn-cs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200">
          <a:solidFill>
            <a:srgbClr val="0000FF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+mn-cs"/>
        </a:defRPr>
      </a:lvl4pPr>
      <a:lvl5pPr marL="2057400" indent="-2317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6.emf"/><Relationship Id="rId4" Type="http://schemas.openxmlformats.org/officeDocument/2006/relationships/oleObject" Target="../embeddings/Microsoft_Visio_2003-2010_Drawing1.vsd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7.emf"/><Relationship Id="rId4" Type="http://schemas.openxmlformats.org/officeDocument/2006/relationships/oleObject" Target="../embeddings/Microsoft_Visio_2003-2010_Drawing2.vsd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smtClean="0"/>
              <a:t>Design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CAA4EE1-F80B-48FD-A0C6-7189C6F31B1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9221" name="Object 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" b="-165"/>
          <a:stretch>
            <a:fillRect/>
          </a:stretch>
        </p:blipFill>
        <p:spPr bwMode="auto">
          <a:xfrm>
            <a:off x="1187450" y="971550"/>
            <a:ext cx="59436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685800" y="941388"/>
            <a:ext cx="7772400" cy="4648200"/>
          </a:xfrm>
        </p:spPr>
        <p:txBody>
          <a:bodyPr/>
          <a:lstStyle/>
          <a:p>
            <a:r>
              <a:rPr lang="fa-IR" altLang="en-US" smtClean="0"/>
              <a:t>توصیف نیازمندی‌های سیستم</a:t>
            </a:r>
            <a:r>
              <a:rPr lang="en-US" altLang="en-US" smtClean="0"/>
              <a:t>:</a:t>
            </a:r>
          </a:p>
          <a:p>
            <a:pPr lvl="1"/>
            <a:r>
              <a:rPr lang="fa-IR" altLang="en-US" smtClean="0"/>
              <a:t>نیازمندی اصلی: عملکرد مطلوب</a:t>
            </a:r>
          </a:p>
          <a:p>
            <a:pPr lvl="2"/>
            <a:r>
              <a:rPr lang="fa-IR" altLang="en-US" smtClean="0"/>
              <a:t>چکار کند (نه آنکه چگونه انجام دهد)</a:t>
            </a:r>
          </a:p>
          <a:p>
            <a:pPr lvl="3"/>
            <a:r>
              <a:rPr lang="fa-IR" altLang="en-US" sz="2200" smtClean="0"/>
              <a:t>بعداً به تدریج</a:t>
            </a:r>
          </a:p>
          <a:p>
            <a:pPr lvl="1"/>
            <a:r>
              <a:rPr lang="fa-IR" altLang="en-US" smtClean="0"/>
              <a:t>هزینة قابل قبول</a:t>
            </a:r>
          </a:p>
          <a:p>
            <a:pPr lvl="1"/>
            <a:r>
              <a:rPr lang="fa-IR" altLang="en-US" smtClean="0"/>
              <a:t>سرعت قابل قبول</a:t>
            </a:r>
          </a:p>
          <a:p>
            <a:pPr lvl="1"/>
            <a:r>
              <a:rPr lang="fa-IR" altLang="en-US" smtClean="0"/>
              <a:t>توان مصرفی قابل قبول</a:t>
            </a:r>
          </a:p>
          <a:p>
            <a:pPr lvl="1"/>
            <a:r>
              <a:rPr lang="fa-IR" altLang="en-US" smtClean="0"/>
              <a:t>نحوة ارتباط با محیط</a:t>
            </a:r>
          </a:p>
          <a:p>
            <a:pPr lvl="2"/>
            <a:r>
              <a:rPr lang="fa-IR" altLang="en-US" smtClean="0"/>
              <a:t>تعداد و نوع درگاه‌ها</a:t>
            </a:r>
          </a:p>
          <a:p>
            <a:pPr lvl="1"/>
            <a:r>
              <a:rPr lang="fa-IR" altLang="en-US" smtClean="0"/>
              <a:t>لزوم تخمین مناسب و واقع‌بینانه</a:t>
            </a:r>
          </a:p>
          <a:p>
            <a:pPr lvl="2"/>
            <a:r>
              <a:rPr lang="fa-IR" altLang="en-US" smtClean="0"/>
              <a:t>نیازهای فعلی + کمی حاشیه اطمینان برای ارتقا</a:t>
            </a:r>
          </a:p>
          <a:p>
            <a:pPr lvl="2"/>
            <a:endParaRPr lang="fa-IR" altLang="en-US" smtClean="0"/>
          </a:p>
          <a:p>
            <a:pPr lvl="2"/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39ED68F-94E3-40B3-AF2B-D45266E3797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طراحی معماری سطح سیستم</a:t>
            </a:r>
            <a:r>
              <a:rPr lang="en-US" altLang="en-US" smtClean="0"/>
              <a:t>:</a:t>
            </a:r>
          </a:p>
          <a:p>
            <a:pPr lvl="1"/>
            <a:r>
              <a:rPr lang="fa-IR" altLang="en-US" smtClean="0"/>
              <a:t>مجموعه اجزای اصلی سیستم و نحوه ارتباط آنها با یکدیگر و نیز با خارج از سیستم</a:t>
            </a:r>
          </a:p>
          <a:p>
            <a:pPr lvl="1"/>
            <a:r>
              <a:rPr lang="fa-IR" altLang="en-US" smtClean="0"/>
              <a:t>از چه بلوک‌های آماده‌ای استفاده شود؟</a:t>
            </a:r>
          </a:p>
          <a:p>
            <a:pPr lvl="1"/>
            <a:r>
              <a:rPr lang="fa-IR" altLang="en-US" smtClean="0"/>
              <a:t>پردازنده؟ یا همه سخت‌افزاری؟</a:t>
            </a:r>
          </a:p>
          <a:p>
            <a:pPr lvl="1"/>
            <a:r>
              <a:rPr lang="fa-IR" altLang="en-US" smtClean="0"/>
              <a:t>نیاز به حافظة خارجی؟ چقدر؟</a:t>
            </a:r>
          </a:p>
          <a:p>
            <a:pPr lvl="1"/>
            <a:r>
              <a:rPr lang="fa-IR" altLang="en-US" smtClean="0"/>
              <a:t>ارتباط با بیرون با </a:t>
            </a:r>
            <a:r>
              <a:rPr lang="en-US" altLang="en-US" sz="2400" smtClean="0"/>
              <a:t>RS232</a:t>
            </a:r>
            <a:r>
              <a:rPr lang="fa-IR" altLang="en-US" smtClean="0"/>
              <a:t> یا پروتکل سریع‌تر؟</a:t>
            </a:r>
          </a:p>
          <a:p>
            <a:pPr lvl="2"/>
            <a:endParaRPr lang="en-US" altLang="en-US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1191353-6418-416C-B9D3-978DF805C5D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85800" y="836613"/>
            <a:ext cx="7772400" cy="4648200"/>
          </a:xfrm>
        </p:spPr>
        <p:txBody>
          <a:bodyPr/>
          <a:lstStyle/>
          <a:p>
            <a:r>
              <a:rPr lang="fa-IR" altLang="en-US" smtClean="0"/>
              <a:t>انتخاب تراشه</a:t>
            </a:r>
            <a:r>
              <a:rPr lang="en-US" altLang="en-US" smtClean="0"/>
              <a:t>:</a:t>
            </a:r>
          </a:p>
          <a:p>
            <a:pPr lvl="1"/>
            <a:r>
              <a:rPr lang="fa-IR" altLang="en-US" smtClean="0"/>
              <a:t>فناوری برنامه‌ریزی</a:t>
            </a:r>
          </a:p>
          <a:p>
            <a:pPr lvl="1"/>
            <a:r>
              <a:rPr lang="fa-IR" altLang="en-US" smtClean="0"/>
              <a:t>میزان منابع منطقی</a:t>
            </a:r>
          </a:p>
          <a:p>
            <a:pPr lvl="1"/>
            <a:r>
              <a:rPr lang="fa-IR" altLang="en-US" smtClean="0"/>
              <a:t>میزان حافظة داخلی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7F115E3-D263-48BF-B164-E80278F81C0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5"/>
          <p:cNvGraphicFramePr>
            <a:graphicFrameLocks/>
          </p:cNvGraphicFramePr>
          <p:nvPr/>
        </p:nvGraphicFramePr>
        <p:xfrm>
          <a:off x="582613" y="3127375"/>
          <a:ext cx="8382003" cy="3254464"/>
        </p:xfrm>
        <a:graphic>
          <a:graphicData uri="http://schemas.openxmlformats.org/drawingml/2006/table">
            <a:tbl>
              <a:tblPr/>
              <a:tblGrid>
                <a:gridCol w="1197429">
                  <a:extLst>
                    <a:ext uri="{9D8B030D-6E8A-4147-A177-3AD203B41FA5}"/>
                  </a:extLst>
                </a:gridCol>
                <a:gridCol w="1197429">
                  <a:extLst>
                    <a:ext uri="{9D8B030D-6E8A-4147-A177-3AD203B41FA5}"/>
                  </a:extLst>
                </a:gridCol>
                <a:gridCol w="1197429">
                  <a:extLst>
                    <a:ext uri="{9D8B030D-6E8A-4147-A177-3AD203B41FA5}"/>
                  </a:extLst>
                </a:gridCol>
                <a:gridCol w="1197429">
                  <a:extLst>
                    <a:ext uri="{9D8B030D-6E8A-4147-A177-3AD203B41FA5}"/>
                  </a:extLst>
                </a:gridCol>
                <a:gridCol w="1197429">
                  <a:extLst>
                    <a:ext uri="{9D8B030D-6E8A-4147-A177-3AD203B41FA5}"/>
                  </a:extLst>
                </a:gridCol>
                <a:gridCol w="1197429">
                  <a:extLst>
                    <a:ext uri="{9D8B030D-6E8A-4147-A177-3AD203B41FA5}"/>
                  </a:extLst>
                </a:gridCol>
                <a:gridCol w="1197429">
                  <a:extLst>
                    <a:ext uri="{9D8B030D-6E8A-4147-A177-3AD203B41FA5}"/>
                  </a:extLst>
                </a:gridCol>
              </a:tblGrid>
              <a:tr h="46013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 dirty="0">
                          <a:effectLst/>
                        </a:rPr>
                        <a:t> 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Spartan-6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Artix-7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Kintex-7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Virtex-7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Kintex</a:t>
                      </a:r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UltraScale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Virtex </a:t>
                      </a:r>
                      <a:r>
                        <a:rPr lang="en-US" sz="1400" b="1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UltraScale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7B5D3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extLst>
                  <a:ext uri="{0D108BD9-81ED-4DB2-BD59-A6C34878D82A}"/>
                </a:extLst>
              </a:tr>
              <a:tr h="24678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Logic Cells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147,443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215,360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477, 760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1,954,560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1,160,880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4,407,480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24678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BlockRAM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4.8Mb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13Mb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34Mb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68Mb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76Mb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115Mb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extLst>
                  <a:ext uri="{0D108BD9-81ED-4DB2-BD59-A6C34878D82A}"/>
                </a:extLst>
              </a:tr>
              <a:tr h="24678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DSP Slices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180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740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1,920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3,600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5,520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2,880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46013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Transceiver Count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8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16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32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96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64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104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460135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Transceiver Speed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3.2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6.6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12.5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28.05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16.3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32.75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extLst>
                  <a:ext uri="{0D108BD9-81ED-4DB2-BD59-A6C34878D82A}"/>
                </a:extLst>
              </a:tr>
              <a:tr h="88684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Total Transceiver Bandwidth (full duplex)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50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211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800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2,784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2,086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5,101 Gb/s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/>
                </a:extLst>
              </a:tr>
              <a:tr h="246781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I/O Pins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576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500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effectLst/>
                        </a:rPr>
                        <a:t>500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1,200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832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effectLst/>
                        </a:rPr>
                        <a:t>1,456</a:t>
                      </a:r>
                    </a:p>
                  </a:txBody>
                  <a:tcPr marL="20909" marR="20909" marT="16714" marB="16714">
                    <a:lnL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E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F"/>
                    </a:solidFill>
                  </a:tcPr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58888" y="1196975"/>
            <a:ext cx="3889375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نوع امکانات داخلی</a:t>
            </a:r>
          </a:p>
          <a:p>
            <a:pPr lvl="2">
              <a:defRPr/>
            </a:pPr>
            <a:r>
              <a:rPr lang="fa-IR" altLang="en-US" kern="0" dirty="0" smtClean="0"/>
              <a:t>بلوک‌های محاسباتی</a:t>
            </a:r>
          </a:p>
          <a:p>
            <a:pPr lvl="2">
              <a:defRPr/>
            </a:pPr>
            <a:r>
              <a:rPr lang="fa-IR" altLang="en-US" kern="0" dirty="0" smtClean="0"/>
              <a:t>بلوک‌های ارتباط سریال سریع</a:t>
            </a:r>
          </a:p>
          <a:p>
            <a:pPr lvl="2">
              <a:defRPr/>
            </a:pPr>
            <a:r>
              <a:rPr lang="fa-IR" altLang="en-US" kern="0" dirty="0" smtClean="0"/>
              <a:t>بلوک پردازندة سخت</a:t>
            </a:r>
          </a:p>
          <a:p>
            <a:pPr lvl="2">
              <a:defRPr/>
            </a:pPr>
            <a:endParaRPr lang="fa-IR" altLang="en-US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Spartan 6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تراشه‌های یک خانواده</a:t>
            </a:r>
            <a:endParaRPr lang="en-US" altLang="en-US" smtClean="0"/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C676477A-AB3F-4C0F-A744-0971DF10BCCB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b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" y="2205038"/>
            <a:ext cx="8645525" cy="384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685800" y="836613"/>
            <a:ext cx="7772400" cy="4648200"/>
          </a:xfrm>
        </p:spPr>
        <p:txBody>
          <a:bodyPr/>
          <a:lstStyle/>
          <a:p>
            <a:r>
              <a:rPr lang="fa-IR" altLang="en-US" smtClean="0"/>
              <a:t>انتخاب تراشه</a:t>
            </a:r>
            <a:r>
              <a:rPr lang="en-US" altLang="en-US" smtClean="0"/>
              <a:t>:</a:t>
            </a:r>
            <a:endParaRPr lang="fa-IR" altLang="en-US" smtClean="0"/>
          </a:p>
          <a:p>
            <a:pPr lvl="1"/>
            <a:r>
              <a:rPr lang="fa-IR" altLang="en-US" smtClean="0"/>
              <a:t>نیاز به تخمین مساحت مورد نیاز</a:t>
            </a:r>
          </a:p>
          <a:p>
            <a:pPr lvl="2"/>
            <a:r>
              <a:rPr lang="fa-IR" altLang="en-US" smtClean="0"/>
              <a:t>بر اساس تجربة قبلی</a:t>
            </a:r>
          </a:p>
          <a:p>
            <a:pPr lvl="1"/>
            <a:r>
              <a:rPr lang="fa-IR" altLang="en-US" smtClean="0"/>
              <a:t>تعداد و نوع درگاه‌ها</a:t>
            </a:r>
          </a:p>
          <a:p>
            <a:pPr lvl="2"/>
            <a:r>
              <a:rPr lang="fa-IR" altLang="en-US" smtClean="0"/>
              <a:t>استاندارد پشتیبانی شده</a:t>
            </a:r>
          </a:p>
          <a:p>
            <a:pPr lvl="2"/>
            <a:r>
              <a:rPr lang="fa-IR" altLang="en-US" smtClean="0"/>
              <a:t>خصوصیات الکتریکی (قدرت راه‌اندازی)</a:t>
            </a:r>
            <a:endParaRPr lang="en-US" altLang="en-US" smtClean="0"/>
          </a:p>
          <a:p>
            <a:pPr lvl="1"/>
            <a:r>
              <a:rPr lang="fa-IR" altLang="en-US" smtClean="0"/>
              <a:t>سرعت تراشه</a:t>
            </a:r>
          </a:p>
          <a:p>
            <a:pPr lvl="2"/>
            <a:r>
              <a:rPr lang="fa-IR" altLang="en-US" smtClean="0"/>
              <a:t> تراشه‌های یکسان با درجة سرعت (</a:t>
            </a:r>
            <a:r>
              <a:rPr lang="en-US" altLang="en-US" sz="2000" smtClean="0"/>
              <a:t>speed grade</a:t>
            </a:r>
            <a:r>
              <a:rPr lang="fa-IR" altLang="en-US" smtClean="0"/>
              <a:t>) متفاوت</a:t>
            </a:r>
          </a:p>
          <a:p>
            <a:pPr lvl="1"/>
            <a:r>
              <a:rPr lang="fa-IR" altLang="en-US" smtClean="0"/>
              <a:t>توان مصرفی</a:t>
            </a:r>
          </a:p>
          <a:p>
            <a:pPr lvl="2"/>
            <a:r>
              <a:rPr lang="fa-IR" altLang="en-US" smtClean="0"/>
              <a:t>مثال: </a:t>
            </a:r>
            <a:r>
              <a:rPr lang="en-US" altLang="en-US" smtClean="0"/>
              <a:t>CoolRunner</a:t>
            </a:r>
            <a:r>
              <a:rPr lang="fa-IR" altLang="en-US" smtClean="0"/>
              <a:t> (</a:t>
            </a:r>
            <a:r>
              <a:rPr lang="en-US" altLang="en-US" sz="2000" smtClean="0"/>
              <a:t>Xilinx CPLD</a:t>
            </a:r>
            <a:r>
              <a:rPr lang="fa-IR" altLang="en-US" smtClean="0"/>
              <a:t>)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7C52D5F-9C17-4741-AE33-667CE958C69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85800" y="836613"/>
            <a:ext cx="7772400" cy="4648200"/>
          </a:xfrm>
        </p:spPr>
        <p:txBody>
          <a:bodyPr/>
          <a:lstStyle/>
          <a:p>
            <a:r>
              <a:rPr lang="fa-IR" altLang="en-US" smtClean="0"/>
              <a:t>انتخاب تراشه</a:t>
            </a:r>
            <a:r>
              <a:rPr lang="en-US" altLang="en-US" smtClean="0"/>
              <a:t>:</a:t>
            </a:r>
            <a:endParaRPr lang="fa-IR" altLang="en-US" smtClean="0"/>
          </a:p>
          <a:p>
            <a:pPr lvl="1"/>
            <a:r>
              <a:rPr lang="fa-IR" altLang="en-US" smtClean="0"/>
              <a:t>موجود بودن در بازار هنگام پایان پروژه (و مدتی بعد از آن)</a:t>
            </a:r>
          </a:p>
          <a:p>
            <a:pPr lvl="2"/>
            <a:r>
              <a:rPr lang="fa-IR" altLang="en-US" smtClean="0"/>
              <a:t>انتخاب جدیدترها</a:t>
            </a:r>
          </a:p>
          <a:p>
            <a:pPr lvl="2"/>
            <a:r>
              <a:rPr lang="fa-IR" altLang="en-US" smtClean="0"/>
              <a:t>نه جدیدترین (مشکلات و ضعفها مشخص شوند + قیمت پایین بیاید)</a:t>
            </a:r>
          </a:p>
          <a:p>
            <a:pPr lvl="1"/>
            <a:r>
              <a:rPr lang="fa-IR" altLang="en-US" smtClean="0"/>
              <a:t>دقیقاً متناسب با نیازمندی‌ها؟</a:t>
            </a:r>
          </a:p>
          <a:p>
            <a:pPr lvl="2"/>
            <a:r>
              <a:rPr lang="fa-IR" altLang="en-US" smtClean="0"/>
              <a:t>قدری حاشیة اطمینان برای توسعه و ارتقا</a:t>
            </a:r>
          </a:p>
          <a:p>
            <a:pPr lvl="2"/>
            <a:r>
              <a:rPr lang="fa-IR" altLang="en-US" smtClean="0"/>
              <a:t>حاشیة اطمینان بیش از حد </a:t>
            </a:r>
            <a:r>
              <a:rPr lang="fa-IR" altLang="en-US" smtClean="0">
                <a:sym typeface="Wingdings" panose="05000000000000000000" pitchFamily="2" charset="2"/>
              </a:rPr>
              <a:t> بالا رفتن هزینه</a:t>
            </a:r>
          </a:p>
          <a:p>
            <a:pPr lvl="3"/>
            <a:r>
              <a:rPr lang="fa-IR" altLang="en-US" smtClean="0">
                <a:sym typeface="Wingdings" panose="05000000000000000000" pitchFamily="2" charset="2"/>
              </a:rPr>
              <a:t> (بر خلاف </a:t>
            </a:r>
            <a:r>
              <a:rPr lang="en-US" altLang="en-US" smtClean="0">
                <a:sym typeface="Wingdings" panose="05000000000000000000" pitchFamily="2" charset="2"/>
              </a:rPr>
              <a:t>ASIC</a:t>
            </a:r>
            <a:r>
              <a:rPr lang="fa-IR" altLang="en-US" smtClean="0">
                <a:sym typeface="Wingdings" panose="05000000000000000000" pitchFamily="2" charset="2"/>
              </a:rPr>
              <a:t>)، تأثیر مستقیم در هزینة محصول</a:t>
            </a:r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E3DBD20-A9BE-46B7-A9BA-13D20DF5735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انتخاب بسته‌بندی (</a:t>
            </a:r>
            <a:r>
              <a:rPr lang="en-US" altLang="en-US" smtClean="0"/>
              <a:t>Package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635375" y="868363"/>
            <a:ext cx="4822825" cy="4648200"/>
          </a:xfrm>
        </p:spPr>
        <p:txBody>
          <a:bodyPr/>
          <a:lstStyle/>
          <a:p>
            <a:r>
              <a:rPr lang="fa-IR" altLang="en-US" smtClean="0"/>
              <a:t>رایج‌ترین:</a:t>
            </a:r>
          </a:p>
          <a:p>
            <a:pPr lvl="1"/>
            <a:r>
              <a:rPr lang="en-US" altLang="en-US" smtClean="0"/>
              <a:t>QFP</a:t>
            </a:r>
            <a:r>
              <a:rPr lang="fa-IR" altLang="en-US" smtClean="0"/>
              <a:t>: </a:t>
            </a:r>
            <a:r>
              <a:rPr lang="en-US" altLang="en-US" smtClean="0"/>
              <a:t>Quad Flat Pack</a:t>
            </a:r>
            <a:endParaRPr lang="fa-IR" altLang="en-US" smtClean="0"/>
          </a:p>
          <a:p>
            <a:pPr lvl="2"/>
            <a:r>
              <a:rPr lang="fa-IR" altLang="en-US" smtClean="0"/>
              <a:t>دسترسی به پایه‌های تراشه بر روی بورد به طور مستقیم برای بررسی سیگنال با اسیلوسکوپ</a:t>
            </a:r>
          </a:p>
          <a:p>
            <a:pPr lvl="2"/>
            <a:r>
              <a:rPr lang="fa-IR" altLang="en-US" smtClean="0"/>
              <a:t>مناسب برای نمونة اولیه</a:t>
            </a:r>
          </a:p>
          <a:p>
            <a:pPr lvl="2"/>
            <a:r>
              <a:rPr lang="fa-IR" altLang="en-US" smtClean="0"/>
              <a:t>نویزپذیری کمتر (فاصلة پایه‌ها)</a:t>
            </a:r>
          </a:p>
          <a:p>
            <a:pPr lvl="1"/>
            <a:r>
              <a:rPr lang="en-US" altLang="en-US" smtClean="0"/>
              <a:t>BGA</a:t>
            </a:r>
            <a:r>
              <a:rPr lang="fa-IR" altLang="en-US" smtClean="0"/>
              <a:t>: </a:t>
            </a:r>
            <a:r>
              <a:rPr lang="en-US" altLang="en-US" smtClean="0"/>
              <a:t>Ball-Grid Array</a:t>
            </a:r>
          </a:p>
          <a:p>
            <a:pPr lvl="2"/>
            <a:r>
              <a:rPr lang="fa-IR" altLang="en-US" smtClean="0"/>
              <a:t>اندازة کوچک‌تر پکیج</a:t>
            </a:r>
          </a:p>
          <a:p>
            <a:pPr lvl="2"/>
            <a:r>
              <a:rPr lang="fa-IR" altLang="en-US" smtClean="0"/>
              <a:t>انتشار حرارت بهتر</a:t>
            </a:r>
          </a:p>
          <a:p>
            <a:pPr lvl="2"/>
            <a:r>
              <a:rPr lang="fa-IR" altLang="en-US" smtClean="0"/>
              <a:t>مناسب برای تولید انبوه</a:t>
            </a:r>
          </a:p>
          <a:p>
            <a:pPr lvl="2"/>
            <a:endParaRPr lang="fa-IR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F39D061-8A01-4885-A452-496010FBA22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17413" name="Picture 2" descr="TQFPTQF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92150"/>
            <a:ext cx="3167062" cy="308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4" descr="GE484BGA-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644900"/>
            <a:ext cx="3362325" cy="242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4648200"/>
          </a:xfrm>
        </p:spPr>
        <p:txBody>
          <a:bodyPr/>
          <a:lstStyle/>
          <a:p>
            <a:r>
              <a:rPr lang="fa-IR" altLang="en-US" smtClean="0"/>
              <a:t>انتساب پایه‌ها:</a:t>
            </a:r>
          </a:p>
          <a:p>
            <a:pPr lvl="1"/>
            <a:r>
              <a:rPr lang="fa-IR" altLang="en-US" smtClean="0"/>
              <a:t>بر اساس طرح کلی بورد </a:t>
            </a:r>
          </a:p>
          <a:p>
            <a:pPr lvl="2"/>
            <a:r>
              <a:rPr lang="fa-IR" altLang="en-US" smtClean="0"/>
              <a:t>محل قرارگیری </a:t>
            </a:r>
            <a:r>
              <a:rPr lang="en-US" altLang="en-US" smtClean="0"/>
              <a:t>PLD</a:t>
            </a:r>
            <a:endParaRPr lang="fa-IR" altLang="en-US" smtClean="0"/>
          </a:p>
          <a:p>
            <a:pPr lvl="2"/>
            <a:r>
              <a:rPr lang="fa-IR" altLang="en-US" smtClean="0"/>
              <a:t>محل قرارگیری سایر تراشه‌ها</a:t>
            </a:r>
          </a:p>
          <a:p>
            <a:pPr lvl="1"/>
            <a:r>
              <a:rPr lang="fa-IR" altLang="en-US" smtClean="0"/>
              <a:t>پایه‌ها</a:t>
            </a:r>
          </a:p>
          <a:p>
            <a:pPr lvl="2"/>
            <a:r>
              <a:rPr lang="fa-IR" altLang="en-US" smtClean="0"/>
              <a:t>عام‌منظوره </a:t>
            </a:r>
            <a:r>
              <a:rPr lang="fa-IR" altLang="en-US" smtClean="0">
                <a:sym typeface="Wingdings" panose="05000000000000000000" pitchFamily="2" charset="2"/>
              </a:rPr>
              <a:t> انتخاب‌های متعدد</a:t>
            </a:r>
            <a:endParaRPr lang="fa-IR" altLang="en-US" smtClean="0"/>
          </a:p>
          <a:p>
            <a:pPr lvl="2"/>
            <a:r>
              <a:rPr lang="fa-IR" altLang="en-US" smtClean="0"/>
              <a:t>خاص‌منظوره:  </a:t>
            </a:r>
            <a:r>
              <a:rPr lang="fa-IR" altLang="en-US" smtClean="0">
                <a:sym typeface="Wingdings" panose="05000000000000000000" pitchFamily="2" charset="2"/>
              </a:rPr>
              <a:t> انتخاب‌های معدود</a:t>
            </a:r>
            <a:endParaRPr lang="fa-IR" altLang="en-US" smtClean="0"/>
          </a:p>
          <a:p>
            <a:pPr lvl="3"/>
            <a:r>
              <a:rPr lang="fa-IR" altLang="en-US" smtClean="0"/>
              <a:t>کلاک سراسری</a:t>
            </a:r>
          </a:p>
          <a:p>
            <a:pPr lvl="3"/>
            <a:r>
              <a:rPr lang="fa-IR" altLang="en-US" smtClean="0"/>
              <a:t>بازنشانی (</a:t>
            </a:r>
            <a:r>
              <a:rPr lang="en-US" altLang="en-US" smtClean="0"/>
              <a:t>reset</a:t>
            </a:r>
            <a:r>
              <a:rPr lang="fa-IR" altLang="en-US" smtClean="0"/>
              <a:t>) سراسری</a:t>
            </a:r>
          </a:p>
          <a:p>
            <a:pPr lvl="1"/>
            <a:r>
              <a:rPr lang="fa-IR" altLang="en-US" smtClean="0"/>
              <a:t>لزوم آشنایی با ساختار تراشه‌ها، وظایف پایه‌ها، امکانات پایه‌ها (مقاومت بالابر، درین باز، ارتباط سریال با سرعت بسیار بالا، ...)</a:t>
            </a:r>
          </a:p>
          <a:p>
            <a:pPr lvl="1"/>
            <a:endParaRPr lang="en-US" altLang="en-US" smtClean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31350ED-81FC-4073-8FFB-D11DBDFA8C6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19461" name="Picture 4" descr="High Speed Application board with adc, dac and large virtex FPG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55675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1697037"/>
          </a:xfrm>
        </p:spPr>
        <p:txBody>
          <a:bodyPr/>
          <a:lstStyle/>
          <a:p>
            <a:r>
              <a:rPr lang="fa-IR" altLang="en-US" smtClean="0"/>
              <a:t>انتساب پایه‌ها:</a:t>
            </a:r>
          </a:p>
          <a:p>
            <a:pPr lvl="1"/>
            <a:r>
              <a:rPr lang="fa-IR" altLang="en-US" smtClean="0"/>
              <a:t>در مراحل گوناگون تغییر می‌کند</a:t>
            </a:r>
          </a:p>
          <a:p>
            <a:pPr lvl="1"/>
            <a:r>
              <a:rPr lang="fa-IR" altLang="en-US" smtClean="0"/>
              <a:t>اما نیاز به یک تصمیم اولیه بر اساس اطلاعات اولیه</a:t>
            </a:r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431B4CC-03E3-4C02-B732-7CD36F0817C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971550" y="3068638"/>
            <a:ext cx="2808288" cy="11525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1019175" eaLnBrk="1" hangingPunct="1">
              <a:defRPr/>
            </a:pPr>
            <a:r>
              <a:rPr lang="fa-IR" b="1" dirty="0">
                <a:cs typeface="B Nazanin" pitchFamily="2" charset="-78"/>
              </a:rPr>
              <a:t>تیم طراحی درون تراشه</a:t>
            </a:r>
            <a:endParaRPr lang="en-US" b="1" dirty="0">
              <a:cs typeface="B Nazanin" pitchFamily="2" charset="-78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5148263" y="3068638"/>
            <a:ext cx="2808287" cy="11525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1019175" eaLnBrk="1" hangingPunct="1">
              <a:defRPr/>
            </a:pPr>
            <a:r>
              <a:rPr lang="fa-IR" b="1" dirty="0">
                <a:cs typeface="B Nazanin" pitchFamily="2" charset="-78"/>
              </a:rPr>
              <a:t>تیم طراحی بورد</a:t>
            </a:r>
            <a:endParaRPr lang="en-US" b="1" dirty="0">
              <a:cs typeface="B Nazanin" pitchFamily="2" charset="-78"/>
            </a:endParaRPr>
          </a:p>
        </p:txBody>
      </p:sp>
      <p:sp>
        <p:nvSpPr>
          <p:cNvPr id="21511" name="Curved Down Arrow 6"/>
          <p:cNvSpPr>
            <a:spLocks noChangeArrowheads="1"/>
          </p:cNvSpPr>
          <p:nvPr/>
        </p:nvSpPr>
        <p:spPr bwMode="auto">
          <a:xfrm>
            <a:off x="2195513" y="2636838"/>
            <a:ext cx="4464050" cy="431800"/>
          </a:xfrm>
          <a:prstGeom prst="curvedDownArrow">
            <a:avLst>
              <a:gd name="adj1" fmla="val 25032"/>
              <a:gd name="adj2" fmla="val 50016"/>
              <a:gd name="adj3" fmla="val 25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1512" name="Curved Down Arrow 7"/>
          <p:cNvSpPr>
            <a:spLocks noChangeArrowheads="1"/>
          </p:cNvSpPr>
          <p:nvPr/>
        </p:nvSpPr>
        <p:spPr bwMode="auto">
          <a:xfrm rot="10800000">
            <a:off x="2124075" y="4221163"/>
            <a:ext cx="4464050" cy="431800"/>
          </a:xfrm>
          <a:prstGeom prst="curvedDownArrow">
            <a:avLst>
              <a:gd name="adj1" fmla="val 25032"/>
              <a:gd name="adj2" fmla="val 50016"/>
              <a:gd name="adj3" fmla="val 25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4716463" y="4540250"/>
            <a:ext cx="4248150" cy="169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fa-IR" sz="2000" kern="0" dirty="0">
              <a:latin typeface="+mn-lt"/>
              <a:cs typeface="B Mitra" pitchFamily="2" charset="-78"/>
            </a:endParaRP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000" kern="0" dirty="0">
                <a:latin typeface="+mn-lt"/>
                <a:cs typeface="B Mitra" pitchFamily="2" charset="-78"/>
              </a:rPr>
              <a:t>محل قرارگیری تراشه‌ها روی بورد</a:t>
            </a: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000" kern="0" dirty="0">
                <a:latin typeface="+mn-lt"/>
                <a:cs typeface="B Mitra" pitchFamily="2" charset="-78"/>
              </a:rPr>
              <a:t>مسیریابی آسان اتصالات روی بورد</a:t>
            </a: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000" kern="0" dirty="0">
                <a:latin typeface="+mn-lt"/>
                <a:cs typeface="B Mitra" pitchFamily="2" charset="-78"/>
              </a:rPr>
              <a:t>تمامیت سیگنال (</a:t>
            </a:r>
            <a:r>
              <a:rPr lang="en-US" sz="1800" kern="0" dirty="0">
                <a:latin typeface="+mn-lt"/>
                <a:cs typeface="B Mitra" pitchFamily="2" charset="-78"/>
              </a:rPr>
              <a:t>signal integrity</a:t>
            </a:r>
            <a:r>
              <a:rPr lang="fa-IR" sz="2000" kern="0" dirty="0">
                <a:latin typeface="+mn-lt"/>
                <a:cs typeface="B Mitra" pitchFamily="2" charset="-78"/>
              </a:rPr>
              <a:t>)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611188" y="4540250"/>
            <a:ext cx="4248150" cy="169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fa-IR" sz="2000" kern="0" dirty="0">
              <a:latin typeface="+mn-lt"/>
              <a:cs typeface="B Mitra" pitchFamily="2" charset="-78"/>
            </a:endParaRP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000" kern="0" dirty="0">
                <a:latin typeface="+mn-lt"/>
                <a:cs typeface="B Mitra" pitchFamily="2" charset="-78"/>
              </a:rPr>
              <a:t>محل قرارگیری اجزای داخل تراشه</a:t>
            </a: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000" kern="0" dirty="0">
                <a:latin typeface="+mn-lt"/>
                <a:cs typeface="B Mitra" pitchFamily="2" charset="-78"/>
              </a:rPr>
              <a:t>مسیریابی آسان اتصالات داخلی</a:t>
            </a: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000" kern="0" dirty="0">
                <a:latin typeface="+mn-lt"/>
                <a:cs typeface="B Mitra" pitchFamily="2" charset="-78"/>
              </a:rPr>
              <a:t>سرعت کلاک</a:t>
            </a: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4500563" y="2492375"/>
            <a:ext cx="0" cy="3744913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accent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23555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23556" name="Object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" b="-165"/>
          <a:stretch>
            <a:fillRect/>
          </a:stretch>
        </p:blipFill>
        <p:spPr bwMode="auto">
          <a:xfrm>
            <a:off x="1331913" y="1052513"/>
            <a:ext cx="5943600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685800" y="1373188"/>
            <a:ext cx="7772400" cy="1695450"/>
          </a:xfrm>
        </p:spPr>
        <p:txBody>
          <a:bodyPr/>
          <a:lstStyle/>
          <a:p>
            <a:r>
              <a:rPr lang="fa-IR" altLang="en-US" smtClean="0"/>
              <a:t>رابطة انتخاب بسته‌بندی با انتساب پایه‌ها:</a:t>
            </a:r>
          </a:p>
          <a:p>
            <a:pPr lvl="1"/>
            <a:r>
              <a:rPr lang="en-US" altLang="en-US" sz="2400" smtClean="0"/>
              <a:t>BGA</a:t>
            </a:r>
            <a:r>
              <a:rPr lang="fa-IR" altLang="en-US" smtClean="0"/>
              <a:t> غیرقابل تغییر پس از قرارگیری روی بورد</a:t>
            </a:r>
          </a:p>
          <a:p>
            <a:pPr lvl="2"/>
            <a:r>
              <a:rPr lang="fa-IR" altLang="en-US" smtClean="0"/>
              <a:t> </a:t>
            </a:r>
            <a:r>
              <a:rPr lang="fa-IR" altLang="en-US" smtClean="0">
                <a:sym typeface="Wingdings" panose="05000000000000000000" pitchFamily="2" charset="2"/>
              </a:rPr>
              <a:t> انتساب حساب شدة پایه‌ها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انتساب چند پایة اضافی برای تغییرات بعدی</a:t>
            </a:r>
            <a:endParaRPr lang="fa-IR" altLang="en-US" smtClean="0"/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CDB6DDB-AD5B-4F3E-9664-758B4DB6AA8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1697038"/>
          </a:xfrm>
        </p:spPr>
        <p:txBody>
          <a:bodyPr/>
          <a:lstStyle/>
          <a:p>
            <a:r>
              <a:rPr lang="fa-IR" altLang="en-US" smtClean="0"/>
              <a:t>طراحی و درستی‌سنجی درون تراشه:</a:t>
            </a:r>
          </a:p>
          <a:p>
            <a:pPr lvl="1"/>
            <a:r>
              <a:rPr lang="fa-IR" altLang="en-US" smtClean="0"/>
              <a:t>مرحلة اصلی و زمان‌بر</a:t>
            </a:r>
          </a:p>
          <a:p>
            <a:pPr lvl="1"/>
            <a:r>
              <a:rPr lang="fa-IR" altLang="en-US" smtClean="0"/>
              <a:t>توضیح مفصل تکنیک‌ها: در طول نیمسال</a:t>
            </a:r>
          </a:p>
          <a:p>
            <a:pPr lvl="1"/>
            <a:r>
              <a:rPr lang="fa-IR" altLang="en-US" smtClean="0"/>
              <a:t>مختصر: در ادامه</a:t>
            </a:r>
          </a:p>
          <a:p>
            <a:pPr lvl="1"/>
            <a:endParaRPr lang="en-US" altLang="en-US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3D943C4-C130-4DC0-8BA4-49516BCF3D3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465138" y="981075"/>
            <a:ext cx="1928812" cy="1000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>
              <a:defRPr/>
            </a:pPr>
            <a:endParaRPr lang="en-US">
              <a:cs typeface="Arial" charset="0"/>
            </a:endParaRPr>
          </a:p>
        </p:txBody>
      </p:sp>
      <p:sp>
        <p:nvSpPr>
          <p:cNvPr id="29702" name="TextBox 6"/>
          <p:cNvSpPr txBox="1">
            <a:spLocks noChangeArrowheads="1"/>
          </p:cNvSpPr>
          <p:nvPr/>
        </p:nvSpPr>
        <p:spPr bwMode="auto">
          <a:xfrm>
            <a:off x="679450" y="1123950"/>
            <a:ext cx="1428750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Design Entry</a:t>
            </a:r>
          </a:p>
        </p:txBody>
      </p:sp>
      <p:sp>
        <p:nvSpPr>
          <p:cNvPr id="7" name="Rounded Rectangle 6"/>
          <p:cNvSpPr/>
          <p:nvPr/>
        </p:nvSpPr>
        <p:spPr bwMode="auto">
          <a:xfrm>
            <a:off x="465138" y="2481263"/>
            <a:ext cx="1928812" cy="1000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>
              <a:defRPr/>
            </a:pPr>
            <a:endParaRPr lang="en-US">
              <a:cs typeface="Arial" charset="0"/>
            </a:endParaRPr>
          </a:p>
        </p:txBody>
      </p:sp>
      <p:sp>
        <p:nvSpPr>
          <p:cNvPr id="29704" name="TextBox 8"/>
          <p:cNvSpPr txBox="1">
            <a:spLocks noChangeArrowheads="1"/>
          </p:cNvSpPr>
          <p:nvPr/>
        </p:nvSpPr>
        <p:spPr bwMode="auto">
          <a:xfrm>
            <a:off x="679450" y="2624138"/>
            <a:ext cx="14287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Synthesis</a:t>
            </a:r>
          </a:p>
        </p:txBody>
      </p:sp>
      <p:sp>
        <p:nvSpPr>
          <p:cNvPr id="9" name="Rounded Rectangle 8"/>
          <p:cNvSpPr/>
          <p:nvPr/>
        </p:nvSpPr>
        <p:spPr bwMode="auto">
          <a:xfrm>
            <a:off x="465138" y="3981450"/>
            <a:ext cx="1928812" cy="100012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>
              <a:defRPr/>
            </a:pPr>
            <a:endParaRPr lang="en-US">
              <a:cs typeface="Arial" charset="0"/>
            </a:endParaRPr>
          </a:p>
        </p:txBody>
      </p:sp>
      <p:sp>
        <p:nvSpPr>
          <p:cNvPr id="29706" name="TextBox 10"/>
          <p:cNvSpPr txBox="1">
            <a:spLocks noChangeArrowheads="1"/>
          </p:cNvSpPr>
          <p:nvPr/>
        </p:nvSpPr>
        <p:spPr bwMode="auto">
          <a:xfrm>
            <a:off x="679450" y="4124325"/>
            <a:ext cx="1428750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Fitting</a:t>
            </a:r>
          </a:p>
        </p:txBody>
      </p:sp>
      <p:cxnSp>
        <p:nvCxnSpPr>
          <p:cNvPr id="29707" name="Straight Arrow Connector 12"/>
          <p:cNvCxnSpPr>
            <a:cxnSpLocks noChangeShapeType="1"/>
            <a:stCxn id="5" idx="2"/>
            <a:endCxn id="7" idx="0"/>
          </p:cNvCxnSpPr>
          <p:nvPr/>
        </p:nvCxnSpPr>
        <p:spPr bwMode="auto">
          <a:xfrm rot="5400000">
            <a:off x="1179512" y="2230438"/>
            <a:ext cx="500063" cy="1588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8" name="Straight Arrow Connector 13"/>
          <p:cNvCxnSpPr>
            <a:cxnSpLocks noChangeShapeType="1"/>
          </p:cNvCxnSpPr>
          <p:nvPr/>
        </p:nvCxnSpPr>
        <p:spPr bwMode="auto">
          <a:xfrm rot="5400000">
            <a:off x="1214438" y="3730625"/>
            <a:ext cx="500062" cy="1588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9" name="Straight Arrow Connector 14"/>
          <p:cNvCxnSpPr>
            <a:cxnSpLocks noChangeShapeType="1"/>
          </p:cNvCxnSpPr>
          <p:nvPr/>
        </p:nvCxnSpPr>
        <p:spPr bwMode="auto">
          <a:xfrm rot="5400000">
            <a:off x="1216025" y="5230813"/>
            <a:ext cx="500063" cy="1587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0" name="TextBox 15"/>
          <p:cNvSpPr txBox="1">
            <a:spLocks noChangeArrowheads="1"/>
          </p:cNvSpPr>
          <p:nvPr/>
        </p:nvSpPr>
        <p:spPr bwMode="auto">
          <a:xfrm>
            <a:off x="179388" y="5314950"/>
            <a:ext cx="26431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20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Configuration Bitstream</a:t>
            </a:r>
          </a:p>
        </p:txBody>
      </p:sp>
      <p:sp>
        <p:nvSpPr>
          <p:cNvPr id="29711" name="Rounded Rectangle 16"/>
          <p:cNvSpPr>
            <a:spLocks noChangeArrowheads="1"/>
          </p:cNvSpPr>
          <p:nvPr/>
        </p:nvSpPr>
        <p:spPr bwMode="auto">
          <a:xfrm>
            <a:off x="2751138" y="1981200"/>
            <a:ext cx="1428750" cy="50006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712" name="TextBox 17"/>
          <p:cNvSpPr txBox="1">
            <a:spLocks noChangeArrowheads="1"/>
          </p:cNvSpPr>
          <p:nvPr/>
        </p:nvSpPr>
        <p:spPr bwMode="auto">
          <a:xfrm>
            <a:off x="2679700" y="2124075"/>
            <a:ext cx="157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Simulation</a:t>
            </a: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29713" name="Straight Arrow Connector 18"/>
          <p:cNvCxnSpPr>
            <a:cxnSpLocks noChangeShapeType="1"/>
            <a:endCxn id="29711" idx="1"/>
          </p:cNvCxnSpPr>
          <p:nvPr/>
        </p:nvCxnSpPr>
        <p:spPr bwMode="auto">
          <a:xfrm>
            <a:off x="1444625" y="2230438"/>
            <a:ext cx="1306513" cy="0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4" name="Rounded Rectangle 24"/>
          <p:cNvSpPr>
            <a:spLocks noChangeArrowheads="1"/>
          </p:cNvSpPr>
          <p:nvPr/>
        </p:nvSpPr>
        <p:spPr bwMode="auto">
          <a:xfrm>
            <a:off x="2787650" y="3481388"/>
            <a:ext cx="1428750" cy="500062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715" name="TextBox 25"/>
          <p:cNvSpPr txBox="1">
            <a:spLocks noChangeArrowheads="1"/>
          </p:cNvSpPr>
          <p:nvPr/>
        </p:nvSpPr>
        <p:spPr bwMode="auto">
          <a:xfrm>
            <a:off x="2716213" y="3552825"/>
            <a:ext cx="157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Simulation</a:t>
            </a: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29716" name="Straight Arrow Connector 26"/>
          <p:cNvCxnSpPr>
            <a:cxnSpLocks noChangeShapeType="1"/>
            <a:endCxn id="29714" idx="1"/>
          </p:cNvCxnSpPr>
          <p:nvPr/>
        </p:nvCxnSpPr>
        <p:spPr bwMode="auto">
          <a:xfrm>
            <a:off x="1470025" y="3729038"/>
            <a:ext cx="1317625" cy="3175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7" name="Rounded Rectangle 28"/>
          <p:cNvSpPr>
            <a:spLocks noChangeArrowheads="1"/>
          </p:cNvSpPr>
          <p:nvPr/>
        </p:nvSpPr>
        <p:spPr bwMode="auto">
          <a:xfrm>
            <a:off x="2787650" y="4981575"/>
            <a:ext cx="1428750" cy="500063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718" name="TextBox 29"/>
          <p:cNvSpPr txBox="1">
            <a:spLocks noChangeArrowheads="1"/>
          </p:cNvSpPr>
          <p:nvPr/>
        </p:nvSpPr>
        <p:spPr bwMode="auto">
          <a:xfrm>
            <a:off x="2716213" y="5053013"/>
            <a:ext cx="157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ctr" rtl="0">
              <a:spcBef>
                <a:spcPct val="0"/>
              </a:spcBef>
              <a:buFontTx/>
              <a:buNone/>
            </a:pPr>
            <a:r>
              <a:rPr lang="en-US" altLang="en-US" sz="18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Simulation</a:t>
            </a: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29719" name="Straight Arrow Connector 30"/>
          <p:cNvCxnSpPr>
            <a:cxnSpLocks noChangeShapeType="1"/>
            <a:endCxn id="29717" idx="1"/>
          </p:cNvCxnSpPr>
          <p:nvPr/>
        </p:nvCxnSpPr>
        <p:spPr bwMode="auto">
          <a:xfrm>
            <a:off x="1482725" y="5227638"/>
            <a:ext cx="1304925" cy="4762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685800" y="1373188"/>
            <a:ext cx="7772400" cy="1695450"/>
          </a:xfrm>
        </p:spPr>
        <p:txBody>
          <a:bodyPr/>
          <a:lstStyle/>
          <a:p>
            <a:r>
              <a:rPr lang="fa-IR" altLang="en-US" smtClean="0"/>
              <a:t>پیاده‌سازی درون تراشه: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fa-IR" altLang="en-US" smtClean="0"/>
              <a:t>طراحی و درستی‌سنجی طرح با ابزارها</a:t>
            </a:r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fa-IR" altLang="en-US" smtClean="0"/>
              <a:t>پیاده‌سازی:</a:t>
            </a:r>
          </a:p>
          <a:p>
            <a:pPr lvl="2"/>
            <a:r>
              <a:rPr lang="fa-IR" altLang="en-US" smtClean="0"/>
              <a:t>تشکیل دنبالة بیتی</a:t>
            </a:r>
          </a:p>
          <a:p>
            <a:pPr lvl="2"/>
            <a:r>
              <a:rPr lang="fa-IR" altLang="en-US" smtClean="0"/>
              <a:t>انتقال به تراشه (یا حافظة بیرونی تراشه)</a:t>
            </a:r>
          </a:p>
          <a:p>
            <a:pPr lvl="2"/>
            <a:r>
              <a:rPr lang="fa-IR" altLang="en-US" smtClean="0"/>
              <a:t>کابل </a:t>
            </a:r>
            <a:r>
              <a:rPr lang="en-US" altLang="en-US" sz="2000" smtClean="0"/>
              <a:t>JTAG</a:t>
            </a:r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44B36BE-17AA-4669-BA1C-C9569353C0A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1749" name="Object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" b="-165"/>
          <a:stretch>
            <a:fillRect/>
          </a:stretch>
        </p:blipFill>
        <p:spPr bwMode="auto">
          <a:xfrm>
            <a:off x="323850" y="1052513"/>
            <a:ext cx="36718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685800" y="1373188"/>
            <a:ext cx="7772400" cy="1695450"/>
          </a:xfrm>
        </p:spPr>
        <p:txBody>
          <a:bodyPr/>
          <a:lstStyle/>
          <a:p>
            <a:r>
              <a:rPr lang="fa-IR" altLang="en-US" smtClean="0"/>
              <a:t>طراحی و ساخت بورد:</a:t>
            </a:r>
          </a:p>
          <a:p>
            <a:pPr lvl="1"/>
            <a:r>
              <a:rPr lang="fa-IR" altLang="en-US" smtClean="0"/>
              <a:t>در نظر گرفتن امکانات کافی روی بورد</a:t>
            </a:r>
          </a:p>
          <a:p>
            <a:pPr lvl="2"/>
            <a:r>
              <a:rPr lang="fa-IR" altLang="en-US" smtClean="0"/>
              <a:t>اجتناب از دوباره‌کاری و ساخت مجدد</a:t>
            </a:r>
          </a:p>
          <a:p>
            <a:pPr lvl="1"/>
            <a:r>
              <a:rPr lang="fa-IR" altLang="en-US" smtClean="0"/>
              <a:t>تعداد لایه‌ها</a:t>
            </a:r>
          </a:p>
          <a:p>
            <a:pPr lvl="1"/>
            <a:r>
              <a:rPr lang="fa-IR" altLang="en-US" smtClean="0"/>
              <a:t>لوازم تسهیل آزمون</a:t>
            </a:r>
          </a:p>
          <a:p>
            <a:pPr lvl="2"/>
            <a:r>
              <a:rPr lang="fa-IR" altLang="en-US" smtClean="0"/>
              <a:t>برای دادن داده از بیرون (سوییچ و ...)</a:t>
            </a:r>
          </a:p>
          <a:p>
            <a:pPr lvl="2"/>
            <a:r>
              <a:rPr lang="fa-IR" altLang="en-US" smtClean="0"/>
              <a:t>برای دیدن نتایج از بیرون (</a:t>
            </a:r>
            <a:r>
              <a:rPr lang="en-US" altLang="en-US" sz="2000" smtClean="0"/>
              <a:t>LED</a:t>
            </a:r>
            <a:r>
              <a:rPr lang="fa-IR" altLang="en-US" sz="2000" smtClean="0"/>
              <a:t>، </a:t>
            </a:r>
            <a:r>
              <a:rPr lang="en-US" altLang="en-US" sz="2000" smtClean="0"/>
              <a:t>LCD</a:t>
            </a:r>
            <a:r>
              <a:rPr lang="fa-IR" altLang="en-US" sz="2000" smtClean="0"/>
              <a:t>، ...)</a:t>
            </a:r>
          </a:p>
          <a:p>
            <a:pPr lvl="2"/>
            <a:endParaRPr lang="fa-IR" altLang="en-US" smtClean="0"/>
          </a:p>
          <a:p>
            <a:pPr lvl="2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A214034-97DC-43A1-B6F3-78B26B52E68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3797" name="Object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" b="-165"/>
          <a:stretch>
            <a:fillRect/>
          </a:stretch>
        </p:blipFill>
        <p:spPr bwMode="auto">
          <a:xfrm>
            <a:off x="323850" y="331788"/>
            <a:ext cx="36718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ساخت بورد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1CCFC15-3D68-40BC-9BD4-853774AEEE3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5845" name="Picture 2" descr="http://www.tpub.com/neets/book14/006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1684338"/>
            <a:ext cx="30670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6" name="Picture 2" descr="http://www.jycircuitboard.com/static/upload/images/pcb-multilayer-fabricati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052513"/>
            <a:ext cx="3095625" cy="185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Picture 4" descr="http://unicorpindia.com/sample-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3500438"/>
            <a:ext cx="1905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جریان طراحی</a:t>
            </a:r>
            <a:endParaRPr lang="en-US" altLang="en-US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1697037"/>
          </a:xfrm>
        </p:spPr>
        <p:txBody>
          <a:bodyPr/>
          <a:lstStyle/>
          <a:p>
            <a:r>
              <a:rPr lang="fa-IR" altLang="en-US" smtClean="0"/>
              <a:t>مستندسازی پروژه:</a:t>
            </a:r>
          </a:p>
          <a:p>
            <a:pPr lvl="1"/>
            <a:r>
              <a:rPr lang="fa-IR" altLang="en-US" smtClean="0"/>
              <a:t>در حین انجام پروژه:</a:t>
            </a:r>
          </a:p>
          <a:p>
            <a:pPr lvl="2"/>
            <a:r>
              <a:rPr lang="fa-IR" altLang="en-US" smtClean="0"/>
              <a:t>مقاوم در برابر تغییرات پرسنل</a:t>
            </a:r>
          </a:p>
          <a:p>
            <a:pPr lvl="2"/>
            <a:r>
              <a:rPr lang="fa-IR" altLang="en-US" smtClean="0"/>
              <a:t>آگاهی تیم‌ها از فعالیت‌های یکدیگر</a:t>
            </a:r>
          </a:p>
          <a:p>
            <a:pPr lvl="2"/>
            <a:r>
              <a:rPr lang="fa-IR" altLang="en-US" smtClean="0"/>
              <a:t>آگاهی افراد یک تیم از یکدیگر</a:t>
            </a:r>
          </a:p>
          <a:p>
            <a:pPr lvl="2"/>
            <a:r>
              <a:rPr lang="fa-IR" altLang="en-US" smtClean="0"/>
              <a:t>ثبت روند انجام پروژه + تحلیل تصمیمات</a:t>
            </a:r>
          </a:p>
          <a:p>
            <a:r>
              <a:rPr lang="fa-IR" altLang="en-US" smtClean="0"/>
              <a:t>تحلیل پروژه:</a:t>
            </a:r>
          </a:p>
          <a:p>
            <a:pPr lvl="1"/>
            <a:r>
              <a:rPr lang="fa-IR" altLang="en-US" smtClean="0"/>
              <a:t>پس از اتمام پروژه</a:t>
            </a:r>
          </a:p>
          <a:p>
            <a:pPr lvl="1"/>
            <a:r>
              <a:rPr lang="fa-IR" altLang="en-US" smtClean="0"/>
              <a:t>بررسی نقاط ضعف و قوت</a:t>
            </a:r>
          </a:p>
          <a:p>
            <a:pPr lvl="1"/>
            <a:r>
              <a:rPr lang="fa-IR" altLang="en-US" smtClean="0"/>
              <a:t>استفاده از آنها در پروژه‌های آتی</a:t>
            </a:r>
          </a:p>
          <a:p>
            <a:pPr lvl="1"/>
            <a:r>
              <a:rPr lang="fa-IR" altLang="en-US" smtClean="0"/>
              <a:t>بهبود سیستم در آینده</a:t>
            </a:r>
          </a:p>
          <a:p>
            <a:pPr lvl="2"/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1315BAB-4A76-4B45-980B-D2374BD1854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6869" name="Object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11" b="-165"/>
          <a:stretch>
            <a:fillRect/>
          </a:stretch>
        </p:blipFill>
        <p:spPr bwMode="auto">
          <a:xfrm>
            <a:off x="539750" y="1916113"/>
            <a:ext cx="36718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fa-IR" smtClean="0"/>
              <a:t>طراحی و درستی‌سنجی درون تراشه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4746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طراحی و درستی‌سنجی درون تراشه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1697038"/>
          </a:xfrm>
        </p:spPr>
        <p:txBody>
          <a:bodyPr/>
          <a:lstStyle/>
          <a:p>
            <a:endParaRPr lang="fa-IR" altLang="en-US" smtClean="0"/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2B02093-17BC-4322-9E1C-D5FDFFBF140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3891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88" y="1093788"/>
            <a:ext cx="6700837" cy="505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طراحی و درستی‌سنجی درون تراشه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1697038"/>
          </a:xfrm>
        </p:spPr>
        <p:txBody>
          <a:bodyPr/>
          <a:lstStyle/>
          <a:p>
            <a:r>
              <a:rPr lang="fa-IR" altLang="en-US" smtClean="0"/>
              <a:t>توصیف طرح:</a:t>
            </a:r>
          </a:p>
          <a:p>
            <a:pPr lvl="1"/>
            <a:r>
              <a:rPr lang="fa-IR" altLang="en-US" smtClean="0"/>
              <a:t>سطح انتقال ثبات:</a:t>
            </a:r>
          </a:p>
          <a:p>
            <a:pPr lvl="2"/>
            <a:r>
              <a:rPr lang="fa-IR" altLang="en-US" smtClean="0"/>
              <a:t>کمیتة استاندارد </a:t>
            </a:r>
            <a:r>
              <a:rPr lang="en-US" altLang="en-US" sz="2000" smtClean="0"/>
              <a:t>VHDL</a:t>
            </a:r>
            <a:r>
              <a:rPr lang="fa-IR" altLang="en-US" sz="1600" smtClean="0"/>
              <a:t>: </a:t>
            </a:r>
            <a:r>
              <a:rPr lang="fa-IR" altLang="en-US" smtClean="0"/>
              <a:t>«سطحی از توصیف طرح دیجیتال که در آن رفتار کلاک‌دار طرح برحسب انتقال داده‌ها بین عناصر حافظه در مدارهای ترتیبی و مدارهای ترکیبی، که می‌توانند نمایندة هر مدار منطقی محاسباتی یا منطقی باشند، بیان می‌شود»</a:t>
            </a:r>
          </a:p>
          <a:p>
            <a:pPr lvl="2"/>
            <a:endParaRPr lang="fa-IR" altLang="en-US" smtClean="0"/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8A8D33F-2A6F-4E96-A382-F34DA486D0D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40965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" y="3716338"/>
            <a:ext cx="3824288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طراحی و درستی‌سنجی درون تراشه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1697038"/>
          </a:xfrm>
        </p:spPr>
        <p:txBody>
          <a:bodyPr/>
          <a:lstStyle/>
          <a:p>
            <a:r>
              <a:rPr lang="fa-IR" altLang="en-US" smtClean="0"/>
              <a:t>توصیف طرح:</a:t>
            </a:r>
          </a:p>
          <a:p>
            <a:pPr lvl="1"/>
            <a:r>
              <a:rPr lang="fa-IR" altLang="en-US" smtClean="0"/>
              <a:t>سطح انتقال ثبات:</a:t>
            </a:r>
          </a:p>
          <a:p>
            <a:pPr lvl="2"/>
            <a:endParaRPr lang="fa-IR" altLang="en-US" smtClean="0"/>
          </a:p>
          <a:p>
            <a:pPr lvl="2"/>
            <a:endParaRPr lang="fa-IR" altLang="en-US" smtClean="0"/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FF7D449-0554-42A2-8151-CF863DAA095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1187450" y="1989138"/>
            <a:ext cx="2663825" cy="100806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defTabSz="1019175" eaLnBrk="1" hangingPunct="1">
              <a:defRPr/>
            </a:pPr>
            <a:r>
              <a:rPr lang="fa-IR" sz="3200" dirty="0">
                <a:cs typeface="B Nazanin" pitchFamily="2" charset="-78"/>
              </a:rPr>
              <a:t>ترکیبی</a:t>
            </a:r>
            <a:endParaRPr lang="en-US" dirty="0">
              <a:cs typeface="B Nazanin" pitchFamily="2" charset="-78"/>
            </a:endParaRPr>
          </a:p>
        </p:txBody>
      </p:sp>
      <p:cxnSp>
        <p:nvCxnSpPr>
          <p:cNvPr id="43014" name="Straight Arrow Connector 7"/>
          <p:cNvCxnSpPr>
            <a:cxnSpLocks noChangeShapeType="1"/>
          </p:cNvCxnSpPr>
          <p:nvPr/>
        </p:nvCxnSpPr>
        <p:spPr bwMode="auto">
          <a:xfrm>
            <a:off x="539750" y="2060575"/>
            <a:ext cx="936625" cy="73025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5" name="Straight Arrow Connector 8"/>
          <p:cNvCxnSpPr>
            <a:cxnSpLocks noChangeShapeType="1"/>
          </p:cNvCxnSpPr>
          <p:nvPr/>
        </p:nvCxnSpPr>
        <p:spPr bwMode="auto">
          <a:xfrm>
            <a:off x="611188" y="2420938"/>
            <a:ext cx="647700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6" name="Straight Arrow Connector 10"/>
          <p:cNvCxnSpPr>
            <a:cxnSpLocks noChangeShapeType="1"/>
          </p:cNvCxnSpPr>
          <p:nvPr/>
        </p:nvCxnSpPr>
        <p:spPr bwMode="auto">
          <a:xfrm flipV="1">
            <a:off x="468313" y="2781300"/>
            <a:ext cx="935037" cy="71438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7" name="Straight Arrow Connector 12"/>
          <p:cNvCxnSpPr>
            <a:cxnSpLocks noChangeShapeType="1"/>
          </p:cNvCxnSpPr>
          <p:nvPr/>
        </p:nvCxnSpPr>
        <p:spPr bwMode="auto">
          <a:xfrm>
            <a:off x="3779838" y="2636838"/>
            <a:ext cx="936625" cy="71437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8" name="Straight Arrow Connector 13"/>
          <p:cNvCxnSpPr>
            <a:cxnSpLocks noChangeShapeType="1"/>
          </p:cNvCxnSpPr>
          <p:nvPr/>
        </p:nvCxnSpPr>
        <p:spPr bwMode="auto">
          <a:xfrm flipV="1">
            <a:off x="3779838" y="2205038"/>
            <a:ext cx="1008062" cy="144462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19" name="Straight Arrow Connector 15"/>
          <p:cNvCxnSpPr>
            <a:cxnSpLocks noChangeShapeType="1"/>
          </p:cNvCxnSpPr>
          <p:nvPr/>
        </p:nvCxnSpPr>
        <p:spPr bwMode="auto">
          <a:xfrm>
            <a:off x="3851275" y="2492375"/>
            <a:ext cx="936625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0" name="Rectangle 2"/>
          <p:cNvSpPr>
            <a:spLocks noChangeArrowheads="1"/>
          </p:cNvSpPr>
          <p:nvPr/>
        </p:nvSpPr>
        <p:spPr bwMode="auto">
          <a:xfrm>
            <a:off x="755650" y="3408363"/>
            <a:ext cx="4464050" cy="25542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 (A, B, C, D)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 (A = "1101") then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 &lt;= A;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 (C = "0110") then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 &lt;= B;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 &lt;= D;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 if;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process;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طراحی و درستی‌سنجی درون تراشه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1697038"/>
          </a:xfrm>
        </p:spPr>
        <p:txBody>
          <a:bodyPr/>
          <a:lstStyle/>
          <a:p>
            <a:r>
              <a:rPr lang="fa-IR" altLang="en-US" smtClean="0"/>
              <a:t>توصیف طرح:</a:t>
            </a:r>
          </a:p>
          <a:p>
            <a:pPr lvl="1"/>
            <a:r>
              <a:rPr lang="fa-IR" altLang="en-US" smtClean="0"/>
              <a:t>سطح انتقال ثبات:</a:t>
            </a:r>
          </a:p>
          <a:p>
            <a:pPr lvl="2"/>
            <a:r>
              <a:rPr lang="fa-IR" altLang="en-US" smtClean="0"/>
              <a:t>توصیف ثبات</a:t>
            </a:r>
          </a:p>
          <a:p>
            <a:pPr lvl="2"/>
            <a:endParaRPr lang="fa-IR" altLang="en-US" smtClean="0"/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94C5556-25DD-4E28-A258-F87B4AE0775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5061" name="Straight Arrow Connector 7"/>
          <p:cNvCxnSpPr>
            <a:cxnSpLocks noChangeShapeType="1"/>
          </p:cNvCxnSpPr>
          <p:nvPr/>
        </p:nvCxnSpPr>
        <p:spPr bwMode="auto">
          <a:xfrm>
            <a:off x="611188" y="1989138"/>
            <a:ext cx="936625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062" name="Straight Arrow Connector 10"/>
          <p:cNvCxnSpPr>
            <a:cxnSpLocks noChangeShapeType="1"/>
          </p:cNvCxnSpPr>
          <p:nvPr/>
        </p:nvCxnSpPr>
        <p:spPr bwMode="auto">
          <a:xfrm>
            <a:off x="539750" y="2924175"/>
            <a:ext cx="1008063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3" name="Rectangle 2"/>
          <p:cNvSpPr>
            <a:spLocks noChangeArrowheads="1"/>
          </p:cNvSpPr>
          <p:nvPr/>
        </p:nvSpPr>
        <p:spPr bwMode="auto">
          <a:xfrm>
            <a:off x="396875" y="3849688"/>
            <a:ext cx="4462463" cy="20621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(CLK, RST)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(RST = ’1’)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 &lt;= ’0’;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(CLK`event and CLK= ’1’)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Q &lt;= 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process;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1547813" y="1557338"/>
            <a:ext cx="2160587" cy="1584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/>
          </a:p>
        </p:txBody>
      </p:sp>
      <p:sp>
        <p:nvSpPr>
          <p:cNvPr id="21" name="Isosceles Triangle 20"/>
          <p:cNvSpPr/>
          <p:nvPr/>
        </p:nvSpPr>
        <p:spPr bwMode="auto">
          <a:xfrm rot="5400000">
            <a:off x="1512094" y="2817019"/>
            <a:ext cx="287338" cy="2159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توصیف مدارهای ترتیبی</a:t>
            </a:r>
            <a:endParaRPr lang="en-US" altLang="en-US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2339975" y="1247775"/>
            <a:ext cx="6118225" cy="1389063"/>
          </a:xfrm>
        </p:spPr>
        <p:txBody>
          <a:bodyPr/>
          <a:lstStyle/>
          <a:p>
            <a:r>
              <a:rPr lang="fa-IR" altLang="en-US" smtClean="0"/>
              <a:t>عملیات منطقی/حسابی همگام با کلاک:</a:t>
            </a:r>
          </a:p>
          <a:p>
            <a:pPr lvl="2"/>
            <a:endParaRPr lang="en-US" alt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7FA7DC6-70F4-4ED6-8FB2-A4DD62AB632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750" y="2838450"/>
            <a:ext cx="4248150" cy="246221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architecture …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signal A, B, C;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CLK'event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and </a:t>
            </a:r>
            <a:r>
              <a:rPr lang="en-US" altLang="en-US" sz="1400" dirty="0" err="1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'0')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 &lt;= A *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…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architecture;</a:t>
            </a:r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6011863" y="3235325"/>
            <a:ext cx="1590675" cy="2160588"/>
          </a:xfrm>
          <a:prstGeom prst="rect">
            <a:avLst/>
          </a:prstGeom>
          <a:solidFill>
            <a:srgbClr val="47FFD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8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Isosceles Triangle 3"/>
          <p:cNvSpPr/>
          <p:nvPr/>
        </p:nvSpPr>
        <p:spPr bwMode="auto">
          <a:xfrm rot="5400000">
            <a:off x="6011863" y="5129213"/>
            <a:ext cx="215900" cy="2159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 sz="2800"/>
          </a:p>
        </p:txBody>
      </p:sp>
      <p:sp>
        <p:nvSpPr>
          <p:cNvPr id="8" name="TextBox 7"/>
          <p:cNvSpPr txBox="1"/>
          <p:nvPr/>
        </p:nvSpPr>
        <p:spPr>
          <a:xfrm>
            <a:off x="5183188" y="3540125"/>
            <a:ext cx="323850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2838" y="5057775"/>
            <a:ext cx="611187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latin typeface="+mn-lt"/>
              </a:rPr>
              <a:t>CLK</a:t>
            </a:r>
          </a:p>
        </p:txBody>
      </p:sp>
      <p:cxnSp>
        <p:nvCxnSpPr>
          <p:cNvPr id="27658" name="Straight Connector 12"/>
          <p:cNvCxnSpPr>
            <a:cxnSpLocks noChangeShapeType="1"/>
          </p:cNvCxnSpPr>
          <p:nvPr/>
        </p:nvCxnSpPr>
        <p:spPr bwMode="auto">
          <a:xfrm flipH="1">
            <a:off x="5292725" y="5200650"/>
            <a:ext cx="719138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/>
          <p:nvPr/>
        </p:nvSpPr>
        <p:spPr>
          <a:xfrm>
            <a:off x="7675563" y="3748088"/>
            <a:ext cx="323850" cy="415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C</a:t>
            </a:r>
          </a:p>
        </p:txBody>
      </p:sp>
      <p:cxnSp>
        <p:nvCxnSpPr>
          <p:cNvPr id="5" name="Straight Connector 4"/>
          <p:cNvCxnSpPr>
            <a:cxnSpLocks noChangeShapeType="1"/>
          </p:cNvCxnSpPr>
          <p:nvPr/>
        </p:nvCxnSpPr>
        <p:spPr bwMode="auto">
          <a:xfrm>
            <a:off x="6765925" y="2784475"/>
            <a:ext cx="0" cy="43180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6461125" y="3244850"/>
            <a:ext cx="61118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>
                <a:latin typeface="+mn-lt"/>
              </a:rPr>
              <a:t>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9225" y="4044950"/>
            <a:ext cx="323850" cy="414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</a:rPr>
              <a:t>B</a:t>
            </a:r>
          </a:p>
        </p:txBody>
      </p:sp>
      <p:sp>
        <p:nvSpPr>
          <p:cNvPr id="27663" name="Right Arrow 1"/>
          <p:cNvSpPr>
            <a:spLocks noChangeArrowheads="1"/>
          </p:cNvSpPr>
          <p:nvPr/>
        </p:nvSpPr>
        <p:spPr bwMode="auto">
          <a:xfrm>
            <a:off x="5632450" y="3678238"/>
            <a:ext cx="360363" cy="215900"/>
          </a:xfrm>
          <a:prstGeom prst="rightArrow">
            <a:avLst>
              <a:gd name="adj1" fmla="val 50000"/>
              <a:gd name="adj2" fmla="val 50074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64" name="Right Arrow 22"/>
          <p:cNvSpPr>
            <a:spLocks noChangeArrowheads="1"/>
          </p:cNvSpPr>
          <p:nvPr/>
        </p:nvSpPr>
        <p:spPr bwMode="auto">
          <a:xfrm>
            <a:off x="5616575" y="4143375"/>
            <a:ext cx="360363" cy="217488"/>
          </a:xfrm>
          <a:prstGeom prst="rightArrow">
            <a:avLst>
              <a:gd name="adj1" fmla="val 50000"/>
              <a:gd name="adj2" fmla="val 49708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65" name="Right Arrow 23"/>
          <p:cNvSpPr>
            <a:spLocks noChangeArrowheads="1"/>
          </p:cNvSpPr>
          <p:nvPr/>
        </p:nvSpPr>
        <p:spPr bwMode="auto">
          <a:xfrm>
            <a:off x="7596188" y="4100513"/>
            <a:ext cx="360362" cy="215900"/>
          </a:xfrm>
          <a:prstGeom prst="rightArrow">
            <a:avLst>
              <a:gd name="adj1" fmla="val 50000"/>
              <a:gd name="adj2" fmla="val 50073"/>
            </a:avLst>
          </a:prstGeom>
          <a:solidFill>
            <a:schemeClr val="accent1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419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طراحی و درستی‌سنجی درون تراشه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685800" y="1412875"/>
            <a:ext cx="7772400" cy="1697038"/>
          </a:xfrm>
        </p:spPr>
        <p:txBody>
          <a:bodyPr/>
          <a:lstStyle/>
          <a:p>
            <a:r>
              <a:rPr lang="fa-IR" altLang="en-US" smtClean="0"/>
              <a:t>توصیف طرح:</a:t>
            </a:r>
          </a:p>
          <a:p>
            <a:pPr lvl="1"/>
            <a:r>
              <a:rPr lang="fa-IR" altLang="en-US" smtClean="0"/>
              <a:t>سطح انتقال ثبات:</a:t>
            </a:r>
          </a:p>
          <a:p>
            <a:pPr lvl="2"/>
            <a:r>
              <a:rPr lang="fa-IR" altLang="en-US" smtClean="0"/>
              <a:t>توصیف مرکب مدار ترکیبی و ثبات</a:t>
            </a:r>
          </a:p>
          <a:p>
            <a:pPr lvl="2"/>
            <a:endParaRPr lang="fa-IR" altLang="en-US" smtClean="0"/>
          </a:p>
          <a:p>
            <a:pPr lvl="2"/>
            <a:endParaRPr lang="fa-IR" altLang="en-US" smtClean="0"/>
          </a:p>
          <a:p>
            <a:pPr lvl="1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F3C412D-C603-4415-BC1D-F8B73DCCC28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47109" name="Straight Arrow Connector 7"/>
          <p:cNvCxnSpPr>
            <a:cxnSpLocks noChangeShapeType="1"/>
          </p:cNvCxnSpPr>
          <p:nvPr/>
        </p:nvCxnSpPr>
        <p:spPr bwMode="auto">
          <a:xfrm>
            <a:off x="611188" y="1989138"/>
            <a:ext cx="936625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0" name="Straight Arrow Connector 10"/>
          <p:cNvCxnSpPr>
            <a:cxnSpLocks noChangeShapeType="1"/>
          </p:cNvCxnSpPr>
          <p:nvPr/>
        </p:nvCxnSpPr>
        <p:spPr bwMode="auto">
          <a:xfrm>
            <a:off x="539750" y="2924175"/>
            <a:ext cx="1008063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1" name="Rectangle 2"/>
          <p:cNvSpPr>
            <a:spLocks noChangeArrowheads="1"/>
          </p:cNvSpPr>
          <p:nvPr/>
        </p:nvSpPr>
        <p:spPr bwMode="auto">
          <a:xfrm>
            <a:off x="2054225" y="3357563"/>
            <a:ext cx="4462463" cy="30464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(CLK, RST)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(RST = ’1’)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STATE &lt;= ST1;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(CLK`event and CLK= ’1’)</a:t>
            </a:r>
            <a:b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</a:b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case STATE is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ST1 =&gt; STATE &lt;= ST2;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ST2 =&gt; STATE &lt;= ST3;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when ST3 =&gt; STATE &lt;= ST1;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FF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end case;</a:t>
            </a:r>
            <a:endParaRPr lang="en-US" altLang="en-US" sz="160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 process;</a:t>
            </a:r>
          </a:p>
        </p:txBody>
      </p:sp>
      <p:sp>
        <p:nvSpPr>
          <p:cNvPr id="15" name="Rectangle 14"/>
          <p:cNvSpPr/>
          <p:nvPr/>
        </p:nvSpPr>
        <p:spPr bwMode="auto">
          <a:xfrm>
            <a:off x="1547813" y="1557338"/>
            <a:ext cx="2160587" cy="1584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/>
          </a:p>
        </p:txBody>
      </p:sp>
      <p:sp>
        <p:nvSpPr>
          <p:cNvPr id="21" name="Isosceles Triangle 20"/>
          <p:cNvSpPr/>
          <p:nvPr/>
        </p:nvSpPr>
        <p:spPr bwMode="auto">
          <a:xfrm rot="5400000">
            <a:off x="1512094" y="2817019"/>
            <a:ext cx="287338" cy="21590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1019175" eaLnBrk="1" hangingPunct="1">
              <a:defRPr/>
            </a:pPr>
            <a:endParaRPr lang="en-US">
              <a:ln w="38100">
                <a:solidFill>
                  <a:schemeClr val="tx1"/>
                </a:solidFill>
              </a:ln>
            </a:endParaRPr>
          </a:p>
        </p:txBody>
      </p:sp>
      <p:cxnSp>
        <p:nvCxnSpPr>
          <p:cNvPr id="47114" name="Straight Arrow Connector 9"/>
          <p:cNvCxnSpPr>
            <a:cxnSpLocks noChangeShapeType="1"/>
          </p:cNvCxnSpPr>
          <p:nvPr/>
        </p:nvCxnSpPr>
        <p:spPr bwMode="auto">
          <a:xfrm>
            <a:off x="611188" y="2205038"/>
            <a:ext cx="936625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5" name="Straight Arrow Connector 11"/>
          <p:cNvCxnSpPr>
            <a:cxnSpLocks noChangeShapeType="1"/>
          </p:cNvCxnSpPr>
          <p:nvPr/>
        </p:nvCxnSpPr>
        <p:spPr bwMode="auto">
          <a:xfrm>
            <a:off x="611188" y="2420938"/>
            <a:ext cx="936625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6" name="Straight Arrow Connector 12"/>
          <p:cNvCxnSpPr>
            <a:cxnSpLocks noChangeShapeType="1"/>
          </p:cNvCxnSpPr>
          <p:nvPr/>
        </p:nvCxnSpPr>
        <p:spPr bwMode="auto">
          <a:xfrm>
            <a:off x="3708400" y="1989138"/>
            <a:ext cx="935038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117" name="Straight Arrow Connector 13"/>
          <p:cNvCxnSpPr>
            <a:cxnSpLocks noChangeShapeType="1"/>
          </p:cNvCxnSpPr>
          <p:nvPr/>
        </p:nvCxnSpPr>
        <p:spPr bwMode="auto">
          <a:xfrm>
            <a:off x="3708400" y="2205038"/>
            <a:ext cx="935038" cy="0"/>
          </a:xfrm>
          <a:prstGeom prst="straightConnector1">
            <a:avLst/>
          </a:prstGeom>
          <a:noFill/>
          <a:ln w="38100" algn="ctr">
            <a:solidFill>
              <a:srgbClr val="CC66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سطوح تجرید</a:t>
            </a:r>
            <a:endParaRPr lang="en-US" altLang="en-US" smtClean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3995738" y="1000125"/>
            <a:ext cx="4937125" cy="5214938"/>
          </a:xfrm>
        </p:spPr>
        <p:txBody>
          <a:bodyPr/>
          <a:lstStyle/>
          <a:p>
            <a:r>
              <a:rPr lang="fa-IR" altLang="en-US" smtClean="0"/>
              <a:t>سنتز:</a:t>
            </a:r>
          </a:p>
          <a:p>
            <a:pPr lvl="1"/>
            <a:r>
              <a:rPr lang="fa-IR" altLang="en-US" smtClean="0"/>
              <a:t>تبدیل توصیف طرح از یک سطح تجرید به سطح پایین تر</a:t>
            </a:r>
          </a:p>
          <a:p>
            <a:pPr lvl="2"/>
            <a:r>
              <a:rPr lang="fa-IR" altLang="en-US" smtClean="0"/>
              <a:t>با جزئیات بیشتر</a:t>
            </a:r>
            <a:endParaRPr lang="en-US" alt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60538A-6A58-41CD-90A8-B0C522C0C569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49157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0475" y="549275"/>
            <a:ext cx="7178675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extBox 1"/>
          <p:cNvSpPr txBox="1">
            <a:spLocks noChangeArrowheads="1"/>
          </p:cNvSpPr>
          <p:nvPr/>
        </p:nvSpPr>
        <p:spPr bwMode="auto">
          <a:xfrm>
            <a:off x="2484438" y="2565400"/>
            <a:ext cx="223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High-Level Synthesis</a:t>
            </a:r>
          </a:p>
        </p:txBody>
      </p:sp>
      <p:sp>
        <p:nvSpPr>
          <p:cNvPr id="49159" name="TextBox 6"/>
          <p:cNvSpPr txBox="1">
            <a:spLocks noChangeArrowheads="1"/>
          </p:cNvSpPr>
          <p:nvPr/>
        </p:nvSpPr>
        <p:spPr bwMode="auto">
          <a:xfrm>
            <a:off x="2447925" y="4365625"/>
            <a:ext cx="30607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Place &amp; Route (Layout Synthesis)</a:t>
            </a:r>
          </a:p>
        </p:txBody>
      </p:sp>
      <p:sp>
        <p:nvSpPr>
          <p:cNvPr id="49160" name="TextBox 7"/>
          <p:cNvSpPr txBox="1">
            <a:spLocks noChangeArrowheads="1"/>
          </p:cNvSpPr>
          <p:nvPr/>
        </p:nvSpPr>
        <p:spPr bwMode="auto">
          <a:xfrm>
            <a:off x="2420938" y="3500438"/>
            <a:ext cx="16462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Logic Synthesis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سنتز</a:t>
            </a:r>
            <a:endParaRPr lang="en-US" altLang="en-US" smtClean="0"/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>
          <a:xfrm>
            <a:off x="4067175" y="692696"/>
            <a:ext cx="4391025" cy="5184775"/>
          </a:xfrm>
        </p:spPr>
        <p:txBody>
          <a:bodyPr/>
          <a:lstStyle/>
          <a:p>
            <a:r>
              <a:rPr lang="fa-IR" altLang="en-US" smtClean="0"/>
              <a:t>مراحل سنتز:</a:t>
            </a:r>
          </a:p>
          <a:p>
            <a:pPr lvl="1"/>
            <a:r>
              <a:rPr lang="fa-IR" altLang="en-US" smtClean="0"/>
              <a:t>به دست آوردن مدار بر حسب بلوک‌ها</a:t>
            </a:r>
          </a:p>
          <a:p>
            <a:pPr lvl="1"/>
            <a:r>
              <a:rPr lang="fa-IR" altLang="en-US" smtClean="0"/>
              <a:t>تبدیل به معادلات بولین </a:t>
            </a:r>
          </a:p>
          <a:p>
            <a:pPr lvl="2"/>
            <a:r>
              <a:rPr lang="fa-IR" altLang="en-US" smtClean="0"/>
              <a:t>و احتمالا تعدادی بلوک مشخص (ضرب)</a:t>
            </a:r>
          </a:p>
          <a:p>
            <a:pPr lvl="1"/>
            <a:r>
              <a:rPr lang="fa-IR" altLang="en-US" smtClean="0"/>
              <a:t>بهینه‌سازی مستقل از فناوری</a:t>
            </a:r>
            <a:endParaRPr lang="en-US" altLang="en-US" smtClean="0"/>
          </a:p>
          <a:p>
            <a:pPr lvl="1"/>
            <a:r>
              <a:rPr lang="fa-IR" altLang="en-US" smtClean="0"/>
              <a:t>نگاشت فناوری (تبدیل به منابع سخت‌افزاری موجود)</a:t>
            </a:r>
          </a:p>
          <a:p>
            <a:pPr lvl="2"/>
            <a:r>
              <a:rPr lang="en-US" altLang="en-US" smtClean="0"/>
              <a:t>LUT</a:t>
            </a:r>
            <a:r>
              <a:rPr lang="fa-IR" altLang="en-US" smtClean="0"/>
              <a:t>، ضرب‌کننده، ...</a:t>
            </a:r>
          </a:p>
          <a:p>
            <a:pPr lvl="1"/>
            <a:r>
              <a:rPr lang="fa-IR" altLang="en-US" smtClean="0"/>
              <a:t>بهینه‌سازی وابسته به فناوری</a:t>
            </a:r>
            <a:endParaRPr lang="en-US" alt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EB460C2-65A0-441F-8CBE-499BFCC0727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9750" y="1090613"/>
            <a:ext cx="3527425" cy="255428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(A, B, C, D)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(A = "1101")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 &lt;= A;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elsif (C = "0110")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 &lt;=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OUTPUT &lt;= D;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pic>
        <p:nvPicPr>
          <p:cNvPr id="44038" name="Object 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02" r="-3258" b="-150"/>
          <a:stretch>
            <a:fillRect/>
          </a:stretch>
        </p:blipFill>
        <p:spPr bwMode="auto">
          <a:xfrm>
            <a:off x="212725" y="3860800"/>
            <a:ext cx="5006975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0" y="6324600"/>
            <a:ext cx="533400" cy="4572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B9B9B9CF-D32A-4601-A4A8-7BDBB69722A1}" type="slidenum">
              <a:rPr lang="en-US" altLang="en-US" sz="1300" b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300" b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a-IR" altLang="en-US" smtClean="0"/>
              <a:t>سنتز و نگاشت فناوری</a:t>
            </a:r>
            <a:endParaRPr lang="en-US" altLang="en-US" smtClean="0"/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7315200" y="4114800"/>
            <a:ext cx="1447800" cy="685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428750" y="4786313"/>
            <a:ext cx="7358063" cy="1428750"/>
          </a:xfrm>
          <a:prstGeom prst="rect">
            <a:avLst/>
          </a:prstGeom>
        </p:spPr>
        <p:txBody>
          <a:bodyPr/>
          <a:lstStyle/>
          <a:p>
            <a:pPr marL="342900" indent="-342900" algn="r" rtl="1">
              <a:spcBef>
                <a:spcPct val="20000"/>
              </a:spcBef>
              <a:buFontTx/>
              <a:buChar char="•"/>
              <a:defRPr/>
            </a:pPr>
            <a:r>
              <a:rPr lang="fa-IR" sz="2400" b="1" kern="0" dirty="0">
                <a:solidFill>
                  <a:srgbClr val="FF5050"/>
                </a:solidFill>
                <a:latin typeface="+mn-lt"/>
                <a:cs typeface="B Mitra" pitchFamily="2" charset="-78"/>
              </a:rPr>
              <a:t>خروجی سنتز:</a:t>
            </a:r>
          </a:p>
          <a:p>
            <a:pPr marL="895350" lvl="1" indent="-43815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r>
              <a:rPr lang="fa-IR" sz="2200" kern="0" dirty="0">
                <a:solidFill>
                  <a:srgbClr val="0000FF"/>
                </a:solidFill>
                <a:latin typeface="+mn-lt"/>
                <a:cs typeface="B Mitra" pitchFamily="2" charset="-78"/>
              </a:rPr>
              <a:t>نت لیست مدار بر حسب اجزای موجود در تراشه</a:t>
            </a:r>
          </a:p>
          <a:p>
            <a:pPr marL="1143000" lvl="2" indent="-228600" algn="r" rtl="1">
              <a:spcBef>
                <a:spcPct val="20000"/>
              </a:spcBef>
              <a:buFont typeface="Arial" charset="0"/>
              <a:buChar char="−"/>
              <a:defRPr/>
            </a:pPr>
            <a:r>
              <a:rPr lang="fa-IR" sz="2400" kern="0" dirty="0">
                <a:latin typeface="+mn-lt"/>
                <a:cs typeface="B Mitra" pitchFamily="2" charset="-78"/>
              </a:rPr>
              <a:t> چه اجزایی و نحوة اتصال آنها (به هم و به پورت‌ها)</a:t>
            </a:r>
            <a:endParaRPr lang="fa-IR" sz="22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</p:txBody>
      </p:sp>
      <p:sp>
        <p:nvSpPr>
          <p:cNvPr id="3" name="Curved Up Arrow 2"/>
          <p:cNvSpPr/>
          <p:nvPr/>
        </p:nvSpPr>
        <p:spPr bwMode="auto">
          <a:xfrm rot="10800000" flipH="1">
            <a:off x="2627784" y="1057120"/>
            <a:ext cx="2218826" cy="432047"/>
          </a:xfrm>
          <a:prstGeom prst="curvedUpArrow">
            <a:avLst>
              <a:gd name="adj1" fmla="val 25000"/>
              <a:gd name="adj2" fmla="val 52071"/>
              <a:gd name="adj3" fmla="val 25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19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1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844824"/>
            <a:ext cx="2678908" cy="26573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1679760"/>
            <a:ext cx="2777895" cy="291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4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سنتز</a:t>
            </a:r>
            <a:endParaRPr lang="en-US" altLang="en-US" smtClean="0"/>
          </a:p>
        </p:txBody>
      </p:sp>
      <p:sp>
        <p:nvSpPr>
          <p:cNvPr id="54275" name="Content Placeholder 2"/>
          <p:cNvSpPr>
            <a:spLocks noGrp="1"/>
          </p:cNvSpPr>
          <p:nvPr>
            <p:ph idx="1"/>
          </p:nvPr>
        </p:nvSpPr>
        <p:spPr>
          <a:xfrm>
            <a:off x="3419475" y="1219200"/>
            <a:ext cx="5038725" cy="1273175"/>
          </a:xfrm>
        </p:spPr>
        <p:txBody>
          <a:bodyPr/>
          <a:lstStyle/>
          <a:p>
            <a:r>
              <a:rPr lang="fa-IR" altLang="en-US" smtClean="0"/>
              <a:t>فهرست اتصالات (</a:t>
            </a:r>
            <a:r>
              <a:rPr lang="en-US" altLang="en-US" sz="2800" smtClean="0"/>
              <a:t>netlist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0EA28D64-FDAF-4336-A7C9-B5464FFCFC74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5427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2019300"/>
            <a:ext cx="5954713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سنتز</a:t>
            </a:r>
            <a:endParaRPr lang="en-US" altLang="en-US" smtClean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3563938" y="836613"/>
            <a:ext cx="5184775" cy="2736850"/>
          </a:xfrm>
        </p:spPr>
        <p:txBody>
          <a:bodyPr/>
          <a:lstStyle/>
          <a:p>
            <a:r>
              <a:rPr lang="fa-IR" altLang="en-US" smtClean="0"/>
              <a:t>سنتز:</a:t>
            </a:r>
          </a:p>
          <a:p>
            <a:pPr lvl="1"/>
            <a:r>
              <a:rPr lang="fa-IR" altLang="en-US" smtClean="0"/>
              <a:t>استفادة مناسب از منابع سخت‌افزاری:</a:t>
            </a:r>
          </a:p>
          <a:p>
            <a:pPr lvl="2"/>
            <a:r>
              <a:rPr lang="fa-IR" altLang="en-US" smtClean="0"/>
              <a:t>محدودیت (</a:t>
            </a:r>
            <a:r>
              <a:rPr lang="en-US" altLang="en-US" sz="2000" smtClean="0"/>
              <a:t>constraints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3"/>
            <a:r>
              <a:rPr lang="fa-IR" altLang="en-US" smtClean="0"/>
              <a:t>حداقل فرکانس کلاک</a:t>
            </a:r>
          </a:p>
          <a:p>
            <a:pPr lvl="3"/>
            <a:r>
              <a:rPr lang="fa-IR" altLang="en-US" smtClean="0"/>
              <a:t>نوع کد کردن حالات </a:t>
            </a:r>
            <a:r>
              <a:rPr lang="en-US" altLang="en-US" sz="1800" smtClean="0"/>
              <a:t>FSM</a:t>
            </a:r>
            <a:endParaRPr lang="fa-IR" altLang="en-US" smtClean="0"/>
          </a:p>
          <a:p>
            <a:pPr lvl="2"/>
            <a:r>
              <a:rPr lang="fa-IR" altLang="en-US" smtClean="0"/>
              <a:t>رجوع به </a:t>
            </a:r>
            <a:r>
              <a:rPr lang="en-US" altLang="en-US" sz="2000" smtClean="0"/>
              <a:t>datasheet</a:t>
            </a:r>
            <a:r>
              <a:rPr lang="fa-IR" altLang="en-US" sz="2000" smtClean="0"/>
              <a:t> </a:t>
            </a:r>
            <a:r>
              <a:rPr lang="fa-IR" altLang="en-US" smtClean="0"/>
              <a:t>تراشه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AC37ABEC-A751-4CA6-AFB5-B50FD51306E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-107950" y="1525588"/>
            <a:ext cx="4614863" cy="247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lvl="1">
              <a:defRPr/>
            </a:pPr>
            <a:r>
              <a:rPr lang="fa-IR" altLang="en-US" kern="0" dirty="0" smtClean="0"/>
              <a:t>کتابخانة </a:t>
            </a:r>
            <a:r>
              <a:rPr lang="en-US" altLang="en-US" sz="2400" kern="0" dirty="0" smtClean="0"/>
              <a:t>macro-block</a:t>
            </a:r>
            <a:r>
              <a:rPr lang="fa-IR" altLang="en-US" kern="0" dirty="0" smtClean="0"/>
              <a:t>ها</a:t>
            </a:r>
          </a:p>
          <a:p>
            <a:pPr lvl="2">
              <a:defRPr/>
            </a:pPr>
            <a:r>
              <a:rPr lang="fa-IR" altLang="en-US" kern="0" dirty="0" smtClean="0"/>
              <a:t>دیکودر</a:t>
            </a:r>
          </a:p>
          <a:p>
            <a:pPr lvl="2">
              <a:defRPr/>
            </a:pPr>
            <a:r>
              <a:rPr lang="fa-IR" altLang="en-US" kern="0" dirty="0" smtClean="0"/>
              <a:t>جمع‌کننده</a:t>
            </a:r>
          </a:p>
          <a:p>
            <a:pPr lvl="2">
              <a:defRPr/>
            </a:pPr>
            <a:endParaRPr lang="fa-IR" altLang="en-US" kern="0" dirty="0" smtClean="0"/>
          </a:p>
          <a:p>
            <a:pPr lvl="1">
              <a:defRPr/>
            </a:pPr>
            <a:r>
              <a:rPr lang="fa-IR" altLang="en-US" kern="0" dirty="0" smtClean="0"/>
              <a:t>ابزار تولید پودمان (</a:t>
            </a:r>
            <a:r>
              <a:rPr lang="en-US" altLang="en-US" sz="2400" kern="0" dirty="0" err="1" smtClean="0"/>
              <a:t>CoreGen</a:t>
            </a:r>
            <a:r>
              <a:rPr lang="fa-IR" altLang="en-US" kern="0" dirty="0" smtClean="0"/>
              <a:t>)</a:t>
            </a:r>
          </a:p>
          <a:p>
            <a:pPr lvl="2">
              <a:defRPr/>
            </a:pPr>
            <a:r>
              <a:rPr lang="en-US" altLang="en-US" kern="0" dirty="0" smtClean="0"/>
              <a:t>FIFO</a:t>
            </a:r>
          </a:p>
          <a:p>
            <a:pPr lvl="2">
              <a:defRPr/>
            </a:pPr>
            <a:r>
              <a:rPr lang="en-US" altLang="en-US" kern="0" dirty="0" smtClean="0"/>
              <a:t>CORDIC</a:t>
            </a:r>
            <a:endParaRPr lang="fa-IR" altLang="en-US" kern="0" dirty="0" smtClean="0"/>
          </a:p>
        </p:txBody>
      </p:sp>
      <p:pic>
        <p:nvPicPr>
          <p:cNvPr id="5530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488" y="3716338"/>
            <a:ext cx="46482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درستی‌سنجی</a:t>
            </a:r>
            <a:endParaRPr lang="en-US" altLang="en-US" smtClean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692150" y="981075"/>
            <a:ext cx="7766050" cy="4968875"/>
          </a:xfrm>
        </p:spPr>
        <p:txBody>
          <a:bodyPr/>
          <a:lstStyle/>
          <a:p>
            <a:r>
              <a:rPr lang="fa-IR" altLang="en-US" smtClean="0"/>
              <a:t>درستی‌سنجی پس از سنتز:</a:t>
            </a:r>
          </a:p>
          <a:p>
            <a:pPr lvl="1"/>
            <a:r>
              <a:rPr lang="fa-IR" altLang="en-US" sz="3200" smtClean="0"/>
              <a:t>شبیه‌سازی:</a:t>
            </a:r>
          </a:p>
          <a:p>
            <a:pPr lvl="2"/>
            <a:r>
              <a:rPr lang="en-US" altLang="en-US" sz="2800" smtClean="0"/>
              <a:t>Testbench</a:t>
            </a:r>
          </a:p>
          <a:p>
            <a:pPr lvl="2"/>
            <a:r>
              <a:rPr lang="fa-IR" altLang="en-US" smtClean="0"/>
              <a:t>اعمال ورودی‌ها و تحلیل خروجی‌ها (داده‌های پیش از سنتز)</a:t>
            </a:r>
          </a:p>
          <a:p>
            <a:pPr lvl="2"/>
            <a:r>
              <a:rPr lang="fa-IR" altLang="en-US" smtClean="0"/>
              <a:t>تفاوت با شبیه‌سازی پیش از سنتز: اطلاعات بسیار بیشتر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 کندتر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علت نیاز به شبیه‌سازی پیش از سنتز؟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علت نیاز به شبیه‌سازی پس از سنتز؟</a:t>
            </a:r>
          </a:p>
          <a:p>
            <a:pPr lvl="3"/>
            <a:r>
              <a:rPr lang="fa-IR" altLang="en-US" smtClean="0">
                <a:sym typeface="Wingdings" panose="05000000000000000000" pitchFamily="2" charset="2"/>
              </a:rPr>
              <a:t>طراح بداند چه تولید شده؛ مطلوب؟</a:t>
            </a:r>
          </a:p>
          <a:p>
            <a:pPr lvl="2"/>
            <a:endParaRPr lang="fa-IR" altLang="en-US" sz="2800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DF4CB1B-4988-43D3-9589-87BE284592C6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mtClean="0"/>
              <a:t>جبرانی و آزمون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mtClean="0"/>
              <a:t>کلاس جبرانی:</a:t>
            </a:r>
          </a:p>
          <a:p>
            <a:pPr lvl="1"/>
            <a:r>
              <a:rPr lang="fa-IR" smtClean="0"/>
              <a:t>شنبه ساعت 4:30</a:t>
            </a:r>
          </a:p>
          <a:p>
            <a:pPr marL="457200" lvl="1" indent="0">
              <a:buNone/>
            </a:pPr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27BA50-72B2-4363-BDF9-B8DFDF287155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716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درستی‌سنجی</a:t>
            </a:r>
            <a:endParaRPr lang="en-US" altLang="en-US" smtClean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500563" y="981075"/>
            <a:ext cx="3957637" cy="4968875"/>
          </a:xfrm>
        </p:spPr>
        <p:txBody>
          <a:bodyPr/>
          <a:lstStyle/>
          <a:p>
            <a:r>
              <a:rPr lang="fa-IR" altLang="en-US" smtClean="0"/>
              <a:t>درستی‌سنجی پس از سنتز:</a:t>
            </a:r>
          </a:p>
          <a:p>
            <a:pPr lvl="1"/>
            <a:r>
              <a:rPr lang="fa-IR" altLang="en-US" smtClean="0"/>
              <a:t>نیاز به شبیه‌سازی پس از سنتز</a:t>
            </a:r>
          </a:p>
          <a:p>
            <a:pPr lvl="2"/>
            <a:r>
              <a:rPr lang="fa-IR" altLang="en-US" smtClean="0"/>
              <a:t>تولید لچ</a:t>
            </a:r>
          </a:p>
          <a:p>
            <a:pPr lvl="2"/>
            <a:r>
              <a:rPr lang="fa-IR" altLang="en-US" smtClean="0"/>
              <a:t>لزوم وارد کردن همة سیگنال‌های خوانده شده در لیست حساسیت برای مدارهای ترکیبی</a:t>
            </a:r>
          </a:p>
          <a:p>
            <a:pPr lvl="2"/>
            <a:r>
              <a:rPr lang="fa-IR" altLang="en-US" smtClean="0"/>
              <a:t>اجتناب از تفاوت نتایج پیش و پس از سنتز</a:t>
            </a:r>
            <a:endParaRPr lang="en-US" altLang="en-US" smtClean="0"/>
          </a:p>
          <a:p>
            <a:pPr lvl="2"/>
            <a:endParaRPr lang="fa-IR" alt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5B14CDD0-740C-4F92-85BE-F330C90F47C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9750" y="1511300"/>
            <a:ext cx="3527425" cy="20621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(SELECT, A, 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if SELECT = `1`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A;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if;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539750" y="4010025"/>
            <a:ext cx="3527425" cy="1816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process (A, B)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begin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if SELECT = `1` then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A;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else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Z &lt;= B;</a:t>
            </a:r>
          </a:p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process;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درستی‌سنجی</a:t>
            </a:r>
            <a:endParaRPr lang="en-US" altLang="en-US" smtClean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4211638" y="981075"/>
            <a:ext cx="4246562" cy="4968875"/>
          </a:xfrm>
        </p:spPr>
        <p:txBody>
          <a:bodyPr/>
          <a:lstStyle/>
          <a:p>
            <a:r>
              <a:rPr lang="fa-IR" altLang="en-US" smtClean="0"/>
              <a:t>درستی‌سنجی پس از سنتز:</a:t>
            </a:r>
          </a:p>
          <a:p>
            <a:pPr lvl="1"/>
            <a:r>
              <a:rPr lang="fa-IR" altLang="en-US" smtClean="0"/>
              <a:t>تحلیل مدار</a:t>
            </a:r>
          </a:p>
          <a:p>
            <a:pPr lvl="2"/>
            <a:r>
              <a:rPr lang="fa-IR" altLang="en-US" smtClean="0"/>
              <a:t>تحلیل زمانی: تخمینی</a:t>
            </a:r>
          </a:p>
          <a:p>
            <a:pPr lvl="2"/>
            <a:r>
              <a:rPr lang="fa-IR" altLang="en-US" smtClean="0"/>
              <a:t>تحلیل توان مصرفی: تخمینی</a:t>
            </a: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97E67E3-A2E7-40F8-8A1E-B143BA658727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5837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3468688"/>
            <a:ext cx="5581650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جایابی و مسیریابی</a:t>
            </a:r>
            <a:endParaRPr lang="en-US" altLang="en-US" smtClean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4284663" y="981075"/>
            <a:ext cx="4608512" cy="4968875"/>
          </a:xfrm>
        </p:spPr>
        <p:txBody>
          <a:bodyPr/>
          <a:lstStyle/>
          <a:p>
            <a:r>
              <a:rPr lang="fa-IR" altLang="en-US" smtClean="0"/>
              <a:t>جایابی:</a:t>
            </a:r>
          </a:p>
          <a:p>
            <a:pPr lvl="1"/>
            <a:r>
              <a:rPr lang="fa-IR" altLang="en-US" smtClean="0"/>
              <a:t>تعیین محل هر بلوک منطقی</a:t>
            </a:r>
          </a:p>
          <a:p>
            <a:pPr lvl="1"/>
            <a:r>
              <a:rPr lang="fa-IR" altLang="en-US" smtClean="0"/>
              <a:t>تعیین محل برای بلوک‌های محاسباتی</a:t>
            </a:r>
          </a:p>
          <a:p>
            <a:pPr lvl="1"/>
            <a:r>
              <a:rPr lang="fa-IR" altLang="en-US" smtClean="0"/>
              <a:t>تعیین محل برای حافظه‌ها</a:t>
            </a:r>
          </a:p>
          <a:p>
            <a:pPr lvl="1"/>
            <a:r>
              <a:rPr lang="fa-IR" altLang="en-US" smtClean="0"/>
              <a:t>معیار:</a:t>
            </a:r>
          </a:p>
          <a:p>
            <a:pPr lvl="2"/>
            <a:r>
              <a:rPr lang="fa-IR" altLang="en-US" smtClean="0"/>
              <a:t>نگاشت بلوک‌های متصل به هم در نت لیست به بلوک‌های منطقی نزدیک در </a:t>
            </a:r>
            <a:r>
              <a:rPr lang="en-US" altLang="en-US" smtClean="0"/>
              <a:t>PLD</a:t>
            </a:r>
            <a:endParaRPr lang="fa-IR" altLang="en-US" smtClean="0"/>
          </a:p>
          <a:p>
            <a:pPr lvl="2"/>
            <a:r>
              <a:rPr lang="fa-IR" altLang="en-US" smtClean="0"/>
              <a:t>کاهش تأخیر</a:t>
            </a:r>
          </a:p>
          <a:p>
            <a:pPr lvl="2"/>
            <a:r>
              <a:rPr lang="fa-IR" altLang="en-US" smtClean="0"/>
              <a:t>افزایش احتمال موفقیت مسیریاب</a:t>
            </a: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3237BD06-89C4-4B4C-A5C7-1B488E17A93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59397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052513"/>
            <a:ext cx="46482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چرخة طراحی</a:t>
            </a:r>
            <a:endParaRPr lang="en-US" altLang="en-US" smtClean="0"/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3857625" y="1000125"/>
            <a:ext cx="4929188" cy="5214938"/>
          </a:xfrm>
        </p:spPr>
        <p:txBody>
          <a:bodyPr/>
          <a:lstStyle/>
          <a:p>
            <a:r>
              <a:rPr lang="fa-IR" altLang="en-US" smtClean="0"/>
              <a:t>جایابی </a:t>
            </a:r>
            <a:r>
              <a:rPr lang="en-US" altLang="en-US" smtClean="0"/>
              <a:t>(</a:t>
            </a:r>
            <a:r>
              <a:rPr lang="en-US" altLang="en-US" sz="2800" smtClean="0"/>
              <a:t>placement</a:t>
            </a:r>
            <a:r>
              <a:rPr lang="en-US" altLang="en-US" smtClean="0"/>
              <a:t>)</a:t>
            </a:r>
            <a:r>
              <a:rPr lang="fa-IR" altLang="en-US" smtClean="0"/>
              <a:t>: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3BBE0F2-E2AA-4B94-8D02-B193B65F6A6A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60421" name="Picture 26" descr="fig1-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9938" y="3136900"/>
            <a:ext cx="36830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2" name="Picture 9" descr="fig1-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43" b="15520"/>
          <a:stretch>
            <a:fillRect/>
          </a:stretch>
        </p:blipFill>
        <p:spPr bwMode="auto">
          <a:xfrm>
            <a:off x="863600" y="2997200"/>
            <a:ext cx="3190875" cy="280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3" name="Curved Up Arrow 29"/>
          <p:cNvSpPr>
            <a:spLocks noChangeArrowheads="1"/>
          </p:cNvSpPr>
          <p:nvPr/>
        </p:nvSpPr>
        <p:spPr bwMode="auto">
          <a:xfrm flipV="1">
            <a:off x="3419475" y="2352675"/>
            <a:ext cx="1584325" cy="469900"/>
          </a:xfrm>
          <a:prstGeom prst="curvedUpArrow">
            <a:avLst>
              <a:gd name="adj1" fmla="val 24991"/>
              <a:gd name="adj2" fmla="val 52057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algn="r" defTabSz="1019175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1019175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1019175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101917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defTabSz="820738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defTabSz="820738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defTabSz="820738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defTabSz="820738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defTabSz="820738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defTabSz="82073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D57AA01-278F-46C4-9480-C5D4DDBC6A2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a-IR" altLang="en-US" sz="2700" smtClean="0"/>
              <a:t>تأثیر جایابی روی موفقیت مسیریابی</a:t>
            </a:r>
            <a:endParaRPr lang="en-US" altLang="en-US" sz="2700" smtClean="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8" y="5516563"/>
            <a:ext cx="7772400" cy="936625"/>
          </a:xfrm>
        </p:spPr>
        <p:txBody>
          <a:bodyPr/>
          <a:lstStyle/>
          <a:p>
            <a:pPr lvl="1" eaLnBrk="1" hangingPunct="1"/>
            <a:r>
              <a:rPr lang="fa-IR" altLang="en-US" dirty="0" smtClean="0"/>
              <a:t>تنظیم میزان تلاش توسط طراح</a:t>
            </a:r>
            <a:r>
              <a:rPr lang="en-US" altLang="en-US" dirty="0" smtClean="0"/>
              <a:t> </a:t>
            </a:r>
            <a:r>
              <a:rPr lang="fa-IR" altLang="en-US" dirty="0" smtClean="0"/>
              <a:t> (</a:t>
            </a:r>
            <a:r>
              <a:rPr lang="en-US" altLang="en-US" sz="2400" dirty="0" err="1" smtClean="0"/>
              <a:t>effort_level</a:t>
            </a:r>
            <a:r>
              <a:rPr lang="fa-IR" altLang="en-US" sz="2400" dirty="0" smtClean="0"/>
              <a:t> </a:t>
            </a:r>
            <a:r>
              <a:rPr lang="fa-IR" altLang="en-US" dirty="0" smtClean="0"/>
              <a:t>یا </a:t>
            </a:r>
            <a:r>
              <a:rPr lang="en-US" altLang="en-US" sz="2400" dirty="0" err="1" smtClean="0"/>
              <a:t>opt_level</a:t>
            </a:r>
            <a:r>
              <a:rPr lang="fa-IR" altLang="en-US" dirty="0" smtClean="0"/>
              <a:t>)</a:t>
            </a:r>
            <a:endParaRPr lang="en-US" altLang="en-US" dirty="0" smtClean="0"/>
          </a:p>
        </p:txBody>
      </p:sp>
      <p:pic>
        <p:nvPicPr>
          <p:cNvPr id="62469" name="Picture 4" descr="befo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95375"/>
            <a:ext cx="4068763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70" name="Picture 5" descr="aft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192213"/>
            <a:ext cx="4103687" cy="403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مسیریابی (</a:t>
            </a:r>
            <a:r>
              <a:rPr lang="en-US" altLang="en-US" smtClean="0"/>
              <a:t>Routing</a:t>
            </a:r>
            <a:r>
              <a:rPr lang="fa-IR" altLang="en-US" smtClean="0"/>
              <a:t>)</a:t>
            </a:r>
            <a:endParaRPr lang="en-US" altLang="en-US" smtClean="0"/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3925888" y="1196975"/>
            <a:ext cx="4749800" cy="4670425"/>
          </a:xfrm>
        </p:spPr>
        <p:txBody>
          <a:bodyPr/>
          <a:lstStyle/>
          <a:p>
            <a:r>
              <a:rPr lang="fa-IR" altLang="en-US" smtClean="0"/>
              <a:t>مسیریابی:</a:t>
            </a:r>
          </a:p>
          <a:p>
            <a:pPr lvl="1"/>
            <a:r>
              <a:rPr lang="fa-IR" altLang="en-US" smtClean="0"/>
              <a:t>تعیین مسیرها</a:t>
            </a:r>
          </a:p>
          <a:p>
            <a:pPr lvl="2"/>
            <a:r>
              <a:rPr lang="fa-IR" altLang="en-US" smtClean="0"/>
              <a:t>تعیین نقاط برنامه‌ریزی اتصالات</a:t>
            </a:r>
          </a:p>
          <a:p>
            <a:pPr lvl="3"/>
            <a:r>
              <a:rPr lang="fa-IR" altLang="en-US" smtClean="0"/>
              <a:t>سوییچ</a:t>
            </a:r>
          </a:p>
          <a:p>
            <a:pPr lvl="3"/>
            <a:r>
              <a:rPr lang="en-US" altLang="en-US" sz="1800" smtClean="0"/>
              <a:t>MUX</a:t>
            </a:r>
            <a:endParaRPr lang="fa-IR" altLang="en-US" sz="1800" smtClean="0"/>
          </a:p>
          <a:p>
            <a:pPr lvl="3"/>
            <a:endParaRPr lang="fa-IR" altLang="en-US" sz="1800" smtClean="0"/>
          </a:p>
          <a:p>
            <a:pPr lvl="1"/>
            <a:r>
              <a:rPr lang="fa-IR" altLang="en-US" smtClean="0"/>
              <a:t>جایابی و مسیریابی: بسیار زمان‌بر</a:t>
            </a:r>
          </a:p>
          <a:p>
            <a:pPr lvl="2"/>
            <a:endParaRPr lang="fa-IR" altLang="en-US" smtClean="0"/>
          </a:p>
          <a:p>
            <a:pPr lvl="3"/>
            <a:endParaRPr lang="fa-IR" altLang="en-US" smtClean="0"/>
          </a:p>
          <a:p>
            <a:pPr lvl="1"/>
            <a:endParaRPr lang="en-US" alt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EC804E4F-3BEE-48AA-824F-93AE48DCB8A3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35238"/>
            <a:ext cx="4022725" cy="330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درستی‌سنجی بعد از چینش</a:t>
            </a:r>
            <a:endParaRPr lang="en-US" altLang="en-US" smtClean="0"/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>
          <a:xfrm>
            <a:off x="323850" y="836613"/>
            <a:ext cx="8142288" cy="2646362"/>
          </a:xfrm>
        </p:spPr>
        <p:txBody>
          <a:bodyPr/>
          <a:lstStyle/>
          <a:p>
            <a:r>
              <a:rPr lang="fa-IR" altLang="en-US" smtClean="0"/>
              <a:t>شبیه‌سازی بعد از چینش (</a:t>
            </a:r>
            <a:r>
              <a:rPr lang="en-US" altLang="en-US" sz="2800" smtClean="0"/>
              <a:t>post-layout simulation</a:t>
            </a:r>
            <a:r>
              <a:rPr lang="fa-IR" altLang="en-US" smtClean="0"/>
              <a:t>)</a:t>
            </a:r>
          </a:p>
          <a:p>
            <a:pPr lvl="1"/>
            <a:r>
              <a:rPr lang="fa-IR" altLang="en-US" smtClean="0"/>
              <a:t>لزوم:</a:t>
            </a:r>
          </a:p>
          <a:p>
            <a:pPr lvl="2"/>
            <a:r>
              <a:rPr lang="fa-IR" altLang="en-US" smtClean="0"/>
              <a:t>اطلاعات کامل طرح (شامل طول سیم‌ها، تعداد سوییچ‌های موجود در مسیر)</a:t>
            </a:r>
          </a:p>
          <a:p>
            <a:pPr lvl="2"/>
            <a:r>
              <a:rPr lang="fa-IR" altLang="en-US" smtClean="0"/>
              <a:t>تأخیرهای دقیق (حداکثر فرکانس کلاک)</a:t>
            </a:r>
          </a:p>
          <a:p>
            <a:pPr lvl="1"/>
            <a:endParaRPr lang="en-US" alt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DFB5882-F9A9-4C4F-96BA-F05EABCF5FB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cxnSp>
        <p:nvCxnSpPr>
          <p:cNvPr id="65541" name="Elbow Connector 5"/>
          <p:cNvCxnSpPr>
            <a:cxnSpLocks noChangeShapeType="1"/>
          </p:cNvCxnSpPr>
          <p:nvPr/>
        </p:nvCxnSpPr>
        <p:spPr bwMode="auto">
          <a:xfrm flipV="1">
            <a:off x="900113" y="3411538"/>
            <a:ext cx="792162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2" name="Elbow Connector 8"/>
          <p:cNvCxnSpPr>
            <a:cxnSpLocks noChangeShapeType="1"/>
          </p:cNvCxnSpPr>
          <p:nvPr/>
        </p:nvCxnSpPr>
        <p:spPr bwMode="auto">
          <a:xfrm>
            <a:off x="1692275" y="3411538"/>
            <a:ext cx="431800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3" name="Elbow Connector 9"/>
          <p:cNvCxnSpPr>
            <a:cxnSpLocks noChangeShapeType="1"/>
          </p:cNvCxnSpPr>
          <p:nvPr/>
        </p:nvCxnSpPr>
        <p:spPr bwMode="auto">
          <a:xfrm flipV="1">
            <a:off x="2051050" y="3411538"/>
            <a:ext cx="792163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4" name="Elbow Connector 10"/>
          <p:cNvCxnSpPr>
            <a:cxnSpLocks noChangeShapeType="1"/>
          </p:cNvCxnSpPr>
          <p:nvPr/>
        </p:nvCxnSpPr>
        <p:spPr bwMode="auto">
          <a:xfrm>
            <a:off x="2843213" y="3411538"/>
            <a:ext cx="433387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5" name="Elbow Connector 15"/>
          <p:cNvCxnSpPr>
            <a:cxnSpLocks noChangeShapeType="1"/>
          </p:cNvCxnSpPr>
          <p:nvPr/>
        </p:nvCxnSpPr>
        <p:spPr bwMode="auto">
          <a:xfrm flipV="1">
            <a:off x="1187450" y="4132263"/>
            <a:ext cx="792163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6" name="Elbow Connector 16"/>
          <p:cNvCxnSpPr>
            <a:cxnSpLocks noChangeShapeType="1"/>
          </p:cNvCxnSpPr>
          <p:nvPr/>
        </p:nvCxnSpPr>
        <p:spPr bwMode="auto">
          <a:xfrm>
            <a:off x="1979613" y="4132263"/>
            <a:ext cx="431800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7" name="Elbow Connector 17"/>
          <p:cNvCxnSpPr>
            <a:cxnSpLocks noChangeShapeType="1"/>
          </p:cNvCxnSpPr>
          <p:nvPr/>
        </p:nvCxnSpPr>
        <p:spPr bwMode="auto">
          <a:xfrm flipV="1">
            <a:off x="2195513" y="4132263"/>
            <a:ext cx="792162" cy="360362"/>
          </a:xfrm>
          <a:prstGeom prst="bentConnector3">
            <a:avLst>
              <a:gd name="adj1" fmla="val 24949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8" name="Elbow Connector 18"/>
          <p:cNvCxnSpPr>
            <a:cxnSpLocks noChangeShapeType="1"/>
          </p:cNvCxnSpPr>
          <p:nvPr/>
        </p:nvCxnSpPr>
        <p:spPr bwMode="auto">
          <a:xfrm>
            <a:off x="2987675" y="4132263"/>
            <a:ext cx="431800" cy="360362"/>
          </a:xfrm>
          <a:prstGeom prst="bentConnector3">
            <a:avLst>
              <a:gd name="adj1" fmla="val 2079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49" name="Straight Arrow Connector 23"/>
          <p:cNvCxnSpPr>
            <a:cxnSpLocks noChangeShapeType="1"/>
          </p:cNvCxnSpPr>
          <p:nvPr/>
        </p:nvCxnSpPr>
        <p:spPr bwMode="auto">
          <a:xfrm>
            <a:off x="1908175" y="3411538"/>
            <a:ext cx="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50" name="Straight Arrow Connector 26"/>
          <p:cNvCxnSpPr>
            <a:cxnSpLocks noChangeShapeType="1"/>
          </p:cNvCxnSpPr>
          <p:nvPr/>
        </p:nvCxnSpPr>
        <p:spPr bwMode="auto">
          <a:xfrm>
            <a:off x="3059113" y="3411538"/>
            <a:ext cx="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51" name="Straight Connector 28"/>
          <p:cNvCxnSpPr>
            <a:cxnSpLocks noChangeShapeType="1"/>
          </p:cNvCxnSpPr>
          <p:nvPr/>
        </p:nvCxnSpPr>
        <p:spPr bwMode="auto">
          <a:xfrm flipH="1">
            <a:off x="900113" y="4492625"/>
            <a:ext cx="35877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52" name="TextBox 29"/>
          <p:cNvSpPr txBox="1">
            <a:spLocks noChangeArrowheads="1"/>
          </p:cNvSpPr>
          <p:nvPr/>
        </p:nvSpPr>
        <p:spPr bwMode="auto">
          <a:xfrm>
            <a:off x="684213" y="3463925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CLK</a:t>
            </a:r>
          </a:p>
        </p:txBody>
      </p:sp>
      <p:sp>
        <p:nvSpPr>
          <p:cNvPr id="65553" name="TextBox 30"/>
          <p:cNvSpPr txBox="1">
            <a:spLocks noChangeArrowheads="1"/>
          </p:cNvSpPr>
          <p:nvPr/>
        </p:nvSpPr>
        <p:spPr bwMode="auto">
          <a:xfrm>
            <a:off x="684213" y="4111625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65554" name="Elbow Connector 31"/>
          <p:cNvCxnSpPr>
            <a:cxnSpLocks noChangeShapeType="1"/>
          </p:cNvCxnSpPr>
          <p:nvPr/>
        </p:nvCxnSpPr>
        <p:spPr bwMode="auto">
          <a:xfrm flipV="1">
            <a:off x="1511300" y="5067300"/>
            <a:ext cx="792163" cy="360363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55" name="Straight Connector 32"/>
          <p:cNvCxnSpPr>
            <a:cxnSpLocks noChangeShapeType="1"/>
          </p:cNvCxnSpPr>
          <p:nvPr/>
        </p:nvCxnSpPr>
        <p:spPr bwMode="auto">
          <a:xfrm flipH="1">
            <a:off x="900113" y="5427663"/>
            <a:ext cx="6477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56" name="TextBox 33"/>
          <p:cNvSpPr txBox="1">
            <a:spLocks noChangeArrowheads="1"/>
          </p:cNvSpPr>
          <p:nvPr/>
        </p:nvSpPr>
        <p:spPr bwMode="auto">
          <a:xfrm>
            <a:off x="684213" y="5048250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FFQ</a:t>
            </a:r>
            <a:r>
              <a:rPr lang="en-US" altLang="en-US" sz="1400" b="0" baseline="-25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65557" name="Straight Connector 36"/>
          <p:cNvCxnSpPr>
            <a:cxnSpLocks noChangeShapeType="1"/>
          </p:cNvCxnSpPr>
          <p:nvPr/>
        </p:nvCxnSpPr>
        <p:spPr bwMode="auto">
          <a:xfrm>
            <a:off x="1908175" y="3556000"/>
            <a:ext cx="0" cy="1871663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58" name="Straight Connector 38"/>
          <p:cNvCxnSpPr>
            <a:cxnSpLocks noChangeShapeType="1"/>
          </p:cNvCxnSpPr>
          <p:nvPr/>
        </p:nvCxnSpPr>
        <p:spPr bwMode="auto">
          <a:xfrm>
            <a:off x="3059113" y="3556000"/>
            <a:ext cx="0" cy="1871663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59" name="Elbow Connector 40"/>
          <p:cNvCxnSpPr>
            <a:cxnSpLocks noChangeShapeType="1"/>
          </p:cNvCxnSpPr>
          <p:nvPr/>
        </p:nvCxnSpPr>
        <p:spPr bwMode="auto">
          <a:xfrm>
            <a:off x="2268538" y="5067300"/>
            <a:ext cx="1223962" cy="360363"/>
          </a:xfrm>
          <a:prstGeom prst="bentConnector3">
            <a:avLst>
              <a:gd name="adj1" fmla="val 64093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0" name="Elbow Connector 43"/>
          <p:cNvCxnSpPr>
            <a:cxnSpLocks noChangeShapeType="1"/>
          </p:cNvCxnSpPr>
          <p:nvPr/>
        </p:nvCxnSpPr>
        <p:spPr bwMode="auto">
          <a:xfrm flipV="1">
            <a:off x="1511300" y="5716588"/>
            <a:ext cx="792163" cy="358775"/>
          </a:xfrm>
          <a:prstGeom prst="bentConnector3">
            <a:avLst>
              <a:gd name="adj1" fmla="val 8616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1" name="Straight Connector 44"/>
          <p:cNvCxnSpPr>
            <a:cxnSpLocks noChangeShapeType="1"/>
          </p:cNvCxnSpPr>
          <p:nvPr/>
        </p:nvCxnSpPr>
        <p:spPr bwMode="auto">
          <a:xfrm flipH="1">
            <a:off x="900113" y="6075363"/>
            <a:ext cx="6477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62" name="TextBox 45"/>
          <p:cNvSpPr txBox="1">
            <a:spLocks noChangeArrowheads="1"/>
          </p:cNvSpPr>
          <p:nvPr/>
        </p:nvSpPr>
        <p:spPr bwMode="auto">
          <a:xfrm>
            <a:off x="684213" y="5695950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Z</a:t>
            </a:r>
          </a:p>
        </p:txBody>
      </p:sp>
      <p:cxnSp>
        <p:nvCxnSpPr>
          <p:cNvPr id="65563" name="Elbow Connector 46"/>
          <p:cNvCxnSpPr>
            <a:cxnSpLocks noChangeShapeType="1"/>
          </p:cNvCxnSpPr>
          <p:nvPr/>
        </p:nvCxnSpPr>
        <p:spPr bwMode="auto">
          <a:xfrm>
            <a:off x="2268538" y="5716588"/>
            <a:ext cx="1223962" cy="358775"/>
          </a:xfrm>
          <a:prstGeom prst="bentConnector3">
            <a:avLst>
              <a:gd name="adj1" fmla="val 64093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4" name="Straight Connector 48"/>
          <p:cNvCxnSpPr>
            <a:cxnSpLocks noChangeShapeType="1"/>
          </p:cNvCxnSpPr>
          <p:nvPr/>
        </p:nvCxnSpPr>
        <p:spPr bwMode="auto">
          <a:xfrm>
            <a:off x="1576388" y="4221163"/>
            <a:ext cx="0" cy="1871662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5" name="Elbow Connector 49"/>
          <p:cNvCxnSpPr>
            <a:cxnSpLocks noChangeShapeType="1"/>
          </p:cNvCxnSpPr>
          <p:nvPr/>
        </p:nvCxnSpPr>
        <p:spPr bwMode="auto">
          <a:xfrm flipV="1">
            <a:off x="4787900" y="3411538"/>
            <a:ext cx="792163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6" name="Elbow Connector 50"/>
          <p:cNvCxnSpPr>
            <a:cxnSpLocks noChangeShapeType="1"/>
          </p:cNvCxnSpPr>
          <p:nvPr/>
        </p:nvCxnSpPr>
        <p:spPr bwMode="auto">
          <a:xfrm>
            <a:off x="5580063" y="3411538"/>
            <a:ext cx="431800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7" name="Elbow Connector 51"/>
          <p:cNvCxnSpPr>
            <a:cxnSpLocks noChangeShapeType="1"/>
          </p:cNvCxnSpPr>
          <p:nvPr/>
        </p:nvCxnSpPr>
        <p:spPr bwMode="auto">
          <a:xfrm flipV="1">
            <a:off x="5940425" y="3411538"/>
            <a:ext cx="792163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8" name="Elbow Connector 52"/>
          <p:cNvCxnSpPr>
            <a:cxnSpLocks noChangeShapeType="1"/>
          </p:cNvCxnSpPr>
          <p:nvPr/>
        </p:nvCxnSpPr>
        <p:spPr bwMode="auto">
          <a:xfrm>
            <a:off x="6732588" y="3411538"/>
            <a:ext cx="431800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69" name="Elbow Connector 53"/>
          <p:cNvCxnSpPr>
            <a:cxnSpLocks noChangeShapeType="1"/>
          </p:cNvCxnSpPr>
          <p:nvPr/>
        </p:nvCxnSpPr>
        <p:spPr bwMode="auto">
          <a:xfrm flipV="1">
            <a:off x="5076825" y="4132263"/>
            <a:ext cx="790575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0" name="Elbow Connector 54"/>
          <p:cNvCxnSpPr>
            <a:cxnSpLocks noChangeShapeType="1"/>
          </p:cNvCxnSpPr>
          <p:nvPr/>
        </p:nvCxnSpPr>
        <p:spPr bwMode="auto">
          <a:xfrm>
            <a:off x="5867400" y="4132263"/>
            <a:ext cx="433388" cy="360362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1" name="Elbow Connector 55"/>
          <p:cNvCxnSpPr>
            <a:cxnSpLocks noChangeShapeType="1"/>
          </p:cNvCxnSpPr>
          <p:nvPr/>
        </p:nvCxnSpPr>
        <p:spPr bwMode="auto">
          <a:xfrm flipV="1">
            <a:off x="6084888" y="4132263"/>
            <a:ext cx="790575" cy="360362"/>
          </a:xfrm>
          <a:prstGeom prst="bentConnector3">
            <a:avLst>
              <a:gd name="adj1" fmla="val 24949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2" name="Elbow Connector 56"/>
          <p:cNvCxnSpPr>
            <a:cxnSpLocks noChangeShapeType="1"/>
          </p:cNvCxnSpPr>
          <p:nvPr/>
        </p:nvCxnSpPr>
        <p:spPr bwMode="auto">
          <a:xfrm>
            <a:off x="6875463" y="4132263"/>
            <a:ext cx="433387" cy="360362"/>
          </a:xfrm>
          <a:prstGeom prst="bentConnector3">
            <a:avLst>
              <a:gd name="adj1" fmla="val 2079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3" name="Straight Arrow Connector 57"/>
          <p:cNvCxnSpPr>
            <a:cxnSpLocks noChangeShapeType="1"/>
          </p:cNvCxnSpPr>
          <p:nvPr/>
        </p:nvCxnSpPr>
        <p:spPr bwMode="auto">
          <a:xfrm>
            <a:off x="5795963" y="3411538"/>
            <a:ext cx="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4" name="Straight Arrow Connector 58"/>
          <p:cNvCxnSpPr>
            <a:cxnSpLocks noChangeShapeType="1"/>
          </p:cNvCxnSpPr>
          <p:nvPr/>
        </p:nvCxnSpPr>
        <p:spPr bwMode="auto">
          <a:xfrm>
            <a:off x="6948488" y="3411538"/>
            <a:ext cx="0" cy="3603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5" name="Straight Connector 59"/>
          <p:cNvCxnSpPr>
            <a:cxnSpLocks noChangeShapeType="1"/>
          </p:cNvCxnSpPr>
          <p:nvPr/>
        </p:nvCxnSpPr>
        <p:spPr bwMode="auto">
          <a:xfrm flipH="1">
            <a:off x="4787900" y="4492625"/>
            <a:ext cx="36036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76" name="TextBox 60"/>
          <p:cNvSpPr txBox="1">
            <a:spLocks noChangeArrowheads="1"/>
          </p:cNvSpPr>
          <p:nvPr/>
        </p:nvSpPr>
        <p:spPr bwMode="auto">
          <a:xfrm>
            <a:off x="4572000" y="3463925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CLK</a:t>
            </a:r>
          </a:p>
        </p:txBody>
      </p:sp>
      <p:sp>
        <p:nvSpPr>
          <p:cNvPr id="65577" name="TextBox 61"/>
          <p:cNvSpPr txBox="1">
            <a:spLocks noChangeArrowheads="1"/>
          </p:cNvSpPr>
          <p:nvPr/>
        </p:nvSpPr>
        <p:spPr bwMode="auto">
          <a:xfrm>
            <a:off x="4572000" y="4111625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65578" name="Elbow Connector 62"/>
          <p:cNvCxnSpPr>
            <a:cxnSpLocks noChangeShapeType="1"/>
          </p:cNvCxnSpPr>
          <p:nvPr/>
        </p:nvCxnSpPr>
        <p:spPr bwMode="auto">
          <a:xfrm flipV="1">
            <a:off x="5400675" y="5067300"/>
            <a:ext cx="792163" cy="360363"/>
          </a:xfrm>
          <a:prstGeom prst="bentConnector3">
            <a:avLst>
              <a:gd name="adj1" fmla="val 66338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79" name="Straight Connector 63"/>
          <p:cNvCxnSpPr>
            <a:cxnSpLocks noChangeShapeType="1"/>
          </p:cNvCxnSpPr>
          <p:nvPr/>
        </p:nvCxnSpPr>
        <p:spPr bwMode="auto">
          <a:xfrm flipH="1">
            <a:off x="4787900" y="5427663"/>
            <a:ext cx="6477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80" name="TextBox 64"/>
          <p:cNvSpPr txBox="1">
            <a:spLocks noChangeArrowheads="1"/>
          </p:cNvSpPr>
          <p:nvPr/>
        </p:nvSpPr>
        <p:spPr bwMode="auto">
          <a:xfrm>
            <a:off x="4572000" y="5048250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FFQ</a:t>
            </a:r>
            <a:r>
              <a:rPr lang="en-US" altLang="en-US" sz="1400" b="0" baseline="-25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1</a:t>
            </a:r>
            <a:endParaRPr lang="en-US" altLang="en-US" sz="14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cxnSp>
        <p:nvCxnSpPr>
          <p:cNvPr id="65581" name="Straight Connector 65"/>
          <p:cNvCxnSpPr>
            <a:cxnSpLocks noChangeShapeType="1"/>
          </p:cNvCxnSpPr>
          <p:nvPr/>
        </p:nvCxnSpPr>
        <p:spPr bwMode="auto">
          <a:xfrm>
            <a:off x="5795963" y="3556000"/>
            <a:ext cx="0" cy="1871663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82" name="Straight Connector 66"/>
          <p:cNvCxnSpPr>
            <a:cxnSpLocks noChangeShapeType="1"/>
          </p:cNvCxnSpPr>
          <p:nvPr/>
        </p:nvCxnSpPr>
        <p:spPr bwMode="auto">
          <a:xfrm>
            <a:off x="6948488" y="3556000"/>
            <a:ext cx="0" cy="1871663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83" name="Elbow Connector 67"/>
          <p:cNvCxnSpPr>
            <a:cxnSpLocks noChangeShapeType="1"/>
          </p:cNvCxnSpPr>
          <p:nvPr/>
        </p:nvCxnSpPr>
        <p:spPr bwMode="auto">
          <a:xfrm>
            <a:off x="6156325" y="5067300"/>
            <a:ext cx="1223963" cy="360363"/>
          </a:xfrm>
          <a:prstGeom prst="bentConnector3">
            <a:avLst>
              <a:gd name="adj1" fmla="val 72551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84" name="Elbow Connector 68"/>
          <p:cNvCxnSpPr>
            <a:cxnSpLocks noChangeShapeType="1"/>
          </p:cNvCxnSpPr>
          <p:nvPr/>
        </p:nvCxnSpPr>
        <p:spPr bwMode="auto">
          <a:xfrm flipV="1">
            <a:off x="5400675" y="5716588"/>
            <a:ext cx="792163" cy="358775"/>
          </a:xfrm>
          <a:prstGeom prst="bentConnector3">
            <a:avLst>
              <a:gd name="adj1" fmla="val 21685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85" name="Straight Connector 69"/>
          <p:cNvCxnSpPr>
            <a:cxnSpLocks noChangeShapeType="1"/>
          </p:cNvCxnSpPr>
          <p:nvPr/>
        </p:nvCxnSpPr>
        <p:spPr bwMode="auto">
          <a:xfrm flipH="1">
            <a:off x="4787900" y="6075363"/>
            <a:ext cx="6477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586" name="TextBox 70"/>
          <p:cNvSpPr txBox="1">
            <a:spLocks noChangeArrowheads="1"/>
          </p:cNvSpPr>
          <p:nvPr/>
        </p:nvSpPr>
        <p:spPr bwMode="auto">
          <a:xfrm>
            <a:off x="4572000" y="5695950"/>
            <a:ext cx="64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4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Z</a:t>
            </a:r>
          </a:p>
        </p:txBody>
      </p:sp>
      <p:cxnSp>
        <p:nvCxnSpPr>
          <p:cNvPr id="65587" name="Elbow Connector 71"/>
          <p:cNvCxnSpPr>
            <a:cxnSpLocks noChangeShapeType="1"/>
          </p:cNvCxnSpPr>
          <p:nvPr/>
        </p:nvCxnSpPr>
        <p:spPr bwMode="auto">
          <a:xfrm>
            <a:off x="6156325" y="5716588"/>
            <a:ext cx="1223963" cy="358775"/>
          </a:xfrm>
          <a:prstGeom prst="bentConnector3">
            <a:avLst>
              <a:gd name="adj1" fmla="val 83824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588" name="Straight Connector 72"/>
          <p:cNvCxnSpPr>
            <a:cxnSpLocks noChangeShapeType="1"/>
          </p:cNvCxnSpPr>
          <p:nvPr/>
        </p:nvCxnSpPr>
        <p:spPr bwMode="auto">
          <a:xfrm>
            <a:off x="5465763" y="4221163"/>
            <a:ext cx="0" cy="1871662"/>
          </a:xfrm>
          <a:prstGeom prst="line">
            <a:avLst/>
          </a:prstGeom>
          <a:noFill/>
          <a:ln w="9525" algn="ctr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جایابی و مسیریابی</a:t>
            </a:r>
            <a:endParaRPr lang="en-US" altLang="en-US" smtClean="0"/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3995738" y="908050"/>
            <a:ext cx="4462462" cy="4648200"/>
          </a:xfrm>
        </p:spPr>
        <p:txBody>
          <a:bodyPr/>
          <a:lstStyle/>
          <a:p>
            <a:r>
              <a:rPr lang="fa-IR" altLang="en-US" smtClean="0"/>
              <a:t>کنترل با استفاده از محدودیت‌ها:</a:t>
            </a:r>
          </a:p>
          <a:p>
            <a:pPr lvl="1"/>
            <a:r>
              <a:rPr lang="fa-IR" altLang="en-US" smtClean="0"/>
              <a:t>تعیین جای مشخص برای بلوک‌های منطقی</a:t>
            </a:r>
            <a:endParaRPr lang="en-US" alt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4184392-3D45-4082-AAB7-FD0B0DAF926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66565" name="Picture 5" descr="af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120775"/>
            <a:ext cx="4103688" cy="403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Freeform 5"/>
          <p:cNvSpPr>
            <a:spLocks/>
          </p:cNvSpPr>
          <p:nvPr/>
        </p:nvSpPr>
        <p:spPr bwMode="auto">
          <a:xfrm>
            <a:off x="1474788" y="2038350"/>
            <a:ext cx="2614612" cy="2959100"/>
          </a:xfrm>
          <a:custGeom>
            <a:avLst/>
            <a:gdLst>
              <a:gd name="T0" fmla="*/ 156284 w 2613804"/>
              <a:gd name="T1" fmla="*/ 8648 h 2958861"/>
              <a:gd name="T2" fmla="*/ 156284 w 2613804"/>
              <a:gd name="T3" fmla="*/ 8648 h 2958861"/>
              <a:gd name="T4" fmla="*/ 234425 w 2613804"/>
              <a:gd name="T5" fmla="*/ 43195 h 2958861"/>
              <a:gd name="T6" fmla="*/ 260473 w 2613804"/>
              <a:gd name="T7" fmla="*/ 69138 h 2958861"/>
              <a:gd name="T8" fmla="*/ 347304 w 2613804"/>
              <a:gd name="T9" fmla="*/ 112333 h 2958861"/>
              <a:gd name="T10" fmla="*/ 399398 w 2613804"/>
              <a:gd name="T11" fmla="*/ 146901 h 2958861"/>
              <a:gd name="T12" fmla="*/ 503590 w 2613804"/>
              <a:gd name="T13" fmla="*/ 198744 h 2958861"/>
              <a:gd name="T14" fmla="*/ 581734 w 2613804"/>
              <a:gd name="T15" fmla="*/ 241960 h 2958861"/>
              <a:gd name="T16" fmla="*/ 625146 w 2613804"/>
              <a:gd name="T17" fmla="*/ 259234 h 2958861"/>
              <a:gd name="T18" fmla="*/ 955086 w 2613804"/>
              <a:gd name="T19" fmla="*/ 250586 h 2958861"/>
              <a:gd name="T20" fmla="*/ 1224245 w 2613804"/>
              <a:gd name="T21" fmla="*/ 233313 h 2958861"/>
              <a:gd name="T22" fmla="*/ 1302386 w 2613804"/>
              <a:gd name="T23" fmla="*/ 216018 h 2958861"/>
              <a:gd name="T24" fmla="*/ 1328437 w 2613804"/>
              <a:gd name="T25" fmla="*/ 207391 h 2958861"/>
              <a:gd name="T26" fmla="*/ 1389214 w 2613804"/>
              <a:gd name="T27" fmla="*/ 190096 h 2958861"/>
              <a:gd name="T28" fmla="*/ 1476040 w 2613804"/>
              <a:gd name="T29" fmla="*/ 172823 h 2958861"/>
              <a:gd name="T30" fmla="*/ 1510770 w 2613804"/>
              <a:gd name="T31" fmla="*/ 164175 h 2958861"/>
              <a:gd name="T32" fmla="*/ 1693104 w 2613804"/>
              <a:gd name="T33" fmla="*/ 190096 h 2958861"/>
              <a:gd name="T34" fmla="*/ 1771249 w 2613804"/>
              <a:gd name="T35" fmla="*/ 233313 h 2958861"/>
              <a:gd name="T36" fmla="*/ 1814662 w 2613804"/>
              <a:gd name="T37" fmla="*/ 250586 h 2958861"/>
              <a:gd name="T38" fmla="*/ 1840709 w 2613804"/>
              <a:gd name="T39" fmla="*/ 267881 h 2958861"/>
              <a:gd name="T40" fmla="*/ 1884122 w 2613804"/>
              <a:gd name="T41" fmla="*/ 276508 h 2958861"/>
              <a:gd name="T42" fmla="*/ 1936218 w 2613804"/>
              <a:gd name="T43" fmla="*/ 302429 h 2958861"/>
              <a:gd name="T44" fmla="*/ 1996996 w 2613804"/>
              <a:gd name="T45" fmla="*/ 336998 h 2958861"/>
              <a:gd name="T46" fmla="*/ 2049091 w 2613804"/>
              <a:gd name="T47" fmla="*/ 354292 h 2958861"/>
              <a:gd name="T48" fmla="*/ 2075139 w 2613804"/>
              <a:gd name="T49" fmla="*/ 362919 h 2958861"/>
              <a:gd name="T50" fmla="*/ 2127235 w 2613804"/>
              <a:gd name="T51" fmla="*/ 397487 h 2958861"/>
              <a:gd name="T52" fmla="*/ 2153282 w 2613804"/>
              <a:gd name="T53" fmla="*/ 423409 h 2958861"/>
              <a:gd name="T54" fmla="*/ 2205377 w 2613804"/>
              <a:gd name="T55" fmla="*/ 440703 h 2958861"/>
              <a:gd name="T56" fmla="*/ 2257473 w 2613804"/>
              <a:gd name="T57" fmla="*/ 475251 h 2958861"/>
              <a:gd name="T58" fmla="*/ 2283521 w 2613804"/>
              <a:gd name="T59" fmla="*/ 483899 h 2958861"/>
              <a:gd name="T60" fmla="*/ 2335617 w 2613804"/>
              <a:gd name="T61" fmla="*/ 518467 h 2958861"/>
              <a:gd name="T62" fmla="*/ 2335617 w 2613804"/>
              <a:gd name="T63" fmla="*/ 544388 h 2958861"/>
              <a:gd name="T64" fmla="*/ 1120054 w 2613804"/>
              <a:gd name="T65" fmla="*/ 1477616 h 2958861"/>
              <a:gd name="T66" fmla="*/ 781431 w 2613804"/>
              <a:gd name="T67" fmla="*/ 0 h 2958861"/>
              <a:gd name="T68" fmla="*/ 0 w 2613804"/>
              <a:gd name="T69" fmla="*/ 1901029 h 2958861"/>
              <a:gd name="T70" fmla="*/ 2630825 w 2613804"/>
              <a:gd name="T71" fmla="*/ 1892398 h 2958861"/>
              <a:gd name="T72" fmla="*/ 2248792 w 2613804"/>
              <a:gd name="T73" fmla="*/ 2937958 h 2958861"/>
              <a:gd name="T74" fmla="*/ 2248792 w 2613804"/>
              <a:gd name="T75" fmla="*/ 2937958 h 2958861"/>
              <a:gd name="T76" fmla="*/ 2309569 w 2613804"/>
              <a:gd name="T77" fmla="*/ 2963880 h 2958861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2613804" h="2958861">
                <a:moveTo>
                  <a:pt x="155276" y="8627"/>
                </a:moveTo>
                <a:lnTo>
                  <a:pt x="155276" y="8627"/>
                </a:lnTo>
                <a:cubicBezTo>
                  <a:pt x="181155" y="20129"/>
                  <a:pt x="208451" y="28862"/>
                  <a:pt x="232913" y="43132"/>
                </a:cubicBezTo>
                <a:cubicBezTo>
                  <a:pt x="243451" y="49279"/>
                  <a:pt x="248403" y="62618"/>
                  <a:pt x="258793" y="69012"/>
                </a:cubicBezTo>
                <a:cubicBezTo>
                  <a:pt x="286173" y="85861"/>
                  <a:pt x="318308" y="94311"/>
                  <a:pt x="345057" y="112144"/>
                </a:cubicBezTo>
                <a:cubicBezTo>
                  <a:pt x="362310" y="123646"/>
                  <a:pt x="378689" y="136579"/>
                  <a:pt x="396815" y="146649"/>
                </a:cubicBezTo>
                <a:cubicBezTo>
                  <a:pt x="430539" y="165384"/>
                  <a:pt x="467251" y="178560"/>
                  <a:pt x="500332" y="198408"/>
                </a:cubicBezTo>
                <a:cubicBezTo>
                  <a:pt x="531440" y="217073"/>
                  <a:pt x="546147" y="227396"/>
                  <a:pt x="577970" y="241540"/>
                </a:cubicBezTo>
                <a:cubicBezTo>
                  <a:pt x="592120" y="247829"/>
                  <a:pt x="606725" y="253042"/>
                  <a:pt x="621102" y="258793"/>
                </a:cubicBezTo>
                <a:lnTo>
                  <a:pt x="948906" y="250166"/>
                </a:lnTo>
                <a:cubicBezTo>
                  <a:pt x="1144789" y="243744"/>
                  <a:pt x="1090621" y="248626"/>
                  <a:pt x="1216325" y="232914"/>
                </a:cubicBezTo>
                <a:cubicBezTo>
                  <a:pt x="1274581" y="213494"/>
                  <a:pt x="1202873" y="235903"/>
                  <a:pt x="1293962" y="215661"/>
                </a:cubicBezTo>
                <a:cubicBezTo>
                  <a:pt x="1302839" y="213688"/>
                  <a:pt x="1311132" y="209647"/>
                  <a:pt x="1319842" y="207034"/>
                </a:cubicBezTo>
                <a:cubicBezTo>
                  <a:pt x="1339893" y="201019"/>
                  <a:pt x="1359849" y="194576"/>
                  <a:pt x="1380226" y="189781"/>
                </a:cubicBezTo>
                <a:cubicBezTo>
                  <a:pt x="1408771" y="183065"/>
                  <a:pt x="1438042" y="179642"/>
                  <a:pt x="1466491" y="172529"/>
                </a:cubicBezTo>
                <a:lnTo>
                  <a:pt x="1500996" y="163902"/>
                </a:lnTo>
                <a:cubicBezTo>
                  <a:pt x="1604425" y="170798"/>
                  <a:pt x="1607942" y="160097"/>
                  <a:pt x="1682151" y="189781"/>
                </a:cubicBezTo>
                <a:cubicBezTo>
                  <a:pt x="1801773" y="237630"/>
                  <a:pt x="1654270" y="174293"/>
                  <a:pt x="1759789" y="232914"/>
                </a:cubicBezTo>
                <a:cubicBezTo>
                  <a:pt x="1773325" y="240434"/>
                  <a:pt x="1789071" y="243241"/>
                  <a:pt x="1802921" y="250166"/>
                </a:cubicBezTo>
                <a:cubicBezTo>
                  <a:pt x="1812194" y="254802"/>
                  <a:pt x="1819093" y="263779"/>
                  <a:pt x="1828800" y="267419"/>
                </a:cubicBezTo>
                <a:cubicBezTo>
                  <a:pt x="1842528" y="272567"/>
                  <a:pt x="1857555" y="273170"/>
                  <a:pt x="1871932" y="276046"/>
                </a:cubicBezTo>
                <a:cubicBezTo>
                  <a:pt x="1946105" y="325493"/>
                  <a:pt x="1852253" y="266205"/>
                  <a:pt x="1923691" y="301925"/>
                </a:cubicBezTo>
                <a:cubicBezTo>
                  <a:pt x="1985934" y="333047"/>
                  <a:pt x="1908465" y="306187"/>
                  <a:pt x="1984076" y="336431"/>
                </a:cubicBezTo>
                <a:cubicBezTo>
                  <a:pt x="2000961" y="343185"/>
                  <a:pt x="2018581" y="347932"/>
                  <a:pt x="2035834" y="353683"/>
                </a:cubicBezTo>
                <a:cubicBezTo>
                  <a:pt x="2044460" y="356558"/>
                  <a:pt x="2054147" y="357266"/>
                  <a:pt x="2061713" y="362310"/>
                </a:cubicBezTo>
                <a:cubicBezTo>
                  <a:pt x="2078966" y="373812"/>
                  <a:pt x="2098810" y="382153"/>
                  <a:pt x="2113472" y="396815"/>
                </a:cubicBezTo>
                <a:cubicBezTo>
                  <a:pt x="2122098" y="405442"/>
                  <a:pt x="2128687" y="416770"/>
                  <a:pt x="2139351" y="422695"/>
                </a:cubicBezTo>
                <a:cubicBezTo>
                  <a:pt x="2155248" y="431527"/>
                  <a:pt x="2191109" y="439947"/>
                  <a:pt x="2191109" y="439947"/>
                </a:cubicBezTo>
                <a:cubicBezTo>
                  <a:pt x="2208362" y="451449"/>
                  <a:pt x="2223197" y="467895"/>
                  <a:pt x="2242868" y="474453"/>
                </a:cubicBezTo>
                <a:cubicBezTo>
                  <a:pt x="2251494" y="477329"/>
                  <a:pt x="2260798" y="478664"/>
                  <a:pt x="2268747" y="483080"/>
                </a:cubicBezTo>
                <a:cubicBezTo>
                  <a:pt x="2286873" y="493150"/>
                  <a:pt x="2320506" y="496850"/>
                  <a:pt x="2320506" y="517585"/>
                </a:cubicBezTo>
                <a:lnTo>
                  <a:pt x="2320506" y="543464"/>
                </a:lnTo>
                <a:lnTo>
                  <a:pt x="1112808" y="1475117"/>
                </a:lnTo>
                <a:lnTo>
                  <a:pt x="776377" y="0"/>
                </a:lnTo>
                <a:lnTo>
                  <a:pt x="0" y="1897812"/>
                </a:lnTo>
                <a:lnTo>
                  <a:pt x="2613804" y="1889185"/>
                </a:lnTo>
                <a:lnTo>
                  <a:pt x="2234242" y="2932981"/>
                </a:lnTo>
                <a:lnTo>
                  <a:pt x="2294626" y="2958861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a-IR"/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2268538" y="5683250"/>
            <a:ext cx="56149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tx1"/>
                </a:solidFill>
                <a:latin typeface="Courier"/>
                <a:cs typeface="Arial" panose="020B0604020202020204" pitchFamily="34" charset="0"/>
              </a:rPr>
              <a:t>place_cell div_cntr_15889 SLICE_X49Y60/D6LUT</a:t>
            </a:r>
            <a:endParaRPr lang="en-US" altLang="en-US" sz="540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539750" y="1268413"/>
            <a:ext cx="7772400" cy="4648200"/>
          </a:xfrm>
        </p:spPr>
        <p:txBody>
          <a:bodyPr/>
          <a:lstStyle/>
          <a:p>
            <a:r>
              <a:rPr lang="fa-IR" altLang="fa-IR" smtClean="0"/>
              <a:t>ساختار یک بلوک منطقی فرضی:</a:t>
            </a:r>
          </a:p>
          <a:p>
            <a:pPr lvl="1"/>
            <a:r>
              <a:rPr lang="en-US" altLang="fa-IR" smtClean="0"/>
              <a:t>LUT</a:t>
            </a:r>
            <a:r>
              <a:rPr lang="fa-IR" altLang="fa-IR" smtClean="0"/>
              <a:t> سه ورودی</a:t>
            </a:r>
          </a:p>
          <a:p>
            <a:pPr lvl="1"/>
            <a:r>
              <a:rPr lang="en-US" altLang="fa-IR" smtClean="0"/>
              <a:t>FF</a:t>
            </a:r>
            <a:endParaRPr lang="fa-IR" altLang="fa-IR" smtClean="0"/>
          </a:p>
          <a:p>
            <a:pPr lvl="1"/>
            <a:r>
              <a:rPr lang="en-US" altLang="fa-IR" smtClean="0"/>
              <a:t>MUX</a:t>
            </a:r>
            <a:r>
              <a:rPr lang="fa-IR" altLang="fa-IR" smtClean="0"/>
              <a:t> کنارگذر</a:t>
            </a:r>
            <a:endParaRPr lang="en-US" altLang="fa-IR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ABB9A28-5FD9-4353-B062-5D1C16B24DDE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6758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997200"/>
            <a:ext cx="2276475" cy="2303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539750" y="1268413"/>
            <a:ext cx="7772400" cy="4648200"/>
          </a:xfrm>
        </p:spPr>
        <p:txBody>
          <a:bodyPr/>
          <a:lstStyle/>
          <a:p>
            <a:r>
              <a:rPr lang="fa-IR" altLang="fa-IR" smtClean="0"/>
              <a:t>پیاده‌سازی </a:t>
            </a:r>
            <a:r>
              <a:rPr lang="en-US" altLang="fa-IR" smtClean="0"/>
              <a:t>FSM</a:t>
            </a:r>
            <a:r>
              <a:rPr lang="fa-IR" altLang="fa-IR" smtClean="0"/>
              <a:t> روی </a:t>
            </a:r>
            <a:r>
              <a:rPr lang="en-US" altLang="fa-IR" smtClean="0"/>
              <a:t>FPGA</a:t>
            </a:r>
          </a:p>
          <a:p>
            <a:pPr lvl="1"/>
            <a:r>
              <a:rPr lang="fa-IR" altLang="fa-IR" smtClean="0"/>
              <a:t>ورودی‌ها: </a:t>
            </a:r>
            <a:r>
              <a:rPr lang="en-US" altLang="fa-IR" smtClean="0"/>
              <a:t>D</a:t>
            </a:r>
            <a:r>
              <a:rPr lang="fa-IR" altLang="fa-IR" smtClean="0"/>
              <a:t> و </a:t>
            </a:r>
            <a:r>
              <a:rPr lang="en-US" altLang="fa-IR" smtClean="0"/>
              <a:t>P</a:t>
            </a:r>
          </a:p>
          <a:p>
            <a:pPr lvl="1"/>
            <a:r>
              <a:rPr lang="fa-IR" altLang="fa-IR" smtClean="0"/>
              <a:t>خروجی: </a:t>
            </a:r>
            <a:r>
              <a:rPr lang="en-US" altLang="fa-IR" smtClean="0"/>
              <a:t>DOOR</a:t>
            </a:r>
          </a:p>
          <a:p>
            <a:r>
              <a:rPr lang="fa-IR" altLang="fa-IR" smtClean="0"/>
              <a:t>کد حالات: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fa-IR" smtClean="0"/>
              <a:t>START: 00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fa-IR" smtClean="0"/>
              <a:t>P200: 01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fa-IR" smtClean="0"/>
              <a:t>P400: 10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US" altLang="fa-IR" smtClean="0"/>
              <a:t>FULL: 11</a:t>
            </a: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7D0BAD0-909B-4AF9-9570-5E33F28463AF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6861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1052513"/>
            <a:ext cx="2682875" cy="488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68313" y="896938"/>
          <a:ext cx="4024312" cy="4764085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1006078">
                  <a:extLst>
                    <a:ext uri="{9D8B030D-6E8A-4147-A177-3AD203B41FA5}"/>
                  </a:extLst>
                </a:gridCol>
                <a:gridCol w="1006078">
                  <a:extLst>
                    <a:ext uri="{9D8B030D-6E8A-4147-A177-3AD203B41FA5}"/>
                  </a:extLst>
                </a:gridCol>
                <a:gridCol w="1006078">
                  <a:extLst>
                    <a:ext uri="{9D8B030D-6E8A-4147-A177-3AD203B41FA5}"/>
                  </a:extLst>
                </a:gridCol>
                <a:gridCol w="1006078">
                  <a:extLst>
                    <a:ext uri="{9D8B030D-6E8A-4147-A177-3AD203B41FA5}"/>
                  </a:extLst>
                </a:gridCol>
              </a:tblGrid>
              <a:tr h="83782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DOOR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(خروجی)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 B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(حالت بعدی)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D P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(ورودی­ها)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 B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(حالت جاری)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START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START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START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P200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START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 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START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P200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P200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P200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P400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P200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 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P200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P400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P400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P400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P400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 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P400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  <a:tr h="245391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FULL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FULL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0856" marR="70856" marT="0" marB="0" anchor="ctr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6972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323DFD6-ABAD-4355-98CA-7AF654F5A42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43440" y="873125"/>
          <a:ext cx="3814760" cy="4752972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953690">
                  <a:extLst>
                    <a:ext uri="{9D8B030D-6E8A-4147-A177-3AD203B41FA5}"/>
                  </a:extLst>
                </a:gridCol>
                <a:gridCol w="953690">
                  <a:extLst>
                    <a:ext uri="{9D8B030D-6E8A-4147-A177-3AD203B41FA5}"/>
                  </a:extLst>
                </a:gridCol>
                <a:gridCol w="953690">
                  <a:extLst>
                    <a:ext uri="{9D8B030D-6E8A-4147-A177-3AD203B41FA5}"/>
                  </a:extLst>
                </a:gridCol>
                <a:gridCol w="953690">
                  <a:extLst>
                    <a:ext uri="{9D8B030D-6E8A-4147-A177-3AD203B41FA5}"/>
                  </a:extLst>
                </a:gridCol>
              </a:tblGrid>
              <a:tr h="646204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DOOR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 dirty="0">
                          <a:effectLst/>
                        </a:rPr>
                        <a:t>(خروجی)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 B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(حالت بعدی)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D P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(ورودی­ها)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A B</a:t>
                      </a:r>
                      <a:endParaRPr lang="en-US" sz="1100">
                        <a:effectLst/>
                      </a:endParaRPr>
                    </a:p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a-IR" sz="1400">
                          <a:effectLst/>
                        </a:rPr>
                        <a:t>(حالت جاری)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 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 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X X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  <a:tr h="256673"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>
                          <a:effectLst/>
                        </a:rPr>
                        <a:t>1 1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400" dirty="0">
                          <a:effectLst/>
                        </a:rPr>
                        <a:t>1 1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3036" marR="73036" marT="0" marB="0" anchor="ctr"/>
                </a:tc>
                <a:extLst>
                  <a:ext uri="{0D108BD9-81ED-4DB2-BD59-A6C34878D82A}"/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692150" y="392113"/>
            <a:ext cx="7773988" cy="444500"/>
          </a:xfrm>
        </p:spPr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sp>
        <p:nvSpPr>
          <p:cNvPr id="7065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6D37A7E2-AC62-4444-AB5C-EE98252168F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0660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7772400" cy="1562100"/>
          </a:xfrm>
        </p:spPr>
        <p:txBody>
          <a:bodyPr/>
          <a:lstStyle/>
          <a:p>
            <a:r>
              <a:rPr lang="fa-IR" altLang="fa-IR" smtClean="0"/>
              <a:t>معادلات اولیة ورودی‌های </a:t>
            </a:r>
            <a:r>
              <a:rPr lang="en-US" altLang="fa-IR" smtClean="0"/>
              <a:t>FF</a:t>
            </a:r>
            <a:r>
              <a:rPr lang="fa-IR" altLang="fa-IR" smtClean="0"/>
              <a:t>ها:</a:t>
            </a:r>
          </a:p>
          <a:p>
            <a:pPr lvl="1" algn="l" rtl="0"/>
            <a:r>
              <a:rPr lang="en-US" altLang="fa-IR" smtClean="0"/>
              <a:t>D</a:t>
            </a:r>
            <a:r>
              <a:rPr lang="en-US" altLang="fa-IR" baseline="-25000" smtClean="0"/>
              <a:t>A</a:t>
            </a:r>
            <a:r>
              <a:rPr lang="en-US" altLang="fa-IR" smtClean="0"/>
              <a:t> = …</a:t>
            </a:r>
          </a:p>
          <a:p>
            <a:pPr lvl="1" algn="l" rtl="0"/>
            <a:r>
              <a:rPr lang="en-US" altLang="fa-IR" smtClean="0"/>
              <a:t>D</a:t>
            </a:r>
            <a:r>
              <a:rPr lang="en-US" altLang="fa-IR" baseline="-25000" smtClean="0"/>
              <a:t>B</a:t>
            </a:r>
            <a:r>
              <a:rPr lang="en-US" altLang="fa-IR" smtClean="0"/>
              <a:t> = …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658813" y="2565400"/>
            <a:ext cx="7772400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fa-IR" kern="0" dirty="0" smtClean="0"/>
              <a:t>معادلات اولیة خروجی:</a:t>
            </a:r>
          </a:p>
          <a:p>
            <a:pPr lvl="1" algn="l" rtl="0">
              <a:defRPr/>
            </a:pPr>
            <a:r>
              <a:rPr lang="en-US" kern="0" dirty="0" smtClean="0"/>
              <a:t>DOOR = </a:t>
            </a:r>
          </a:p>
          <a:p>
            <a:pPr lvl="1" algn="l" rtl="0">
              <a:defRPr/>
            </a:pPr>
            <a:endParaRPr lang="en-US" kern="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658813" y="3768725"/>
            <a:ext cx="77724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1828" tIns="50914" rIns="101828" bIns="50914"/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rgbClr val="FF5050"/>
                </a:solidFill>
                <a:latin typeface="+mn-lt"/>
                <a:ea typeface="+mn-ea"/>
                <a:cs typeface="B Mitra" pitchFamily="2" charset="-78"/>
              </a:defRPr>
            </a:lvl1pPr>
            <a:lvl2pPr marL="990600" indent="-5334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q"/>
              <a:defRPr sz="2800">
                <a:solidFill>
                  <a:srgbClr val="0000FF"/>
                </a:solidFill>
                <a:latin typeface="+mn-lt"/>
                <a:cs typeface="B Mitra" pitchFamily="2" charset="-78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+mn-lt"/>
                <a:cs typeface="B Mitra" pitchFamily="2" charset="-78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  <a:latin typeface="+mn-lt"/>
                <a:cs typeface="B Mitra" pitchFamily="2" charset="-78"/>
              </a:defRPr>
            </a:lvl4pPr>
            <a:lvl5pPr marL="2057400" indent="-231775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800">
                <a:solidFill>
                  <a:schemeClr val="tx1"/>
                </a:solidFill>
                <a:latin typeface="+mn-lt"/>
                <a:cs typeface="B Mitra" pitchFamily="2" charset="-78"/>
              </a:defRPr>
            </a:lvl5pPr>
            <a:lvl6pPr marL="25146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31775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−"/>
              <a:defRPr sz="12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defRPr/>
            </a:pPr>
            <a:r>
              <a:rPr lang="fa-IR" kern="0" dirty="0" smtClean="0"/>
              <a:t>بهینه‌سازی مستقل از فناوری:</a:t>
            </a:r>
          </a:p>
          <a:p>
            <a:pPr lvl="1" algn="l" rtl="0">
              <a:defRPr/>
            </a:pPr>
            <a:r>
              <a:rPr lang="en-US" kern="0" dirty="0"/>
              <a:t>D</a:t>
            </a:r>
            <a:r>
              <a:rPr lang="en-US" kern="0" baseline="-25000" dirty="0"/>
              <a:t>A</a:t>
            </a:r>
            <a:r>
              <a:rPr lang="en-US" kern="0" dirty="0"/>
              <a:t> = A + P + B.D</a:t>
            </a:r>
          </a:p>
          <a:p>
            <a:pPr lvl="1" algn="l" rtl="0">
              <a:defRPr/>
            </a:pPr>
            <a:r>
              <a:rPr lang="en-US" kern="0" dirty="0"/>
              <a:t>D</a:t>
            </a:r>
            <a:r>
              <a:rPr lang="en-US" kern="0" baseline="-25000" dirty="0"/>
              <a:t>B</a:t>
            </a:r>
            <a:r>
              <a:rPr lang="en-US" kern="0" dirty="0"/>
              <a:t> = B.D’ + P + B’.D + </a:t>
            </a:r>
            <a:r>
              <a:rPr lang="en-US" kern="0" dirty="0" smtClean="0"/>
              <a:t>A.B</a:t>
            </a:r>
            <a:endParaRPr lang="fa-IR" kern="0" dirty="0" smtClean="0"/>
          </a:p>
          <a:p>
            <a:pPr lvl="1" algn="l" rtl="0">
              <a:defRPr/>
            </a:pPr>
            <a:r>
              <a:rPr lang="en-US" dirty="0">
                <a:ea typeface="Calibri" panose="020F0502020204030204" pitchFamily="34" charset="0"/>
                <a:cs typeface="B Nazanin" panose="00000400000000000000" pitchFamily="2" charset="-78"/>
              </a:rPr>
              <a:t>DOOR = A.B’.D + B’.P + A’.P</a:t>
            </a:r>
            <a:endParaRPr lang="en-US" sz="2000" dirty="0">
              <a:ea typeface="Calibri" panose="020F0502020204030204" pitchFamily="34" charset="0"/>
            </a:endParaRPr>
          </a:p>
          <a:p>
            <a:pPr lvl="1" algn="l" rtl="0">
              <a:defRPr/>
            </a:pPr>
            <a:endParaRPr lang="en-US" kern="0" dirty="0"/>
          </a:p>
          <a:p>
            <a:pPr lvl="1" algn="l" rtl="0">
              <a:defRPr/>
            </a:pPr>
            <a:endParaRPr 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fa-IR" dirty="0" smtClean="0"/>
              <a:t>نگاشت فناوری</a:t>
            </a:r>
            <a:endParaRPr lang="en-US" altLang="fa-IR" dirty="0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744DCEF-32C6-42FF-94B7-9F6909007ADC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71685" name="Rectangle 2"/>
          <p:cNvSpPr>
            <a:spLocks noChangeArrowheads="1"/>
          </p:cNvSpPr>
          <p:nvPr/>
        </p:nvSpPr>
        <p:spPr bwMode="auto">
          <a:xfrm flipV="1">
            <a:off x="1068388" y="228600"/>
            <a:ext cx="8112125" cy="4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endParaRPr lang="fa-IR" altLang="fa-IR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71686" name="Object 5"/>
          <p:cNvGraphicFramePr>
            <a:graphicFrameLocks noChangeAspect="1"/>
          </p:cNvGraphicFramePr>
          <p:nvPr/>
        </p:nvGraphicFramePr>
        <p:xfrm>
          <a:off x="539750" y="403225"/>
          <a:ext cx="4895850" cy="603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2" name="Visio" r:id="rId4" imgW="40595492" imgH="49996789" progId="Visio.Drawing.11">
                  <p:embed/>
                </p:oleObj>
              </mc:Choice>
              <mc:Fallback>
                <p:oleObj name="Visio" r:id="rId4" imgW="40595492" imgH="4999678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03225"/>
                        <a:ext cx="4895850" cy="603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>
          <a:xfrm>
            <a:off x="4320480" y="515719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defRPr/>
            </a:pPr>
            <a:r>
              <a:rPr lang="en-US" sz="1800" kern="0" dirty="0">
                <a:latin typeface="+mn-lt"/>
              </a:rPr>
              <a:t>D</a:t>
            </a:r>
            <a:r>
              <a:rPr lang="en-US" sz="1800" kern="0" baseline="-25000" dirty="0">
                <a:latin typeface="+mn-lt"/>
              </a:rPr>
              <a:t>A</a:t>
            </a:r>
            <a:r>
              <a:rPr lang="en-US" sz="1800" kern="0" dirty="0">
                <a:latin typeface="+mn-lt"/>
              </a:rPr>
              <a:t> = A + P + </a:t>
            </a:r>
            <a:r>
              <a:rPr lang="en-US" sz="1800" kern="0" dirty="0" err="1">
                <a:latin typeface="+mn-lt"/>
              </a:rPr>
              <a:t>B.D</a:t>
            </a:r>
            <a:endParaRPr lang="en-US" sz="1800" kern="0" dirty="0">
              <a:latin typeface="+mn-lt"/>
            </a:endParaRPr>
          </a:p>
          <a:p>
            <a:pPr lvl="1">
              <a:defRPr/>
            </a:pPr>
            <a:r>
              <a:rPr lang="en-US" sz="1800" kern="0" dirty="0">
                <a:latin typeface="+mn-lt"/>
              </a:rPr>
              <a:t>D</a:t>
            </a:r>
            <a:r>
              <a:rPr lang="en-US" sz="1800" kern="0" baseline="-25000" dirty="0">
                <a:latin typeface="+mn-lt"/>
              </a:rPr>
              <a:t>B</a:t>
            </a:r>
            <a:r>
              <a:rPr lang="en-US" sz="1800" kern="0" dirty="0">
                <a:latin typeface="+mn-lt"/>
              </a:rPr>
              <a:t> = </a:t>
            </a:r>
            <a:r>
              <a:rPr lang="en-US" sz="1800" kern="0" dirty="0" err="1">
                <a:latin typeface="+mn-lt"/>
              </a:rPr>
              <a:t>B.D</a:t>
            </a:r>
            <a:r>
              <a:rPr lang="en-US" sz="1800" kern="0" dirty="0">
                <a:latin typeface="+mn-lt"/>
              </a:rPr>
              <a:t>’ + P + </a:t>
            </a:r>
            <a:r>
              <a:rPr lang="en-US" sz="1800" kern="0" dirty="0" err="1">
                <a:latin typeface="+mn-lt"/>
              </a:rPr>
              <a:t>B’.D</a:t>
            </a:r>
            <a:r>
              <a:rPr lang="en-US" sz="1800" kern="0" dirty="0">
                <a:latin typeface="+mn-lt"/>
              </a:rPr>
              <a:t> + </a:t>
            </a:r>
            <a:r>
              <a:rPr lang="en-US" sz="1800" kern="0" dirty="0" err="1">
                <a:latin typeface="+mn-lt"/>
              </a:rPr>
              <a:t>A.B</a:t>
            </a:r>
            <a:endParaRPr lang="fa-IR" sz="1800" kern="0" dirty="0">
              <a:latin typeface="+mn-lt"/>
            </a:endParaRPr>
          </a:p>
          <a:p>
            <a:pPr lvl="1">
              <a:defRPr/>
            </a:pPr>
            <a:r>
              <a:rPr lang="en-US" sz="1800" dirty="0"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DOOR = 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A.B’.D</a:t>
            </a:r>
            <a:r>
              <a:rPr lang="en-US" sz="1800" dirty="0"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+ 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B’.P</a:t>
            </a:r>
            <a:r>
              <a:rPr lang="en-US" sz="1800" dirty="0"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 + </a:t>
            </a:r>
            <a:r>
              <a:rPr lang="en-US" sz="1800" dirty="0" err="1">
                <a:latin typeface="+mn-lt"/>
                <a:ea typeface="Calibri" panose="020F0502020204030204" pitchFamily="34" charset="0"/>
                <a:cs typeface="B Nazanin" panose="00000400000000000000" pitchFamily="2" charset="-78"/>
              </a:rPr>
              <a:t>A’.P</a:t>
            </a:r>
            <a:endParaRPr lang="en-US" sz="2000" dirty="0">
              <a:latin typeface="+mn-lt"/>
              <a:ea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>
          <a:xfrm>
            <a:off x="831850" y="1219200"/>
            <a:ext cx="7772400" cy="4648200"/>
          </a:xfrm>
        </p:spPr>
        <p:txBody>
          <a:bodyPr/>
          <a:lstStyle/>
          <a:p>
            <a:r>
              <a:rPr lang="fa-IR" altLang="fa-IR" smtClean="0"/>
              <a:t>جایابی</a:t>
            </a:r>
            <a:endParaRPr lang="en-US" altLang="fa-IR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29B6D2F4-22D3-4E8D-9577-F4CE4578B92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72709" name="Object 5"/>
          <p:cNvGraphicFramePr>
            <a:graphicFrameLocks noChangeAspect="1"/>
          </p:cNvGraphicFramePr>
          <p:nvPr/>
        </p:nvGraphicFramePr>
        <p:xfrm>
          <a:off x="692150" y="836613"/>
          <a:ext cx="6111875" cy="553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25" name="Visio" r:id="rId4" imgW="39966972" imgH="36309268" progId="Visio.Drawing.11">
                  <p:embed/>
                </p:oleObj>
              </mc:Choice>
              <mc:Fallback>
                <p:oleObj name="Visio" r:id="rId4" imgW="39966972" imgH="3630926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836613"/>
                        <a:ext cx="6111875" cy="553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fa-IR" smtClean="0"/>
              <a:t>مثال</a:t>
            </a:r>
            <a:endParaRPr lang="en-US" altLang="fa-IR" smtClean="0"/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fa-IR" smtClean="0"/>
              <a:t>مسیریابی</a:t>
            </a:r>
            <a:endParaRPr lang="en-US" altLang="fa-IR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42D202F-1D11-49B5-9A98-139E0C0C3B0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pic>
        <p:nvPicPr>
          <p:cNvPr id="7373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819150"/>
            <a:ext cx="5557837" cy="556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090644-B261-4CF2-9C88-0970C53CD74B}" type="slidenum">
              <a:rPr lang="en-US" altLang="en-US" sz="1400" b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 b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755" name="Rectangle 3" descr="Dotted grid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92137"/>
          </a:xfrm>
        </p:spPr>
        <p:txBody>
          <a:bodyPr/>
          <a:lstStyle/>
          <a:p>
            <a:pPr eaLnBrk="1" hangingPunct="1"/>
            <a:r>
              <a:rPr altLang="en-US" sz="5400" smtClean="0"/>
              <a:t>SRAM-Based FPGA</a:t>
            </a:r>
          </a:p>
        </p:txBody>
      </p:sp>
      <p:pic>
        <p:nvPicPr>
          <p:cNvPr id="74756" name="Picture 4" descr="High Speed Application board with adc, dac and large virtex FPGA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0" y="1416050"/>
            <a:ext cx="3819525" cy="340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6477000" y="6446838"/>
            <a:ext cx="1981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Ø"/>
              <a:defRPr sz="22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Lucida Sans Unicode" panose="020B0602030504020204" pitchFamily="34" charset="0"/>
                <a:cs typeface="Lotus" panose="00000400000000000000" pitchFamily="2" charset="-78"/>
              </a:rPr>
              <a:t>[Entegra]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50850" y="1103313"/>
            <a:ext cx="7596188" cy="3209925"/>
            <a:chOff x="284" y="579"/>
            <a:chExt cx="4785" cy="2022"/>
          </a:xfrm>
        </p:grpSpPr>
        <p:sp>
          <p:nvSpPr>
            <p:cNvPr id="74811" name="Line 7"/>
            <p:cNvSpPr>
              <a:spLocks noChangeShapeType="1"/>
            </p:cNvSpPr>
            <p:nvPr/>
          </p:nvSpPr>
          <p:spPr bwMode="auto">
            <a:xfrm flipH="1" flipV="1">
              <a:off x="2274" y="1131"/>
              <a:ext cx="2019" cy="708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12" name="Freeform 8"/>
            <p:cNvSpPr>
              <a:spLocks/>
            </p:cNvSpPr>
            <p:nvPr/>
          </p:nvSpPr>
          <p:spPr bwMode="auto">
            <a:xfrm>
              <a:off x="2277" y="579"/>
              <a:ext cx="2790" cy="2022"/>
            </a:xfrm>
            <a:custGeom>
              <a:avLst/>
              <a:gdLst>
                <a:gd name="T0" fmla="*/ 2781 w 2790"/>
                <a:gd name="T1" fmla="*/ 1266 h 2022"/>
                <a:gd name="T2" fmla="*/ 0 w 2790"/>
                <a:gd name="T3" fmla="*/ 0 h 2022"/>
                <a:gd name="T4" fmla="*/ 3 w 2790"/>
                <a:gd name="T5" fmla="*/ 1668 h 2022"/>
                <a:gd name="T6" fmla="*/ 2790 w 2790"/>
                <a:gd name="T7" fmla="*/ 2022 h 2022"/>
                <a:gd name="T8" fmla="*/ 2781 w 2790"/>
                <a:gd name="T9" fmla="*/ 1266 h 20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90"/>
                <a:gd name="T16" fmla="*/ 0 h 2022"/>
                <a:gd name="T17" fmla="*/ 2790 w 2790"/>
                <a:gd name="T18" fmla="*/ 2022 h 20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90" h="2022">
                  <a:moveTo>
                    <a:pt x="2781" y="1266"/>
                  </a:moveTo>
                  <a:lnTo>
                    <a:pt x="0" y="0"/>
                  </a:lnTo>
                  <a:lnTo>
                    <a:pt x="3" y="1668"/>
                  </a:lnTo>
                  <a:lnTo>
                    <a:pt x="2790" y="2022"/>
                  </a:lnTo>
                  <a:lnTo>
                    <a:pt x="2781" y="1266"/>
                  </a:lnTo>
                  <a:close/>
                </a:path>
              </a:pathLst>
            </a:custGeom>
            <a:solidFill>
              <a:srgbClr val="777777">
                <a:alpha val="45882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13" name="Freeform 9"/>
            <p:cNvSpPr>
              <a:spLocks/>
            </p:cNvSpPr>
            <p:nvPr/>
          </p:nvSpPr>
          <p:spPr bwMode="auto">
            <a:xfrm>
              <a:off x="711" y="2241"/>
              <a:ext cx="4358" cy="359"/>
            </a:xfrm>
            <a:custGeom>
              <a:avLst/>
              <a:gdLst>
                <a:gd name="T0" fmla="*/ 4358 w 4358"/>
                <a:gd name="T1" fmla="*/ 359 h 359"/>
                <a:gd name="T2" fmla="*/ 1568 w 4358"/>
                <a:gd name="T3" fmla="*/ 8 h 359"/>
                <a:gd name="T4" fmla="*/ 0 w 4358"/>
                <a:gd name="T5" fmla="*/ 0 h 359"/>
                <a:gd name="T6" fmla="*/ 3593 w 4358"/>
                <a:gd name="T7" fmla="*/ 359 h 359"/>
                <a:gd name="T8" fmla="*/ 4358 w 4358"/>
                <a:gd name="T9" fmla="*/ 359 h 3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358"/>
                <a:gd name="T16" fmla="*/ 0 h 359"/>
                <a:gd name="T17" fmla="*/ 4358 w 4358"/>
                <a:gd name="T18" fmla="*/ 359 h 3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358" h="359">
                  <a:moveTo>
                    <a:pt x="4358" y="359"/>
                  </a:moveTo>
                  <a:lnTo>
                    <a:pt x="1568" y="8"/>
                  </a:lnTo>
                  <a:lnTo>
                    <a:pt x="0" y="0"/>
                  </a:lnTo>
                  <a:lnTo>
                    <a:pt x="3593" y="359"/>
                  </a:lnTo>
                  <a:lnTo>
                    <a:pt x="4358" y="359"/>
                  </a:lnTo>
                  <a:close/>
                </a:path>
              </a:pathLst>
            </a:custGeom>
            <a:solidFill>
              <a:srgbClr val="777777">
                <a:alpha val="45882"/>
              </a:srgbClr>
            </a:solidFill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grpSp>
          <p:nvGrpSpPr>
            <p:cNvPr id="74814" name="Group 10"/>
            <p:cNvGrpSpPr>
              <a:grpSpLocks/>
            </p:cNvGrpSpPr>
            <p:nvPr/>
          </p:nvGrpSpPr>
          <p:grpSpPr bwMode="auto">
            <a:xfrm>
              <a:off x="284" y="581"/>
              <a:ext cx="2504" cy="1660"/>
              <a:chOff x="319" y="736"/>
              <a:chExt cx="2504" cy="1660"/>
            </a:xfrm>
          </p:grpSpPr>
          <p:sp>
            <p:nvSpPr>
              <p:cNvPr id="74815" name="Rectangle 11"/>
              <p:cNvSpPr>
                <a:spLocks noChangeAspect="1" noChangeArrowheads="1"/>
              </p:cNvSpPr>
              <p:nvPr/>
            </p:nvSpPr>
            <p:spPr bwMode="auto">
              <a:xfrm>
                <a:off x="749" y="738"/>
                <a:ext cx="1568" cy="1658"/>
              </a:xfrm>
              <a:prstGeom prst="rect">
                <a:avLst/>
              </a:prstGeom>
              <a:solidFill>
                <a:srgbClr val="DDDDDD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rgbClr val="000000"/>
                  </a:solidFill>
                  <a:latin typeface="Times New Roman" panose="02020603050405020304" pitchFamily="18" charset="0"/>
                  <a:cs typeface="Lotus" panose="00000400000000000000" pitchFamily="2" charset="-78"/>
                </a:endParaRPr>
              </a:p>
            </p:txBody>
          </p:sp>
          <p:grpSp>
            <p:nvGrpSpPr>
              <p:cNvPr id="74816" name="Group 12"/>
              <p:cNvGrpSpPr>
                <a:grpSpLocks/>
              </p:cNvGrpSpPr>
              <p:nvPr/>
            </p:nvGrpSpPr>
            <p:grpSpPr bwMode="auto">
              <a:xfrm>
                <a:off x="1016" y="1026"/>
                <a:ext cx="1039" cy="1096"/>
                <a:chOff x="1016" y="1026"/>
                <a:chExt cx="1039" cy="1096"/>
              </a:xfrm>
            </p:grpSpPr>
            <p:sp>
              <p:nvSpPr>
                <p:cNvPr id="74911" name="Rectangle 13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026"/>
                  <a:ext cx="164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2" name="Rectangle 14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026"/>
                  <a:ext cx="163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600">
                    <a:solidFill>
                      <a:srgbClr val="000000"/>
                    </a:solidFill>
                    <a:latin typeface="Lucida Sans Unicode" panose="020B0602030504020204" pitchFamily="34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3" name="Rectangle 15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026"/>
                  <a:ext cx="164" cy="174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4" name="Rectangle 16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488"/>
                  <a:ext cx="164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5" name="Rectangle 17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488"/>
                  <a:ext cx="163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6" name="Rectangle 18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488"/>
                  <a:ext cx="164" cy="173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7" name="Rectangle 19"/>
                <p:cNvSpPr>
                  <a:spLocks noChangeAspect="1" noChangeArrowheads="1"/>
                </p:cNvSpPr>
                <p:nvPr/>
              </p:nvSpPr>
              <p:spPr bwMode="auto">
                <a:xfrm>
                  <a:off x="1016" y="1950"/>
                  <a:ext cx="164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8" name="Rectangle 20"/>
                <p:cNvSpPr>
                  <a:spLocks noChangeAspect="1" noChangeArrowheads="1"/>
                </p:cNvSpPr>
                <p:nvPr/>
              </p:nvSpPr>
              <p:spPr bwMode="auto">
                <a:xfrm>
                  <a:off x="1454" y="1950"/>
                  <a:ext cx="163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919" name="Rectangle 21"/>
                <p:cNvSpPr>
                  <a:spLocks noChangeAspect="1" noChangeArrowheads="1"/>
                </p:cNvSpPr>
                <p:nvPr/>
              </p:nvSpPr>
              <p:spPr bwMode="auto">
                <a:xfrm>
                  <a:off x="1891" y="1950"/>
                  <a:ext cx="164" cy="172"/>
                </a:xfrm>
                <a:prstGeom prst="rect">
                  <a:avLst/>
                </a:prstGeom>
                <a:solidFill>
                  <a:srgbClr val="66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</p:grpSp>
          <p:sp>
            <p:nvSpPr>
              <p:cNvPr id="196630" name="Rectangle 22"/>
              <p:cNvSpPr>
                <a:spLocks noChangeArrowheads="1"/>
              </p:cNvSpPr>
              <p:nvPr/>
            </p:nvSpPr>
            <p:spPr bwMode="auto">
              <a:xfrm>
                <a:off x="2404" y="915"/>
                <a:ext cx="419" cy="1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 wrap="none" lIns="0" tIns="0" rIns="0" bIns="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defRPr/>
                </a:pPr>
                <a: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Programmable</a:t>
                </a:r>
                <a:b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</a:br>
                <a:r>
                  <a:rPr lang="en-US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Logic Blocks</a:t>
                </a:r>
              </a:p>
            </p:txBody>
          </p:sp>
          <p:sp>
            <p:nvSpPr>
              <p:cNvPr id="196631" name="Rectangle 23"/>
              <p:cNvSpPr>
                <a:spLocks noChangeArrowheads="1"/>
              </p:cNvSpPr>
              <p:nvPr/>
            </p:nvSpPr>
            <p:spPr bwMode="auto">
              <a:xfrm>
                <a:off x="319" y="951"/>
                <a:ext cx="346" cy="1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eaVert" wrap="none" lIns="0" tIns="0" rIns="0" bIns="0" anchor="ctr">
                <a:spAutoFit/>
              </a:bodyPr>
              <a:lstStyle/>
              <a:p>
                <a:pPr algn="ctr" eaLnBrk="1" hangingPunct="1">
                  <a:lnSpc>
                    <a:spcPct val="90000"/>
                  </a:lnSpc>
                  <a:defRPr/>
                </a:pPr>
                <a: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Programmable</a:t>
                </a:r>
                <a:b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</a:br>
                <a:r>
                  <a:rPr lang="en-US">
                    <a:solidFill>
                      <a:srgbClr val="CC0066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itchFamily="34" charset="0"/>
                  </a:rPr>
                  <a:t>routing structure</a:t>
                </a:r>
              </a:p>
            </p:txBody>
          </p:sp>
          <p:grpSp>
            <p:nvGrpSpPr>
              <p:cNvPr id="74819" name="Group 24"/>
              <p:cNvGrpSpPr>
                <a:grpSpLocks/>
              </p:cNvGrpSpPr>
              <p:nvPr/>
            </p:nvGrpSpPr>
            <p:grpSpPr bwMode="auto">
              <a:xfrm>
                <a:off x="749" y="736"/>
                <a:ext cx="1582" cy="1654"/>
                <a:chOff x="749" y="736"/>
                <a:chExt cx="1582" cy="1654"/>
              </a:xfrm>
            </p:grpSpPr>
            <p:sp>
              <p:nvSpPr>
                <p:cNvPr id="74839" name="Line 25"/>
                <p:cNvSpPr>
                  <a:spLocks noChangeAspect="1" noChangeShapeType="1"/>
                </p:cNvSpPr>
                <p:nvPr/>
              </p:nvSpPr>
              <p:spPr bwMode="auto">
                <a:xfrm>
                  <a:off x="1538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0" name="Line 2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951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1" name="Line 2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009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2" name="Line 2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5" y="1066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3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1974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4" name="Line 30"/>
                <p:cNvSpPr>
                  <a:spLocks noChangeAspect="1" noChangeShapeType="1"/>
                </p:cNvSpPr>
                <p:nvPr/>
              </p:nvSpPr>
              <p:spPr bwMode="auto">
                <a:xfrm>
                  <a:off x="1537" y="166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5" name="Line 31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5" y="1424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6" name="Line 3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48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7" name="Line 3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540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8" name="Line 34"/>
                <p:cNvSpPr>
                  <a:spLocks noChangeAspect="1" noChangeShapeType="1"/>
                </p:cNvSpPr>
                <p:nvPr/>
              </p:nvSpPr>
              <p:spPr bwMode="auto">
                <a:xfrm>
                  <a:off x="1974" y="1666"/>
                  <a:ext cx="0" cy="211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49" name="Line 3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888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0" name="Line 3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1946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1" name="Line 3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784" y="200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2" name="Line 38"/>
                <p:cNvSpPr>
                  <a:spLocks noChangeAspect="1" noChangeShapeType="1"/>
                </p:cNvSpPr>
                <p:nvPr/>
              </p:nvSpPr>
              <p:spPr bwMode="auto">
                <a:xfrm>
                  <a:off x="1102" y="1199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3" name="Line 39"/>
                <p:cNvSpPr>
                  <a:spLocks noChangeAspect="1" noChangeShapeType="1"/>
                </p:cNvSpPr>
                <p:nvPr/>
              </p:nvSpPr>
              <p:spPr bwMode="auto">
                <a:xfrm>
                  <a:off x="1100" y="1659"/>
                  <a:ext cx="0" cy="23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4" name="Line 4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945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5" name="Line 41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003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6" name="Line 4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060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7" name="Line 4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419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8" name="Line 4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1" y="1476"/>
                  <a:ext cx="0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59" name="Line 4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1" y="1533"/>
                  <a:ext cx="0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0" name="Line 4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882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1" name="Line 4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940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2" name="Line 4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910" y="1997"/>
                  <a:ext cx="1" cy="206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3" name="Line 49"/>
                <p:cNvSpPr>
                  <a:spLocks noChangeAspect="1" noChangeShapeType="1"/>
                </p:cNvSpPr>
                <p:nvPr/>
              </p:nvSpPr>
              <p:spPr bwMode="auto">
                <a:xfrm>
                  <a:off x="1537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4" name="Line 50"/>
                <p:cNvSpPr>
                  <a:spLocks noChangeAspect="1" noChangeShapeType="1"/>
                </p:cNvSpPr>
                <p:nvPr/>
              </p:nvSpPr>
              <p:spPr bwMode="auto">
                <a:xfrm>
                  <a:off x="1973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5" name="Line 51"/>
                <p:cNvSpPr>
                  <a:spLocks noChangeAspect="1" noChangeShapeType="1"/>
                </p:cNvSpPr>
                <p:nvPr/>
              </p:nvSpPr>
              <p:spPr bwMode="auto">
                <a:xfrm>
                  <a:off x="1100" y="2127"/>
                  <a:ext cx="0" cy="210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6" name="Line 52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951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7" name="Line 53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009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8" name="Line 54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9" y="1066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69" name="Line 55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9" y="1424"/>
                  <a:ext cx="0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70" name="Line 56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48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71" name="Line 57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540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72" name="Line 58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888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73" name="Line 59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1946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sp>
              <p:nvSpPr>
                <p:cNvPr id="74874" name="Line 60"/>
                <p:cNvSpPr>
                  <a:spLocks noChangeAspect="1" noChangeShapeType="1"/>
                </p:cNvSpPr>
                <p:nvPr/>
              </p:nvSpPr>
              <p:spPr bwMode="auto">
                <a:xfrm rot="-5400000">
                  <a:off x="1348" y="2003"/>
                  <a:ext cx="1" cy="207"/>
                </a:xfrm>
                <a:prstGeom prst="line">
                  <a:avLst/>
                </a:prstGeom>
                <a:noFill/>
                <a:ln w="1905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a-IR"/>
                </a:p>
              </p:txBody>
            </p:sp>
            <p:grpSp>
              <p:nvGrpSpPr>
                <p:cNvPr id="74875" name="Group 61"/>
                <p:cNvGrpSpPr>
                  <a:grpSpLocks/>
                </p:cNvGrpSpPr>
                <p:nvPr/>
              </p:nvGrpSpPr>
              <p:grpSpPr bwMode="auto">
                <a:xfrm>
                  <a:off x="749" y="736"/>
                  <a:ext cx="1582" cy="1654"/>
                  <a:chOff x="749" y="736"/>
                  <a:chExt cx="1582" cy="1654"/>
                </a:xfrm>
              </p:grpSpPr>
              <p:grpSp>
                <p:nvGrpSpPr>
                  <p:cNvPr id="74876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823" y="738"/>
                    <a:ext cx="109" cy="1652"/>
                    <a:chOff x="704" y="1184"/>
                    <a:chExt cx="109" cy="1652"/>
                  </a:xfrm>
                </p:grpSpPr>
                <p:sp>
                  <p:nvSpPr>
                    <p:cNvPr id="74908" name="Line 63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04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74909" name="Line 64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58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74910" name="Line 65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813" y="1192"/>
                      <a:ext cx="0" cy="16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</p:grpSp>
              <p:grpSp>
                <p:nvGrpSpPr>
                  <p:cNvPr id="74877" name="Group 66"/>
                  <p:cNvGrpSpPr>
                    <a:grpSpLocks/>
                  </p:cNvGrpSpPr>
                  <p:nvPr/>
                </p:nvGrpSpPr>
                <p:grpSpPr bwMode="auto">
                  <a:xfrm>
                    <a:off x="1263" y="737"/>
                    <a:ext cx="109" cy="1652"/>
                    <a:chOff x="704" y="1184"/>
                    <a:chExt cx="109" cy="1652"/>
                  </a:xfrm>
                </p:grpSpPr>
                <p:sp>
                  <p:nvSpPr>
                    <p:cNvPr id="74905" name="Line 67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04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74906" name="Line 68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758" y="1184"/>
                      <a:ext cx="0" cy="1652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  <p:sp>
                  <p:nvSpPr>
                    <p:cNvPr id="74907" name="Line 69"/>
                    <p:cNvSpPr>
                      <a:spLocks noChangeAspect="1" noChangeShapeType="1"/>
                    </p:cNvSpPr>
                    <p:nvPr/>
                  </p:nvSpPr>
                  <p:spPr bwMode="auto">
                    <a:xfrm flipH="1" flipV="1">
                      <a:off x="813" y="1192"/>
                      <a:ext cx="0" cy="16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660066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fa-IR"/>
                    </a:p>
                  </p:txBody>
                </p:sp>
              </p:grpSp>
              <p:grpSp>
                <p:nvGrpSpPr>
                  <p:cNvPr id="74878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1701" y="736"/>
                    <a:ext cx="549" cy="1653"/>
                    <a:chOff x="800" y="1279"/>
                    <a:chExt cx="549" cy="1653"/>
                  </a:xfrm>
                </p:grpSpPr>
                <p:grpSp>
                  <p:nvGrpSpPr>
                    <p:cNvPr id="74897" name="Group 7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00" y="1280"/>
                      <a:ext cx="109" cy="1652"/>
                      <a:chOff x="704" y="1184"/>
                      <a:chExt cx="109" cy="1652"/>
                    </a:xfrm>
                  </p:grpSpPr>
                  <p:sp>
                    <p:nvSpPr>
                      <p:cNvPr id="74902" name="Line 7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04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903" name="Line 7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58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904" name="Line 74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813" y="1192"/>
                        <a:ext cx="0" cy="16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  <p:grpSp>
                  <p:nvGrpSpPr>
                    <p:cNvPr id="74898" name="Group 7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240" y="1279"/>
                      <a:ext cx="109" cy="1652"/>
                      <a:chOff x="704" y="1184"/>
                      <a:chExt cx="109" cy="1652"/>
                    </a:xfrm>
                  </p:grpSpPr>
                  <p:sp>
                    <p:nvSpPr>
                      <p:cNvPr id="74899" name="Line 7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04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900" name="Line 77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758" y="1184"/>
                        <a:ext cx="0" cy="1652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901" name="Line 78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H="1" flipV="1">
                        <a:off x="813" y="1192"/>
                        <a:ext cx="0" cy="16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</p:grpSp>
              <p:grpSp>
                <p:nvGrpSpPr>
                  <p:cNvPr id="74879" name="Group 79"/>
                  <p:cNvGrpSpPr>
                    <a:grpSpLocks/>
                  </p:cNvGrpSpPr>
                  <p:nvPr/>
                </p:nvGrpSpPr>
                <p:grpSpPr bwMode="auto">
                  <a:xfrm>
                    <a:off x="749" y="822"/>
                    <a:ext cx="1573" cy="587"/>
                    <a:chOff x="630" y="1268"/>
                    <a:chExt cx="1573" cy="587"/>
                  </a:xfrm>
                </p:grpSpPr>
                <p:grpSp>
                  <p:nvGrpSpPr>
                    <p:cNvPr id="74889" name="Group 8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" y="126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74894" name="Line 81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95" name="Line 8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96" name="Line 8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  <p:grpSp>
                  <p:nvGrpSpPr>
                    <p:cNvPr id="74890" name="Group 8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173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74891" name="Line 85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92" name="Line 8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93" name="Line 87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</p:grpSp>
              <p:grpSp>
                <p:nvGrpSpPr>
                  <p:cNvPr id="74880" name="Group 88"/>
                  <p:cNvGrpSpPr>
                    <a:grpSpLocks/>
                  </p:cNvGrpSpPr>
                  <p:nvPr/>
                </p:nvGrpSpPr>
                <p:grpSpPr bwMode="auto">
                  <a:xfrm>
                    <a:off x="758" y="1750"/>
                    <a:ext cx="1573" cy="587"/>
                    <a:chOff x="630" y="1268"/>
                    <a:chExt cx="1573" cy="587"/>
                  </a:xfrm>
                </p:grpSpPr>
                <p:grpSp>
                  <p:nvGrpSpPr>
                    <p:cNvPr id="74881" name="Group 8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0" y="126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74886" name="Line 90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87" name="Line 91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88" name="Line 92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  <p:grpSp>
                  <p:nvGrpSpPr>
                    <p:cNvPr id="74882" name="Group 93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35" y="1738"/>
                      <a:ext cx="1568" cy="117"/>
                      <a:chOff x="629" y="1268"/>
                      <a:chExt cx="409" cy="117"/>
                    </a:xfrm>
                  </p:grpSpPr>
                  <p:sp>
                    <p:nvSpPr>
                      <p:cNvPr id="74883" name="Line 94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3" y="1064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84" name="Line 95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23"/>
                        <a:ext cx="0" cy="409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  <p:sp>
                    <p:nvSpPr>
                      <p:cNvPr id="74885" name="Line 96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rot="-5400000">
                        <a:off x="834" y="1181"/>
                        <a:ext cx="0" cy="408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660066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fa-IR"/>
                      </a:p>
                    </p:txBody>
                  </p:sp>
                </p:grpSp>
              </p:grpSp>
            </p:grpSp>
          </p:grpSp>
          <p:grpSp>
            <p:nvGrpSpPr>
              <p:cNvPr id="74820" name="Group 97"/>
              <p:cNvGrpSpPr>
                <a:grpSpLocks/>
              </p:cNvGrpSpPr>
              <p:nvPr/>
            </p:nvGrpSpPr>
            <p:grpSpPr bwMode="auto">
              <a:xfrm>
                <a:off x="795" y="790"/>
                <a:ext cx="1482" cy="1569"/>
                <a:chOff x="676" y="1236"/>
                <a:chExt cx="1482" cy="1569"/>
              </a:xfrm>
            </p:grpSpPr>
            <p:sp>
              <p:nvSpPr>
                <p:cNvPr id="74823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1116" y="1240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24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1553" y="1237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25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1990" y="1236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26" name="Rectangle 101"/>
                <p:cNvSpPr>
                  <a:spLocks noChangeAspect="1" noChangeArrowheads="1"/>
                </p:cNvSpPr>
                <p:nvPr/>
              </p:nvSpPr>
              <p:spPr bwMode="auto">
                <a:xfrm>
                  <a:off x="1116" y="1706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27" name="Rectangle 102"/>
                <p:cNvSpPr>
                  <a:spLocks noChangeAspect="1" noChangeArrowheads="1"/>
                </p:cNvSpPr>
                <p:nvPr/>
              </p:nvSpPr>
              <p:spPr bwMode="auto">
                <a:xfrm>
                  <a:off x="1553" y="1702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28" name="Rectangle 103"/>
                <p:cNvSpPr>
                  <a:spLocks noChangeAspect="1" noChangeArrowheads="1"/>
                </p:cNvSpPr>
                <p:nvPr/>
              </p:nvSpPr>
              <p:spPr bwMode="auto">
                <a:xfrm>
                  <a:off x="1990" y="1701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29" name="Rectangle 104"/>
                <p:cNvSpPr>
                  <a:spLocks noChangeAspect="1" noChangeArrowheads="1"/>
                </p:cNvSpPr>
                <p:nvPr/>
              </p:nvSpPr>
              <p:spPr bwMode="auto">
                <a:xfrm>
                  <a:off x="1117" y="2171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0" name="Rectangle 105"/>
                <p:cNvSpPr>
                  <a:spLocks noChangeAspect="1" noChangeArrowheads="1"/>
                </p:cNvSpPr>
                <p:nvPr/>
              </p:nvSpPr>
              <p:spPr bwMode="auto">
                <a:xfrm>
                  <a:off x="1554" y="2167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1" name="Rectangle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1991" y="2167"/>
                  <a:ext cx="165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2" name="Rectangle 107"/>
                <p:cNvSpPr>
                  <a:spLocks noChangeAspect="1" noChangeArrowheads="1"/>
                </p:cNvSpPr>
                <p:nvPr/>
              </p:nvSpPr>
              <p:spPr bwMode="auto">
                <a:xfrm>
                  <a:off x="1120" y="2632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3" name="Rectangl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1557" y="2628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4" name="Rectangle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1994" y="2628"/>
                  <a:ext cx="164" cy="173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5" name="Rectangle 110"/>
                <p:cNvSpPr>
                  <a:spLocks noChangeAspect="1" noChangeArrowheads="1"/>
                </p:cNvSpPr>
                <p:nvPr/>
              </p:nvSpPr>
              <p:spPr bwMode="auto">
                <a:xfrm>
                  <a:off x="679" y="2631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6" name="Rectangle 111"/>
                <p:cNvSpPr>
                  <a:spLocks noChangeAspect="1" noChangeArrowheads="1"/>
                </p:cNvSpPr>
                <p:nvPr/>
              </p:nvSpPr>
              <p:spPr bwMode="auto">
                <a:xfrm>
                  <a:off x="676" y="2172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7" name="Rectangle 112"/>
                <p:cNvSpPr>
                  <a:spLocks noChangeAspect="1" noChangeArrowheads="1"/>
                </p:cNvSpPr>
                <p:nvPr/>
              </p:nvSpPr>
              <p:spPr bwMode="auto">
                <a:xfrm>
                  <a:off x="676" y="1704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  <p:sp>
              <p:nvSpPr>
                <p:cNvPr id="74838" name="Rectangle 113"/>
                <p:cNvSpPr>
                  <a:spLocks noChangeAspect="1" noChangeArrowheads="1"/>
                </p:cNvSpPr>
                <p:nvPr/>
              </p:nvSpPr>
              <p:spPr bwMode="auto">
                <a:xfrm>
                  <a:off x="677" y="1240"/>
                  <a:ext cx="165" cy="174"/>
                </a:xfrm>
                <a:prstGeom prst="rect">
                  <a:avLst/>
                </a:prstGeom>
                <a:solidFill>
                  <a:srgbClr val="008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prstDash val="sysDot"/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Wingdings" panose="05000000000000000000" pitchFamily="2" charset="2"/>
                    <a:buChar char="Ø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>
                    <a:solidFill>
                      <a:srgbClr val="000000"/>
                    </a:solidFill>
                    <a:latin typeface="Times New Roman" panose="02020603050405020304" pitchFamily="18" charset="0"/>
                    <a:cs typeface="Lotus" panose="00000400000000000000" pitchFamily="2" charset="-78"/>
                  </a:endParaRPr>
                </a:p>
              </p:txBody>
            </p:sp>
          </p:grpSp>
          <p:sp>
            <p:nvSpPr>
              <p:cNvPr id="74821" name="Line 114"/>
              <p:cNvSpPr>
                <a:spLocks noChangeShapeType="1"/>
              </p:cNvSpPr>
              <p:nvPr/>
            </p:nvSpPr>
            <p:spPr bwMode="auto">
              <a:xfrm flipH="1" flipV="1">
                <a:off x="1974" y="1113"/>
                <a:ext cx="454" cy="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fa-IR"/>
              </a:p>
            </p:txBody>
          </p:sp>
          <p:sp>
            <p:nvSpPr>
              <p:cNvPr id="74822" name="Line 115"/>
              <p:cNvSpPr>
                <a:spLocks noChangeShapeType="1"/>
              </p:cNvSpPr>
              <p:nvPr/>
            </p:nvSpPr>
            <p:spPr bwMode="auto">
              <a:xfrm flipV="1">
                <a:off x="665" y="1352"/>
                <a:ext cx="652" cy="1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eaVert"/>
              <a:lstStyle/>
              <a:p>
                <a:endParaRPr lang="fa-IR"/>
              </a:p>
            </p:txBody>
          </p:sp>
        </p:grpSp>
      </p:grpSp>
      <p:grpSp>
        <p:nvGrpSpPr>
          <p:cNvPr id="19" name="Group 116"/>
          <p:cNvGrpSpPr>
            <a:grpSpLocks/>
          </p:cNvGrpSpPr>
          <p:nvPr/>
        </p:nvGrpSpPr>
        <p:grpSpPr bwMode="auto">
          <a:xfrm>
            <a:off x="238125" y="2589213"/>
            <a:ext cx="2014538" cy="3475037"/>
            <a:chOff x="150" y="1515"/>
            <a:chExt cx="1269" cy="2189"/>
          </a:xfrm>
        </p:grpSpPr>
        <p:sp>
          <p:nvSpPr>
            <p:cNvPr id="74799" name="Rectangle 117"/>
            <p:cNvSpPr>
              <a:spLocks noChangeAspect="1" noChangeArrowheads="1"/>
            </p:cNvSpPr>
            <p:nvPr/>
          </p:nvSpPr>
          <p:spPr bwMode="auto">
            <a:xfrm>
              <a:off x="151" y="2588"/>
              <a:ext cx="1096" cy="1113"/>
            </a:xfrm>
            <a:prstGeom prst="rect">
              <a:avLst/>
            </a:prstGeom>
            <a:solidFill>
              <a:srgbClr val="DDDDDD"/>
            </a:solidFill>
            <a:ln w="19050" algn="ctr">
              <a:solidFill>
                <a:srgbClr val="00CC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800" name="Line 118"/>
            <p:cNvSpPr>
              <a:spLocks noChangeShapeType="1"/>
            </p:cNvSpPr>
            <p:nvPr/>
          </p:nvSpPr>
          <p:spPr bwMode="auto">
            <a:xfrm>
              <a:off x="436" y="2588"/>
              <a:ext cx="0" cy="1114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1" name="Line 119"/>
            <p:cNvSpPr>
              <a:spLocks noChangeShapeType="1"/>
            </p:cNvSpPr>
            <p:nvPr/>
          </p:nvSpPr>
          <p:spPr bwMode="auto">
            <a:xfrm>
              <a:off x="695" y="2588"/>
              <a:ext cx="0" cy="1114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2" name="Line 120"/>
            <p:cNvSpPr>
              <a:spLocks noChangeShapeType="1"/>
            </p:cNvSpPr>
            <p:nvPr/>
          </p:nvSpPr>
          <p:spPr bwMode="auto">
            <a:xfrm>
              <a:off x="955" y="2588"/>
              <a:ext cx="0" cy="1113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3" name="Line 121"/>
            <p:cNvSpPr>
              <a:spLocks noChangeShapeType="1"/>
            </p:cNvSpPr>
            <p:nvPr/>
          </p:nvSpPr>
          <p:spPr bwMode="auto">
            <a:xfrm>
              <a:off x="151" y="2917"/>
              <a:ext cx="1101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4" name="Line 122"/>
            <p:cNvSpPr>
              <a:spLocks noChangeShapeType="1"/>
            </p:cNvSpPr>
            <p:nvPr/>
          </p:nvSpPr>
          <p:spPr bwMode="auto">
            <a:xfrm>
              <a:off x="151" y="3114"/>
              <a:ext cx="1101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5" name="Line 123"/>
            <p:cNvSpPr>
              <a:spLocks noChangeShapeType="1"/>
            </p:cNvSpPr>
            <p:nvPr/>
          </p:nvSpPr>
          <p:spPr bwMode="auto">
            <a:xfrm>
              <a:off x="151" y="3309"/>
              <a:ext cx="1098" cy="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6" name="Rectangle 124"/>
            <p:cNvSpPr>
              <a:spLocks noChangeArrowheads="1"/>
            </p:cNvSpPr>
            <p:nvPr/>
          </p:nvSpPr>
          <p:spPr bwMode="auto">
            <a:xfrm>
              <a:off x="283" y="2760"/>
              <a:ext cx="809" cy="746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807" name="Rectangle 125"/>
            <p:cNvSpPr>
              <a:spLocks noChangeArrowheads="1"/>
            </p:cNvSpPr>
            <p:nvPr/>
          </p:nvSpPr>
          <p:spPr bwMode="auto">
            <a:xfrm>
              <a:off x="1152" y="1515"/>
              <a:ext cx="264" cy="268"/>
            </a:xfrm>
            <a:prstGeom prst="rect">
              <a:avLst/>
            </a:prstGeom>
            <a:noFill/>
            <a:ln w="12700" algn="ctr">
              <a:solidFill>
                <a:srgbClr val="00CC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808" name="Freeform 126"/>
            <p:cNvSpPr>
              <a:spLocks/>
            </p:cNvSpPr>
            <p:nvPr/>
          </p:nvSpPr>
          <p:spPr bwMode="auto">
            <a:xfrm>
              <a:off x="1247" y="1521"/>
              <a:ext cx="169" cy="2183"/>
            </a:xfrm>
            <a:custGeom>
              <a:avLst/>
              <a:gdLst>
                <a:gd name="T0" fmla="*/ 168 w 169"/>
                <a:gd name="T1" fmla="*/ 0 h 2183"/>
                <a:gd name="T2" fmla="*/ 0 w 169"/>
                <a:gd name="T3" fmla="*/ 1068 h 2183"/>
                <a:gd name="T4" fmla="*/ 1 w 169"/>
                <a:gd name="T5" fmla="*/ 2183 h 2183"/>
                <a:gd name="T6" fmla="*/ 169 w 169"/>
                <a:gd name="T7" fmla="*/ 258 h 2183"/>
                <a:gd name="T8" fmla="*/ 168 w 169"/>
                <a:gd name="T9" fmla="*/ 0 h 2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9"/>
                <a:gd name="T16" fmla="*/ 0 h 2183"/>
                <a:gd name="T17" fmla="*/ 169 w 169"/>
                <a:gd name="T18" fmla="*/ 2183 h 21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9" h="2183">
                  <a:moveTo>
                    <a:pt x="168" y="0"/>
                  </a:moveTo>
                  <a:lnTo>
                    <a:pt x="0" y="1068"/>
                  </a:lnTo>
                  <a:lnTo>
                    <a:pt x="1" y="2183"/>
                  </a:lnTo>
                  <a:lnTo>
                    <a:pt x="169" y="258"/>
                  </a:lnTo>
                  <a:lnTo>
                    <a:pt x="168" y="0"/>
                  </a:lnTo>
                  <a:close/>
                </a:path>
              </a:pathLst>
            </a:custGeom>
            <a:solidFill>
              <a:srgbClr val="00FF99">
                <a:alpha val="45882"/>
              </a:srgbClr>
            </a:solidFill>
            <a:ln w="6350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09" name="Line 127"/>
            <p:cNvSpPr>
              <a:spLocks noChangeAspect="1" noChangeShapeType="1"/>
            </p:cNvSpPr>
            <p:nvPr/>
          </p:nvSpPr>
          <p:spPr bwMode="auto">
            <a:xfrm flipH="1">
              <a:off x="730" y="1783"/>
              <a:ext cx="422" cy="805"/>
            </a:xfrm>
            <a:prstGeom prst="line">
              <a:avLst/>
            </a:prstGeom>
            <a:noFill/>
            <a:ln w="6350">
              <a:solidFill>
                <a:srgbClr val="00CC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810" name="Freeform 128"/>
            <p:cNvSpPr>
              <a:spLocks/>
            </p:cNvSpPr>
            <p:nvPr/>
          </p:nvSpPr>
          <p:spPr bwMode="auto">
            <a:xfrm>
              <a:off x="150" y="1517"/>
              <a:ext cx="1269" cy="1072"/>
            </a:xfrm>
            <a:custGeom>
              <a:avLst/>
              <a:gdLst>
                <a:gd name="T0" fmla="*/ 1004 w 1269"/>
                <a:gd name="T1" fmla="*/ 0 h 1072"/>
                <a:gd name="T2" fmla="*/ 0 w 1269"/>
                <a:gd name="T3" fmla="*/ 1071 h 1072"/>
                <a:gd name="T4" fmla="*/ 1098 w 1269"/>
                <a:gd name="T5" fmla="*/ 1072 h 1072"/>
                <a:gd name="T6" fmla="*/ 1269 w 1269"/>
                <a:gd name="T7" fmla="*/ 0 h 1072"/>
                <a:gd name="T8" fmla="*/ 1004 w 1269"/>
                <a:gd name="T9" fmla="*/ 0 h 10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69"/>
                <a:gd name="T16" fmla="*/ 0 h 1072"/>
                <a:gd name="T17" fmla="*/ 1269 w 1269"/>
                <a:gd name="T18" fmla="*/ 1072 h 10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69" h="1072">
                  <a:moveTo>
                    <a:pt x="1004" y="0"/>
                  </a:moveTo>
                  <a:lnTo>
                    <a:pt x="0" y="1071"/>
                  </a:lnTo>
                  <a:lnTo>
                    <a:pt x="1098" y="1072"/>
                  </a:lnTo>
                  <a:lnTo>
                    <a:pt x="1269" y="0"/>
                  </a:lnTo>
                  <a:lnTo>
                    <a:pt x="1004" y="0"/>
                  </a:lnTo>
                  <a:close/>
                </a:path>
              </a:pathLst>
            </a:custGeom>
            <a:solidFill>
              <a:srgbClr val="00FF99">
                <a:alpha val="45882"/>
              </a:srgbClr>
            </a:solidFill>
            <a:ln w="6350">
              <a:solidFill>
                <a:srgbClr val="00CC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</p:grpSp>
      <p:grpSp>
        <p:nvGrpSpPr>
          <p:cNvPr id="20" name="Group 129"/>
          <p:cNvGrpSpPr>
            <a:grpSpLocks/>
          </p:cNvGrpSpPr>
          <p:nvPr/>
        </p:nvGrpSpPr>
        <p:grpSpPr bwMode="auto">
          <a:xfrm>
            <a:off x="300038" y="4384675"/>
            <a:ext cx="1568450" cy="1597025"/>
            <a:chOff x="189" y="2646"/>
            <a:chExt cx="988" cy="1006"/>
          </a:xfrm>
        </p:grpSpPr>
        <p:sp>
          <p:nvSpPr>
            <p:cNvPr id="74789" name="Rectangle 130"/>
            <p:cNvSpPr>
              <a:spLocks noChangeArrowheads="1"/>
            </p:cNvSpPr>
            <p:nvPr/>
          </p:nvSpPr>
          <p:spPr bwMode="auto">
            <a:xfrm>
              <a:off x="283" y="2760"/>
              <a:ext cx="809" cy="746"/>
            </a:xfrm>
            <a:prstGeom prst="rect">
              <a:avLst/>
            </a:prstGeom>
            <a:solidFill>
              <a:srgbClr val="00B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90" name="Line 131"/>
            <p:cNvSpPr>
              <a:spLocks noChangeShapeType="1"/>
            </p:cNvSpPr>
            <p:nvPr/>
          </p:nvSpPr>
          <p:spPr bwMode="auto">
            <a:xfrm>
              <a:off x="436" y="2646"/>
              <a:ext cx="0" cy="988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91" name="Line 132"/>
            <p:cNvSpPr>
              <a:spLocks noChangeShapeType="1"/>
            </p:cNvSpPr>
            <p:nvPr/>
          </p:nvSpPr>
          <p:spPr bwMode="auto">
            <a:xfrm>
              <a:off x="695" y="2667"/>
              <a:ext cx="0" cy="967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92" name="Line 133"/>
            <p:cNvSpPr>
              <a:spLocks noChangeShapeType="1"/>
            </p:cNvSpPr>
            <p:nvPr/>
          </p:nvSpPr>
          <p:spPr bwMode="auto">
            <a:xfrm>
              <a:off x="955" y="2667"/>
              <a:ext cx="0" cy="985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93" name="Line 134"/>
            <p:cNvSpPr>
              <a:spLocks noChangeShapeType="1"/>
            </p:cNvSpPr>
            <p:nvPr/>
          </p:nvSpPr>
          <p:spPr bwMode="auto">
            <a:xfrm>
              <a:off x="252" y="2917"/>
              <a:ext cx="925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94" name="Line 135"/>
            <p:cNvSpPr>
              <a:spLocks noChangeShapeType="1"/>
            </p:cNvSpPr>
            <p:nvPr/>
          </p:nvSpPr>
          <p:spPr bwMode="auto">
            <a:xfrm>
              <a:off x="252" y="3114"/>
              <a:ext cx="900" cy="0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95" name="Line 136"/>
            <p:cNvSpPr>
              <a:spLocks noChangeShapeType="1"/>
            </p:cNvSpPr>
            <p:nvPr/>
          </p:nvSpPr>
          <p:spPr bwMode="auto">
            <a:xfrm>
              <a:off x="189" y="3309"/>
              <a:ext cx="988" cy="2"/>
            </a:xfrm>
            <a:prstGeom prst="line">
              <a:avLst/>
            </a:prstGeom>
            <a:noFill/>
            <a:ln w="28575">
              <a:solidFill>
                <a:srgbClr val="66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96" name="AutoShape 137"/>
            <p:cNvSpPr>
              <a:spLocks noChangeArrowheads="1"/>
            </p:cNvSpPr>
            <p:nvPr/>
          </p:nvSpPr>
          <p:spPr bwMode="auto">
            <a:xfrm>
              <a:off x="621" y="3035"/>
              <a:ext cx="149" cy="157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97" name="AutoShape 138"/>
            <p:cNvSpPr>
              <a:spLocks noChangeArrowheads="1"/>
            </p:cNvSpPr>
            <p:nvPr/>
          </p:nvSpPr>
          <p:spPr bwMode="auto">
            <a:xfrm>
              <a:off x="361" y="3232"/>
              <a:ext cx="148" cy="157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98" name="AutoShape 139"/>
            <p:cNvSpPr>
              <a:spLocks noChangeArrowheads="1"/>
            </p:cNvSpPr>
            <p:nvPr/>
          </p:nvSpPr>
          <p:spPr bwMode="auto">
            <a:xfrm>
              <a:off x="881" y="2838"/>
              <a:ext cx="148" cy="159"/>
            </a:xfrm>
            <a:prstGeom prst="diamond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</p:grpSp>
      <p:grpSp>
        <p:nvGrpSpPr>
          <p:cNvPr id="21" name="Group 140"/>
          <p:cNvGrpSpPr>
            <a:grpSpLocks/>
          </p:cNvGrpSpPr>
          <p:nvPr/>
        </p:nvGrpSpPr>
        <p:grpSpPr bwMode="auto">
          <a:xfrm>
            <a:off x="866775" y="4916488"/>
            <a:ext cx="3089275" cy="1447800"/>
            <a:chOff x="546" y="2981"/>
            <a:chExt cx="1946" cy="912"/>
          </a:xfrm>
        </p:grpSpPr>
        <p:sp>
          <p:nvSpPr>
            <p:cNvPr id="74775" name="Rectangle 141"/>
            <p:cNvSpPr>
              <a:spLocks noChangeArrowheads="1"/>
            </p:cNvSpPr>
            <p:nvPr/>
          </p:nvSpPr>
          <p:spPr bwMode="auto">
            <a:xfrm>
              <a:off x="551" y="2985"/>
              <a:ext cx="278" cy="268"/>
            </a:xfrm>
            <a:prstGeom prst="rect">
              <a:avLst/>
            </a:prstGeom>
            <a:noFill/>
            <a:ln w="19050" algn="ctr">
              <a:solidFill>
                <a:srgbClr val="FF99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76" name="Rectangle 142"/>
            <p:cNvSpPr>
              <a:spLocks noChangeAspect="1" noChangeArrowheads="1"/>
            </p:cNvSpPr>
            <p:nvPr/>
          </p:nvSpPr>
          <p:spPr bwMode="auto">
            <a:xfrm>
              <a:off x="1723" y="3156"/>
              <a:ext cx="768" cy="736"/>
            </a:xfrm>
            <a:prstGeom prst="rect">
              <a:avLst/>
            </a:prstGeom>
            <a:solidFill>
              <a:srgbClr val="00B000"/>
            </a:solidFill>
            <a:ln w="19050" algn="ctr">
              <a:solidFill>
                <a:srgbClr val="FF99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77" name="AutoShape 143"/>
            <p:cNvSpPr>
              <a:spLocks noChangeArrowheads="1"/>
            </p:cNvSpPr>
            <p:nvPr/>
          </p:nvSpPr>
          <p:spPr bwMode="auto">
            <a:xfrm>
              <a:off x="1861" y="3250"/>
              <a:ext cx="522" cy="541"/>
            </a:xfrm>
            <a:prstGeom prst="diamond">
              <a:avLst/>
            </a:prstGeom>
            <a:solidFill>
              <a:srgbClr val="FFFF00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78" name="Line 144"/>
            <p:cNvSpPr>
              <a:spLocks noChangeShapeType="1"/>
            </p:cNvSpPr>
            <p:nvPr/>
          </p:nvSpPr>
          <p:spPr bwMode="auto">
            <a:xfrm flipH="1">
              <a:off x="2119" y="3156"/>
              <a:ext cx="3" cy="7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sp>
          <p:nvSpPr>
            <p:cNvPr id="74779" name="Line 145"/>
            <p:cNvSpPr>
              <a:spLocks noChangeShapeType="1"/>
            </p:cNvSpPr>
            <p:nvPr/>
          </p:nvSpPr>
          <p:spPr bwMode="auto">
            <a:xfrm flipV="1">
              <a:off x="1724" y="3516"/>
              <a:ext cx="767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a-IR"/>
            </a:p>
          </p:txBody>
        </p:sp>
        <p:sp>
          <p:nvSpPr>
            <p:cNvPr id="74780" name="Oval 146"/>
            <p:cNvSpPr>
              <a:spLocks noChangeArrowheads="1"/>
            </p:cNvSpPr>
            <p:nvPr/>
          </p:nvSpPr>
          <p:spPr bwMode="auto">
            <a:xfrm>
              <a:off x="2209" y="3470"/>
              <a:ext cx="86" cy="92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81" name="Oval 147"/>
            <p:cNvSpPr>
              <a:spLocks noChangeArrowheads="1"/>
            </p:cNvSpPr>
            <p:nvPr/>
          </p:nvSpPr>
          <p:spPr bwMode="auto">
            <a:xfrm>
              <a:off x="2079" y="3379"/>
              <a:ext cx="86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82" name="Oval 148"/>
            <p:cNvSpPr>
              <a:spLocks noChangeArrowheads="1"/>
            </p:cNvSpPr>
            <p:nvPr/>
          </p:nvSpPr>
          <p:spPr bwMode="auto">
            <a:xfrm>
              <a:off x="1949" y="3609"/>
              <a:ext cx="85" cy="90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83" name="Oval 149"/>
            <p:cNvSpPr>
              <a:spLocks noChangeArrowheads="1"/>
            </p:cNvSpPr>
            <p:nvPr/>
          </p:nvSpPr>
          <p:spPr bwMode="auto">
            <a:xfrm>
              <a:off x="2209" y="3334"/>
              <a:ext cx="86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84" name="Oval 150"/>
            <p:cNvSpPr>
              <a:spLocks noChangeArrowheads="1"/>
            </p:cNvSpPr>
            <p:nvPr/>
          </p:nvSpPr>
          <p:spPr bwMode="auto">
            <a:xfrm>
              <a:off x="2209" y="3609"/>
              <a:ext cx="86" cy="90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85" name="Oval 151"/>
            <p:cNvSpPr>
              <a:spLocks noChangeArrowheads="1"/>
            </p:cNvSpPr>
            <p:nvPr/>
          </p:nvSpPr>
          <p:spPr bwMode="auto">
            <a:xfrm>
              <a:off x="1949" y="3334"/>
              <a:ext cx="85" cy="91"/>
            </a:xfrm>
            <a:prstGeom prst="ellipse">
              <a:avLst/>
            </a:prstGeom>
            <a:solidFill>
              <a:srgbClr val="FF3300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sp>
          <p:nvSpPr>
            <p:cNvPr id="74786" name="Freeform 152"/>
            <p:cNvSpPr>
              <a:spLocks/>
            </p:cNvSpPr>
            <p:nvPr/>
          </p:nvSpPr>
          <p:spPr bwMode="auto">
            <a:xfrm>
              <a:off x="548" y="2981"/>
              <a:ext cx="1944" cy="180"/>
            </a:xfrm>
            <a:custGeom>
              <a:avLst/>
              <a:gdLst>
                <a:gd name="T0" fmla="*/ 1944 w 1944"/>
                <a:gd name="T1" fmla="*/ 175 h 180"/>
                <a:gd name="T2" fmla="*/ 280 w 1944"/>
                <a:gd name="T3" fmla="*/ 0 h 180"/>
                <a:gd name="T4" fmla="*/ 0 w 1944"/>
                <a:gd name="T5" fmla="*/ 3 h 180"/>
                <a:gd name="T6" fmla="*/ 1173 w 1944"/>
                <a:gd name="T7" fmla="*/ 180 h 180"/>
                <a:gd name="T8" fmla="*/ 1944 w 1944"/>
                <a:gd name="T9" fmla="*/ 175 h 1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44"/>
                <a:gd name="T16" fmla="*/ 0 h 180"/>
                <a:gd name="T17" fmla="*/ 1944 w 1944"/>
                <a:gd name="T18" fmla="*/ 180 h 18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44" h="180">
                  <a:moveTo>
                    <a:pt x="1944" y="175"/>
                  </a:moveTo>
                  <a:lnTo>
                    <a:pt x="280" y="0"/>
                  </a:lnTo>
                  <a:lnTo>
                    <a:pt x="0" y="3"/>
                  </a:lnTo>
                  <a:lnTo>
                    <a:pt x="1173" y="180"/>
                  </a:lnTo>
                  <a:lnTo>
                    <a:pt x="1944" y="175"/>
                  </a:lnTo>
                  <a:close/>
                </a:path>
              </a:pathLst>
            </a:custGeom>
            <a:solidFill>
              <a:srgbClr val="FF9900">
                <a:alpha val="45882"/>
              </a:srgbClr>
            </a:solidFill>
            <a:ln w="6350">
              <a:solidFill>
                <a:srgbClr val="FF99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87" name="Line 153"/>
            <p:cNvSpPr>
              <a:spLocks noChangeAspect="1" noChangeShapeType="1"/>
            </p:cNvSpPr>
            <p:nvPr/>
          </p:nvSpPr>
          <p:spPr bwMode="auto">
            <a:xfrm flipH="1" flipV="1">
              <a:off x="829" y="3253"/>
              <a:ext cx="891" cy="342"/>
            </a:xfrm>
            <a:prstGeom prst="line">
              <a:avLst/>
            </a:prstGeom>
            <a:noFill/>
            <a:ln w="6350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a-IR"/>
            </a:p>
          </p:txBody>
        </p:sp>
        <p:sp>
          <p:nvSpPr>
            <p:cNvPr id="74788" name="Freeform 154"/>
            <p:cNvSpPr>
              <a:spLocks/>
            </p:cNvSpPr>
            <p:nvPr/>
          </p:nvSpPr>
          <p:spPr bwMode="auto">
            <a:xfrm>
              <a:off x="546" y="2982"/>
              <a:ext cx="1181" cy="911"/>
            </a:xfrm>
            <a:custGeom>
              <a:avLst/>
              <a:gdLst>
                <a:gd name="T0" fmla="*/ 1181 w 1181"/>
                <a:gd name="T1" fmla="*/ 179 h 911"/>
                <a:gd name="T2" fmla="*/ 0 w 1181"/>
                <a:gd name="T3" fmla="*/ 0 h 911"/>
                <a:gd name="T4" fmla="*/ 0 w 1181"/>
                <a:gd name="T5" fmla="*/ 278 h 911"/>
                <a:gd name="T6" fmla="*/ 1178 w 1181"/>
                <a:gd name="T7" fmla="*/ 911 h 911"/>
                <a:gd name="T8" fmla="*/ 1181 w 1181"/>
                <a:gd name="T9" fmla="*/ 179 h 9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81"/>
                <a:gd name="T16" fmla="*/ 0 h 911"/>
                <a:gd name="T17" fmla="*/ 1181 w 1181"/>
                <a:gd name="T18" fmla="*/ 911 h 9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81" h="911">
                  <a:moveTo>
                    <a:pt x="1181" y="179"/>
                  </a:moveTo>
                  <a:lnTo>
                    <a:pt x="0" y="0"/>
                  </a:lnTo>
                  <a:lnTo>
                    <a:pt x="0" y="278"/>
                  </a:lnTo>
                  <a:lnTo>
                    <a:pt x="1178" y="911"/>
                  </a:lnTo>
                  <a:lnTo>
                    <a:pt x="1181" y="179"/>
                  </a:lnTo>
                  <a:close/>
                </a:path>
              </a:pathLst>
            </a:custGeom>
            <a:solidFill>
              <a:srgbClr val="FF9900">
                <a:alpha val="45882"/>
              </a:srgbClr>
            </a:solidFill>
            <a:ln w="6350">
              <a:solidFill>
                <a:srgbClr val="FF99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fa-IR"/>
            </a:p>
          </p:txBody>
        </p:sp>
      </p:grpSp>
      <p:grpSp>
        <p:nvGrpSpPr>
          <p:cNvPr id="22" name="Group 155"/>
          <p:cNvGrpSpPr>
            <a:grpSpLocks/>
          </p:cNvGrpSpPr>
          <p:nvPr/>
        </p:nvGrpSpPr>
        <p:grpSpPr bwMode="auto">
          <a:xfrm>
            <a:off x="4556125" y="5307013"/>
            <a:ext cx="1084263" cy="1030287"/>
            <a:chOff x="2870" y="3227"/>
            <a:chExt cx="683" cy="649"/>
          </a:xfrm>
        </p:grpSpPr>
        <p:sp>
          <p:nvSpPr>
            <p:cNvPr id="74763" name="Oval 156"/>
            <p:cNvSpPr>
              <a:spLocks noChangeArrowheads="1"/>
            </p:cNvSpPr>
            <p:nvPr/>
          </p:nvSpPr>
          <p:spPr bwMode="auto">
            <a:xfrm>
              <a:off x="2870" y="3227"/>
              <a:ext cx="683" cy="649"/>
            </a:xfrm>
            <a:prstGeom prst="ellipse">
              <a:avLst/>
            </a:prstGeom>
            <a:solidFill>
              <a:srgbClr val="FF3300"/>
            </a:solidFill>
            <a:ln w="9525">
              <a:round/>
              <a:headEnd/>
              <a:tailEnd/>
            </a:ln>
            <a:scene3d>
              <a:camera prst="legacyPerspectiveBottomLeft">
                <a:rot lat="600000" lon="0" rev="0"/>
              </a:camera>
              <a:lightRig rig="legacyFlat2" dir="t"/>
            </a:scene3d>
            <a:sp3d extrusionH="50773000" prstMaterial="legacyMatte">
              <a:bevelT w="13500" h="13500" prst="angle"/>
              <a:bevelB w="13500" h="13500" prst="angle"/>
              <a:extrusionClr>
                <a:srgbClr val="FF3300"/>
              </a:extrusionClr>
              <a:contourClr>
                <a:srgbClr val="FF330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400" b="1">
                  <a:solidFill>
                    <a:srgbClr val="FF505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Wingdings" panose="05000000000000000000" pitchFamily="2" charset="2"/>
                <a:buChar char="Ø"/>
                <a:defRPr sz="220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−"/>
                <a:defRPr sz="1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imes New Roman" panose="02020603050405020304" pitchFamily="18" charset="0"/>
                <a:cs typeface="Lotus" panose="00000400000000000000" pitchFamily="2" charset="-78"/>
              </a:endParaRPr>
            </a:p>
          </p:txBody>
        </p:sp>
        <p:grpSp>
          <p:nvGrpSpPr>
            <p:cNvPr id="74764" name="Group 157"/>
            <p:cNvGrpSpPr>
              <a:grpSpLocks/>
            </p:cNvGrpSpPr>
            <p:nvPr/>
          </p:nvGrpSpPr>
          <p:grpSpPr bwMode="auto">
            <a:xfrm>
              <a:off x="2870" y="3298"/>
              <a:ext cx="521" cy="485"/>
              <a:chOff x="2870" y="3298"/>
              <a:chExt cx="521" cy="485"/>
            </a:xfrm>
          </p:grpSpPr>
          <p:sp>
            <p:nvSpPr>
              <p:cNvPr id="74765" name="Line 158"/>
              <p:cNvSpPr>
                <a:spLocks noChangeShapeType="1"/>
              </p:cNvSpPr>
              <p:nvPr/>
            </p:nvSpPr>
            <p:spPr bwMode="auto">
              <a:xfrm rot="2862505" flipH="1">
                <a:off x="3141" y="3513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66" name="Line 159"/>
              <p:cNvSpPr>
                <a:spLocks noChangeShapeType="1"/>
              </p:cNvSpPr>
              <p:nvPr/>
            </p:nvSpPr>
            <p:spPr bwMode="auto">
              <a:xfrm rot="2862505" flipH="1">
                <a:off x="3123" y="3493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67" name="Line 160"/>
              <p:cNvSpPr>
                <a:spLocks noChangeShapeType="1"/>
              </p:cNvSpPr>
              <p:nvPr/>
            </p:nvSpPr>
            <p:spPr bwMode="auto">
              <a:xfrm rot="2862505" flipH="1">
                <a:off x="3040" y="3557"/>
                <a:ext cx="5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68" name="Line 161"/>
              <p:cNvSpPr>
                <a:spLocks noChangeShapeType="1"/>
              </p:cNvSpPr>
              <p:nvPr/>
            </p:nvSpPr>
            <p:spPr bwMode="auto">
              <a:xfrm rot="2862505" flipH="1">
                <a:off x="3114" y="3489"/>
                <a:ext cx="54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69" name="Line 162"/>
              <p:cNvSpPr>
                <a:spLocks noChangeAspect="1" noChangeShapeType="1"/>
              </p:cNvSpPr>
              <p:nvPr/>
            </p:nvSpPr>
            <p:spPr bwMode="auto">
              <a:xfrm rot="2862505" flipH="1">
                <a:off x="2973" y="3502"/>
                <a:ext cx="0" cy="205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70" name="Line 163"/>
              <p:cNvSpPr>
                <a:spLocks noChangeShapeType="1"/>
              </p:cNvSpPr>
              <p:nvPr/>
            </p:nvSpPr>
            <p:spPr bwMode="auto">
              <a:xfrm rot="2862505" flipH="1">
                <a:off x="3151" y="3406"/>
                <a:ext cx="0" cy="76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71" name="Line 164"/>
              <p:cNvSpPr>
                <a:spLocks noChangeShapeType="1"/>
              </p:cNvSpPr>
              <p:nvPr/>
            </p:nvSpPr>
            <p:spPr bwMode="auto">
              <a:xfrm rot="2862505">
                <a:off x="3123" y="3603"/>
                <a:ext cx="107" cy="0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72" name="Rectangle 165"/>
              <p:cNvSpPr>
                <a:spLocks noChangeArrowheads="1"/>
              </p:cNvSpPr>
              <p:nvPr/>
            </p:nvSpPr>
            <p:spPr bwMode="auto">
              <a:xfrm>
                <a:off x="3220" y="3639"/>
                <a:ext cx="144" cy="144"/>
              </a:xfrm>
              <a:prstGeom prst="rect">
                <a:avLst/>
              </a:prstGeom>
              <a:solidFill>
                <a:srgbClr val="99CC00"/>
              </a:solidFill>
              <a:ln w="2857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rgbClr val="000000"/>
                  </a:solidFill>
                  <a:latin typeface="Times New Roman" panose="02020603050405020304" pitchFamily="18" charset="0"/>
                  <a:cs typeface="Lotus" panose="00000400000000000000" pitchFamily="2" charset="-78"/>
                </a:endParaRPr>
              </a:p>
            </p:txBody>
          </p:sp>
          <p:sp>
            <p:nvSpPr>
              <p:cNvPr id="74773" name="Line 166"/>
              <p:cNvSpPr>
                <a:spLocks noChangeAspect="1" noChangeShapeType="1"/>
              </p:cNvSpPr>
              <p:nvPr/>
            </p:nvSpPr>
            <p:spPr bwMode="auto">
              <a:xfrm rot="2862505" flipH="1">
                <a:off x="3312" y="3224"/>
                <a:ext cx="0" cy="159"/>
              </a:xfrm>
              <a:prstGeom prst="line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a-IR"/>
              </a:p>
            </p:txBody>
          </p:sp>
          <p:sp>
            <p:nvSpPr>
              <p:cNvPr id="74774" name="AutoShape 167"/>
              <p:cNvSpPr>
                <a:spLocks noChangeArrowheads="1"/>
              </p:cNvSpPr>
              <p:nvPr/>
            </p:nvSpPr>
            <p:spPr bwMode="auto">
              <a:xfrm rot="2725370">
                <a:off x="3165" y="3300"/>
                <a:ext cx="144" cy="140"/>
              </a:xfrm>
              <a:prstGeom prst="triangle">
                <a:avLst>
                  <a:gd name="adj" fmla="val 50000"/>
                </a:avLst>
              </a:prstGeom>
              <a:solidFill>
                <a:srgbClr val="99CC00"/>
              </a:solidFill>
              <a:ln w="28575" algn="ctr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400" b="1">
                    <a:solidFill>
                      <a:srgbClr val="FF505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Wingdings" panose="05000000000000000000" pitchFamily="2" charset="2"/>
                  <a:buChar char="Ø"/>
                  <a:defRPr sz="2200">
                    <a:solidFill>
                      <a:srgbClr val="0000FF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−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>
                  <a:solidFill>
                    <a:srgbClr val="000000"/>
                  </a:solidFill>
                  <a:latin typeface="Times New Roman" panose="02020603050405020304" pitchFamily="18" charset="0"/>
                  <a:cs typeface="Lotus" panose="00000400000000000000" pitchFamily="2" charset="-78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27659</TotalTime>
  <Words>1850</Words>
  <Application>Microsoft Office PowerPoint</Application>
  <PresentationFormat>On-screen Show (4:3)</PresentationFormat>
  <Paragraphs>620</Paragraphs>
  <Slides>48</Slides>
  <Notes>21</Notes>
  <HiddenSlides>2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4" baseType="lpstr">
      <vt:lpstr>Arial</vt:lpstr>
      <vt:lpstr>B Mitra</vt:lpstr>
      <vt:lpstr>B Nazanin</vt:lpstr>
      <vt:lpstr>B Titr</vt:lpstr>
      <vt:lpstr>Calibri</vt:lpstr>
      <vt:lpstr>Courier</vt:lpstr>
      <vt:lpstr>Courier New</vt:lpstr>
      <vt:lpstr>Lotus</vt:lpstr>
      <vt:lpstr>Lucida Sans Unicode</vt:lpstr>
      <vt:lpstr>Times New Roman</vt:lpstr>
      <vt:lpstr>Titr</vt:lpstr>
      <vt:lpstr>Wingdings</vt:lpstr>
      <vt:lpstr>1_presentation_template</vt:lpstr>
      <vt:lpstr>Custom Design</vt:lpstr>
      <vt:lpstr>2_presentation_template</vt:lpstr>
      <vt:lpstr>Visio</vt:lpstr>
      <vt:lpstr>جریان طراحی</vt:lpstr>
      <vt:lpstr>جریان طراحی</vt:lpstr>
      <vt:lpstr>جریان طراحی</vt:lpstr>
      <vt:lpstr>جریان طراحی</vt:lpstr>
      <vt:lpstr>جریان طراحی</vt:lpstr>
      <vt:lpstr>Spartan 6</vt:lpstr>
      <vt:lpstr>جریان طراحی</vt:lpstr>
      <vt:lpstr>جریان طراحی</vt:lpstr>
      <vt:lpstr>انتخاب بسته‌بندی (Package)</vt:lpstr>
      <vt:lpstr>جریان طراحی</vt:lpstr>
      <vt:lpstr>جریان طراحی</vt:lpstr>
      <vt:lpstr>جریان طراحی</vt:lpstr>
      <vt:lpstr>جریان طراحی</vt:lpstr>
      <vt:lpstr>جریان طراحی</vt:lpstr>
      <vt:lpstr>جریان طراحی</vt:lpstr>
      <vt:lpstr>جریان طراحی</vt:lpstr>
      <vt:lpstr>ساخت بورد</vt:lpstr>
      <vt:lpstr>جریان طراحی</vt:lpstr>
      <vt:lpstr>طراحی و درستی‌سنجی درون تراشه</vt:lpstr>
      <vt:lpstr>طراحی و درستی‌سنجی درون تراشه</vt:lpstr>
      <vt:lpstr>طراحی و درستی‌سنجی درون تراشه</vt:lpstr>
      <vt:lpstr>طراحی و درستی‌سنجی درون تراشه</vt:lpstr>
      <vt:lpstr>طراحی و درستی‌سنجی درون تراشه</vt:lpstr>
      <vt:lpstr>توصیف مدارهای ترتیبی</vt:lpstr>
      <vt:lpstr>طراحی و درستی‌سنجی درون تراشه</vt:lpstr>
      <vt:lpstr>سطوح تجرید</vt:lpstr>
      <vt:lpstr>سنتز</vt:lpstr>
      <vt:lpstr>سنتز و نگاشت فناوری</vt:lpstr>
      <vt:lpstr>سنتز</vt:lpstr>
      <vt:lpstr>سنتز</vt:lpstr>
      <vt:lpstr>درستی‌سنجی</vt:lpstr>
      <vt:lpstr>جبرانی و آزمون</vt:lpstr>
      <vt:lpstr>درستی‌سنجی</vt:lpstr>
      <vt:lpstr>درستی‌سنجی</vt:lpstr>
      <vt:lpstr>جایابی و مسیریابی</vt:lpstr>
      <vt:lpstr>چرخة طراحی</vt:lpstr>
      <vt:lpstr>تأثیر جایابی روی موفقیت مسیریابی</vt:lpstr>
      <vt:lpstr>مسیریابی (Routing)</vt:lpstr>
      <vt:lpstr>درستی‌سنجی بعد از چینش</vt:lpstr>
      <vt:lpstr>جایابی و مسیریابی</vt:lpstr>
      <vt:lpstr>مثال</vt:lpstr>
      <vt:lpstr>مثال</vt:lpstr>
      <vt:lpstr>مثال</vt:lpstr>
      <vt:lpstr>مثال</vt:lpstr>
      <vt:lpstr>مثال</vt:lpstr>
      <vt:lpstr>مثال</vt:lpstr>
      <vt:lpstr>مثال</vt:lpstr>
      <vt:lpstr>SRAM-Based FPGA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908</cp:revision>
  <dcterms:created xsi:type="dcterms:W3CDTF">1601-01-01T00:00:00Z</dcterms:created>
  <dcterms:modified xsi:type="dcterms:W3CDTF">2024-04-12T16:28:52Z</dcterms:modified>
</cp:coreProperties>
</file>