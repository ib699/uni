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4" r:id="rId2"/>
  </p:sldMasterIdLst>
  <p:notesMasterIdLst>
    <p:notesMasterId r:id="rId28"/>
  </p:notesMasterIdLst>
  <p:sldIdLst>
    <p:sldId id="586" r:id="rId3"/>
    <p:sldId id="590" r:id="rId4"/>
    <p:sldId id="589" r:id="rId5"/>
    <p:sldId id="591" r:id="rId6"/>
    <p:sldId id="632" r:id="rId7"/>
    <p:sldId id="633" r:id="rId8"/>
    <p:sldId id="634" r:id="rId9"/>
    <p:sldId id="636" r:id="rId10"/>
    <p:sldId id="642" r:id="rId11"/>
    <p:sldId id="646" r:id="rId12"/>
    <p:sldId id="643" r:id="rId13"/>
    <p:sldId id="647" r:id="rId14"/>
    <p:sldId id="662" r:id="rId15"/>
    <p:sldId id="663" r:id="rId16"/>
    <p:sldId id="664" r:id="rId17"/>
    <p:sldId id="665" r:id="rId18"/>
    <p:sldId id="666" r:id="rId19"/>
    <p:sldId id="667" r:id="rId20"/>
    <p:sldId id="668" r:id="rId21"/>
    <p:sldId id="669" r:id="rId22"/>
    <p:sldId id="670" r:id="rId23"/>
    <p:sldId id="671" r:id="rId24"/>
    <p:sldId id="672" r:id="rId25"/>
    <p:sldId id="673" r:id="rId26"/>
    <p:sldId id="674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0033CC"/>
    <a:srgbClr val="47FFD1"/>
    <a:srgbClr val="0000CC"/>
    <a:srgbClr val="0000FF"/>
    <a:srgbClr val="CC6600"/>
    <a:srgbClr val="669900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17" autoAdjust="0"/>
    <p:restoredTop sz="90493" autoAdjust="0"/>
  </p:normalViewPr>
  <p:slideViewPr>
    <p:cSldViewPr>
      <p:cViewPr varScale="1">
        <p:scale>
          <a:sx n="65" d="100"/>
          <a:sy n="65" d="100"/>
        </p:scale>
        <p:origin x="737" y="38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76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CD495D4-DFEA-4791-BDAC-A539B2FBB4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261769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6C6CDC2-0C6C-45E5-94AF-5A300A9CD150}" type="slidenum">
              <a:rPr lang="en-US" altLang="en-US" sz="1200" smtClean="0"/>
              <a:pPr/>
              <a:t>1</a:t>
            </a:fld>
            <a:endParaRPr lang="en-US" altLang="en-US" sz="1200" dirty="0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0993100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A8D1920-7A26-4BDC-976C-E08246DA9726}" type="slidenum">
              <a:rPr lang="en-US" altLang="en-US" sz="1200" smtClean="0"/>
              <a:pPr/>
              <a:t>2</a:t>
            </a:fld>
            <a:endParaRPr lang="en-US" alt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val="14702127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14BA59B-DBF4-4515-B9E1-B53C646567C6}" type="slidenum">
              <a:rPr lang="en-US" altLang="en-US" sz="1200" b="1" smtClean="0">
                <a:cs typeface="Lotus" panose="00000400000000000000" pitchFamily="2" charset="-78"/>
              </a:rPr>
              <a:pPr/>
              <a:t>3</a:t>
            </a:fld>
            <a:endParaRPr lang="en-US" altLang="en-US" sz="1200" b="1" dirty="0" smtClean="0">
              <a:cs typeface="Lotus" panose="00000400000000000000" pitchFamily="2" charset="-78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129197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DE4C6660-377A-4589-9DC3-BC2DBF682555}" type="slidenum">
              <a:rPr lang="en-US" altLang="en-US" sz="1200" smtClean="0"/>
              <a:pPr/>
              <a:t>4</a:t>
            </a:fld>
            <a:endParaRPr lang="en-US" alt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val="1205126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240F743-A90E-4E74-BEBE-FF591AC8805B}" type="slidenum">
              <a:rPr lang="en-US" altLang="en-US" sz="1200" smtClean="0"/>
              <a:pPr/>
              <a:t>5</a:t>
            </a:fld>
            <a:endParaRPr lang="en-US" alt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val="3953606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22C6C38-6FA3-488C-87FD-230B50485548}" type="slidenum">
              <a:rPr lang="en-US" altLang="en-US" sz="1200" smtClean="0"/>
              <a:pPr/>
              <a:t>6</a:t>
            </a:fld>
            <a:endParaRPr lang="en-US" alt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val="25360019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600150A-63EF-4DD0-96B4-3CD9DEE36533}" type="slidenum">
              <a:rPr lang="en-US" altLang="en-US" sz="1200" smtClean="0"/>
              <a:pPr/>
              <a:t>7</a:t>
            </a:fld>
            <a:endParaRPr lang="en-US" alt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val="2639960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72E35E1-2F76-4816-BAB6-71853D66D759}" type="slidenum">
              <a:rPr lang="en-US" altLang="en-US" sz="1200" smtClean="0"/>
              <a:pPr/>
              <a:t>8</a:t>
            </a:fld>
            <a:endParaRPr lang="en-US" alt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val="34157441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52863B8A-C23A-4570-8D63-E0FFB3E97680}" type="slidenum">
              <a:rPr lang="en-US" altLang="en-US" sz="1200" smtClean="0"/>
              <a:pPr/>
              <a:t>9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739981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4680C43-3226-4313-A5B3-59051AA8C77E}" type="slidenum">
              <a:rPr lang="en-US" altLang="en-US" sz="1200" smtClean="0"/>
              <a:pPr/>
              <a:t>10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9574840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10615152-A9B2-47A1-B4DD-9D1152A481D7}" type="slidenum">
              <a:rPr lang="en-US" altLang="en-US" sz="1200" smtClean="0"/>
              <a:pPr/>
              <a:t>11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5180765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D78F81F-1085-4BD6-8E3B-BD7267823E22}" type="slidenum">
              <a:rPr lang="en-US" altLang="en-US" sz="1200" smtClean="0"/>
              <a:pPr/>
              <a:t>12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5857836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915F65C7-7F21-44F3-A53B-9783965BA2DB}" type="slidenum">
              <a:rPr lang="en-US" altLang="en-US" sz="1200" smtClean="0"/>
              <a:pPr/>
              <a:t>13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2992819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1F36CE8-16C1-43B6-AD54-721398CC56BA}" type="slidenum">
              <a:rPr lang="en-US" altLang="en-US" sz="1200" smtClean="0"/>
              <a:pPr/>
              <a:t>14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0210394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9621EAA7-28AA-4E2F-9991-D9ED2EF968B4}" type="slidenum">
              <a:rPr lang="en-US" altLang="en-US" sz="1200" smtClean="0"/>
              <a:pPr/>
              <a:t>15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18625172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36ECBE6-BE70-490E-8C2F-838E2CC18459}" type="slidenum">
              <a:rPr lang="en-US" altLang="en-US" sz="1200" smtClean="0"/>
              <a:pPr/>
              <a:t>16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5117290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C943D558-370C-4507-AE22-05FA1260D1CD}" type="slidenum">
              <a:rPr lang="en-US" altLang="en-US" sz="1200" smtClean="0"/>
              <a:pPr/>
              <a:t>17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0148549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49A19CBE-65C2-4CEC-8FB3-16911B0F63A6}" type="slidenum">
              <a:rPr lang="en-US" altLang="en-US" sz="1200" smtClean="0"/>
              <a:pPr/>
              <a:t>18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41223832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B3AB09B-B3EE-4DB9-9458-E20D95B32923}" type="slidenum">
              <a:rPr lang="en-US" altLang="en-US" sz="1200" smtClean="0"/>
              <a:pPr/>
              <a:t>19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35340838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48FFF216-B1C6-4B0D-9C9C-4CDCE7CD7FA0}" type="slidenum">
              <a:rPr lang="en-US" altLang="en-US" sz="1200" smtClean="0"/>
              <a:pPr/>
              <a:t>20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0288833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A1470351-C204-4B12-8597-FAE34F3C1031}" type="slidenum">
              <a:rPr lang="en-US" altLang="en-US" sz="1200" smtClean="0"/>
              <a:pPr/>
              <a:t>21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41983812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AF85133-5882-489D-9B33-F6EED107108D}" type="slidenum">
              <a:rPr lang="en-US" altLang="en-US" sz="1200" smtClean="0"/>
              <a:pPr/>
              <a:t>22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2108386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B71C0AE-4E15-4EAE-963A-103371E19A4E}" type="slidenum">
              <a:rPr lang="en-US" altLang="en-US" sz="1200" smtClean="0"/>
              <a:pPr/>
              <a:t>23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9508551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77FF93E-5CA7-473F-A815-48626608F75D}" type="slidenum">
              <a:rPr lang="en-US" altLang="en-US" sz="1200" smtClean="0"/>
              <a:pPr/>
              <a:t>24</a:t>
            </a:fld>
            <a:endParaRPr lang="en-US" altLang="en-US" sz="1200" smtClean="0"/>
          </a:p>
        </p:txBody>
      </p:sp>
    </p:spTree>
    <p:extLst>
      <p:ext uri="{BB962C8B-B14F-4D97-AF65-F5344CB8AC3E}">
        <p14:creationId xmlns:p14="http://schemas.microsoft.com/office/powerpoint/2010/main" val="8095874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B3B9222-7386-4A93-BF16-DF4231399C79}" type="slidenum">
              <a:rPr lang="en-US" altLang="en-US" sz="1200" smtClean="0"/>
              <a:pPr/>
              <a:t>25</a:t>
            </a:fld>
            <a:endParaRPr lang="en-US" altLang="en-US" sz="1200" dirty="0" smtClean="0"/>
          </a:p>
        </p:txBody>
      </p:sp>
    </p:spTree>
    <p:extLst>
      <p:ext uri="{BB962C8B-B14F-4D97-AF65-F5344CB8AC3E}">
        <p14:creationId xmlns:p14="http://schemas.microsoft.com/office/powerpoint/2010/main" val="912834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 smtClean="0"/>
          </a:p>
        </p:txBody>
      </p:sp>
      <p:sp>
        <p:nvSpPr>
          <p:cNvPr id="183302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692150" y="2286000"/>
            <a:ext cx="7759700" cy="1143000"/>
          </a:xfrm>
          <a:ln w="12700"/>
        </p:spPr>
        <p:txBody>
          <a:bodyPr wrap="none" lIns="82030" tIns="41015" rIns="82030" bIns="41015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33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85888" y="3898900"/>
            <a:ext cx="6372225" cy="1749425"/>
          </a:xfrm>
          <a:ln w="12700"/>
        </p:spPr>
        <p:txBody>
          <a:bodyPr wrap="none" lIns="82030" tIns="41015" rIns="82030" bIns="41015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397653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r" rtl="1">
              <a:defRPr sz="3200"/>
            </a:lvl1pPr>
            <a:lvl2pPr marL="990600" indent="-533400" algn="r" rtl="1">
              <a:buFont typeface="Wingdings" pitchFamily="2" charset="2"/>
              <a:buChar char="q"/>
              <a:defRPr sz="2800"/>
            </a:lvl2pPr>
            <a:lvl3pPr algn="r" rtl="1">
              <a:defRPr sz="2400"/>
            </a:lvl3pPr>
            <a:lvl4pPr algn="r" rtl="1">
              <a:defRPr sz="2000"/>
            </a:lvl4pPr>
            <a:lvl5pPr algn="r" rtl="1"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DB1581-2FDF-4DA0-8CA5-6FBE80F200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649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F6C19E-5ABC-4EC5-B788-33988AE9F7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5203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F20B31-338A-4FCA-B06F-81742930BD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0962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B1942-9B66-478D-B054-946E7E38E6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213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6A3BC1-2829-4041-8338-D8E7F7ED03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44862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A093ED-A064-4A10-BA51-1A25904A1A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7069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0A1EBF-5602-46DB-8BFA-9C4FF27A0B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5867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CD99BA-BE2A-404A-9D40-C316207120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8367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7227B-6AFD-440E-B351-21B357B737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7173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1450" y="403225"/>
            <a:ext cx="1944688" cy="54641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03225"/>
            <a:ext cx="5683250" cy="54641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04CE78-6B8C-4381-9903-6B3DE64B3E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9203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CD2174-1894-42A9-AB66-8E96FF5C01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2529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6F9A44-E286-4798-8A8D-DD9642FC274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1863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8B387-CAD3-45AC-BF71-D87BE3EA70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549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224D3C-F103-4C54-92EC-D368C3884E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2507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19DC0B-F9A0-48B0-A31A-9FEC32A763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42438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4219BB-3C6F-4042-B0D3-F31D745A91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30810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03A0B5-F88E-462D-B876-30C0AC3C53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21699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2A39C1-5248-4DA9-BCB8-28432FC8D7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121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B5BB3D-4FD1-4C71-8DFD-A4E3B57991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53556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64A49F-2615-4866-919A-379580D737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07082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3BC544-DD48-4E71-AE96-0CC2F1B4E2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9330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  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92150" y="403225"/>
            <a:ext cx="7773988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18228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43888" y="6388100"/>
            <a:ext cx="554037" cy="334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82030" tIns="41015" rIns="82030" bIns="41015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B56D9FD-E649-4EE8-8B72-8E4DA8967B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38" r:id="rId1"/>
    <p:sldLayoutId id="2147485517" r:id="rId2"/>
    <p:sldLayoutId id="2147485518" r:id="rId3"/>
    <p:sldLayoutId id="2147485519" r:id="rId4"/>
    <p:sldLayoutId id="2147485520" r:id="rId5"/>
    <p:sldLayoutId id="2147485521" r:id="rId6"/>
    <p:sldLayoutId id="2147485522" r:id="rId7"/>
    <p:sldLayoutId id="2147485523" r:id="rId8"/>
    <p:sldLayoutId id="2147485524" r:id="rId9"/>
    <p:sldLayoutId id="2147485525" r:id="rId10"/>
    <p:sldLayoutId id="2147485526" r:id="rId11"/>
  </p:sldLayoutIdLst>
  <p:hf hdr="0" ftr="0" dt="0"/>
  <p:txStyles>
    <p:titleStyle>
      <a:lvl1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+mj-lt"/>
          <a:ea typeface="+mj-ea"/>
          <a:cs typeface="B Titr" pitchFamily="2" charset="-78"/>
        </a:defRPr>
      </a:lvl1pPr>
      <a:lvl2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2pPr>
      <a:lvl3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3pPr>
      <a:lvl4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4pPr>
      <a:lvl5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5pPr>
      <a:lvl6pPr marL="4572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6pPr>
      <a:lvl7pPr marL="9144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7pPr>
      <a:lvl8pPr marL="13716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8pPr>
      <a:lvl9pPr marL="18288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FF5050"/>
          </a:solidFill>
          <a:latin typeface="+mn-lt"/>
          <a:ea typeface="+mn-ea"/>
          <a:cs typeface="B Mitra" pitchFamily="2" charset="-78"/>
        </a:defRPr>
      </a:lvl1pPr>
      <a:lvl2pPr marL="895350" indent="-4381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sz="2200">
          <a:solidFill>
            <a:srgbClr val="0000FF"/>
          </a:solidFill>
          <a:latin typeface="+mn-lt"/>
          <a:cs typeface="B Mitra" pitchFamily="2" charset="-78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2400">
          <a:solidFill>
            <a:schemeClr val="tx1"/>
          </a:solidFill>
          <a:latin typeface="+mn-lt"/>
          <a:cs typeface="B Mitra" pitchFamily="2" charset="-78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600">
          <a:solidFill>
            <a:schemeClr val="tx1"/>
          </a:solidFill>
          <a:latin typeface="+mn-lt"/>
          <a:cs typeface="B Mitra" pitchFamily="2" charset="-78"/>
        </a:defRPr>
      </a:lvl4pPr>
      <a:lvl5pPr marL="2057400" indent="-231775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200">
          <a:solidFill>
            <a:schemeClr val="tx1"/>
          </a:solidFill>
          <a:latin typeface="+mn-lt"/>
          <a:cs typeface="B Mitra" pitchFamily="2" charset="-78"/>
        </a:defRPr>
      </a:lvl5pPr>
      <a:lvl6pPr marL="25146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6pPr>
      <a:lvl7pPr marL="29718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7pPr>
      <a:lvl8pPr marL="34290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8pPr>
      <a:lvl9pPr marL="38862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150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56BC6F7-A88A-4205-B450-60CC770009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27" r:id="rId1"/>
    <p:sldLayoutId id="2147485528" r:id="rId2"/>
    <p:sldLayoutId id="2147485529" r:id="rId3"/>
    <p:sldLayoutId id="2147485530" r:id="rId4"/>
    <p:sldLayoutId id="2147485531" r:id="rId5"/>
    <p:sldLayoutId id="2147485532" r:id="rId6"/>
    <p:sldLayoutId id="2147485533" r:id="rId7"/>
    <p:sldLayoutId id="2147485534" r:id="rId8"/>
    <p:sldLayoutId id="2147485535" r:id="rId9"/>
    <p:sldLayoutId id="2147485536" r:id="rId10"/>
    <p:sldLayoutId id="2147485537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7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1.emf"/><Relationship Id="rId4" Type="http://schemas.openxmlformats.org/officeDocument/2006/relationships/oleObject" Target="../embeddings/oleObject8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ln w="9525"/>
        </p:spPr>
        <p:txBody>
          <a:bodyPr/>
          <a:lstStyle/>
          <a:p>
            <a:pPr eaLnBrk="1" hangingPunct="1"/>
            <a:r>
              <a:rPr lang="fa-IR" altLang="en-US" smtClean="0"/>
              <a:t>تراشه ها ي منطقي برنامه پذ ير</a:t>
            </a:r>
            <a:endParaRPr lang="en-US" altLang="en-US" dirty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ln w="9525"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انواع تراشه‌های برنامه‌پذیر</a:t>
            </a:r>
            <a:endParaRPr lang="en-US" altLang="en-US" dirty="0" smtClean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685800" y="1268413"/>
            <a:ext cx="7772400" cy="4648200"/>
          </a:xfrm>
        </p:spPr>
        <p:txBody>
          <a:bodyPr/>
          <a:lstStyle/>
          <a:p>
            <a:r>
              <a:rPr lang="fa-IR" altLang="en-US" smtClean="0"/>
              <a:t>جنبه‌های تفاوت:</a:t>
            </a:r>
          </a:p>
          <a:p>
            <a:pPr lvl="1"/>
            <a:r>
              <a:rPr lang="fa-IR" altLang="en-US" smtClean="0">
                <a:solidFill>
                  <a:srgbClr val="6699FF"/>
                </a:solidFill>
              </a:rPr>
              <a:t>فناوری برنامه‌ریزی تراشه</a:t>
            </a:r>
            <a:endParaRPr lang="en-US" altLang="en-US" dirty="0" smtClean="0">
              <a:solidFill>
                <a:srgbClr val="6699FF"/>
              </a:solidFill>
            </a:endParaRPr>
          </a:p>
          <a:p>
            <a:pPr lvl="1"/>
            <a:r>
              <a:rPr lang="fa-IR" altLang="en-US" smtClean="0">
                <a:solidFill>
                  <a:srgbClr val="6699FF"/>
                </a:solidFill>
              </a:rPr>
              <a:t>ساختار بلوک‌های منطقی</a:t>
            </a:r>
            <a:endParaRPr lang="en-US" altLang="en-US" dirty="0" smtClean="0">
              <a:solidFill>
                <a:srgbClr val="6699FF"/>
              </a:solidFill>
            </a:endParaRPr>
          </a:p>
          <a:p>
            <a:pPr lvl="1"/>
            <a:r>
              <a:rPr lang="fa-IR" altLang="en-US" b="1" smtClean="0"/>
              <a:t>معماری اتصالات برنامه‌پذیر</a:t>
            </a:r>
            <a:endParaRPr lang="en-US" altLang="en-US" b="1" dirty="0" smtClean="0"/>
          </a:p>
          <a:p>
            <a:pPr lvl="1"/>
            <a:r>
              <a:rPr lang="fa-IR" altLang="en-US" smtClean="0">
                <a:solidFill>
                  <a:srgbClr val="6699FF"/>
                </a:solidFill>
              </a:rPr>
              <a:t>ساختار مدار </a:t>
            </a:r>
            <a:r>
              <a:rPr lang="en-US" altLang="en-US" dirty="0" smtClean="0">
                <a:solidFill>
                  <a:srgbClr val="6699FF"/>
                </a:solidFill>
              </a:rPr>
              <a:t>IO block</a:t>
            </a:r>
          </a:p>
          <a:p>
            <a:pPr lvl="1"/>
            <a:r>
              <a:rPr lang="en-US" altLang="en-US" dirty="0" smtClean="0">
                <a:solidFill>
                  <a:srgbClr val="6699FF"/>
                </a:solidFill>
              </a:rPr>
              <a:t>Hard core</a:t>
            </a:r>
            <a:endParaRPr lang="fa-IR" altLang="en-US" smtClean="0">
              <a:solidFill>
                <a:srgbClr val="6699FF"/>
              </a:solidFill>
            </a:endParaRP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41682B56-432D-465B-83D5-A0FE271BD14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300" b="0" dirty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 eaLnBrk="1" hangingPunct="1">
              <a:spcBef>
                <a:spcPct val="0"/>
              </a:spcBef>
              <a:buFontTx/>
              <a:buNone/>
            </a:pPr>
            <a:fld id="{F7219C1A-6F92-40BA-B1FF-4D3A4596B95A}" type="slidenum">
              <a:rPr lang="en-US" altLang="en-US" sz="1400" b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rtl="0"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b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 eaLnBrk="1" hangingPunct="1"/>
            <a:r>
              <a:rPr lang="fa-IR" altLang="en-US" smtClean="0"/>
              <a:t>ساختار </a:t>
            </a:r>
            <a:r>
              <a:rPr lang="en-US" altLang="en-US" dirty="0" smtClean="0"/>
              <a:t>FPGA</a:t>
            </a:r>
          </a:p>
        </p:txBody>
      </p:sp>
      <p:pic>
        <p:nvPicPr>
          <p:cNvPr id="922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600200"/>
            <a:ext cx="4733925" cy="464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معماری اتصالات جزیره‌ای</a:t>
            </a:r>
            <a:endParaRPr lang="en-US" altLang="en-US" dirty="0" smtClean="0"/>
          </a:p>
        </p:txBody>
      </p:sp>
      <p:sp>
        <p:nvSpPr>
          <p:cNvPr id="1126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875BA8A-6129-4C71-A321-161A5D26F3D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300" b="0" dirty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pSp>
        <p:nvGrpSpPr>
          <p:cNvPr id="11268" name="Group 101"/>
          <p:cNvGrpSpPr>
            <a:grpSpLocks/>
          </p:cNvGrpSpPr>
          <p:nvPr/>
        </p:nvGrpSpPr>
        <p:grpSpPr bwMode="auto">
          <a:xfrm>
            <a:off x="457200" y="1295400"/>
            <a:ext cx="3048000" cy="5486400"/>
            <a:chOff x="288" y="864"/>
            <a:chExt cx="1920" cy="3456"/>
          </a:xfrm>
        </p:grpSpPr>
        <p:grpSp>
          <p:nvGrpSpPr>
            <p:cNvPr id="11321" name="Group 98"/>
            <p:cNvGrpSpPr>
              <a:grpSpLocks/>
            </p:cNvGrpSpPr>
            <p:nvPr/>
          </p:nvGrpSpPr>
          <p:grpSpPr bwMode="auto">
            <a:xfrm>
              <a:off x="288" y="864"/>
              <a:ext cx="1920" cy="1776"/>
              <a:chOff x="288" y="864"/>
              <a:chExt cx="1920" cy="1776"/>
            </a:xfrm>
          </p:grpSpPr>
          <p:grpSp>
            <p:nvGrpSpPr>
              <p:cNvPr id="11344" name="Group 7"/>
              <p:cNvGrpSpPr>
                <a:grpSpLocks/>
              </p:cNvGrpSpPr>
              <p:nvPr/>
            </p:nvGrpSpPr>
            <p:grpSpPr bwMode="auto">
              <a:xfrm>
                <a:off x="336" y="960"/>
                <a:ext cx="768" cy="720"/>
                <a:chOff x="288" y="1200"/>
                <a:chExt cx="768" cy="720"/>
              </a:xfrm>
            </p:grpSpPr>
            <p:sp>
              <p:nvSpPr>
                <p:cNvPr id="11363" name="Rectangle 8"/>
                <p:cNvSpPr>
                  <a:spLocks noChangeArrowheads="1"/>
                </p:cNvSpPr>
                <p:nvPr/>
              </p:nvSpPr>
              <p:spPr bwMode="auto">
                <a:xfrm>
                  <a:off x="288" y="1200"/>
                  <a:ext cx="768" cy="720"/>
                </a:xfrm>
                <a:prstGeom prst="rect">
                  <a:avLst/>
                </a:prstGeom>
                <a:solidFill>
                  <a:schemeClr val="accent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 rtl="0">
                    <a:spcBef>
                      <a:spcPct val="0"/>
                    </a:spcBef>
                    <a:buFontTx/>
                    <a:buNone/>
                  </a:pPr>
                  <a:endParaRPr lang="en-US" altLang="en-US" sz="21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64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432" y="1392"/>
                  <a:ext cx="480" cy="2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 rtl="0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21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Arial" panose="020B0604020202020204" pitchFamily="34" charset="0"/>
                    </a:rPr>
                    <a:t>LC</a:t>
                  </a:r>
                </a:p>
              </p:txBody>
            </p:sp>
          </p:grpSp>
          <p:grpSp>
            <p:nvGrpSpPr>
              <p:cNvPr id="11345" name="Group 10"/>
              <p:cNvGrpSpPr>
                <a:grpSpLocks/>
              </p:cNvGrpSpPr>
              <p:nvPr/>
            </p:nvGrpSpPr>
            <p:grpSpPr bwMode="auto">
              <a:xfrm>
                <a:off x="288" y="1920"/>
                <a:ext cx="816" cy="480"/>
                <a:chOff x="288" y="1920"/>
                <a:chExt cx="816" cy="480"/>
              </a:xfrm>
            </p:grpSpPr>
            <p:sp>
              <p:nvSpPr>
                <p:cNvPr id="11361" name="Rectangle 11"/>
                <p:cNvSpPr>
                  <a:spLocks noChangeArrowheads="1"/>
                </p:cNvSpPr>
                <p:nvPr/>
              </p:nvSpPr>
              <p:spPr bwMode="auto">
                <a:xfrm>
                  <a:off x="432" y="1920"/>
                  <a:ext cx="528" cy="480"/>
                </a:xfrm>
                <a:prstGeom prst="rect">
                  <a:avLst/>
                </a:prstGeom>
                <a:solidFill>
                  <a:srgbClr val="FFFF00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 rtl="0">
                    <a:spcBef>
                      <a:spcPct val="0"/>
                    </a:spcBef>
                    <a:buFontTx/>
                    <a:buNone/>
                  </a:pPr>
                  <a:endParaRPr lang="en-US" altLang="en-US" sz="21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62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288" y="1920"/>
                  <a:ext cx="816" cy="3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4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Arial" panose="020B0604020202020204" pitchFamily="34" charset="0"/>
                    </a:rPr>
                    <a:t>Connection </a:t>
                  </a:r>
                </a:p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4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Arial" panose="020B0604020202020204" pitchFamily="34" charset="0"/>
                    </a:rPr>
                    <a:t>Block</a:t>
                  </a:r>
                </a:p>
              </p:txBody>
            </p:sp>
          </p:grpSp>
          <p:grpSp>
            <p:nvGrpSpPr>
              <p:cNvPr id="11346" name="Group 97"/>
              <p:cNvGrpSpPr>
                <a:grpSpLocks/>
              </p:cNvGrpSpPr>
              <p:nvPr/>
            </p:nvGrpSpPr>
            <p:grpSpPr bwMode="auto">
              <a:xfrm>
                <a:off x="1392" y="1920"/>
                <a:ext cx="816" cy="480"/>
                <a:chOff x="1392" y="1920"/>
                <a:chExt cx="816" cy="480"/>
              </a:xfrm>
            </p:grpSpPr>
            <p:sp>
              <p:nvSpPr>
                <p:cNvPr id="11359" name="Rectangle 14"/>
                <p:cNvSpPr>
                  <a:spLocks noChangeArrowheads="1"/>
                </p:cNvSpPr>
                <p:nvPr/>
              </p:nvSpPr>
              <p:spPr bwMode="auto">
                <a:xfrm>
                  <a:off x="1536" y="1920"/>
                  <a:ext cx="528" cy="480"/>
                </a:xfrm>
                <a:prstGeom prst="rect">
                  <a:avLst/>
                </a:prstGeom>
                <a:solidFill>
                  <a:srgbClr val="00FFFF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 rtl="0">
                    <a:spcBef>
                      <a:spcPct val="0"/>
                    </a:spcBef>
                    <a:buFontTx/>
                    <a:buNone/>
                  </a:pPr>
                  <a:endParaRPr lang="en-US" altLang="en-US" sz="21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60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392" y="1920"/>
                  <a:ext cx="816" cy="3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4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Arial" panose="020B0604020202020204" pitchFamily="34" charset="0"/>
                    </a:rPr>
                    <a:t>Switch </a:t>
                  </a:r>
                </a:p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4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Arial" panose="020B0604020202020204" pitchFamily="34" charset="0"/>
                    </a:rPr>
                    <a:t>Block</a:t>
                  </a:r>
                </a:p>
              </p:txBody>
            </p:sp>
          </p:grpSp>
          <p:sp>
            <p:nvSpPr>
              <p:cNvPr id="11347" name="Line 16"/>
              <p:cNvSpPr>
                <a:spLocks noChangeShapeType="1"/>
              </p:cNvSpPr>
              <p:nvPr/>
            </p:nvSpPr>
            <p:spPr bwMode="auto">
              <a:xfrm>
                <a:off x="480" y="168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48" name="Line 17"/>
              <p:cNvSpPr>
                <a:spLocks noChangeShapeType="1"/>
              </p:cNvSpPr>
              <p:nvPr/>
            </p:nvSpPr>
            <p:spPr bwMode="auto">
              <a:xfrm>
                <a:off x="528" y="168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49" name="Line 18"/>
              <p:cNvSpPr>
                <a:spLocks noChangeShapeType="1"/>
              </p:cNvSpPr>
              <p:nvPr/>
            </p:nvSpPr>
            <p:spPr bwMode="auto">
              <a:xfrm>
                <a:off x="864" y="168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50" name="Line 19"/>
              <p:cNvSpPr>
                <a:spLocks noChangeShapeType="1"/>
              </p:cNvSpPr>
              <p:nvPr/>
            </p:nvSpPr>
            <p:spPr bwMode="auto">
              <a:xfrm>
                <a:off x="960" y="196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51" name="Line 20"/>
              <p:cNvSpPr>
                <a:spLocks noChangeShapeType="1"/>
              </p:cNvSpPr>
              <p:nvPr/>
            </p:nvSpPr>
            <p:spPr bwMode="auto">
              <a:xfrm>
                <a:off x="960" y="2016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52" name="Line 21"/>
              <p:cNvSpPr>
                <a:spLocks noChangeShapeType="1"/>
              </p:cNvSpPr>
              <p:nvPr/>
            </p:nvSpPr>
            <p:spPr bwMode="auto">
              <a:xfrm>
                <a:off x="960" y="230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53" name="Line 22"/>
              <p:cNvSpPr>
                <a:spLocks noChangeShapeType="1"/>
              </p:cNvSpPr>
              <p:nvPr/>
            </p:nvSpPr>
            <p:spPr bwMode="auto">
              <a:xfrm flipV="1">
                <a:off x="1584" y="864"/>
                <a:ext cx="0" cy="105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54" name="Line 23"/>
              <p:cNvSpPr>
                <a:spLocks noChangeShapeType="1"/>
              </p:cNvSpPr>
              <p:nvPr/>
            </p:nvSpPr>
            <p:spPr bwMode="auto">
              <a:xfrm flipV="1">
                <a:off x="1632" y="864"/>
                <a:ext cx="0" cy="105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55" name="Line 24"/>
              <p:cNvSpPr>
                <a:spLocks noChangeShapeType="1"/>
              </p:cNvSpPr>
              <p:nvPr/>
            </p:nvSpPr>
            <p:spPr bwMode="auto">
              <a:xfrm flipV="1">
                <a:off x="2016" y="864"/>
                <a:ext cx="0" cy="105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56" name="Line 25"/>
              <p:cNvSpPr>
                <a:spLocks noChangeShapeType="1"/>
              </p:cNvSpPr>
              <p:nvPr/>
            </p:nvSpPr>
            <p:spPr bwMode="auto">
              <a:xfrm>
                <a:off x="480" y="240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57" name="Line 26"/>
              <p:cNvSpPr>
                <a:spLocks noChangeShapeType="1"/>
              </p:cNvSpPr>
              <p:nvPr/>
            </p:nvSpPr>
            <p:spPr bwMode="auto">
              <a:xfrm>
                <a:off x="528" y="240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58" name="Line 27"/>
              <p:cNvSpPr>
                <a:spLocks noChangeShapeType="1"/>
              </p:cNvSpPr>
              <p:nvPr/>
            </p:nvSpPr>
            <p:spPr bwMode="auto">
              <a:xfrm>
                <a:off x="864" y="240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1322" name="Group 100"/>
            <p:cNvGrpSpPr>
              <a:grpSpLocks/>
            </p:cNvGrpSpPr>
            <p:nvPr/>
          </p:nvGrpSpPr>
          <p:grpSpPr bwMode="auto">
            <a:xfrm>
              <a:off x="288" y="2400"/>
              <a:ext cx="1920" cy="1920"/>
              <a:chOff x="288" y="2400"/>
              <a:chExt cx="1920" cy="1920"/>
            </a:xfrm>
          </p:grpSpPr>
          <p:grpSp>
            <p:nvGrpSpPr>
              <p:cNvPr id="11323" name="Group 29"/>
              <p:cNvGrpSpPr>
                <a:grpSpLocks/>
              </p:cNvGrpSpPr>
              <p:nvPr/>
            </p:nvGrpSpPr>
            <p:grpSpPr bwMode="auto">
              <a:xfrm>
                <a:off x="336" y="2640"/>
                <a:ext cx="768" cy="720"/>
                <a:chOff x="288" y="1200"/>
                <a:chExt cx="768" cy="720"/>
              </a:xfrm>
            </p:grpSpPr>
            <p:sp>
              <p:nvSpPr>
                <p:cNvPr id="11342" name="Rectangle 30"/>
                <p:cNvSpPr>
                  <a:spLocks noChangeArrowheads="1"/>
                </p:cNvSpPr>
                <p:nvPr/>
              </p:nvSpPr>
              <p:spPr bwMode="auto">
                <a:xfrm>
                  <a:off x="288" y="1200"/>
                  <a:ext cx="768" cy="720"/>
                </a:xfrm>
                <a:prstGeom prst="rect">
                  <a:avLst/>
                </a:prstGeom>
                <a:solidFill>
                  <a:schemeClr val="accent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 rtl="0">
                    <a:spcBef>
                      <a:spcPct val="0"/>
                    </a:spcBef>
                    <a:buFontTx/>
                    <a:buNone/>
                  </a:pPr>
                  <a:endParaRPr lang="en-US" altLang="en-US" sz="21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43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432" y="1392"/>
                  <a:ext cx="480" cy="2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 rtl="0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21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Arial" panose="020B0604020202020204" pitchFamily="34" charset="0"/>
                    </a:rPr>
                    <a:t>LC</a:t>
                  </a:r>
                </a:p>
              </p:txBody>
            </p:sp>
          </p:grpSp>
          <p:grpSp>
            <p:nvGrpSpPr>
              <p:cNvPr id="11324" name="Group 32"/>
              <p:cNvGrpSpPr>
                <a:grpSpLocks/>
              </p:cNvGrpSpPr>
              <p:nvPr/>
            </p:nvGrpSpPr>
            <p:grpSpPr bwMode="auto">
              <a:xfrm>
                <a:off x="288" y="3600"/>
                <a:ext cx="816" cy="480"/>
                <a:chOff x="288" y="1920"/>
                <a:chExt cx="816" cy="480"/>
              </a:xfrm>
            </p:grpSpPr>
            <p:sp>
              <p:nvSpPr>
                <p:cNvPr id="11340" name="Rectangle 33"/>
                <p:cNvSpPr>
                  <a:spLocks noChangeArrowheads="1"/>
                </p:cNvSpPr>
                <p:nvPr/>
              </p:nvSpPr>
              <p:spPr bwMode="auto">
                <a:xfrm>
                  <a:off x="432" y="1920"/>
                  <a:ext cx="528" cy="480"/>
                </a:xfrm>
                <a:prstGeom prst="rect">
                  <a:avLst/>
                </a:prstGeom>
                <a:solidFill>
                  <a:srgbClr val="FFFF00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 rtl="0">
                    <a:spcBef>
                      <a:spcPct val="0"/>
                    </a:spcBef>
                    <a:buFontTx/>
                    <a:buNone/>
                  </a:pPr>
                  <a:endParaRPr lang="en-US" altLang="en-US" sz="21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41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288" y="1920"/>
                  <a:ext cx="816" cy="3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4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Arial" panose="020B0604020202020204" pitchFamily="34" charset="0"/>
                    </a:rPr>
                    <a:t>Connection </a:t>
                  </a:r>
                </a:p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4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Arial" panose="020B0604020202020204" pitchFamily="34" charset="0"/>
                    </a:rPr>
                    <a:t>Block</a:t>
                  </a:r>
                </a:p>
              </p:txBody>
            </p:sp>
          </p:grpSp>
          <p:grpSp>
            <p:nvGrpSpPr>
              <p:cNvPr id="11325" name="Group 99"/>
              <p:cNvGrpSpPr>
                <a:grpSpLocks/>
              </p:cNvGrpSpPr>
              <p:nvPr/>
            </p:nvGrpSpPr>
            <p:grpSpPr bwMode="auto">
              <a:xfrm>
                <a:off x="1392" y="3600"/>
                <a:ext cx="816" cy="480"/>
                <a:chOff x="1392" y="3600"/>
                <a:chExt cx="816" cy="480"/>
              </a:xfrm>
            </p:grpSpPr>
            <p:sp>
              <p:nvSpPr>
                <p:cNvPr id="11338" name="Rectangle 36"/>
                <p:cNvSpPr>
                  <a:spLocks noChangeArrowheads="1"/>
                </p:cNvSpPr>
                <p:nvPr/>
              </p:nvSpPr>
              <p:spPr bwMode="auto">
                <a:xfrm>
                  <a:off x="1536" y="3600"/>
                  <a:ext cx="528" cy="480"/>
                </a:xfrm>
                <a:prstGeom prst="rect">
                  <a:avLst/>
                </a:prstGeom>
                <a:solidFill>
                  <a:srgbClr val="00FFFF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 rtl="0">
                    <a:spcBef>
                      <a:spcPct val="0"/>
                    </a:spcBef>
                    <a:buFontTx/>
                    <a:buNone/>
                  </a:pPr>
                  <a:endParaRPr lang="en-US" altLang="en-US" sz="21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39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1392" y="3600"/>
                  <a:ext cx="816" cy="3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4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Arial" panose="020B0604020202020204" pitchFamily="34" charset="0"/>
                    </a:rPr>
                    <a:t>Switch </a:t>
                  </a:r>
                </a:p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4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Arial" panose="020B0604020202020204" pitchFamily="34" charset="0"/>
                    </a:rPr>
                    <a:t>Block</a:t>
                  </a:r>
                </a:p>
              </p:txBody>
            </p:sp>
          </p:grpSp>
          <p:sp>
            <p:nvSpPr>
              <p:cNvPr id="11326" name="Line 38"/>
              <p:cNvSpPr>
                <a:spLocks noChangeShapeType="1"/>
              </p:cNvSpPr>
              <p:nvPr/>
            </p:nvSpPr>
            <p:spPr bwMode="auto">
              <a:xfrm>
                <a:off x="480" y="336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27" name="Line 39"/>
              <p:cNvSpPr>
                <a:spLocks noChangeShapeType="1"/>
              </p:cNvSpPr>
              <p:nvPr/>
            </p:nvSpPr>
            <p:spPr bwMode="auto">
              <a:xfrm>
                <a:off x="528" y="336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28" name="Line 40"/>
              <p:cNvSpPr>
                <a:spLocks noChangeShapeType="1"/>
              </p:cNvSpPr>
              <p:nvPr/>
            </p:nvSpPr>
            <p:spPr bwMode="auto">
              <a:xfrm>
                <a:off x="864" y="336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29" name="Line 41"/>
              <p:cNvSpPr>
                <a:spLocks noChangeShapeType="1"/>
              </p:cNvSpPr>
              <p:nvPr/>
            </p:nvSpPr>
            <p:spPr bwMode="auto">
              <a:xfrm>
                <a:off x="960" y="364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30" name="Line 42"/>
              <p:cNvSpPr>
                <a:spLocks noChangeShapeType="1"/>
              </p:cNvSpPr>
              <p:nvPr/>
            </p:nvSpPr>
            <p:spPr bwMode="auto">
              <a:xfrm>
                <a:off x="960" y="3696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31" name="Line 43"/>
              <p:cNvSpPr>
                <a:spLocks noChangeShapeType="1"/>
              </p:cNvSpPr>
              <p:nvPr/>
            </p:nvSpPr>
            <p:spPr bwMode="auto">
              <a:xfrm>
                <a:off x="960" y="398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32" name="Line 44"/>
              <p:cNvSpPr>
                <a:spLocks noChangeShapeType="1"/>
              </p:cNvSpPr>
              <p:nvPr/>
            </p:nvSpPr>
            <p:spPr bwMode="auto">
              <a:xfrm flipV="1">
                <a:off x="1584" y="2400"/>
                <a:ext cx="0" cy="12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33" name="Line 45"/>
              <p:cNvSpPr>
                <a:spLocks noChangeShapeType="1"/>
              </p:cNvSpPr>
              <p:nvPr/>
            </p:nvSpPr>
            <p:spPr bwMode="auto">
              <a:xfrm flipV="1">
                <a:off x="1632" y="2400"/>
                <a:ext cx="0" cy="12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34" name="Line 46"/>
              <p:cNvSpPr>
                <a:spLocks noChangeShapeType="1"/>
              </p:cNvSpPr>
              <p:nvPr/>
            </p:nvSpPr>
            <p:spPr bwMode="auto">
              <a:xfrm flipV="1">
                <a:off x="2016" y="2400"/>
                <a:ext cx="0" cy="12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35" name="Line 47"/>
              <p:cNvSpPr>
                <a:spLocks noChangeShapeType="1"/>
              </p:cNvSpPr>
              <p:nvPr/>
            </p:nvSpPr>
            <p:spPr bwMode="auto">
              <a:xfrm>
                <a:off x="480" y="408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36" name="Line 48"/>
              <p:cNvSpPr>
                <a:spLocks noChangeShapeType="1"/>
              </p:cNvSpPr>
              <p:nvPr/>
            </p:nvSpPr>
            <p:spPr bwMode="auto">
              <a:xfrm>
                <a:off x="528" y="408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37" name="Line 49"/>
              <p:cNvSpPr>
                <a:spLocks noChangeShapeType="1"/>
              </p:cNvSpPr>
              <p:nvPr/>
            </p:nvSpPr>
            <p:spPr bwMode="auto">
              <a:xfrm>
                <a:off x="864" y="408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11269" name="Group 102"/>
          <p:cNvGrpSpPr>
            <a:grpSpLocks/>
          </p:cNvGrpSpPr>
          <p:nvPr/>
        </p:nvGrpSpPr>
        <p:grpSpPr bwMode="auto">
          <a:xfrm>
            <a:off x="4038600" y="1295400"/>
            <a:ext cx="3048000" cy="5486400"/>
            <a:chOff x="288" y="864"/>
            <a:chExt cx="1920" cy="3456"/>
          </a:xfrm>
        </p:grpSpPr>
        <p:grpSp>
          <p:nvGrpSpPr>
            <p:cNvPr id="11277" name="Group 103"/>
            <p:cNvGrpSpPr>
              <a:grpSpLocks/>
            </p:cNvGrpSpPr>
            <p:nvPr/>
          </p:nvGrpSpPr>
          <p:grpSpPr bwMode="auto">
            <a:xfrm>
              <a:off x="288" y="864"/>
              <a:ext cx="1920" cy="1776"/>
              <a:chOff x="288" y="864"/>
              <a:chExt cx="1920" cy="1776"/>
            </a:xfrm>
          </p:grpSpPr>
          <p:grpSp>
            <p:nvGrpSpPr>
              <p:cNvPr id="11300" name="Group 104"/>
              <p:cNvGrpSpPr>
                <a:grpSpLocks/>
              </p:cNvGrpSpPr>
              <p:nvPr/>
            </p:nvGrpSpPr>
            <p:grpSpPr bwMode="auto">
              <a:xfrm>
                <a:off x="336" y="960"/>
                <a:ext cx="768" cy="720"/>
                <a:chOff x="288" y="1200"/>
                <a:chExt cx="768" cy="720"/>
              </a:xfrm>
            </p:grpSpPr>
            <p:sp>
              <p:nvSpPr>
                <p:cNvPr id="11319" name="Rectangle 105"/>
                <p:cNvSpPr>
                  <a:spLocks noChangeArrowheads="1"/>
                </p:cNvSpPr>
                <p:nvPr/>
              </p:nvSpPr>
              <p:spPr bwMode="auto">
                <a:xfrm>
                  <a:off x="288" y="1200"/>
                  <a:ext cx="768" cy="720"/>
                </a:xfrm>
                <a:prstGeom prst="rect">
                  <a:avLst/>
                </a:prstGeom>
                <a:solidFill>
                  <a:schemeClr val="accent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 rtl="0">
                    <a:spcBef>
                      <a:spcPct val="0"/>
                    </a:spcBef>
                    <a:buFontTx/>
                    <a:buNone/>
                  </a:pPr>
                  <a:endParaRPr lang="en-US" altLang="en-US" sz="21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20" name="Text Box 106"/>
                <p:cNvSpPr txBox="1">
                  <a:spLocks noChangeArrowheads="1"/>
                </p:cNvSpPr>
                <p:nvPr/>
              </p:nvSpPr>
              <p:spPr bwMode="auto">
                <a:xfrm>
                  <a:off x="432" y="1392"/>
                  <a:ext cx="480" cy="2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 rtl="0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21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Arial" panose="020B0604020202020204" pitchFamily="34" charset="0"/>
                    </a:rPr>
                    <a:t>LC</a:t>
                  </a:r>
                </a:p>
              </p:txBody>
            </p:sp>
          </p:grpSp>
          <p:grpSp>
            <p:nvGrpSpPr>
              <p:cNvPr id="11301" name="Group 107"/>
              <p:cNvGrpSpPr>
                <a:grpSpLocks/>
              </p:cNvGrpSpPr>
              <p:nvPr/>
            </p:nvGrpSpPr>
            <p:grpSpPr bwMode="auto">
              <a:xfrm>
                <a:off x="288" y="1920"/>
                <a:ext cx="816" cy="480"/>
                <a:chOff x="288" y="1920"/>
                <a:chExt cx="816" cy="480"/>
              </a:xfrm>
            </p:grpSpPr>
            <p:sp>
              <p:nvSpPr>
                <p:cNvPr id="11317" name="Rectangle 108"/>
                <p:cNvSpPr>
                  <a:spLocks noChangeArrowheads="1"/>
                </p:cNvSpPr>
                <p:nvPr/>
              </p:nvSpPr>
              <p:spPr bwMode="auto">
                <a:xfrm>
                  <a:off x="432" y="1920"/>
                  <a:ext cx="528" cy="480"/>
                </a:xfrm>
                <a:prstGeom prst="rect">
                  <a:avLst/>
                </a:prstGeom>
                <a:solidFill>
                  <a:srgbClr val="FFFF00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 rtl="0">
                    <a:spcBef>
                      <a:spcPct val="0"/>
                    </a:spcBef>
                    <a:buFontTx/>
                    <a:buNone/>
                  </a:pPr>
                  <a:endParaRPr lang="en-US" altLang="en-US" sz="21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18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288" y="1920"/>
                  <a:ext cx="816" cy="3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4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Arial" panose="020B0604020202020204" pitchFamily="34" charset="0"/>
                    </a:rPr>
                    <a:t>Connection </a:t>
                  </a:r>
                </a:p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4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Arial" panose="020B0604020202020204" pitchFamily="34" charset="0"/>
                    </a:rPr>
                    <a:t>Block</a:t>
                  </a:r>
                </a:p>
              </p:txBody>
            </p:sp>
          </p:grpSp>
          <p:grpSp>
            <p:nvGrpSpPr>
              <p:cNvPr id="11302" name="Group 110"/>
              <p:cNvGrpSpPr>
                <a:grpSpLocks/>
              </p:cNvGrpSpPr>
              <p:nvPr/>
            </p:nvGrpSpPr>
            <p:grpSpPr bwMode="auto">
              <a:xfrm>
                <a:off x="1392" y="1920"/>
                <a:ext cx="816" cy="480"/>
                <a:chOff x="1392" y="1920"/>
                <a:chExt cx="816" cy="480"/>
              </a:xfrm>
            </p:grpSpPr>
            <p:sp>
              <p:nvSpPr>
                <p:cNvPr id="11315" name="Rectangle 111"/>
                <p:cNvSpPr>
                  <a:spLocks noChangeArrowheads="1"/>
                </p:cNvSpPr>
                <p:nvPr/>
              </p:nvSpPr>
              <p:spPr bwMode="auto">
                <a:xfrm>
                  <a:off x="1536" y="1920"/>
                  <a:ext cx="528" cy="480"/>
                </a:xfrm>
                <a:prstGeom prst="rect">
                  <a:avLst/>
                </a:prstGeom>
                <a:solidFill>
                  <a:srgbClr val="00FFFF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 rtl="0">
                    <a:spcBef>
                      <a:spcPct val="0"/>
                    </a:spcBef>
                    <a:buFontTx/>
                    <a:buNone/>
                  </a:pPr>
                  <a:endParaRPr lang="en-US" altLang="en-US" sz="21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16" name="Text Box 112"/>
                <p:cNvSpPr txBox="1">
                  <a:spLocks noChangeArrowheads="1"/>
                </p:cNvSpPr>
                <p:nvPr/>
              </p:nvSpPr>
              <p:spPr bwMode="auto">
                <a:xfrm>
                  <a:off x="1392" y="1920"/>
                  <a:ext cx="816" cy="3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4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Arial" panose="020B0604020202020204" pitchFamily="34" charset="0"/>
                    </a:rPr>
                    <a:t>Switch </a:t>
                  </a:r>
                </a:p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4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Arial" panose="020B0604020202020204" pitchFamily="34" charset="0"/>
                    </a:rPr>
                    <a:t>Block</a:t>
                  </a:r>
                </a:p>
              </p:txBody>
            </p:sp>
          </p:grpSp>
          <p:sp>
            <p:nvSpPr>
              <p:cNvPr id="11303" name="Line 113"/>
              <p:cNvSpPr>
                <a:spLocks noChangeShapeType="1"/>
              </p:cNvSpPr>
              <p:nvPr/>
            </p:nvSpPr>
            <p:spPr bwMode="auto">
              <a:xfrm>
                <a:off x="480" y="168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04" name="Line 114"/>
              <p:cNvSpPr>
                <a:spLocks noChangeShapeType="1"/>
              </p:cNvSpPr>
              <p:nvPr/>
            </p:nvSpPr>
            <p:spPr bwMode="auto">
              <a:xfrm>
                <a:off x="528" y="168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05" name="Line 115"/>
              <p:cNvSpPr>
                <a:spLocks noChangeShapeType="1"/>
              </p:cNvSpPr>
              <p:nvPr/>
            </p:nvSpPr>
            <p:spPr bwMode="auto">
              <a:xfrm>
                <a:off x="864" y="168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06" name="Line 116"/>
              <p:cNvSpPr>
                <a:spLocks noChangeShapeType="1"/>
              </p:cNvSpPr>
              <p:nvPr/>
            </p:nvSpPr>
            <p:spPr bwMode="auto">
              <a:xfrm>
                <a:off x="960" y="196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07" name="Line 117"/>
              <p:cNvSpPr>
                <a:spLocks noChangeShapeType="1"/>
              </p:cNvSpPr>
              <p:nvPr/>
            </p:nvSpPr>
            <p:spPr bwMode="auto">
              <a:xfrm>
                <a:off x="960" y="2016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08" name="Line 118"/>
              <p:cNvSpPr>
                <a:spLocks noChangeShapeType="1"/>
              </p:cNvSpPr>
              <p:nvPr/>
            </p:nvSpPr>
            <p:spPr bwMode="auto">
              <a:xfrm>
                <a:off x="960" y="230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09" name="Line 119"/>
              <p:cNvSpPr>
                <a:spLocks noChangeShapeType="1"/>
              </p:cNvSpPr>
              <p:nvPr/>
            </p:nvSpPr>
            <p:spPr bwMode="auto">
              <a:xfrm flipV="1">
                <a:off x="1584" y="864"/>
                <a:ext cx="0" cy="105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10" name="Line 120"/>
              <p:cNvSpPr>
                <a:spLocks noChangeShapeType="1"/>
              </p:cNvSpPr>
              <p:nvPr/>
            </p:nvSpPr>
            <p:spPr bwMode="auto">
              <a:xfrm flipV="1">
                <a:off x="1632" y="864"/>
                <a:ext cx="0" cy="105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11" name="Line 121"/>
              <p:cNvSpPr>
                <a:spLocks noChangeShapeType="1"/>
              </p:cNvSpPr>
              <p:nvPr/>
            </p:nvSpPr>
            <p:spPr bwMode="auto">
              <a:xfrm flipV="1">
                <a:off x="2016" y="864"/>
                <a:ext cx="0" cy="105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12" name="Line 122"/>
              <p:cNvSpPr>
                <a:spLocks noChangeShapeType="1"/>
              </p:cNvSpPr>
              <p:nvPr/>
            </p:nvSpPr>
            <p:spPr bwMode="auto">
              <a:xfrm>
                <a:off x="480" y="240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13" name="Line 123"/>
              <p:cNvSpPr>
                <a:spLocks noChangeShapeType="1"/>
              </p:cNvSpPr>
              <p:nvPr/>
            </p:nvSpPr>
            <p:spPr bwMode="auto">
              <a:xfrm>
                <a:off x="528" y="240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314" name="Line 124"/>
              <p:cNvSpPr>
                <a:spLocks noChangeShapeType="1"/>
              </p:cNvSpPr>
              <p:nvPr/>
            </p:nvSpPr>
            <p:spPr bwMode="auto">
              <a:xfrm>
                <a:off x="864" y="240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  <p:grpSp>
          <p:nvGrpSpPr>
            <p:cNvPr id="11278" name="Group 125"/>
            <p:cNvGrpSpPr>
              <a:grpSpLocks/>
            </p:cNvGrpSpPr>
            <p:nvPr/>
          </p:nvGrpSpPr>
          <p:grpSpPr bwMode="auto">
            <a:xfrm>
              <a:off x="288" y="2400"/>
              <a:ext cx="1920" cy="1920"/>
              <a:chOff x="288" y="2400"/>
              <a:chExt cx="1920" cy="1920"/>
            </a:xfrm>
          </p:grpSpPr>
          <p:grpSp>
            <p:nvGrpSpPr>
              <p:cNvPr id="11279" name="Group 126"/>
              <p:cNvGrpSpPr>
                <a:grpSpLocks/>
              </p:cNvGrpSpPr>
              <p:nvPr/>
            </p:nvGrpSpPr>
            <p:grpSpPr bwMode="auto">
              <a:xfrm>
                <a:off x="336" y="2640"/>
                <a:ext cx="768" cy="720"/>
                <a:chOff x="288" y="1200"/>
                <a:chExt cx="768" cy="720"/>
              </a:xfrm>
            </p:grpSpPr>
            <p:sp>
              <p:nvSpPr>
                <p:cNvPr id="11298" name="Rectangle 127"/>
                <p:cNvSpPr>
                  <a:spLocks noChangeArrowheads="1"/>
                </p:cNvSpPr>
                <p:nvPr/>
              </p:nvSpPr>
              <p:spPr bwMode="auto">
                <a:xfrm>
                  <a:off x="288" y="1200"/>
                  <a:ext cx="768" cy="720"/>
                </a:xfrm>
                <a:prstGeom prst="rect">
                  <a:avLst/>
                </a:prstGeom>
                <a:solidFill>
                  <a:schemeClr val="accent1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 rtl="0">
                    <a:spcBef>
                      <a:spcPct val="0"/>
                    </a:spcBef>
                    <a:buFontTx/>
                    <a:buNone/>
                  </a:pPr>
                  <a:endParaRPr lang="en-US" altLang="en-US" sz="21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99" name="Text Box 128"/>
                <p:cNvSpPr txBox="1">
                  <a:spLocks noChangeArrowheads="1"/>
                </p:cNvSpPr>
                <p:nvPr/>
              </p:nvSpPr>
              <p:spPr bwMode="auto">
                <a:xfrm>
                  <a:off x="432" y="1392"/>
                  <a:ext cx="480" cy="26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 rtl="0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21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Arial" panose="020B0604020202020204" pitchFamily="34" charset="0"/>
                    </a:rPr>
                    <a:t>LC</a:t>
                  </a:r>
                </a:p>
              </p:txBody>
            </p:sp>
          </p:grpSp>
          <p:grpSp>
            <p:nvGrpSpPr>
              <p:cNvPr id="11280" name="Group 129"/>
              <p:cNvGrpSpPr>
                <a:grpSpLocks/>
              </p:cNvGrpSpPr>
              <p:nvPr/>
            </p:nvGrpSpPr>
            <p:grpSpPr bwMode="auto">
              <a:xfrm>
                <a:off x="288" y="3600"/>
                <a:ext cx="816" cy="480"/>
                <a:chOff x="288" y="1920"/>
                <a:chExt cx="816" cy="480"/>
              </a:xfrm>
            </p:grpSpPr>
            <p:sp>
              <p:nvSpPr>
                <p:cNvPr id="11296" name="Rectangle 130"/>
                <p:cNvSpPr>
                  <a:spLocks noChangeArrowheads="1"/>
                </p:cNvSpPr>
                <p:nvPr/>
              </p:nvSpPr>
              <p:spPr bwMode="auto">
                <a:xfrm>
                  <a:off x="432" y="1920"/>
                  <a:ext cx="528" cy="480"/>
                </a:xfrm>
                <a:prstGeom prst="rect">
                  <a:avLst/>
                </a:prstGeom>
                <a:solidFill>
                  <a:srgbClr val="FFFF00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 rtl="0">
                    <a:spcBef>
                      <a:spcPct val="0"/>
                    </a:spcBef>
                    <a:buFontTx/>
                    <a:buNone/>
                  </a:pPr>
                  <a:endParaRPr lang="en-US" altLang="en-US" sz="21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97" name="Text Box 131"/>
                <p:cNvSpPr txBox="1">
                  <a:spLocks noChangeArrowheads="1"/>
                </p:cNvSpPr>
                <p:nvPr/>
              </p:nvSpPr>
              <p:spPr bwMode="auto">
                <a:xfrm>
                  <a:off x="288" y="1920"/>
                  <a:ext cx="816" cy="3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4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Arial" panose="020B0604020202020204" pitchFamily="34" charset="0"/>
                    </a:rPr>
                    <a:t>Connection </a:t>
                  </a:r>
                </a:p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4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Arial" panose="020B0604020202020204" pitchFamily="34" charset="0"/>
                    </a:rPr>
                    <a:t>Block</a:t>
                  </a:r>
                </a:p>
              </p:txBody>
            </p:sp>
          </p:grpSp>
          <p:grpSp>
            <p:nvGrpSpPr>
              <p:cNvPr id="11281" name="Group 132"/>
              <p:cNvGrpSpPr>
                <a:grpSpLocks/>
              </p:cNvGrpSpPr>
              <p:nvPr/>
            </p:nvGrpSpPr>
            <p:grpSpPr bwMode="auto">
              <a:xfrm>
                <a:off x="1392" y="3600"/>
                <a:ext cx="816" cy="480"/>
                <a:chOff x="1392" y="3600"/>
                <a:chExt cx="816" cy="480"/>
              </a:xfrm>
            </p:grpSpPr>
            <p:sp>
              <p:nvSpPr>
                <p:cNvPr id="11294" name="Rectangle 133"/>
                <p:cNvSpPr>
                  <a:spLocks noChangeArrowheads="1"/>
                </p:cNvSpPr>
                <p:nvPr/>
              </p:nvSpPr>
              <p:spPr bwMode="auto">
                <a:xfrm>
                  <a:off x="1536" y="3600"/>
                  <a:ext cx="528" cy="480"/>
                </a:xfrm>
                <a:prstGeom prst="rect">
                  <a:avLst/>
                </a:prstGeom>
                <a:solidFill>
                  <a:srgbClr val="00FFFF"/>
                </a:solidFill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 rtl="0">
                    <a:spcBef>
                      <a:spcPct val="0"/>
                    </a:spcBef>
                    <a:buFontTx/>
                    <a:buNone/>
                  </a:pPr>
                  <a:endParaRPr lang="en-US" altLang="en-US" sz="2100" b="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295" name="Text Box 134"/>
                <p:cNvSpPr txBox="1">
                  <a:spLocks noChangeArrowheads="1"/>
                </p:cNvSpPr>
                <p:nvPr/>
              </p:nvSpPr>
              <p:spPr bwMode="auto">
                <a:xfrm>
                  <a:off x="1392" y="3600"/>
                  <a:ext cx="816" cy="39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r" rtl="1">
                    <a:spcBef>
                      <a:spcPct val="20000"/>
                    </a:spcBef>
                    <a:buChar char="•"/>
                    <a:defRPr sz="2400" b="1">
                      <a:solidFill>
                        <a:srgbClr val="FF5050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1pPr>
                  <a:lvl2pPr marL="742950" indent="-285750" algn="r" rtl="1">
                    <a:spcBef>
                      <a:spcPct val="20000"/>
                    </a:spcBef>
                    <a:buFont typeface="Wingdings" panose="05000000000000000000" pitchFamily="2" charset="2"/>
                    <a:buChar char="q"/>
                    <a:defRPr sz="2200">
                      <a:solidFill>
                        <a:srgbClr val="0000FF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2pPr>
                  <a:lvl3pPr marL="11430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3pPr>
                  <a:lvl4pPr marL="16002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4pPr>
                  <a:lvl5pPr marL="2057400" indent="-228600" algn="r" rtl="1">
                    <a:spcBef>
                      <a:spcPct val="20000"/>
                    </a:spcBef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5pPr>
                  <a:lvl6pPr marL="25146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6pPr>
                  <a:lvl7pPr marL="29718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7pPr>
                  <a:lvl8pPr marL="34290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8pPr>
                  <a:lvl9pPr marL="3886200" indent="-228600" algn="r" rtl="1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−"/>
                    <a:defRPr sz="1200">
                      <a:solidFill>
                        <a:schemeClr val="tx1"/>
                      </a:solidFill>
                      <a:latin typeface="Arial" panose="020B0604020202020204" pitchFamily="34" charset="0"/>
                      <a:cs typeface="B Mitra" panose="00000400000000000000" pitchFamily="2" charset="-78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4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Arial" panose="020B0604020202020204" pitchFamily="34" charset="0"/>
                    </a:rPr>
                    <a:t>Switch </a:t>
                  </a:r>
                </a:p>
                <a:p>
                  <a:pPr algn="ctr">
                    <a:spcBef>
                      <a:spcPct val="50000"/>
                    </a:spcBef>
                    <a:buFontTx/>
                    <a:buNone/>
                  </a:pPr>
                  <a:r>
                    <a:rPr lang="en-US" altLang="en-US" sz="1400" b="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Arial" panose="020B0604020202020204" pitchFamily="34" charset="0"/>
                    </a:rPr>
                    <a:t>Block</a:t>
                  </a:r>
                </a:p>
              </p:txBody>
            </p:sp>
          </p:grpSp>
          <p:sp>
            <p:nvSpPr>
              <p:cNvPr id="11282" name="Line 135"/>
              <p:cNvSpPr>
                <a:spLocks noChangeShapeType="1"/>
              </p:cNvSpPr>
              <p:nvPr/>
            </p:nvSpPr>
            <p:spPr bwMode="auto">
              <a:xfrm>
                <a:off x="480" y="336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283" name="Line 136"/>
              <p:cNvSpPr>
                <a:spLocks noChangeShapeType="1"/>
              </p:cNvSpPr>
              <p:nvPr/>
            </p:nvSpPr>
            <p:spPr bwMode="auto">
              <a:xfrm>
                <a:off x="528" y="336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284" name="Line 137"/>
              <p:cNvSpPr>
                <a:spLocks noChangeShapeType="1"/>
              </p:cNvSpPr>
              <p:nvPr/>
            </p:nvSpPr>
            <p:spPr bwMode="auto">
              <a:xfrm>
                <a:off x="864" y="336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285" name="Line 138"/>
              <p:cNvSpPr>
                <a:spLocks noChangeShapeType="1"/>
              </p:cNvSpPr>
              <p:nvPr/>
            </p:nvSpPr>
            <p:spPr bwMode="auto">
              <a:xfrm>
                <a:off x="960" y="3648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286" name="Line 139"/>
              <p:cNvSpPr>
                <a:spLocks noChangeShapeType="1"/>
              </p:cNvSpPr>
              <p:nvPr/>
            </p:nvSpPr>
            <p:spPr bwMode="auto">
              <a:xfrm>
                <a:off x="960" y="3696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287" name="Line 140"/>
              <p:cNvSpPr>
                <a:spLocks noChangeShapeType="1"/>
              </p:cNvSpPr>
              <p:nvPr/>
            </p:nvSpPr>
            <p:spPr bwMode="auto">
              <a:xfrm>
                <a:off x="960" y="3984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288" name="Line 141"/>
              <p:cNvSpPr>
                <a:spLocks noChangeShapeType="1"/>
              </p:cNvSpPr>
              <p:nvPr/>
            </p:nvSpPr>
            <p:spPr bwMode="auto">
              <a:xfrm flipV="1">
                <a:off x="1584" y="2400"/>
                <a:ext cx="0" cy="12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289" name="Line 142"/>
              <p:cNvSpPr>
                <a:spLocks noChangeShapeType="1"/>
              </p:cNvSpPr>
              <p:nvPr/>
            </p:nvSpPr>
            <p:spPr bwMode="auto">
              <a:xfrm flipV="1">
                <a:off x="1632" y="2400"/>
                <a:ext cx="0" cy="12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290" name="Line 143"/>
              <p:cNvSpPr>
                <a:spLocks noChangeShapeType="1"/>
              </p:cNvSpPr>
              <p:nvPr/>
            </p:nvSpPr>
            <p:spPr bwMode="auto">
              <a:xfrm flipV="1">
                <a:off x="2016" y="2400"/>
                <a:ext cx="0" cy="12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291" name="Line 144"/>
              <p:cNvSpPr>
                <a:spLocks noChangeShapeType="1"/>
              </p:cNvSpPr>
              <p:nvPr/>
            </p:nvSpPr>
            <p:spPr bwMode="auto">
              <a:xfrm>
                <a:off x="480" y="408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292" name="Line 145"/>
              <p:cNvSpPr>
                <a:spLocks noChangeShapeType="1"/>
              </p:cNvSpPr>
              <p:nvPr/>
            </p:nvSpPr>
            <p:spPr bwMode="auto">
              <a:xfrm>
                <a:off x="528" y="408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11293" name="Line 146"/>
              <p:cNvSpPr>
                <a:spLocks noChangeShapeType="1"/>
              </p:cNvSpPr>
              <p:nvPr/>
            </p:nvSpPr>
            <p:spPr bwMode="auto">
              <a:xfrm>
                <a:off x="864" y="4080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</p:grpSp>
      </p:grpSp>
      <p:sp>
        <p:nvSpPr>
          <p:cNvPr id="11270" name="Line 147"/>
          <p:cNvSpPr>
            <a:spLocks noChangeShapeType="1"/>
          </p:cNvSpPr>
          <p:nvPr/>
        </p:nvSpPr>
        <p:spPr bwMode="auto">
          <a:xfrm>
            <a:off x="3276600" y="31242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271" name="Line 148"/>
          <p:cNvSpPr>
            <a:spLocks noChangeShapeType="1"/>
          </p:cNvSpPr>
          <p:nvPr/>
        </p:nvSpPr>
        <p:spPr bwMode="auto">
          <a:xfrm>
            <a:off x="3276600" y="32004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272" name="Line 149"/>
          <p:cNvSpPr>
            <a:spLocks noChangeShapeType="1"/>
          </p:cNvSpPr>
          <p:nvPr/>
        </p:nvSpPr>
        <p:spPr bwMode="auto">
          <a:xfrm>
            <a:off x="3276600" y="36576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273" name="Line 150"/>
          <p:cNvSpPr>
            <a:spLocks noChangeShapeType="1"/>
          </p:cNvSpPr>
          <p:nvPr/>
        </p:nvSpPr>
        <p:spPr bwMode="auto">
          <a:xfrm>
            <a:off x="3276600" y="57912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274" name="Line 151"/>
          <p:cNvSpPr>
            <a:spLocks noChangeShapeType="1"/>
          </p:cNvSpPr>
          <p:nvPr/>
        </p:nvSpPr>
        <p:spPr bwMode="auto">
          <a:xfrm>
            <a:off x="3276600" y="58674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275" name="Line 152"/>
          <p:cNvSpPr>
            <a:spLocks noChangeShapeType="1"/>
          </p:cNvSpPr>
          <p:nvPr/>
        </p:nvSpPr>
        <p:spPr bwMode="auto">
          <a:xfrm>
            <a:off x="3276600" y="6324600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معماری اتصالات</a:t>
            </a:r>
            <a:endParaRPr lang="en-US" altLang="en-US" dirty="0" smtClean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685800" y="1268413"/>
            <a:ext cx="7772400" cy="4648200"/>
          </a:xfrm>
        </p:spPr>
        <p:txBody>
          <a:bodyPr/>
          <a:lstStyle/>
          <a:p>
            <a:r>
              <a:rPr lang="en-US" altLang="en-US" dirty="0" smtClean="0"/>
              <a:t>CB</a:t>
            </a:r>
            <a:r>
              <a:rPr lang="fa-IR" altLang="en-US" smtClean="0"/>
              <a:t>:</a:t>
            </a:r>
          </a:p>
          <a:p>
            <a:pPr lvl="1"/>
            <a:r>
              <a:rPr lang="fa-IR" altLang="en-US" smtClean="0"/>
              <a:t>اتصال </a:t>
            </a:r>
            <a:r>
              <a:rPr lang="en-US" altLang="en-US" dirty="0" smtClean="0"/>
              <a:t>LB</a:t>
            </a:r>
            <a:r>
              <a:rPr lang="fa-IR" altLang="en-US" smtClean="0"/>
              <a:t> به قطعه سیم</a:t>
            </a:r>
          </a:p>
          <a:p>
            <a:r>
              <a:rPr lang="en-US" altLang="en-US" dirty="0" smtClean="0"/>
              <a:t>SB</a:t>
            </a:r>
            <a:r>
              <a:rPr lang="fa-IR" altLang="en-US" smtClean="0"/>
              <a:t>:</a:t>
            </a:r>
          </a:p>
          <a:p>
            <a:pPr lvl="1"/>
            <a:r>
              <a:rPr lang="fa-IR" altLang="en-US" smtClean="0"/>
              <a:t>اتصال قطعه سیم به قطعه سیم</a:t>
            </a:r>
          </a:p>
          <a:p>
            <a:pPr lvl="1"/>
            <a:endParaRPr lang="fa-IR" altLang="en-US" smtClean="0"/>
          </a:p>
          <a:p>
            <a:pPr lvl="1"/>
            <a:r>
              <a:rPr lang="fa-IR" altLang="en-US" smtClean="0"/>
              <a:t>ساخت با </a:t>
            </a:r>
            <a:endParaRPr lang="en-US" altLang="en-US" dirty="0" smtClean="0"/>
          </a:p>
          <a:p>
            <a:pPr lvl="2"/>
            <a:r>
              <a:rPr lang="fa-IR" altLang="en-US" smtClean="0"/>
              <a:t>ترانزیستور عبور</a:t>
            </a:r>
            <a:endParaRPr lang="en-US" altLang="en-US" dirty="0" smtClean="0"/>
          </a:p>
          <a:p>
            <a:pPr lvl="2"/>
            <a:r>
              <a:rPr lang="fa-IR" altLang="en-US" smtClean="0"/>
              <a:t>بافر سه حالته</a:t>
            </a:r>
          </a:p>
          <a:p>
            <a:pPr lvl="2"/>
            <a:r>
              <a:rPr lang="fa-IR" altLang="en-US" smtClean="0"/>
              <a:t>مالتی‌پلکسر</a:t>
            </a:r>
            <a:endParaRPr lang="en-US" altLang="en-US" dirty="0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D9A65139-92EE-4DCC-A871-6C079A3BCE12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300" b="0" dirty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Connection Block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928688" y="1219200"/>
            <a:ext cx="7529512" cy="1281113"/>
          </a:xfrm>
        </p:spPr>
        <p:txBody>
          <a:bodyPr/>
          <a:lstStyle/>
          <a:p>
            <a:pPr lvl="1"/>
            <a:r>
              <a:rPr lang="fa-IR" altLang="en-US" smtClean="0"/>
              <a:t>فقط بخشی از نقاط قابل برنامه‌ریزی</a:t>
            </a:r>
            <a:endParaRPr lang="en-US" altLang="en-US" dirty="0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462E41DF-9673-4715-8A18-0DF943624415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300" b="0" dirty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15365" name="Object 2"/>
          <p:cNvGraphicFramePr>
            <a:graphicFrameLocks noChangeAspect="1"/>
          </p:cNvGraphicFramePr>
          <p:nvPr/>
        </p:nvGraphicFramePr>
        <p:xfrm>
          <a:off x="1500188" y="1809750"/>
          <a:ext cx="4643437" cy="454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4" name="Visio" r:id="rId4" imgW="21995130" imgH="21517610" progId="Visio.Drawing.11">
                  <p:embed/>
                </p:oleObj>
              </mc:Choice>
              <mc:Fallback>
                <p:oleObj name="Visio" r:id="rId4" imgW="21995130" imgH="2151761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1809750"/>
                        <a:ext cx="4643437" cy="454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Switch Block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1214438" y="1219200"/>
            <a:ext cx="7243762" cy="1495425"/>
          </a:xfrm>
        </p:spPr>
        <p:txBody>
          <a:bodyPr/>
          <a:lstStyle/>
          <a:p>
            <a:endParaRPr lang="en-US" altLang="en-US" dirty="0" smtClean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7CCF8005-F087-44AC-81A4-96196848FE9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300" b="0" dirty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17413" name="Object 2"/>
          <p:cNvGraphicFramePr>
            <a:graphicFrameLocks noChangeAspect="1"/>
          </p:cNvGraphicFramePr>
          <p:nvPr/>
        </p:nvGraphicFramePr>
        <p:xfrm>
          <a:off x="2143125" y="2000250"/>
          <a:ext cx="4064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2" name="Visio" r:id="rId4" imgW="10557510" imgH="10547350" progId="Visio.Drawing.11">
                  <p:embed/>
                </p:oleObj>
              </mc:Choice>
              <mc:Fallback>
                <p:oleObj name="Visio" r:id="rId4" imgW="10557510" imgH="1054735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3125" y="2000250"/>
                        <a:ext cx="4064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smtClean="0"/>
              <a:t>معماری اتصالات</a:t>
            </a:r>
            <a:endParaRPr lang="en-US" altLang="en-US" dirty="0" smtClean="0"/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F715B5B9-26AD-4D89-97FC-33BC73694FEB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300" b="0" dirty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19460" name="Object 3"/>
          <p:cNvGraphicFramePr>
            <a:graphicFrameLocks noChangeAspect="1"/>
          </p:cNvGraphicFramePr>
          <p:nvPr/>
        </p:nvGraphicFramePr>
        <p:xfrm>
          <a:off x="1339850" y="1111250"/>
          <a:ext cx="6161088" cy="503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9" name="Visio" r:id="rId4" imgW="54895448" imgH="44795924" progId="Visio.Drawing.11">
                  <p:embed/>
                </p:oleObj>
              </mc:Choice>
              <mc:Fallback>
                <p:oleObj name="Visio" r:id="rId4" imgW="54895448" imgH="44795924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9850" y="1111250"/>
                        <a:ext cx="6161088" cy="503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بلوک‌های ارتباط سریال سریع</a:t>
            </a:r>
            <a:endParaRPr lang="en-US" altLang="en-US" dirty="0" smtClean="0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altLang="en-US" smtClean="0"/>
              <a:t>بلوک فرستنده/گیرندة گیگابیتی:</a:t>
            </a:r>
          </a:p>
          <a:p>
            <a:pPr lvl="1"/>
            <a:r>
              <a:rPr lang="fa-IR" altLang="en-US" smtClean="0"/>
              <a:t>نیاز برخی از کاربردها به ارسال و دریافت داده‌ها با سرعت‌های بسیار بالا</a:t>
            </a:r>
          </a:p>
          <a:p>
            <a:pPr lvl="2"/>
            <a:r>
              <a:rPr lang="fa-IR" altLang="en-US" smtClean="0"/>
              <a:t>چند میلیارد بیت در ثانیه یا </a:t>
            </a:r>
            <a:r>
              <a:rPr lang="en-US" altLang="en-US" dirty="0" err="1" smtClean="0"/>
              <a:t>Gbps</a:t>
            </a:r>
            <a:endParaRPr lang="fa-IR" altLang="en-US" smtClean="0"/>
          </a:p>
          <a:p>
            <a:pPr lvl="1"/>
            <a:r>
              <a:rPr lang="fa-IR" altLang="en-US" smtClean="0"/>
              <a:t>ارسال و دریافت داده‌ها</a:t>
            </a:r>
          </a:p>
          <a:p>
            <a:pPr lvl="2"/>
            <a:r>
              <a:rPr lang="fa-IR" altLang="en-US" smtClean="0"/>
              <a:t>به صورت سریال (یک بیت در هر کلاک)</a:t>
            </a:r>
          </a:p>
          <a:p>
            <a:pPr lvl="2"/>
            <a:r>
              <a:rPr lang="fa-IR" altLang="en-US" smtClean="0"/>
              <a:t>روی دو خط تفاضلی</a:t>
            </a:r>
            <a:endParaRPr lang="en-US" altLang="en-US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C3460DC4-F7D4-4FDF-8ADA-3EA7DDB22E28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1370013" y="476250"/>
            <a:ext cx="7773987" cy="444500"/>
          </a:xfrm>
        </p:spPr>
        <p:txBody>
          <a:bodyPr/>
          <a:lstStyle/>
          <a:p>
            <a:r>
              <a:rPr lang="fa-IR" altLang="en-US" smtClean="0"/>
              <a:t>بلوک‌های ارتباط سریال سریع</a:t>
            </a:r>
            <a:endParaRPr lang="en-US" altLang="en-US" smtClean="0"/>
          </a:p>
        </p:txBody>
      </p:sp>
      <p:sp>
        <p:nvSpPr>
          <p:cNvPr id="3584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8C8D8589-FA39-475C-825B-E8D23465E03B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35844" name="Object 3"/>
          <p:cNvGraphicFramePr>
            <a:graphicFrameLocks noChangeAspect="1"/>
          </p:cNvGraphicFramePr>
          <p:nvPr/>
        </p:nvGraphicFramePr>
        <p:xfrm>
          <a:off x="92075" y="92075"/>
          <a:ext cx="4911725" cy="6399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3" name="Visio" r:id="rId4" imgW="12820766" imgH="24126664" progId="Visio.Drawing.11">
                  <p:embed/>
                </p:oleObj>
              </mc:Choice>
              <mc:Fallback>
                <p:oleObj name="Visio" r:id="rId4" imgW="12820766" imgH="24126664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" y="92075"/>
                        <a:ext cx="4911725" cy="6399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بلوک‌های ارتباط سریال سریع</a:t>
            </a:r>
            <a:endParaRPr lang="en-US" altLang="en-US" smtClean="0"/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5507038" y="3213100"/>
            <a:ext cx="3457575" cy="1352550"/>
          </a:xfrm>
        </p:spPr>
        <p:txBody>
          <a:bodyPr/>
          <a:lstStyle/>
          <a:p>
            <a:r>
              <a:rPr lang="fa-IR" altLang="en-US" smtClean="0"/>
              <a:t>مزایای ارسال و دریافت تفاضلی:</a:t>
            </a:r>
          </a:p>
          <a:p>
            <a:pPr lvl="1"/>
            <a:r>
              <a:rPr lang="fa-IR" altLang="en-US" smtClean="0"/>
              <a:t>مقاوم در برابر اغتشاش</a:t>
            </a:r>
            <a:endParaRPr lang="en-US" altLang="en-US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973DA956-E68C-4CE1-B427-09DC21546E20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37893" name="Object 1"/>
          <p:cNvGraphicFramePr>
            <a:graphicFrameLocks noChangeAspect="1"/>
          </p:cNvGraphicFramePr>
          <p:nvPr/>
        </p:nvGraphicFramePr>
        <p:xfrm>
          <a:off x="1763713" y="1125538"/>
          <a:ext cx="3979862" cy="5051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24" name="Visio" r:id="rId4" imgW="34804350" imgH="44167345" progId="Visio.Drawing.11">
                  <p:embed/>
                </p:oleObj>
              </mc:Choice>
              <mc:Fallback>
                <p:oleObj name="Visio" r:id="rId4" imgW="34804350" imgH="44167345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125538"/>
                        <a:ext cx="3979862" cy="5051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894" name="TextBox 2"/>
          <p:cNvSpPr txBox="1">
            <a:spLocks noChangeArrowheads="1"/>
          </p:cNvSpPr>
          <p:nvPr/>
        </p:nvSpPr>
        <p:spPr bwMode="auto">
          <a:xfrm>
            <a:off x="971550" y="4581525"/>
            <a:ext cx="792163" cy="414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</a:t>
            </a:r>
            <a:r>
              <a:rPr lang="en-US" altLang="en-US" sz="2100" b="0" baseline="-25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bar</a:t>
            </a: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895" name="TextBox 7"/>
          <p:cNvSpPr txBox="1">
            <a:spLocks noChangeArrowheads="1"/>
          </p:cNvSpPr>
          <p:nvPr/>
        </p:nvSpPr>
        <p:spPr bwMode="auto">
          <a:xfrm>
            <a:off x="1187450" y="5273675"/>
            <a:ext cx="576263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algn="l" rtl="0">
              <a:spcBef>
                <a:spcPct val="0"/>
              </a:spcBef>
              <a:buFontTx/>
              <a:buNone/>
            </a:pPr>
            <a:r>
              <a:rPr lang="en-US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بلوک‌های ارتباط سریال سریع</a:t>
            </a:r>
            <a:endParaRPr lang="en-US" altLang="en-US" smtClean="0"/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755650" y="1125538"/>
            <a:ext cx="8208963" cy="1352550"/>
          </a:xfrm>
        </p:spPr>
        <p:txBody>
          <a:bodyPr/>
          <a:lstStyle/>
          <a:p>
            <a:r>
              <a:rPr lang="fa-IR" altLang="en-US" sz="2800" smtClean="0"/>
              <a:t>مشکلات ارسال و دریافت موازی:</a:t>
            </a:r>
          </a:p>
          <a:p>
            <a:pPr lvl="1"/>
            <a:r>
              <a:rPr lang="fa-IR" altLang="en-US" sz="2000" smtClean="0"/>
              <a:t>ارسال (یا دریافت) همزمان بین چند بلوک: غیر ممکن یا بسیار پرهزینه</a:t>
            </a:r>
            <a:endParaRPr lang="en-US" altLang="en-US" sz="2000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fld id="{DFD4DA45-9BCA-4084-8698-CC7EE80B89D1}" type="slidenum">
              <a:rPr lang="en-US" altLang="en-US" sz="1300" b="0" smtClean="0">
                <a:solidFill>
                  <a:schemeClr val="tx1"/>
                </a:solidFill>
                <a:cs typeface="Arial" panose="020B0604020202020204" pitchFamily="34" charset="0"/>
              </a:rPr>
              <a:pPr rtl="0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300" b="0" smtClean="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grpSp>
        <p:nvGrpSpPr>
          <p:cNvPr id="41989" name="Group 98"/>
          <p:cNvGrpSpPr>
            <a:grpSpLocks/>
          </p:cNvGrpSpPr>
          <p:nvPr/>
        </p:nvGrpSpPr>
        <p:grpSpPr bwMode="auto">
          <a:xfrm>
            <a:off x="250825" y="2060575"/>
            <a:ext cx="4108450" cy="3744913"/>
            <a:chOff x="251520" y="2060848"/>
            <a:chExt cx="4107584" cy="3744416"/>
          </a:xfrm>
        </p:grpSpPr>
        <p:sp>
          <p:nvSpPr>
            <p:cNvPr id="4" name="Rectangle 3"/>
            <p:cNvSpPr/>
            <p:nvPr/>
          </p:nvSpPr>
          <p:spPr bwMode="auto">
            <a:xfrm>
              <a:off x="359532" y="3751789"/>
              <a:ext cx="792088" cy="108012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1019175" eaLnBrk="1" hangingPunct="1">
                <a:defRPr/>
              </a:pPr>
              <a:r>
                <a:rPr lang="en-US" dirty="0">
                  <a:ln w="19050">
                    <a:solidFill>
                      <a:schemeClr val="tx1"/>
                    </a:solidFill>
                  </a:ln>
                </a:rPr>
                <a:t>C2</a:t>
              </a:r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2990952" y="4941168"/>
              <a:ext cx="1368152" cy="86409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1019175" eaLnBrk="1" hangingPunct="1">
                <a:defRPr/>
              </a:pPr>
              <a:r>
                <a:rPr lang="en-US" dirty="0">
                  <a:ln w="19050">
                    <a:solidFill>
                      <a:schemeClr val="tx1"/>
                    </a:solidFill>
                  </a:ln>
                </a:rPr>
                <a:t>C4</a:t>
              </a:r>
            </a:p>
          </p:txBody>
        </p:sp>
        <p:sp>
          <p:nvSpPr>
            <p:cNvPr id="2" name="Rectangle 1"/>
            <p:cNvSpPr/>
            <p:nvPr/>
          </p:nvSpPr>
          <p:spPr bwMode="auto">
            <a:xfrm>
              <a:off x="251520" y="2320284"/>
              <a:ext cx="1008112" cy="108012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1019175" eaLnBrk="1" hangingPunct="1">
                <a:defRPr/>
              </a:pPr>
              <a:r>
                <a:rPr lang="en-US" dirty="0">
                  <a:ln w="19050">
                    <a:solidFill>
                      <a:schemeClr val="tx1"/>
                    </a:solidFill>
                  </a:ln>
                </a:rPr>
                <a:t>C1</a:t>
              </a:r>
            </a:p>
          </p:txBody>
        </p:sp>
        <p:sp>
          <p:nvSpPr>
            <p:cNvPr id="3" name="Rectangle 2"/>
            <p:cNvSpPr/>
            <p:nvPr/>
          </p:nvSpPr>
          <p:spPr bwMode="auto">
            <a:xfrm>
              <a:off x="3314988" y="2636912"/>
              <a:ext cx="1044116" cy="141493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1019175" eaLnBrk="1" hangingPunct="1">
                <a:defRPr/>
              </a:pPr>
              <a:r>
                <a:rPr lang="en-US" dirty="0">
                  <a:ln w="19050">
                    <a:solidFill>
                      <a:schemeClr val="tx1"/>
                    </a:solidFill>
                  </a:ln>
                </a:rPr>
                <a:t>C3</a:t>
              </a:r>
            </a:p>
          </p:txBody>
        </p:sp>
        <p:sp>
          <p:nvSpPr>
            <p:cNvPr id="12" name="Up-Down Arrow 11"/>
            <p:cNvSpPr/>
            <p:nvPr/>
          </p:nvSpPr>
          <p:spPr bwMode="auto">
            <a:xfrm rot="5400000">
              <a:off x="2773518" y="3052937"/>
              <a:ext cx="215871" cy="866592"/>
            </a:xfrm>
            <a:prstGeom prst="up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1019175" eaLnBrk="1" hangingPunct="1">
                <a:defRPr/>
              </a:pPr>
              <a:endParaRPr lang="en-US" dirty="0">
                <a:ln w="1905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" name="Left-Right Arrow 12"/>
            <p:cNvSpPr/>
            <p:nvPr/>
          </p:nvSpPr>
          <p:spPr bwMode="auto">
            <a:xfrm>
              <a:off x="2451331" y="5157650"/>
              <a:ext cx="539636" cy="215871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1019175" eaLnBrk="1" hangingPunct="1">
                <a:defRPr/>
              </a:pPr>
              <a:endParaRPr lang="en-US" dirty="0">
                <a:ln w="1905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" name="Left-Right Arrow 13"/>
            <p:cNvSpPr/>
            <p:nvPr/>
          </p:nvSpPr>
          <p:spPr bwMode="auto">
            <a:xfrm>
              <a:off x="1259371" y="2754494"/>
              <a:ext cx="1047529" cy="169839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1019175" eaLnBrk="1" hangingPunct="1">
                <a:defRPr/>
              </a:pPr>
              <a:endParaRPr lang="en-US" dirty="0">
                <a:ln w="1905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" name="Left-Right Arrow 14"/>
            <p:cNvSpPr/>
            <p:nvPr/>
          </p:nvSpPr>
          <p:spPr bwMode="auto">
            <a:xfrm>
              <a:off x="1151443" y="4192578"/>
              <a:ext cx="1155456" cy="173014"/>
            </a:xfrm>
            <a:prstGeom prst="left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1019175" eaLnBrk="1" hangingPunct="1">
                <a:defRPr/>
              </a:pPr>
              <a:endParaRPr lang="en-US" dirty="0">
                <a:ln w="1905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6" name="Up-Down Arrow 15"/>
            <p:cNvSpPr/>
            <p:nvPr/>
          </p:nvSpPr>
          <p:spPr bwMode="auto">
            <a:xfrm>
              <a:off x="2267220" y="2060848"/>
              <a:ext cx="219029" cy="3672987"/>
            </a:xfrm>
            <a:prstGeom prst="up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1019175" eaLnBrk="1" hangingPunct="1">
                <a:defRPr/>
              </a:pPr>
              <a:endParaRPr lang="en-US" dirty="0">
                <a:ln w="1905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00" name="Group 99"/>
          <p:cNvGrpSpPr>
            <a:grpSpLocks/>
          </p:cNvGrpSpPr>
          <p:nvPr/>
        </p:nvGrpSpPr>
        <p:grpSpPr bwMode="auto">
          <a:xfrm>
            <a:off x="4572000" y="2473325"/>
            <a:ext cx="4106863" cy="3484563"/>
            <a:chOff x="4572000" y="2472684"/>
            <a:chExt cx="4107584" cy="3484980"/>
          </a:xfrm>
        </p:grpSpPr>
        <p:sp>
          <p:nvSpPr>
            <p:cNvPr id="35" name="Rectangle 34"/>
            <p:cNvSpPr/>
            <p:nvPr/>
          </p:nvSpPr>
          <p:spPr bwMode="auto">
            <a:xfrm>
              <a:off x="4680012" y="3904189"/>
              <a:ext cx="792088" cy="108012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1019175" eaLnBrk="1" hangingPunct="1">
                <a:defRPr/>
              </a:pPr>
              <a:r>
                <a:rPr lang="en-US" dirty="0">
                  <a:ln w="19050">
                    <a:solidFill>
                      <a:schemeClr val="tx1"/>
                    </a:solidFill>
                  </a:ln>
                </a:rPr>
                <a:t>C2</a:t>
              </a:r>
            </a:p>
          </p:txBody>
        </p:sp>
        <p:sp>
          <p:nvSpPr>
            <p:cNvPr id="36" name="Rectangle 35"/>
            <p:cNvSpPr/>
            <p:nvPr/>
          </p:nvSpPr>
          <p:spPr bwMode="auto">
            <a:xfrm>
              <a:off x="7311432" y="5093568"/>
              <a:ext cx="1368152" cy="86409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1019175" eaLnBrk="1" hangingPunct="1">
                <a:defRPr/>
              </a:pPr>
              <a:r>
                <a:rPr lang="en-US" dirty="0">
                  <a:ln w="19050">
                    <a:solidFill>
                      <a:schemeClr val="tx1"/>
                    </a:solidFill>
                  </a:ln>
                </a:rPr>
                <a:t>C4</a:t>
              </a:r>
            </a:p>
          </p:txBody>
        </p:sp>
        <p:sp>
          <p:nvSpPr>
            <p:cNvPr id="37" name="Rectangle 36"/>
            <p:cNvSpPr/>
            <p:nvPr/>
          </p:nvSpPr>
          <p:spPr bwMode="auto">
            <a:xfrm>
              <a:off x="4572000" y="2472684"/>
              <a:ext cx="1008112" cy="108012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1019175" eaLnBrk="1" hangingPunct="1">
                <a:defRPr/>
              </a:pPr>
              <a:r>
                <a:rPr lang="en-US" dirty="0">
                  <a:ln w="19050">
                    <a:solidFill>
                      <a:schemeClr val="tx1"/>
                    </a:solidFill>
                  </a:ln>
                </a:rPr>
                <a:t>C1</a:t>
              </a: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7635468" y="2789312"/>
              <a:ext cx="1044116" cy="141493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1019175" eaLnBrk="1" hangingPunct="1">
                <a:defRPr/>
              </a:pPr>
              <a:r>
                <a:rPr lang="en-US" dirty="0">
                  <a:ln w="19050">
                    <a:solidFill>
                      <a:schemeClr val="tx1"/>
                    </a:solidFill>
                  </a:ln>
                </a:rPr>
                <a:t>C3</a:t>
              </a:r>
            </a:p>
          </p:txBody>
        </p:sp>
        <p:cxnSp>
          <p:nvCxnSpPr>
            <p:cNvPr id="41996" name="Straight Arrow Connector 17"/>
            <p:cNvCxnSpPr>
              <a:cxnSpLocks noChangeShapeType="1"/>
            </p:cNvCxnSpPr>
            <p:nvPr/>
          </p:nvCxnSpPr>
          <p:spPr bwMode="auto">
            <a:xfrm>
              <a:off x="5580112" y="2754313"/>
              <a:ext cx="2055356" cy="530671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7" name="Straight Arrow Connector 19"/>
            <p:cNvCxnSpPr>
              <a:cxnSpLocks noChangeShapeType="1"/>
            </p:cNvCxnSpPr>
            <p:nvPr/>
          </p:nvCxnSpPr>
          <p:spPr bwMode="auto">
            <a:xfrm flipH="1" flipV="1">
              <a:off x="5580112" y="2852936"/>
              <a:ext cx="2085104" cy="52535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8" name="Straight Arrow Connector 51"/>
            <p:cNvCxnSpPr>
              <a:cxnSpLocks noChangeShapeType="1"/>
            </p:cNvCxnSpPr>
            <p:nvPr/>
          </p:nvCxnSpPr>
          <p:spPr bwMode="auto">
            <a:xfrm>
              <a:off x="5436096" y="4437112"/>
              <a:ext cx="1875336" cy="129614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999" name="Straight Arrow Connector 54"/>
            <p:cNvCxnSpPr>
              <a:cxnSpLocks noChangeShapeType="1"/>
            </p:cNvCxnSpPr>
            <p:nvPr/>
          </p:nvCxnSpPr>
          <p:spPr bwMode="auto">
            <a:xfrm flipH="1" flipV="1">
              <a:off x="5436096" y="4535736"/>
              <a:ext cx="1875336" cy="1269528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0" name="Straight Arrow Connector 57"/>
            <p:cNvCxnSpPr>
              <a:cxnSpLocks noChangeShapeType="1"/>
            </p:cNvCxnSpPr>
            <p:nvPr/>
          </p:nvCxnSpPr>
          <p:spPr bwMode="auto">
            <a:xfrm>
              <a:off x="5580112" y="3167584"/>
              <a:ext cx="1726628" cy="209762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1" name="Straight Arrow Connector 60"/>
            <p:cNvCxnSpPr>
              <a:cxnSpLocks noChangeShapeType="1"/>
            </p:cNvCxnSpPr>
            <p:nvPr/>
          </p:nvCxnSpPr>
          <p:spPr bwMode="auto">
            <a:xfrm flipH="1" flipV="1">
              <a:off x="5580112" y="3239592"/>
              <a:ext cx="1726628" cy="2124236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2" name="Straight Arrow Connector 68"/>
            <p:cNvCxnSpPr>
              <a:cxnSpLocks noChangeShapeType="1"/>
            </p:cNvCxnSpPr>
            <p:nvPr/>
          </p:nvCxnSpPr>
          <p:spPr bwMode="auto">
            <a:xfrm flipV="1">
              <a:off x="5493230" y="3817907"/>
              <a:ext cx="2171986" cy="38634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3" name="Straight Arrow Connector 69"/>
            <p:cNvCxnSpPr>
              <a:cxnSpLocks noChangeShapeType="1"/>
            </p:cNvCxnSpPr>
            <p:nvPr/>
          </p:nvCxnSpPr>
          <p:spPr bwMode="auto">
            <a:xfrm flipH="1">
              <a:off x="5436096" y="3895517"/>
              <a:ext cx="2229120" cy="396332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4" name="Straight Arrow Connector 78"/>
            <p:cNvCxnSpPr>
              <a:cxnSpLocks noChangeShapeType="1"/>
            </p:cNvCxnSpPr>
            <p:nvPr/>
          </p:nvCxnSpPr>
          <p:spPr bwMode="auto">
            <a:xfrm>
              <a:off x="8314852" y="4204249"/>
              <a:ext cx="0" cy="89138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5" name="Straight Arrow Connector 79"/>
            <p:cNvCxnSpPr>
              <a:cxnSpLocks noChangeShapeType="1"/>
            </p:cNvCxnSpPr>
            <p:nvPr/>
          </p:nvCxnSpPr>
          <p:spPr bwMode="auto">
            <a:xfrm flipV="1">
              <a:off x="8421300" y="4239249"/>
              <a:ext cx="24258" cy="85431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6" name="Straight Arrow Connector 91"/>
            <p:cNvCxnSpPr>
              <a:cxnSpLocks noChangeShapeType="1"/>
            </p:cNvCxnSpPr>
            <p:nvPr/>
          </p:nvCxnSpPr>
          <p:spPr bwMode="auto">
            <a:xfrm>
              <a:off x="4788024" y="3562003"/>
              <a:ext cx="0" cy="374124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007" name="Straight Arrow Connector 92"/>
            <p:cNvCxnSpPr>
              <a:cxnSpLocks noChangeShapeType="1"/>
            </p:cNvCxnSpPr>
            <p:nvPr/>
          </p:nvCxnSpPr>
          <p:spPr bwMode="auto">
            <a:xfrm flipV="1">
              <a:off x="4860032" y="3574020"/>
              <a:ext cx="0" cy="330169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01" name="TextBox 100"/>
          <p:cNvSpPr txBox="1">
            <a:spLocks noChangeArrowheads="1"/>
          </p:cNvSpPr>
          <p:nvPr/>
        </p:nvSpPr>
        <p:spPr bwMode="auto">
          <a:xfrm>
            <a:off x="4859338" y="5965825"/>
            <a:ext cx="237648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r" rtl="1">
              <a:spcBef>
                <a:spcPct val="20000"/>
              </a:spcBef>
              <a:buChar char="•"/>
              <a:defRPr sz="2400" b="1">
                <a:solidFill>
                  <a:srgbClr val="FF5050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q"/>
              <a:defRPr sz="2200">
                <a:solidFill>
                  <a:srgbClr val="0000FF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2pPr>
            <a:lvl3pPr marL="11430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24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3pPr>
            <a:lvl4pPr marL="16002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6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4pPr>
            <a:lvl5pPr marL="2057400" indent="-228600" algn="r" rtl="1">
              <a:spcBef>
                <a:spcPct val="20000"/>
              </a:spcBef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−"/>
              <a:defRPr sz="1200">
                <a:solidFill>
                  <a:schemeClr val="tx1"/>
                </a:solidFill>
                <a:latin typeface="Arial" panose="020B0604020202020204" pitchFamily="34" charset="0"/>
                <a:cs typeface="B Mitra" panose="00000400000000000000" pitchFamily="2" charset="-78"/>
              </a:defRPr>
            </a:lvl9pPr>
          </a:lstStyle>
          <a:p>
            <a:pPr rtl="0">
              <a:spcBef>
                <a:spcPct val="0"/>
              </a:spcBef>
              <a:buFontTx/>
              <a:buNone/>
            </a:pPr>
            <a:r>
              <a:rPr lang="fa-IR" altLang="en-US" sz="2100" b="0">
                <a:solidFill>
                  <a:schemeClr val="tx1"/>
                </a:solidFill>
                <a:latin typeface="Times New Roman" panose="02020603050405020304" pitchFamily="18" charset="0"/>
                <a:cs typeface="B Nazanin" panose="00000400000000000000" pitchFamily="2" charset="-78"/>
              </a:rPr>
              <a:t>هر فلش: دو خط تفاضلی</a:t>
            </a:r>
            <a:endParaRPr lang="en-US" altLang="en-US" sz="2100" b="0">
              <a:solidFill>
                <a:schemeClr val="tx1"/>
              </a:solidFill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ctrTitle" sz="quarter"/>
          </p:nvPr>
        </p:nvSpPr>
        <p:spPr>
          <a:ln w="9525"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a-IR" altLang="en-US" smtClean="0"/>
              <a:t>بلوک‌های خاص‌منظوره</a:t>
            </a:r>
            <a:endParaRPr lang="en-US" altLang="en-US" smtClean="0"/>
          </a:p>
        </p:txBody>
      </p:sp>
      <p:sp>
        <p:nvSpPr>
          <p:cNvPr id="67587" name="Subtitle 2"/>
          <p:cNvSpPr>
            <a:spLocks noGrp="1"/>
          </p:cNvSpPr>
          <p:nvPr>
            <p:ph type="subTitle" sz="quarter" idx="1"/>
          </p:nvPr>
        </p:nvSpPr>
        <p:spPr>
          <a:ln w="9525"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smtClean="0"/>
              <a:t>Special-Purpose Blocks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بلوک‌های خاص‌منظوره</a:t>
            </a:r>
            <a:endParaRPr lang="en-US" altLang="en-US" smtClean="0"/>
          </a:p>
        </p:txBody>
      </p:sp>
      <p:sp>
        <p:nvSpPr>
          <p:cNvPr id="696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a-IR" altLang="en-US" smtClean="0"/>
              <a:t>بلوک‌های با کارایی بالا برای انجام اعمال پرکاربرد</a:t>
            </a:r>
          </a:p>
          <a:p>
            <a:r>
              <a:rPr lang="fa-IR" altLang="en-US" smtClean="0"/>
              <a:t>انواع:</a:t>
            </a:r>
          </a:p>
          <a:p>
            <a:pPr lvl="1"/>
            <a:r>
              <a:rPr lang="fa-IR" altLang="en-US" smtClean="0"/>
              <a:t>بلوک‌های محاسباتی</a:t>
            </a:r>
            <a:endParaRPr lang="en-US" altLang="en-US" sz="2000" smtClean="0"/>
          </a:p>
          <a:p>
            <a:pPr lvl="1"/>
            <a:r>
              <a:rPr lang="fa-IR" altLang="en-US" smtClean="0"/>
              <a:t>بلوک‌های حافظه</a:t>
            </a:r>
            <a:endParaRPr lang="en-US" altLang="en-US" sz="2000" smtClean="0"/>
          </a:p>
          <a:p>
            <a:pPr lvl="1"/>
            <a:r>
              <a:rPr lang="fa-IR" altLang="en-US" smtClean="0"/>
              <a:t>بلوک‌های پردازنده</a:t>
            </a:r>
            <a:endParaRPr lang="en-US" altLang="en-US" sz="2000" smtClean="0"/>
          </a:p>
          <a:p>
            <a:pPr lvl="1"/>
            <a:r>
              <a:rPr lang="fa-IR" altLang="en-US" smtClean="0"/>
              <a:t>بلوک‌های مدیریت کلاک</a:t>
            </a:r>
            <a:endParaRPr lang="en-US" altLang="en-US" sz="2000" smtClean="0"/>
          </a:p>
          <a:p>
            <a:pPr lvl="1"/>
            <a:endParaRPr lang="en-US" alt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F8CF463-88BB-48C2-B5E0-31753E5E8C44}" type="slidenum">
              <a:rPr lang="en-US" altLang="en-US" sz="1300" smtClean="0">
                <a:latin typeface="Arial" panose="020B0604020202020204" pitchFamily="34" charset="0"/>
              </a:rPr>
              <a:pPr/>
              <a:t>14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mtClean="0"/>
              <a:t>بلوک‌های خاص‌منظوره</a:t>
            </a:r>
            <a:endParaRPr lang="en-US" altLang="en-US" smtClean="0"/>
          </a:p>
        </p:txBody>
      </p:sp>
      <p:sp>
        <p:nvSpPr>
          <p:cNvPr id="716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altLang="en-US" smtClean="0"/>
              <a:t>اعمال محاسباتی:</a:t>
            </a:r>
          </a:p>
          <a:p>
            <a:pPr lvl="1"/>
            <a:r>
              <a:rPr lang="fa-IR" altLang="en-US" smtClean="0"/>
              <a:t>جمع</a:t>
            </a:r>
          </a:p>
          <a:p>
            <a:pPr lvl="1"/>
            <a:r>
              <a:rPr lang="fa-IR" altLang="en-US" smtClean="0"/>
              <a:t>تفریق</a:t>
            </a:r>
          </a:p>
          <a:p>
            <a:pPr lvl="1"/>
            <a:r>
              <a:rPr lang="fa-IR" altLang="en-US" smtClean="0"/>
              <a:t>مقایسه</a:t>
            </a:r>
          </a:p>
          <a:p>
            <a:pPr lvl="1"/>
            <a:r>
              <a:rPr lang="fa-IR" altLang="en-US" smtClean="0"/>
              <a:t>ضرب</a:t>
            </a:r>
          </a:p>
          <a:p>
            <a:pPr lvl="1"/>
            <a:r>
              <a:rPr lang="en-US" altLang="en-US" smtClean="0"/>
              <a:t>Multiply-Accumulate</a:t>
            </a:r>
            <a:r>
              <a:rPr lang="fa-IR" altLang="en-US" smtClean="0"/>
              <a:t> (</a:t>
            </a:r>
            <a:r>
              <a:rPr lang="en-US" altLang="en-US" smtClean="0"/>
              <a:t>MAC</a:t>
            </a:r>
            <a:r>
              <a:rPr lang="fa-IR" altLang="en-US" smtClean="0"/>
              <a:t>)</a:t>
            </a:r>
            <a:endParaRPr lang="en-US" altLang="en-US" smtClean="0"/>
          </a:p>
          <a:p>
            <a:pPr lvl="1"/>
            <a:endParaRPr lang="en-US" alt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4329D0E-E7AE-40A6-8F87-0CBBD489F5CF}" type="slidenum">
              <a:rPr lang="en-US" altLang="en-US" sz="1300" smtClean="0">
                <a:latin typeface="Arial" panose="020B0604020202020204" pitchFamily="34" charset="0"/>
              </a:rPr>
              <a:pPr/>
              <a:t>15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fa-IR" altLang="en-US" smtClean="0"/>
              <a:t>بلوک‌های محاسباتی</a:t>
            </a:r>
            <a:endParaRPr lang="en-US" altLang="en-US" sz="2000" smtClean="0"/>
          </a:p>
        </p:txBody>
      </p:sp>
      <p:sp>
        <p:nvSpPr>
          <p:cNvPr id="73731" name="Content Placeholder 2"/>
          <p:cNvSpPr>
            <a:spLocks noGrp="1"/>
          </p:cNvSpPr>
          <p:nvPr>
            <p:ph idx="1"/>
          </p:nvPr>
        </p:nvSpPr>
        <p:spPr>
          <a:xfrm>
            <a:off x="3543300" y="1219200"/>
            <a:ext cx="5243513" cy="4648200"/>
          </a:xfrm>
        </p:spPr>
        <p:txBody>
          <a:bodyPr/>
          <a:lstStyle/>
          <a:p>
            <a:r>
              <a:rPr lang="fa-IR" altLang="en-US" smtClean="0"/>
              <a:t>جمع و تفریق و مقایسه</a:t>
            </a:r>
          </a:p>
          <a:p>
            <a:pPr lvl="1"/>
            <a:r>
              <a:rPr lang="fa-IR" altLang="en-US" smtClean="0"/>
              <a:t>ساختار زنجیرة نقلی (</a:t>
            </a:r>
            <a:r>
              <a:rPr lang="en-US" altLang="en-US" smtClean="0"/>
              <a:t>carry chain</a:t>
            </a:r>
            <a:r>
              <a:rPr lang="fa-IR" altLang="en-US" smtClean="0"/>
              <a:t>)</a:t>
            </a:r>
            <a:endParaRPr lang="en-US" altLang="en-US" smtClean="0"/>
          </a:p>
          <a:p>
            <a:pPr lvl="1"/>
            <a:r>
              <a:rPr lang="fa-IR" altLang="en-US" smtClean="0"/>
              <a:t>در </a:t>
            </a:r>
            <a:r>
              <a:rPr lang="en-US" altLang="en-US" smtClean="0"/>
              <a:t>logic block</a:t>
            </a:r>
            <a:r>
              <a:rPr lang="fa-IR" altLang="en-US" smtClean="0"/>
              <a:t>های مجاور</a:t>
            </a:r>
          </a:p>
          <a:p>
            <a:pPr lvl="1"/>
            <a:r>
              <a:rPr lang="fa-IR" altLang="en-US" smtClean="0"/>
              <a:t>اتصال مستقیم (بدون </a:t>
            </a:r>
            <a:r>
              <a:rPr lang="en-US" altLang="en-US" smtClean="0"/>
              <a:t>MUX</a:t>
            </a:r>
            <a:r>
              <a:rPr lang="fa-IR" altLang="en-US" smtClean="0"/>
              <a:t> یا سوییچ)</a:t>
            </a:r>
            <a:endParaRPr lang="en-US" alt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16C46128-0463-41E7-B75A-998073190CE0}" type="slidenum">
              <a:rPr lang="en-US" altLang="en-US" sz="1300" smtClean="0">
                <a:latin typeface="Arial" panose="020B0604020202020204" pitchFamily="34" charset="0"/>
              </a:rPr>
              <a:pPr/>
              <a:t>16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  <p:graphicFrame>
        <p:nvGraphicFramePr>
          <p:cNvPr id="73733" name="Object 2"/>
          <p:cNvGraphicFramePr>
            <a:graphicFrameLocks noChangeAspect="1"/>
          </p:cNvGraphicFramePr>
          <p:nvPr/>
        </p:nvGraphicFramePr>
        <p:xfrm>
          <a:off x="714375" y="428625"/>
          <a:ext cx="2389188" cy="600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62" name="Visio" r:id="rId4" imgW="10360660" imgH="26005790" progId="Visio.Drawing.11">
                  <p:embed/>
                </p:oleObj>
              </mc:Choice>
              <mc:Fallback>
                <p:oleObj name="Visio" r:id="rId4" imgW="10360660" imgH="26005790" progId="Visio.Drawing.11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75" y="428625"/>
                        <a:ext cx="2389188" cy="600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fa-IR" altLang="en-US" smtClean="0"/>
              <a:t>بلوک‌های محاسباتی</a:t>
            </a:r>
            <a:endParaRPr lang="en-US" altLang="en-US" sz="2000" smtClean="0"/>
          </a:p>
        </p:txBody>
      </p:sp>
      <p:sp>
        <p:nvSpPr>
          <p:cNvPr id="75779" name="Content Placeholder 2"/>
          <p:cNvSpPr>
            <a:spLocks noGrp="1"/>
          </p:cNvSpPr>
          <p:nvPr>
            <p:ph idx="1"/>
          </p:nvPr>
        </p:nvSpPr>
        <p:spPr>
          <a:xfrm>
            <a:off x="3543300" y="1219200"/>
            <a:ext cx="5243513" cy="4648200"/>
          </a:xfrm>
        </p:spPr>
        <p:txBody>
          <a:bodyPr/>
          <a:lstStyle/>
          <a:p>
            <a:r>
              <a:rPr lang="fa-IR" altLang="en-US" smtClean="0"/>
              <a:t>ضرب</a:t>
            </a:r>
          </a:p>
          <a:p>
            <a:pPr lvl="1"/>
            <a:r>
              <a:rPr lang="fa-IR" altLang="en-US" smtClean="0"/>
              <a:t>می‌توان از </a:t>
            </a:r>
            <a:r>
              <a:rPr lang="en-US" altLang="en-US" smtClean="0"/>
              <a:t>LB</a:t>
            </a:r>
            <a:r>
              <a:rPr lang="fa-IR" altLang="en-US" smtClean="0"/>
              <a:t>ها استفاده کرد</a:t>
            </a:r>
            <a:endParaRPr lang="en-US" altLang="en-US" smtClean="0"/>
          </a:p>
          <a:p>
            <a:pPr lvl="2"/>
            <a:r>
              <a:rPr lang="fa-IR" altLang="en-US" smtClean="0"/>
              <a:t>مصرف منابع زیاد</a:t>
            </a:r>
          </a:p>
          <a:p>
            <a:pPr lvl="2"/>
            <a:r>
              <a:rPr lang="fa-IR" altLang="en-US" smtClean="0"/>
              <a:t>سرعت پایین</a:t>
            </a:r>
          </a:p>
          <a:p>
            <a:pPr lvl="2"/>
            <a:r>
              <a:rPr lang="fa-IR" altLang="en-US" smtClean="0"/>
              <a:t>توان مصرفی بالا</a:t>
            </a:r>
          </a:p>
          <a:p>
            <a:pPr lvl="1"/>
            <a:r>
              <a:rPr lang="fa-IR" altLang="en-US" smtClean="0"/>
              <a:t>بلوک‌های </a:t>
            </a:r>
            <a:r>
              <a:rPr lang="en-US" altLang="en-US" smtClean="0"/>
              <a:t>DSP</a:t>
            </a:r>
            <a:r>
              <a:rPr lang="fa-IR" altLang="en-US" smtClean="0"/>
              <a:t> به تعداد زیاد</a:t>
            </a:r>
            <a:endParaRPr lang="en-US" alt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0A73EEE5-5F86-4632-BB59-9394CDE529D1}" type="slidenum">
              <a:rPr lang="en-US" altLang="en-US" sz="1300" smtClean="0">
                <a:latin typeface="Arial" panose="020B0604020202020204" pitchFamily="34" charset="0"/>
              </a:rPr>
              <a:pPr/>
              <a:t>17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fa-IR" altLang="en-US" smtClean="0"/>
              <a:t>بلوک‌های محاسباتی</a:t>
            </a:r>
            <a:endParaRPr lang="en-US" altLang="en-US" sz="2000" smtClean="0"/>
          </a:p>
        </p:txBody>
      </p:sp>
      <p:sp>
        <p:nvSpPr>
          <p:cNvPr id="77827" name="Content Placeholder 2"/>
          <p:cNvSpPr>
            <a:spLocks noGrp="1"/>
          </p:cNvSpPr>
          <p:nvPr>
            <p:ph idx="1"/>
          </p:nvPr>
        </p:nvSpPr>
        <p:spPr>
          <a:xfrm>
            <a:off x="3714750" y="1219200"/>
            <a:ext cx="5072063" cy="995363"/>
          </a:xfrm>
        </p:spPr>
        <p:txBody>
          <a:bodyPr/>
          <a:lstStyle/>
          <a:p>
            <a:r>
              <a:rPr lang="fa-IR" altLang="en-US" smtClean="0"/>
              <a:t>ضرب</a:t>
            </a:r>
          </a:p>
          <a:p>
            <a:pPr lvl="1"/>
            <a:r>
              <a:rPr lang="fa-IR" altLang="en-US" smtClean="0"/>
              <a:t>به عنوان مدار ترکیبی</a:t>
            </a:r>
          </a:p>
          <a:p>
            <a:pPr lvl="1"/>
            <a:r>
              <a:rPr lang="fa-IR" altLang="en-US" smtClean="0"/>
              <a:t>به عنوان مدار ترتیبی همگام با کلاک</a:t>
            </a:r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CFD8F770-459B-49E0-9EEC-2646E5842D4E}" type="slidenum">
              <a:rPr lang="en-US" altLang="en-US" sz="1300" smtClean="0">
                <a:latin typeface="Arial" panose="020B0604020202020204" pitchFamily="34" charset="0"/>
              </a:rPr>
              <a:pPr/>
              <a:t>18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  <p:graphicFrame>
        <p:nvGraphicFramePr>
          <p:cNvPr id="77829" name="Object 4"/>
          <p:cNvGraphicFramePr>
            <a:graphicFrameLocks noChangeAspect="1"/>
          </p:cNvGraphicFramePr>
          <p:nvPr/>
        </p:nvGraphicFramePr>
        <p:xfrm>
          <a:off x="900113" y="2997200"/>
          <a:ext cx="6911975" cy="309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58" name="Visio" r:id="rId4" imgW="23164872" imgH="10363120" progId="Visio.Drawing.11">
                  <p:embed/>
                </p:oleObj>
              </mc:Choice>
              <mc:Fallback>
                <p:oleObj name="Visio" r:id="rId4" imgW="23164872" imgH="10363120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997200"/>
                        <a:ext cx="6911975" cy="309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fa-IR" altLang="en-US" smtClean="0"/>
              <a:t>بلوک‌های محاسباتی</a:t>
            </a:r>
            <a:endParaRPr lang="en-US" altLang="en-US" sz="2000" smtClean="0"/>
          </a:p>
        </p:txBody>
      </p:sp>
      <p:sp>
        <p:nvSpPr>
          <p:cNvPr id="79875" name="Content Placeholder 2"/>
          <p:cNvSpPr>
            <a:spLocks noGrp="1"/>
          </p:cNvSpPr>
          <p:nvPr>
            <p:ph idx="1"/>
          </p:nvPr>
        </p:nvSpPr>
        <p:spPr>
          <a:xfrm>
            <a:off x="3714750" y="836712"/>
            <a:ext cx="5072063" cy="995363"/>
          </a:xfrm>
        </p:spPr>
        <p:txBody>
          <a:bodyPr/>
          <a:lstStyle/>
          <a:p>
            <a:r>
              <a:rPr lang="en-US" altLang="en-US" smtClean="0"/>
              <a:t>MAC</a:t>
            </a:r>
            <a:endParaRPr lang="fa-IR" altLang="en-US" smtClean="0"/>
          </a:p>
          <a:p>
            <a:pPr lvl="1"/>
            <a:r>
              <a:rPr lang="fa-IR" altLang="en-US" smtClean="0"/>
              <a:t>برای محاسباتی نظیر</a:t>
            </a:r>
          </a:p>
          <a:p>
            <a:pPr lvl="1"/>
            <a:endParaRPr lang="fa-IR" altLang="en-US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AF7B0349-C304-4710-BCCB-4A2ED9C6AD54}" type="slidenum">
              <a:rPr lang="en-US" altLang="en-US" sz="1300" smtClean="0">
                <a:latin typeface="Arial" panose="020B0604020202020204" pitchFamily="34" charset="0"/>
              </a:rPr>
              <a:pPr/>
              <a:t>19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79877" name="Rectangle 2"/>
          <p:cNvSpPr>
            <a:spLocks noChangeArrowheads="1"/>
          </p:cNvSpPr>
          <p:nvPr/>
        </p:nvSpPr>
        <p:spPr bwMode="auto">
          <a:xfrm>
            <a:off x="571500" y="1412776"/>
            <a:ext cx="44291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Low"/>
            <a:r>
              <a:rPr lang="en-US" altLang="en-US" sz="2400"/>
              <a:t>for (i= 1 to n)</a:t>
            </a:r>
            <a:endParaRPr lang="en-US" altLang="en-US" sz="1800"/>
          </a:p>
          <a:p>
            <a:pPr algn="justLow"/>
            <a:r>
              <a:rPr lang="en-US" altLang="en-US" sz="2400"/>
              <a:t>	Acc ← (A</a:t>
            </a:r>
            <a:r>
              <a:rPr lang="en-US" altLang="en-US" sz="2400" baseline="-30000"/>
              <a:t>i</a:t>
            </a:r>
            <a:r>
              <a:rPr lang="en-US" altLang="en-US" sz="2400"/>
              <a:t> * B</a:t>
            </a:r>
            <a:r>
              <a:rPr lang="en-US" altLang="en-US" sz="2400" baseline="-30000"/>
              <a:t>i</a:t>
            </a:r>
            <a:r>
              <a:rPr lang="en-US" altLang="en-US" sz="2400"/>
              <a:t> ) + Acc  ;</a:t>
            </a:r>
            <a:endParaRPr lang="en-US" altLang="en-US" sz="360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3714750" y="2132856"/>
            <a:ext cx="5072063" cy="995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828" tIns="50914" rIns="101828" bIns="50914"/>
          <a:lstStyle/>
          <a:p>
            <a:pPr marL="342900" indent="-342900" algn="r" rtl="1">
              <a:spcBef>
                <a:spcPct val="20000"/>
              </a:spcBef>
              <a:buFontTx/>
              <a:buChar char="•"/>
              <a:defRPr/>
            </a:pPr>
            <a:r>
              <a:rPr lang="en-US" sz="3200" b="1" kern="0" dirty="0">
                <a:solidFill>
                  <a:srgbClr val="FF5050"/>
                </a:solidFill>
                <a:latin typeface="+mn-lt"/>
                <a:cs typeface="B Mitra" pitchFamily="2" charset="-78"/>
              </a:rPr>
              <a:t>FIR Filter</a:t>
            </a:r>
            <a:r>
              <a:rPr lang="fa-IR" sz="3200" b="1" kern="0" dirty="0">
                <a:solidFill>
                  <a:srgbClr val="FF5050"/>
                </a:solidFill>
                <a:latin typeface="+mn-lt"/>
                <a:cs typeface="B Mitra" pitchFamily="2" charset="-78"/>
              </a:rPr>
              <a:t>:</a:t>
            </a:r>
          </a:p>
          <a:p>
            <a:pPr marL="800100" lvl="1" indent="-342900" algn="r" rtl="1">
              <a:spcBef>
                <a:spcPct val="20000"/>
              </a:spcBef>
              <a:buFontTx/>
              <a:buChar char="•"/>
              <a:defRPr/>
            </a:pPr>
            <a:endParaRPr lang="fa-IR" sz="2800" kern="0" dirty="0">
              <a:solidFill>
                <a:srgbClr val="0000FF"/>
              </a:solidFill>
              <a:latin typeface="+mn-lt"/>
              <a:cs typeface="B Mitra" pitchFamily="2" charset="-78"/>
            </a:endParaRPr>
          </a:p>
          <a:p>
            <a:pPr marL="990600" lvl="1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endParaRPr lang="fa-IR" sz="2800" kern="0" dirty="0">
              <a:solidFill>
                <a:srgbClr val="0000FF"/>
              </a:solidFill>
              <a:latin typeface="+mn-lt"/>
              <a:cs typeface="B Mitra" pitchFamily="2" charset="-78"/>
            </a:endParaRPr>
          </a:p>
        </p:txBody>
      </p:sp>
      <p:sp>
        <p:nvSpPr>
          <p:cNvPr id="79879" name="Rectangle 3"/>
          <p:cNvSpPr>
            <a:spLocks noChangeArrowheads="1"/>
          </p:cNvSpPr>
          <p:nvPr/>
        </p:nvSpPr>
        <p:spPr bwMode="auto">
          <a:xfrm>
            <a:off x="285750" y="2780928"/>
            <a:ext cx="6143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Low"/>
            <a:r>
              <a:rPr lang="en-US" altLang="en-US" sz="2800"/>
              <a:t>y[n]= b</a:t>
            </a:r>
            <a:r>
              <a:rPr lang="en-US" altLang="en-US" sz="2800" baseline="-30000"/>
              <a:t>0</a:t>
            </a:r>
            <a:r>
              <a:rPr lang="en-US" altLang="en-US" sz="2800"/>
              <a:t>.x[n] + b</a:t>
            </a:r>
            <a:r>
              <a:rPr lang="en-US" altLang="en-US" sz="2800" baseline="-30000"/>
              <a:t>1</a:t>
            </a:r>
            <a:r>
              <a:rPr lang="en-US" altLang="en-US" sz="2800"/>
              <a:t>.x[n-1]+</a:t>
            </a:r>
            <a:r>
              <a:rPr lang="en-US" altLang="en-US" sz="2800">
                <a:latin typeface="Calibri" panose="020F0502020204030204" pitchFamily="34" charset="0"/>
              </a:rPr>
              <a:t>…</a:t>
            </a:r>
            <a:r>
              <a:rPr lang="en-US" altLang="en-US" sz="2800"/>
              <a:t>+b</a:t>
            </a:r>
            <a:r>
              <a:rPr lang="en-US" altLang="en-US" sz="2800" baseline="-30000"/>
              <a:t>m</a:t>
            </a:r>
            <a:r>
              <a:rPr lang="en-US" altLang="en-US" sz="2800"/>
              <a:t>.x[n-m]</a:t>
            </a:r>
            <a:endParaRPr lang="en-US" altLang="en-US" sz="400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 bwMode="auto">
          <a:xfrm>
            <a:off x="3748409" y="3429000"/>
            <a:ext cx="5072063" cy="995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828" tIns="50914" rIns="101828" bIns="50914"/>
          <a:lstStyle/>
          <a:p>
            <a:pPr marL="342900" indent="-342900" algn="r" rtl="1">
              <a:spcBef>
                <a:spcPct val="20000"/>
              </a:spcBef>
              <a:buFontTx/>
              <a:buChar char="•"/>
              <a:defRPr/>
            </a:pPr>
            <a:r>
              <a:rPr lang="en-US" sz="3200" b="1" kern="0" smtClean="0">
                <a:solidFill>
                  <a:srgbClr val="FF5050"/>
                </a:solidFill>
                <a:latin typeface="+mn-lt"/>
                <a:cs typeface="B Mitra" pitchFamily="2" charset="-78"/>
              </a:rPr>
              <a:t>Neural Network</a:t>
            </a:r>
            <a:r>
              <a:rPr lang="fa-IR" sz="3200" b="1" kern="0" smtClean="0">
                <a:solidFill>
                  <a:srgbClr val="FF5050"/>
                </a:solidFill>
                <a:latin typeface="+mn-lt"/>
                <a:cs typeface="B Mitra" pitchFamily="2" charset="-78"/>
              </a:rPr>
              <a:t>:</a:t>
            </a:r>
            <a:endParaRPr lang="fa-IR" sz="3200" b="1" kern="0" dirty="0">
              <a:solidFill>
                <a:srgbClr val="FF5050"/>
              </a:solidFill>
              <a:latin typeface="+mn-lt"/>
              <a:cs typeface="B Mitra" pitchFamily="2" charset="-78"/>
            </a:endParaRPr>
          </a:p>
          <a:p>
            <a:pPr marL="800100" lvl="1" indent="-342900" algn="r" rtl="1">
              <a:spcBef>
                <a:spcPct val="20000"/>
              </a:spcBef>
              <a:buFontTx/>
              <a:buChar char="•"/>
              <a:defRPr/>
            </a:pPr>
            <a:endParaRPr lang="fa-IR" sz="2800" kern="0" dirty="0">
              <a:solidFill>
                <a:srgbClr val="0000FF"/>
              </a:solidFill>
              <a:latin typeface="+mn-lt"/>
              <a:cs typeface="B Mitra" pitchFamily="2" charset="-78"/>
            </a:endParaRPr>
          </a:p>
          <a:p>
            <a:pPr marL="990600" lvl="1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endParaRPr lang="fa-IR" sz="2800" kern="0" dirty="0">
              <a:solidFill>
                <a:srgbClr val="0000FF"/>
              </a:solidFill>
              <a:latin typeface="+mn-lt"/>
              <a:cs typeface="B Mitra" pitchFamily="2" charset="-78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319409" y="5721077"/>
            <a:ext cx="6143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Low"/>
            <a:r>
              <a:rPr lang="en-US" altLang="en-US" sz="2800"/>
              <a:t>y[n]= </a:t>
            </a:r>
            <a:r>
              <a:rPr lang="en-US" altLang="en-US" sz="2800" smtClean="0"/>
              <a:t>w</a:t>
            </a:r>
            <a:r>
              <a:rPr lang="en-US" altLang="en-US" sz="2800" baseline="-30000" smtClean="0"/>
              <a:t>i0</a:t>
            </a:r>
            <a:r>
              <a:rPr lang="en-US" altLang="en-US" sz="2800" smtClean="0"/>
              <a:t>.x</a:t>
            </a:r>
            <a:r>
              <a:rPr lang="en-US" altLang="en-US" sz="2800" baseline="-30000" smtClean="0"/>
              <a:t>0</a:t>
            </a:r>
            <a:r>
              <a:rPr lang="en-US" altLang="en-US" sz="2800" smtClean="0"/>
              <a:t> </a:t>
            </a:r>
            <a:r>
              <a:rPr lang="en-US" altLang="en-US" sz="2800"/>
              <a:t>+ </a:t>
            </a:r>
            <a:r>
              <a:rPr lang="en-US" altLang="en-US" sz="2800" smtClean="0"/>
              <a:t>w</a:t>
            </a:r>
            <a:r>
              <a:rPr lang="en-US" altLang="en-US" sz="2800" baseline="-30000" smtClean="0"/>
              <a:t>i1</a:t>
            </a:r>
            <a:r>
              <a:rPr lang="en-US" altLang="en-US" sz="2800" smtClean="0"/>
              <a:t>.x</a:t>
            </a:r>
            <a:r>
              <a:rPr lang="en-US" altLang="en-US" sz="2800" baseline="-30000" smtClean="0"/>
              <a:t>1</a:t>
            </a:r>
            <a:r>
              <a:rPr lang="en-US" altLang="en-US" sz="2800" smtClean="0"/>
              <a:t> +</a:t>
            </a:r>
            <a:r>
              <a:rPr lang="en-US" altLang="en-US" sz="2800" smtClean="0">
                <a:latin typeface="Calibri" panose="020F0502020204030204" pitchFamily="34" charset="0"/>
              </a:rPr>
              <a:t>…</a:t>
            </a:r>
            <a:r>
              <a:rPr lang="en-US" altLang="en-US" sz="2800"/>
              <a:t>+ </a:t>
            </a:r>
            <a:r>
              <a:rPr lang="en-US" altLang="en-US" sz="2800" smtClean="0"/>
              <a:t>w</a:t>
            </a:r>
            <a:r>
              <a:rPr lang="en-US" altLang="en-US" sz="2800" baseline="-30000" smtClean="0"/>
              <a:t>i,n-1</a:t>
            </a:r>
            <a:r>
              <a:rPr lang="en-US" altLang="en-US" sz="2800" smtClean="0"/>
              <a:t>.x</a:t>
            </a:r>
            <a:r>
              <a:rPr lang="en-US" altLang="en-US" sz="2800" baseline="-30000" smtClean="0"/>
              <a:t>n-1</a:t>
            </a:r>
            <a:r>
              <a:rPr lang="en-US" altLang="en-US" sz="2800" smtClean="0"/>
              <a:t> </a:t>
            </a:r>
            <a:endParaRPr lang="en-US" altLang="en-US" sz="400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501008"/>
            <a:ext cx="3408040" cy="22471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9879" grpId="0"/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fa-IR" altLang="en-US" smtClean="0"/>
              <a:t>بلوک‌های محاسباتی</a:t>
            </a:r>
            <a:endParaRPr lang="en-US" altLang="en-US" sz="2000" smtClean="0"/>
          </a:p>
        </p:txBody>
      </p:sp>
      <p:sp>
        <p:nvSpPr>
          <p:cNvPr id="8192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311CE3C-E633-4467-9FB3-0E1C9766CF3B}" type="slidenum">
              <a:rPr lang="en-US" altLang="en-US" sz="1300" smtClean="0">
                <a:latin typeface="Arial" panose="020B0604020202020204" pitchFamily="34" charset="0"/>
              </a:rPr>
              <a:pPr/>
              <a:t>20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2143125" y="1357313"/>
            <a:ext cx="6643688" cy="995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828" tIns="50914" rIns="101828" bIns="50914"/>
          <a:lstStyle/>
          <a:p>
            <a:pPr marL="342900" indent="-342900" algn="r" rtl="1">
              <a:spcBef>
                <a:spcPct val="20000"/>
              </a:spcBef>
              <a:buFontTx/>
              <a:buChar char="•"/>
              <a:defRPr/>
            </a:pPr>
            <a:r>
              <a:rPr lang="en-US" sz="3200" b="1" kern="0" dirty="0">
                <a:solidFill>
                  <a:srgbClr val="FF5050"/>
                </a:solidFill>
                <a:latin typeface="+mn-lt"/>
                <a:cs typeface="B Mitra" pitchFamily="2" charset="-78"/>
              </a:rPr>
              <a:t>FIR Filter</a:t>
            </a:r>
            <a:r>
              <a:rPr lang="fa-IR" sz="3200" b="1" kern="0" dirty="0">
                <a:solidFill>
                  <a:srgbClr val="FF5050"/>
                </a:solidFill>
                <a:latin typeface="+mn-lt"/>
                <a:cs typeface="B Mitra" pitchFamily="2" charset="-78"/>
              </a:rPr>
              <a:t>:</a:t>
            </a:r>
            <a:endParaRPr lang="en-US" sz="3200" b="1" kern="0" dirty="0">
              <a:solidFill>
                <a:srgbClr val="FF5050"/>
              </a:solidFill>
              <a:latin typeface="+mn-lt"/>
              <a:cs typeface="B Mitra" pitchFamily="2" charset="-78"/>
            </a:endParaRPr>
          </a:p>
          <a:p>
            <a:pPr marL="800100" lvl="1" indent="-342900" algn="r" rtl="1">
              <a:spcBef>
                <a:spcPct val="20000"/>
              </a:spcBef>
              <a:buFontTx/>
              <a:buChar char="•"/>
              <a:defRPr/>
            </a:pPr>
            <a:r>
              <a:rPr lang="fa-IR" sz="2800" dirty="0">
                <a:solidFill>
                  <a:srgbClr val="0000FF"/>
                </a:solidFill>
                <a:latin typeface="+mn-lt"/>
                <a:cs typeface="B Mitra" pitchFamily="2" charset="-78"/>
              </a:rPr>
              <a:t>همزمان با جمع </a:t>
            </a:r>
            <a:r>
              <a:rPr lang="en-US" sz="2800" dirty="0">
                <a:solidFill>
                  <a:srgbClr val="0000FF"/>
                </a:solidFill>
                <a:latin typeface="+mn-lt"/>
                <a:cs typeface="B Mitra" pitchFamily="2" charset="-78"/>
              </a:rPr>
              <a:t>R3 + R4</a:t>
            </a:r>
            <a:r>
              <a:rPr lang="fa-IR" sz="2800" dirty="0">
                <a:solidFill>
                  <a:srgbClr val="0000FF"/>
                </a:solidFill>
                <a:latin typeface="+mn-lt"/>
                <a:cs typeface="B Mitra" pitchFamily="2" charset="-78"/>
              </a:rPr>
              <a:t>، ضرب اعداد بعدی</a:t>
            </a:r>
          </a:p>
          <a:p>
            <a:pPr marL="800100" lvl="1" indent="-342900" algn="r" rtl="1">
              <a:spcBef>
                <a:spcPct val="20000"/>
              </a:spcBef>
              <a:buFontTx/>
              <a:buChar char="•"/>
              <a:defRPr/>
            </a:pPr>
            <a:endParaRPr lang="fa-IR" sz="2800" dirty="0">
              <a:solidFill>
                <a:srgbClr val="0000FF"/>
              </a:solidFill>
              <a:latin typeface="+mn-lt"/>
              <a:cs typeface="B Mitra" pitchFamily="2" charset="-78"/>
            </a:endParaRPr>
          </a:p>
          <a:p>
            <a:pPr marL="990600" lvl="1" indent="-533400" algn="r" rtl="1">
              <a:spcBef>
                <a:spcPct val="20000"/>
              </a:spcBef>
              <a:buFont typeface="Wingdings" pitchFamily="2" charset="2"/>
              <a:buChar char="q"/>
              <a:defRPr/>
            </a:pPr>
            <a:endParaRPr lang="fa-IR" sz="2800" dirty="0">
              <a:solidFill>
                <a:srgbClr val="0000FF"/>
              </a:solidFill>
              <a:latin typeface="+mn-lt"/>
              <a:cs typeface="B Mitra" pitchFamily="2" charset="-78"/>
            </a:endParaRPr>
          </a:p>
        </p:txBody>
      </p:sp>
      <p:sp>
        <p:nvSpPr>
          <p:cNvPr id="81925" name="Rectangle 3"/>
          <p:cNvSpPr>
            <a:spLocks noChangeArrowheads="1"/>
          </p:cNvSpPr>
          <p:nvPr/>
        </p:nvSpPr>
        <p:spPr bwMode="auto">
          <a:xfrm>
            <a:off x="285750" y="1322388"/>
            <a:ext cx="61436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justLow"/>
            <a:r>
              <a:rPr lang="en-US" altLang="en-US" sz="2800"/>
              <a:t>y[n]= b</a:t>
            </a:r>
            <a:r>
              <a:rPr lang="en-US" altLang="en-US" sz="2800" baseline="-30000"/>
              <a:t>0</a:t>
            </a:r>
            <a:r>
              <a:rPr lang="en-US" altLang="en-US" sz="2800"/>
              <a:t>.x[n] + b</a:t>
            </a:r>
            <a:r>
              <a:rPr lang="en-US" altLang="en-US" sz="2800" baseline="-30000"/>
              <a:t>1</a:t>
            </a:r>
            <a:r>
              <a:rPr lang="en-US" altLang="en-US" sz="2800"/>
              <a:t>.x[n-1]+</a:t>
            </a:r>
            <a:r>
              <a:rPr lang="en-US" altLang="en-US" sz="2800">
                <a:latin typeface="Calibri" panose="020F0502020204030204" pitchFamily="34" charset="0"/>
              </a:rPr>
              <a:t>…</a:t>
            </a:r>
            <a:r>
              <a:rPr lang="en-US" altLang="en-US" sz="2800"/>
              <a:t>+b</a:t>
            </a:r>
            <a:r>
              <a:rPr lang="en-US" altLang="en-US" sz="2800" baseline="-30000"/>
              <a:t>m</a:t>
            </a:r>
            <a:r>
              <a:rPr lang="en-US" altLang="en-US" sz="2800"/>
              <a:t>.x[n-m]</a:t>
            </a:r>
            <a:endParaRPr lang="en-US" altLang="en-US" sz="4000"/>
          </a:p>
        </p:txBody>
      </p:sp>
      <p:pic>
        <p:nvPicPr>
          <p:cNvPr id="819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2500313"/>
            <a:ext cx="7524750" cy="3462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57250" y="5546725"/>
            <a:ext cx="457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800100" indent="-3429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lvl="1" algn="r" rtl="1">
              <a:spcBef>
                <a:spcPct val="20000"/>
              </a:spcBef>
              <a:buFontTx/>
              <a:buChar char="•"/>
            </a:pPr>
            <a:r>
              <a:rPr lang="fa-IR" altLang="en-US" sz="2800">
                <a:solidFill>
                  <a:srgbClr val="0000FF"/>
                </a:solidFill>
                <a:cs typeface="B Mitra" panose="00000400000000000000" pitchFamily="2" charset="-78"/>
              </a:rPr>
              <a:t>قابل استفاده برای ضرب معمولی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fa-IR" altLang="en-US" smtClean="0"/>
              <a:t>بلوک‌های حافظه</a:t>
            </a:r>
            <a:endParaRPr lang="en-US" altLang="en-US" sz="200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847725"/>
            <a:ext cx="8215313" cy="5081588"/>
          </a:xfrm>
        </p:spPr>
        <p:txBody>
          <a:bodyPr/>
          <a:lstStyle/>
          <a:p>
            <a:r>
              <a:rPr lang="fa-IR" altLang="en-US" dirty="0" smtClean="0"/>
              <a:t>حافظه</a:t>
            </a:r>
          </a:p>
          <a:p>
            <a:pPr lvl="1"/>
            <a:r>
              <a:rPr lang="fa-IR" altLang="en-US" dirty="0" smtClean="0"/>
              <a:t>در گذشته: حافظة خارجی</a:t>
            </a:r>
          </a:p>
          <a:p>
            <a:pPr lvl="2"/>
            <a:r>
              <a:rPr lang="fa-IR" altLang="en-US" dirty="0" smtClean="0">
                <a:sym typeface="Wingdings" panose="05000000000000000000" pitchFamily="2" charset="2"/>
              </a:rPr>
              <a:t> سطح زیاد بورد</a:t>
            </a:r>
          </a:p>
          <a:p>
            <a:pPr lvl="1"/>
            <a:r>
              <a:rPr lang="en-US" altLang="en-US" dirty="0" smtClean="0">
                <a:sym typeface="Wingdings" panose="05000000000000000000" pitchFamily="2" charset="2"/>
              </a:rPr>
              <a:t>FPGA</a:t>
            </a:r>
            <a:r>
              <a:rPr lang="fa-IR" altLang="en-US" dirty="0" smtClean="0">
                <a:sym typeface="Wingdings" panose="05000000000000000000" pitchFamily="2" charset="2"/>
              </a:rPr>
              <a:t>های امروزی:</a:t>
            </a:r>
          </a:p>
          <a:p>
            <a:pPr lvl="2"/>
            <a:r>
              <a:rPr lang="fa-IR" altLang="en-US" dirty="0" smtClean="0">
                <a:sym typeface="Wingdings" panose="05000000000000000000" pitchFamily="2" charset="2"/>
              </a:rPr>
              <a:t>حافظه داخل تراشه</a:t>
            </a:r>
          </a:p>
          <a:p>
            <a:r>
              <a:rPr lang="fa-IR" altLang="en-US" dirty="0" smtClean="0">
                <a:sym typeface="Wingdings" panose="05000000000000000000" pitchFamily="2" charset="2"/>
              </a:rPr>
              <a:t>دونوع:</a:t>
            </a:r>
          </a:p>
          <a:p>
            <a:pPr lvl="1"/>
            <a:r>
              <a:rPr lang="fa-IR" altLang="en-US" smtClean="0">
                <a:sym typeface="Wingdings" panose="05000000000000000000" pitchFamily="2" charset="2"/>
              </a:rPr>
              <a:t>توزیع‌شده:</a:t>
            </a:r>
          </a:p>
          <a:p>
            <a:pPr lvl="2"/>
            <a:r>
              <a:rPr lang="fa-IR" altLang="en-US" dirty="0" smtClean="0">
                <a:sym typeface="Wingdings" panose="05000000000000000000" pitchFamily="2" charset="2"/>
              </a:rPr>
              <a:t>با </a:t>
            </a:r>
            <a:r>
              <a:rPr lang="en-US" altLang="en-US" dirty="0" smtClean="0">
                <a:sym typeface="Wingdings" panose="05000000000000000000" pitchFamily="2" charset="2"/>
              </a:rPr>
              <a:t>LUT</a:t>
            </a:r>
            <a:r>
              <a:rPr lang="fa-IR" altLang="en-US" dirty="0" smtClean="0">
                <a:sym typeface="Wingdings" panose="05000000000000000000" pitchFamily="2" charset="2"/>
              </a:rPr>
              <a:t>ها: </a:t>
            </a:r>
            <a:r>
              <a:rPr lang="en-US" altLang="en-US" dirty="0" smtClean="0">
                <a:sym typeface="Wingdings" panose="05000000000000000000" pitchFamily="2" charset="2"/>
              </a:rPr>
              <a:t>k</a:t>
            </a:r>
            <a:r>
              <a:rPr lang="fa-IR" altLang="en-US" dirty="0" smtClean="0">
                <a:sym typeface="Wingdings" panose="05000000000000000000" pitchFamily="2" charset="2"/>
              </a:rPr>
              <a:t> ورودی: </a:t>
            </a:r>
            <a:r>
              <a:rPr lang="en-US" altLang="en-US" dirty="0" smtClean="0">
                <a:sym typeface="Wingdings" panose="05000000000000000000" pitchFamily="2" charset="2"/>
              </a:rPr>
              <a:t>2</a:t>
            </a:r>
            <a:r>
              <a:rPr lang="en-US" altLang="en-US" baseline="30000" dirty="0" smtClean="0">
                <a:sym typeface="Wingdings" panose="05000000000000000000" pitchFamily="2" charset="2"/>
              </a:rPr>
              <a:t>k</a:t>
            </a:r>
            <a:r>
              <a:rPr lang="fa-IR" altLang="en-US" dirty="0" smtClean="0">
                <a:sym typeface="Wingdings" panose="05000000000000000000" pitchFamily="2" charset="2"/>
              </a:rPr>
              <a:t> بیت</a:t>
            </a:r>
          </a:p>
          <a:p>
            <a:pPr lvl="2"/>
            <a:r>
              <a:rPr lang="fa-IR" altLang="en-US" dirty="0" smtClean="0">
                <a:sym typeface="Wingdings" panose="05000000000000000000" pitchFamily="2" charset="2"/>
              </a:rPr>
              <a:t>نیاز به حافظة بزرگ‌تر: اتصال دو یا چند </a:t>
            </a:r>
            <a:r>
              <a:rPr lang="en-US" altLang="en-US" dirty="0" smtClean="0">
                <a:sym typeface="Wingdings" panose="05000000000000000000" pitchFamily="2" charset="2"/>
              </a:rPr>
              <a:t>LUT</a:t>
            </a:r>
            <a:endParaRPr lang="fa-IR" altLang="en-US" dirty="0" smtClean="0">
              <a:sym typeface="Wingdings" panose="05000000000000000000" pitchFamily="2" charset="2"/>
            </a:endParaRPr>
          </a:p>
          <a:p>
            <a:pPr lvl="1"/>
            <a:r>
              <a:rPr lang="fa-IR" altLang="en-US" dirty="0" smtClean="0">
                <a:sym typeface="Wingdings" panose="05000000000000000000" pitchFamily="2" charset="2"/>
              </a:rPr>
              <a:t>بلوکی:</a:t>
            </a:r>
          </a:p>
          <a:p>
            <a:pPr lvl="2"/>
            <a:r>
              <a:rPr lang="fa-IR" altLang="en-US" dirty="0" smtClean="0">
                <a:sym typeface="Wingdings" panose="05000000000000000000" pitchFamily="2" charset="2"/>
              </a:rPr>
              <a:t>حافظة بزرگ‌تر و یکپارچه</a:t>
            </a:r>
          </a:p>
          <a:p>
            <a:pPr lvl="2"/>
            <a:endParaRPr lang="en-US" altLang="en-US" dirty="0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6301E16-3B40-45FE-8333-DA7C114DE0A0}" type="slidenum">
              <a:rPr lang="en-US" altLang="en-US" sz="1300" smtClean="0">
                <a:latin typeface="Arial" panose="020B0604020202020204" pitchFamily="34" charset="0"/>
              </a:rPr>
              <a:pPr/>
              <a:t>21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fa-IR" altLang="en-US" smtClean="0"/>
              <a:t>بلوک‌های حافظه</a:t>
            </a:r>
            <a:endParaRPr lang="en-US" altLang="en-US" sz="2000" smtClean="0"/>
          </a:p>
        </p:txBody>
      </p:sp>
      <p:sp>
        <p:nvSpPr>
          <p:cNvPr id="86019" name="Content Placeholder 2"/>
          <p:cNvSpPr>
            <a:spLocks noGrp="1"/>
          </p:cNvSpPr>
          <p:nvPr>
            <p:ph idx="1"/>
          </p:nvPr>
        </p:nvSpPr>
        <p:spPr>
          <a:xfrm>
            <a:off x="4429125" y="847725"/>
            <a:ext cx="4357688" cy="723900"/>
          </a:xfrm>
        </p:spPr>
        <p:txBody>
          <a:bodyPr/>
          <a:lstStyle/>
          <a:p>
            <a:r>
              <a:rPr lang="fa-IR" altLang="en-US" smtClean="0"/>
              <a:t>حافظه:</a:t>
            </a:r>
          </a:p>
          <a:p>
            <a:pPr lvl="1"/>
            <a:r>
              <a:rPr lang="fa-IR" altLang="en-US" smtClean="0"/>
              <a:t>بعضی از تراشه‌ها در چند اندازه</a:t>
            </a:r>
            <a:endParaRPr lang="en-US" altLang="en-US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5D6CBAA1-6978-4CFB-8CFD-DFAA922A14A6}" type="slidenum">
              <a:rPr lang="en-US" altLang="en-US" sz="1300" smtClean="0">
                <a:latin typeface="Arial" panose="020B0604020202020204" pitchFamily="34" charset="0"/>
              </a:rPr>
              <a:pPr/>
              <a:t>22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  <p:graphicFrame>
        <p:nvGraphicFramePr>
          <p:cNvPr id="86021" name="Object 5"/>
          <p:cNvGraphicFramePr>
            <a:graphicFrameLocks noChangeAspect="1"/>
          </p:cNvGraphicFramePr>
          <p:nvPr/>
        </p:nvGraphicFramePr>
        <p:xfrm>
          <a:off x="1763713" y="1989138"/>
          <a:ext cx="5464175" cy="415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50" name="Visio" r:id="rId4" imgW="13563672" imgH="10324939" progId="Visio.Drawing.11">
                  <p:embed/>
                </p:oleObj>
              </mc:Choice>
              <mc:Fallback>
                <p:oleObj name="Visio" r:id="rId4" imgW="13563672" imgH="10324939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989138"/>
                        <a:ext cx="5464175" cy="415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fa-IR" altLang="en-US" smtClean="0"/>
              <a:t>بلوک‌های حافظه</a:t>
            </a:r>
            <a:endParaRPr lang="en-US" altLang="en-US" sz="2000" smtClean="0"/>
          </a:p>
        </p:txBody>
      </p:sp>
      <p:sp>
        <p:nvSpPr>
          <p:cNvPr id="88067" name="Content Placeholder 2"/>
          <p:cNvSpPr>
            <a:spLocks noGrp="1"/>
          </p:cNvSpPr>
          <p:nvPr>
            <p:ph idx="1"/>
          </p:nvPr>
        </p:nvSpPr>
        <p:spPr>
          <a:xfrm>
            <a:off x="571500" y="847725"/>
            <a:ext cx="8215313" cy="5081588"/>
          </a:xfrm>
        </p:spPr>
        <p:txBody>
          <a:bodyPr/>
          <a:lstStyle/>
          <a:p>
            <a:r>
              <a:rPr lang="fa-IR" altLang="en-US" smtClean="0"/>
              <a:t>حافظه</a:t>
            </a:r>
          </a:p>
          <a:p>
            <a:pPr lvl="1"/>
            <a:r>
              <a:rPr lang="fa-IR" altLang="en-US" smtClean="0">
                <a:sym typeface="Wingdings" panose="05000000000000000000" pitchFamily="2" charset="2"/>
              </a:rPr>
              <a:t>بلوک بزرگ: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مزیت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اشکال</a:t>
            </a:r>
          </a:p>
          <a:p>
            <a:pPr lvl="1"/>
            <a:r>
              <a:rPr lang="fa-IR" altLang="en-US" smtClean="0">
                <a:sym typeface="Wingdings" panose="05000000000000000000" pitchFamily="2" charset="2"/>
              </a:rPr>
              <a:t>بلوک‌های کوچک‌تر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مزیت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اشکال</a:t>
            </a:r>
          </a:p>
          <a:p>
            <a:pPr lvl="2"/>
            <a:endParaRPr lang="fa-IR" altLang="en-US" smtClean="0">
              <a:sym typeface="Wingdings" panose="05000000000000000000" pitchFamily="2" charset="2"/>
            </a:endParaRPr>
          </a:p>
          <a:p>
            <a:pPr lvl="2"/>
            <a:endParaRPr lang="en-US" altLang="en-US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414FAB5-1053-4511-B576-1E358EEC1D45}" type="slidenum">
              <a:rPr lang="en-US" altLang="en-US" sz="1300" smtClean="0">
                <a:latin typeface="Arial" panose="020B0604020202020204" pitchFamily="34" charset="0"/>
              </a:rPr>
              <a:pPr/>
              <a:t>23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fa-IR" altLang="en-US" smtClean="0"/>
              <a:t>بلوک‌های حافظه</a:t>
            </a:r>
            <a:endParaRPr lang="en-US" altLang="en-US" sz="2000" smtClean="0"/>
          </a:p>
        </p:txBody>
      </p:sp>
      <p:sp>
        <p:nvSpPr>
          <p:cNvPr id="90115" name="Content Placeholder 2"/>
          <p:cNvSpPr>
            <a:spLocks noGrp="1"/>
          </p:cNvSpPr>
          <p:nvPr>
            <p:ph idx="1"/>
          </p:nvPr>
        </p:nvSpPr>
        <p:spPr>
          <a:xfrm>
            <a:off x="571500" y="847725"/>
            <a:ext cx="8215313" cy="1366838"/>
          </a:xfrm>
        </p:spPr>
        <p:txBody>
          <a:bodyPr/>
          <a:lstStyle/>
          <a:p>
            <a:r>
              <a:rPr lang="fa-IR" altLang="en-US" smtClean="0"/>
              <a:t>حافظه</a:t>
            </a:r>
          </a:p>
          <a:p>
            <a:pPr lvl="1"/>
            <a:r>
              <a:rPr lang="fa-IR" altLang="en-US" smtClean="0">
                <a:sym typeface="Wingdings" panose="05000000000000000000" pitchFamily="2" charset="2"/>
              </a:rPr>
              <a:t>پیکربندی حافظة بلوکی</a:t>
            </a:r>
          </a:p>
          <a:p>
            <a:pPr lvl="2"/>
            <a:endParaRPr lang="fa-IR" altLang="en-US" smtClean="0">
              <a:sym typeface="Wingdings" panose="05000000000000000000" pitchFamily="2" charset="2"/>
            </a:endParaRPr>
          </a:p>
          <a:p>
            <a:pPr lvl="2"/>
            <a:endParaRPr lang="en-US" altLang="en-US" smtClean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76886F24-6E66-4D75-BA92-FC1274CBDAFB}" type="slidenum">
              <a:rPr lang="en-US" altLang="en-US" sz="1300" smtClean="0">
                <a:latin typeface="Arial" panose="020B0604020202020204" pitchFamily="34" charset="0"/>
              </a:rPr>
              <a:pPr/>
              <a:t>24</a:t>
            </a:fld>
            <a:endParaRPr lang="en-US" altLang="en-US" sz="1300" smtClean="0">
              <a:latin typeface="Arial" panose="020B0604020202020204" pitchFamily="34" charset="0"/>
            </a:endParaRPr>
          </a:p>
        </p:txBody>
      </p:sp>
      <p:grpSp>
        <p:nvGrpSpPr>
          <p:cNvPr id="90117" name="Group 32"/>
          <p:cNvGrpSpPr>
            <a:grpSpLocks/>
          </p:cNvGrpSpPr>
          <p:nvPr/>
        </p:nvGrpSpPr>
        <p:grpSpPr bwMode="auto">
          <a:xfrm>
            <a:off x="142875" y="2395538"/>
            <a:ext cx="2286000" cy="2514600"/>
            <a:chOff x="0" y="1056"/>
            <a:chExt cx="1440" cy="1584"/>
          </a:xfrm>
        </p:grpSpPr>
        <p:sp>
          <p:nvSpPr>
            <p:cNvPr id="90143" name="Rectangle 6"/>
            <p:cNvSpPr>
              <a:spLocks noChangeArrowheads="1"/>
            </p:cNvSpPr>
            <p:nvPr/>
          </p:nvSpPr>
          <p:spPr bwMode="auto">
            <a:xfrm>
              <a:off x="575" y="1056"/>
              <a:ext cx="192" cy="1584"/>
            </a:xfrm>
            <a:prstGeom prst="rect">
              <a:avLst/>
            </a:prstGeom>
            <a:solidFill>
              <a:srgbClr val="FF66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0144" name="AutoShape 7"/>
            <p:cNvSpPr>
              <a:spLocks noChangeArrowheads="1"/>
            </p:cNvSpPr>
            <p:nvPr/>
          </p:nvSpPr>
          <p:spPr bwMode="auto">
            <a:xfrm>
              <a:off x="192" y="1824"/>
              <a:ext cx="384" cy="96"/>
            </a:xfrm>
            <a:prstGeom prst="rightArrow">
              <a:avLst>
                <a:gd name="adj1" fmla="val 50000"/>
                <a:gd name="adj2" fmla="val 100000"/>
              </a:avLst>
            </a:prstGeom>
            <a:noFill/>
            <a:ln w="38100">
              <a:solidFill>
                <a:srgbClr val="0000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0145" name="Text Box 8"/>
            <p:cNvSpPr txBox="1">
              <a:spLocks noChangeArrowheads="1"/>
            </p:cNvSpPr>
            <p:nvPr/>
          </p:nvSpPr>
          <p:spPr bwMode="auto">
            <a:xfrm>
              <a:off x="0" y="1900"/>
              <a:ext cx="6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chemeClr val="accent2"/>
                  </a:solidFill>
                </a:rPr>
                <a:t>A[10..0]</a:t>
              </a:r>
            </a:p>
          </p:txBody>
        </p:sp>
        <p:sp>
          <p:nvSpPr>
            <p:cNvPr id="90146" name="Line 11"/>
            <p:cNvSpPr>
              <a:spLocks noChangeShapeType="1"/>
            </p:cNvSpPr>
            <p:nvPr/>
          </p:nvSpPr>
          <p:spPr bwMode="auto">
            <a:xfrm>
              <a:off x="768" y="1872"/>
              <a:ext cx="288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0147" name="Text Box 12"/>
            <p:cNvSpPr txBox="1">
              <a:spLocks noChangeArrowheads="1"/>
            </p:cNvSpPr>
            <p:nvPr/>
          </p:nvSpPr>
          <p:spPr bwMode="auto">
            <a:xfrm>
              <a:off x="816" y="1890"/>
              <a:ext cx="6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chemeClr val="accent2"/>
                  </a:solidFill>
                </a:rPr>
                <a:t>D0</a:t>
              </a:r>
            </a:p>
          </p:txBody>
        </p:sp>
      </p:grpSp>
      <p:sp>
        <p:nvSpPr>
          <p:cNvPr id="90118" name="Text Box 33"/>
          <p:cNvSpPr txBox="1">
            <a:spLocks noChangeArrowheads="1"/>
          </p:cNvSpPr>
          <p:nvPr/>
        </p:nvSpPr>
        <p:spPr bwMode="auto">
          <a:xfrm>
            <a:off x="600075" y="4878388"/>
            <a:ext cx="990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>
                <a:solidFill>
                  <a:srgbClr val="663300"/>
                </a:solidFill>
              </a:rPr>
              <a:t>2048x1</a:t>
            </a:r>
          </a:p>
        </p:txBody>
      </p:sp>
      <p:grpSp>
        <p:nvGrpSpPr>
          <p:cNvPr id="12" name="Group 39"/>
          <p:cNvGrpSpPr>
            <a:grpSpLocks/>
          </p:cNvGrpSpPr>
          <p:nvPr/>
        </p:nvGrpSpPr>
        <p:grpSpPr bwMode="auto">
          <a:xfrm>
            <a:off x="6472238" y="2620963"/>
            <a:ext cx="3028950" cy="1403350"/>
            <a:chOff x="3408" y="1056"/>
            <a:chExt cx="1908" cy="884"/>
          </a:xfrm>
        </p:grpSpPr>
        <p:grpSp>
          <p:nvGrpSpPr>
            <p:cNvPr id="90136" name="Group 29"/>
            <p:cNvGrpSpPr>
              <a:grpSpLocks/>
            </p:cNvGrpSpPr>
            <p:nvPr/>
          </p:nvGrpSpPr>
          <p:grpSpPr bwMode="auto">
            <a:xfrm>
              <a:off x="3408" y="1056"/>
              <a:ext cx="1908" cy="576"/>
              <a:chOff x="3408" y="1056"/>
              <a:chExt cx="1908" cy="576"/>
            </a:xfrm>
          </p:grpSpPr>
          <p:sp>
            <p:nvSpPr>
              <p:cNvPr id="90138" name="AutoShape 22"/>
              <p:cNvSpPr>
                <a:spLocks noChangeArrowheads="1"/>
              </p:cNvSpPr>
              <p:nvPr/>
            </p:nvSpPr>
            <p:spPr bwMode="auto">
              <a:xfrm>
                <a:off x="4608" y="1296"/>
                <a:ext cx="384" cy="96"/>
              </a:xfrm>
              <a:prstGeom prst="rightArrow">
                <a:avLst>
                  <a:gd name="adj1" fmla="val 50000"/>
                  <a:gd name="adj2" fmla="val 100000"/>
                </a:avLst>
              </a:prstGeom>
              <a:noFill/>
              <a:ln w="38100">
                <a:solidFill>
                  <a:srgbClr val="0000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0139" name="Rectangle 23"/>
              <p:cNvSpPr>
                <a:spLocks noChangeArrowheads="1"/>
              </p:cNvSpPr>
              <p:nvPr/>
            </p:nvSpPr>
            <p:spPr bwMode="auto">
              <a:xfrm>
                <a:off x="4032" y="1056"/>
                <a:ext cx="672" cy="576"/>
              </a:xfrm>
              <a:prstGeom prst="rect">
                <a:avLst/>
              </a:prstGeom>
              <a:solidFill>
                <a:srgbClr val="FF66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0140" name="AutoShape 24"/>
              <p:cNvSpPr>
                <a:spLocks noChangeArrowheads="1"/>
              </p:cNvSpPr>
              <p:nvPr/>
            </p:nvSpPr>
            <p:spPr bwMode="auto">
              <a:xfrm>
                <a:off x="3648" y="1248"/>
                <a:ext cx="384" cy="96"/>
              </a:xfrm>
              <a:prstGeom prst="rightArrow">
                <a:avLst>
                  <a:gd name="adj1" fmla="val 50000"/>
                  <a:gd name="adj2" fmla="val 100000"/>
                </a:avLst>
              </a:prstGeom>
              <a:noFill/>
              <a:ln w="38100">
                <a:solidFill>
                  <a:srgbClr val="0000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0141" name="Text Box 25"/>
              <p:cNvSpPr txBox="1">
                <a:spLocks noChangeArrowheads="1"/>
              </p:cNvSpPr>
              <p:nvPr/>
            </p:nvSpPr>
            <p:spPr bwMode="auto">
              <a:xfrm>
                <a:off x="4692" y="1104"/>
                <a:ext cx="624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600">
                    <a:solidFill>
                      <a:schemeClr val="accent2"/>
                    </a:solidFill>
                  </a:rPr>
                  <a:t>D[7..0]</a:t>
                </a:r>
              </a:p>
            </p:txBody>
          </p:sp>
          <p:sp>
            <p:nvSpPr>
              <p:cNvPr id="90142" name="Text Box 26"/>
              <p:cNvSpPr txBox="1">
                <a:spLocks noChangeArrowheads="1"/>
              </p:cNvSpPr>
              <p:nvPr/>
            </p:nvSpPr>
            <p:spPr bwMode="auto">
              <a:xfrm>
                <a:off x="3408" y="1056"/>
                <a:ext cx="624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600">
                    <a:solidFill>
                      <a:schemeClr val="accent2"/>
                    </a:solidFill>
                  </a:rPr>
                  <a:t>A[7..0]</a:t>
                </a:r>
              </a:p>
            </p:txBody>
          </p:sp>
        </p:grpSp>
        <p:sp>
          <p:nvSpPr>
            <p:cNvPr id="90137" name="Text Box 34"/>
            <p:cNvSpPr txBox="1">
              <a:spLocks noChangeArrowheads="1"/>
            </p:cNvSpPr>
            <p:nvPr/>
          </p:nvSpPr>
          <p:spPr bwMode="auto">
            <a:xfrm>
              <a:off x="4176" y="1728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663300"/>
                  </a:solidFill>
                </a:rPr>
                <a:t>256x8</a:t>
              </a:r>
            </a:p>
          </p:txBody>
        </p:sp>
      </p:grpSp>
      <p:grpSp>
        <p:nvGrpSpPr>
          <p:cNvPr id="20" name="Group 38"/>
          <p:cNvGrpSpPr>
            <a:grpSpLocks/>
          </p:cNvGrpSpPr>
          <p:nvPr/>
        </p:nvGrpSpPr>
        <p:grpSpPr bwMode="auto">
          <a:xfrm>
            <a:off x="4133850" y="2620963"/>
            <a:ext cx="2724150" cy="2089150"/>
            <a:chOff x="2256" y="1056"/>
            <a:chExt cx="1716" cy="1316"/>
          </a:xfrm>
        </p:grpSpPr>
        <p:grpSp>
          <p:nvGrpSpPr>
            <p:cNvPr id="90129" name="Group 28"/>
            <p:cNvGrpSpPr>
              <a:grpSpLocks/>
            </p:cNvGrpSpPr>
            <p:nvPr/>
          </p:nvGrpSpPr>
          <p:grpSpPr bwMode="auto">
            <a:xfrm>
              <a:off x="2256" y="1056"/>
              <a:ext cx="1716" cy="1056"/>
              <a:chOff x="2256" y="1056"/>
              <a:chExt cx="1716" cy="1056"/>
            </a:xfrm>
          </p:grpSpPr>
          <p:sp>
            <p:nvSpPr>
              <p:cNvPr id="90131" name="AutoShape 17"/>
              <p:cNvSpPr>
                <a:spLocks noChangeArrowheads="1"/>
              </p:cNvSpPr>
              <p:nvPr/>
            </p:nvSpPr>
            <p:spPr bwMode="auto">
              <a:xfrm>
                <a:off x="3312" y="1536"/>
                <a:ext cx="384" cy="96"/>
              </a:xfrm>
              <a:prstGeom prst="rightArrow">
                <a:avLst>
                  <a:gd name="adj1" fmla="val 50000"/>
                  <a:gd name="adj2" fmla="val 100000"/>
                </a:avLst>
              </a:prstGeom>
              <a:noFill/>
              <a:ln w="38100">
                <a:solidFill>
                  <a:srgbClr val="0000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0132" name="Rectangle 18"/>
              <p:cNvSpPr>
                <a:spLocks noChangeArrowheads="1"/>
              </p:cNvSpPr>
              <p:nvPr/>
            </p:nvSpPr>
            <p:spPr bwMode="auto">
              <a:xfrm>
                <a:off x="2832" y="1056"/>
                <a:ext cx="480" cy="1056"/>
              </a:xfrm>
              <a:prstGeom prst="rect">
                <a:avLst/>
              </a:prstGeom>
              <a:solidFill>
                <a:srgbClr val="FF66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0133" name="AutoShape 19"/>
              <p:cNvSpPr>
                <a:spLocks noChangeArrowheads="1"/>
              </p:cNvSpPr>
              <p:nvPr/>
            </p:nvSpPr>
            <p:spPr bwMode="auto">
              <a:xfrm>
                <a:off x="2448" y="1536"/>
                <a:ext cx="384" cy="96"/>
              </a:xfrm>
              <a:prstGeom prst="rightArrow">
                <a:avLst>
                  <a:gd name="adj1" fmla="val 50000"/>
                  <a:gd name="adj2" fmla="val 100000"/>
                </a:avLst>
              </a:prstGeom>
              <a:noFill/>
              <a:ln w="38100">
                <a:solidFill>
                  <a:srgbClr val="0000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0134" name="Text Box 20"/>
              <p:cNvSpPr txBox="1">
                <a:spLocks noChangeArrowheads="1"/>
              </p:cNvSpPr>
              <p:nvPr/>
            </p:nvSpPr>
            <p:spPr bwMode="auto">
              <a:xfrm>
                <a:off x="2256" y="1324"/>
                <a:ext cx="624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600">
                    <a:solidFill>
                      <a:schemeClr val="accent2"/>
                    </a:solidFill>
                  </a:rPr>
                  <a:t>A[8..0]</a:t>
                </a:r>
              </a:p>
            </p:txBody>
          </p:sp>
          <p:sp>
            <p:nvSpPr>
              <p:cNvPr id="90135" name="Text Box 21"/>
              <p:cNvSpPr txBox="1">
                <a:spLocks noChangeArrowheads="1"/>
              </p:cNvSpPr>
              <p:nvPr/>
            </p:nvSpPr>
            <p:spPr bwMode="auto">
              <a:xfrm>
                <a:off x="3348" y="1324"/>
                <a:ext cx="624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600">
                    <a:solidFill>
                      <a:schemeClr val="accent2"/>
                    </a:solidFill>
                  </a:rPr>
                  <a:t>D[3..0]</a:t>
                </a:r>
              </a:p>
            </p:txBody>
          </p:sp>
        </p:grpSp>
        <p:sp>
          <p:nvSpPr>
            <p:cNvPr id="90130" name="Text Box 35"/>
            <p:cNvSpPr txBox="1">
              <a:spLocks noChangeArrowheads="1"/>
            </p:cNvSpPr>
            <p:nvPr/>
          </p:nvSpPr>
          <p:spPr bwMode="auto">
            <a:xfrm>
              <a:off x="2832" y="2160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600">
                  <a:solidFill>
                    <a:srgbClr val="663300"/>
                  </a:solidFill>
                </a:rPr>
                <a:t>512x4</a:t>
              </a:r>
            </a:p>
          </p:txBody>
        </p:sp>
      </p:grpSp>
      <p:grpSp>
        <p:nvGrpSpPr>
          <p:cNvPr id="28" name="Group 37"/>
          <p:cNvGrpSpPr>
            <a:grpSpLocks/>
          </p:cNvGrpSpPr>
          <p:nvPr/>
        </p:nvGrpSpPr>
        <p:grpSpPr bwMode="auto">
          <a:xfrm>
            <a:off x="1979712" y="2395538"/>
            <a:ext cx="2500313" cy="2406650"/>
            <a:chOff x="1008" y="1028"/>
            <a:chExt cx="1575" cy="1516"/>
          </a:xfrm>
        </p:grpSpPr>
        <p:grpSp>
          <p:nvGrpSpPr>
            <p:cNvPr id="90122" name="Group 31"/>
            <p:cNvGrpSpPr>
              <a:grpSpLocks/>
            </p:cNvGrpSpPr>
            <p:nvPr/>
          </p:nvGrpSpPr>
          <p:grpSpPr bwMode="auto">
            <a:xfrm>
              <a:off x="1008" y="1028"/>
              <a:ext cx="1575" cy="1296"/>
              <a:chOff x="1008" y="1028"/>
              <a:chExt cx="1575" cy="1296"/>
            </a:xfrm>
          </p:grpSpPr>
          <p:sp>
            <p:nvSpPr>
              <p:cNvPr id="90124" name="Text Box 15"/>
              <p:cNvSpPr txBox="1">
                <a:spLocks noChangeArrowheads="1"/>
              </p:cNvSpPr>
              <p:nvPr/>
            </p:nvSpPr>
            <p:spPr bwMode="auto">
              <a:xfrm>
                <a:off x="1008" y="1748"/>
                <a:ext cx="624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600">
                    <a:solidFill>
                      <a:schemeClr val="accent2"/>
                    </a:solidFill>
                  </a:rPr>
                  <a:t>A[9..0]</a:t>
                </a:r>
              </a:p>
            </p:txBody>
          </p:sp>
          <p:sp>
            <p:nvSpPr>
              <p:cNvPr id="90125" name="AutoShape 9"/>
              <p:cNvSpPr>
                <a:spLocks noChangeArrowheads="1"/>
              </p:cNvSpPr>
              <p:nvPr/>
            </p:nvSpPr>
            <p:spPr bwMode="auto">
              <a:xfrm>
                <a:off x="1920" y="1652"/>
                <a:ext cx="384" cy="96"/>
              </a:xfrm>
              <a:prstGeom prst="rightArrow">
                <a:avLst>
                  <a:gd name="adj1" fmla="val 50000"/>
                  <a:gd name="adj2" fmla="val 100000"/>
                </a:avLst>
              </a:prstGeom>
              <a:noFill/>
              <a:ln w="38100">
                <a:solidFill>
                  <a:srgbClr val="0000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0126" name="Rectangle 13"/>
              <p:cNvSpPr>
                <a:spLocks noChangeArrowheads="1"/>
              </p:cNvSpPr>
              <p:nvPr/>
            </p:nvSpPr>
            <p:spPr bwMode="auto">
              <a:xfrm>
                <a:off x="1584" y="1028"/>
                <a:ext cx="336" cy="1296"/>
              </a:xfrm>
              <a:prstGeom prst="rect">
                <a:avLst/>
              </a:prstGeom>
              <a:solidFill>
                <a:srgbClr val="FF66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0127" name="AutoShape 14"/>
              <p:cNvSpPr>
                <a:spLocks noChangeArrowheads="1"/>
              </p:cNvSpPr>
              <p:nvPr/>
            </p:nvSpPr>
            <p:spPr bwMode="auto">
              <a:xfrm>
                <a:off x="1200" y="1652"/>
                <a:ext cx="384" cy="96"/>
              </a:xfrm>
              <a:prstGeom prst="rightArrow">
                <a:avLst>
                  <a:gd name="adj1" fmla="val 50000"/>
                  <a:gd name="adj2" fmla="val 100000"/>
                </a:avLst>
              </a:prstGeom>
              <a:noFill/>
              <a:ln w="38100">
                <a:solidFill>
                  <a:srgbClr val="0000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0128" name="Text Box 16"/>
              <p:cNvSpPr txBox="1">
                <a:spLocks noChangeArrowheads="1"/>
              </p:cNvSpPr>
              <p:nvPr/>
            </p:nvSpPr>
            <p:spPr bwMode="auto">
              <a:xfrm>
                <a:off x="1959" y="1748"/>
                <a:ext cx="624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600">
                    <a:solidFill>
                      <a:schemeClr val="accent2"/>
                    </a:solidFill>
                  </a:rPr>
                  <a:t>D[1..0]</a:t>
                </a:r>
              </a:p>
            </p:txBody>
          </p:sp>
        </p:grpSp>
        <p:sp>
          <p:nvSpPr>
            <p:cNvPr id="90123" name="Text Box 36"/>
            <p:cNvSpPr txBox="1">
              <a:spLocks noChangeArrowheads="1"/>
            </p:cNvSpPr>
            <p:nvPr/>
          </p:nvSpPr>
          <p:spPr bwMode="auto">
            <a:xfrm>
              <a:off x="1430" y="2332"/>
              <a:ext cx="57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600" dirty="0" smtClean="0">
                  <a:solidFill>
                    <a:srgbClr val="663300"/>
                  </a:solidFill>
                </a:rPr>
                <a:t>1024x2</a:t>
              </a:r>
              <a:endParaRPr lang="en-US" altLang="en-US" sz="1600" dirty="0">
                <a:solidFill>
                  <a:srgbClr val="6633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/>
            <a:r>
              <a:rPr lang="fa-IR" altLang="en-US" smtClean="0"/>
              <a:t>بلوک‌های حافظه</a:t>
            </a:r>
            <a:endParaRPr lang="en-US" altLang="en-US" sz="2000" dirty="0" smtClean="0"/>
          </a:p>
        </p:txBody>
      </p:sp>
      <p:sp>
        <p:nvSpPr>
          <p:cNvPr id="92163" name="Content Placeholder 2"/>
          <p:cNvSpPr>
            <a:spLocks noGrp="1"/>
          </p:cNvSpPr>
          <p:nvPr>
            <p:ph idx="1"/>
          </p:nvPr>
        </p:nvSpPr>
        <p:spPr>
          <a:xfrm>
            <a:off x="571500" y="847725"/>
            <a:ext cx="8215313" cy="1366838"/>
          </a:xfrm>
        </p:spPr>
        <p:txBody>
          <a:bodyPr/>
          <a:lstStyle/>
          <a:p>
            <a:r>
              <a:rPr lang="fa-IR" altLang="en-US" smtClean="0"/>
              <a:t>حافظه</a:t>
            </a:r>
          </a:p>
          <a:p>
            <a:pPr lvl="1"/>
            <a:r>
              <a:rPr lang="fa-IR" altLang="en-US" smtClean="0">
                <a:sym typeface="Wingdings" panose="05000000000000000000" pitchFamily="2" charset="2"/>
              </a:rPr>
              <a:t>تشکیل بلوک بزرگ‌تر:</a:t>
            </a:r>
          </a:p>
          <a:p>
            <a:pPr lvl="2"/>
            <a:r>
              <a:rPr lang="fa-IR" altLang="en-US" smtClean="0">
                <a:sym typeface="Wingdings" panose="05000000000000000000" pitchFamily="2" charset="2"/>
              </a:rPr>
              <a:t>تشکیل </a:t>
            </a:r>
            <a:r>
              <a:rPr lang="en-US" altLang="en-US" dirty="0" smtClean="0">
                <a:sym typeface="Wingdings" panose="05000000000000000000" pitchFamily="2" charset="2"/>
              </a:rPr>
              <a:t>512 x 8</a:t>
            </a:r>
            <a:r>
              <a:rPr lang="fa-IR" altLang="en-US" smtClean="0">
                <a:sym typeface="Wingdings" panose="05000000000000000000" pitchFamily="2" charset="2"/>
              </a:rPr>
              <a:t> با دو </a:t>
            </a:r>
            <a:r>
              <a:rPr lang="en-US" altLang="en-US" dirty="0" smtClean="0">
                <a:sym typeface="Wingdings" panose="05000000000000000000" pitchFamily="2" charset="2"/>
              </a:rPr>
              <a:t>512 x 4</a:t>
            </a:r>
            <a:endParaRPr lang="fa-IR" altLang="en-US" smtClean="0">
              <a:sym typeface="Wingdings" panose="05000000000000000000" pitchFamily="2" charset="2"/>
            </a:endParaRPr>
          </a:p>
          <a:p>
            <a:pPr lvl="2"/>
            <a:endParaRPr lang="fa-IR" altLang="en-US" smtClean="0">
              <a:sym typeface="Wingdings" panose="05000000000000000000" pitchFamily="2" charset="2"/>
            </a:endParaRPr>
          </a:p>
          <a:p>
            <a:pPr lvl="2"/>
            <a:endParaRPr lang="fa-IR" altLang="en-US" smtClean="0">
              <a:sym typeface="Wingdings" panose="05000000000000000000" pitchFamily="2" charset="2"/>
            </a:endParaRPr>
          </a:p>
          <a:p>
            <a:pPr lvl="2"/>
            <a:endParaRPr lang="en-US" altLang="en-US" dirty="0" smtClean="0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4A48A509-B25C-465B-A0A3-3E5DA3351C48}" type="slidenum">
              <a:rPr lang="en-US" altLang="en-US" sz="1300" smtClean="0">
                <a:latin typeface="Arial" panose="020B0604020202020204" pitchFamily="34" charset="0"/>
              </a:rPr>
              <a:pPr/>
              <a:t>25</a:t>
            </a:fld>
            <a:endParaRPr lang="en-US" altLang="en-US" sz="1300" dirty="0" smtClean="0">
              <a:latin typeface="Arial" panose="020B0604020202020204" pitchFamily="34" charset="0"/>
            </a:endParaRPr>
          </a:p>
        </p:txBody>
      </p:sp>
      <p:grpSp>
        <p:nvGrpSpPr>
          <p:cNvPr id="36" name="Group 75"/>
          <p:cNvGrpSpPr>
            <a:grpSpLocks/>
          </p:cNvGrpSpPr>
          <p:nvPr/>
        </p:nvGrpSpPr>
        <p:grpSpPr bwMode="auto">
          <a:xfrm>
            <a:off x="1604963" y="2076450"/>
            <a:ext cx="2562225" cy="1676400"/>
            <a:chOff x="507" y="1872"/>
            <a:chExt cx="1614" cy="1056"/>
          </a:xfrm>
        </p:grpSpPr>
        <p:sp>
          <p:nvSpPr>
            <p:cNvPr id="92182" name="AutoShape 47"/>
            <p:cNvSpPr>
              <a:spLocks noChangeArrowheads="1"/>
            </p:cNvSpPr>
            <p:nvPr/>
          </p:nvSpPr>
          <p:spPr bwMode="auto">
            <a:xfrm>
              <a:off x="1440" y="2352"/>
              <a:ext cx="384" cy="96"/>
            </a:xfrm>
            <a:prstGeom prst="rightArrow">
              <a:avLst>
                <a:gd name="adj1" fmla="val 50000"/>
                <a:gd name="adj2" fmla="val 100000"/>
              </a:avLst>
            </a:prstGeom>
            <a:noFill/>
            <a:ln w="38100">
              <a:solidFill>
                <a:srgbClr val="0000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92183" name="Rectangle 48"/>
            <p:cNvSpPr>
              <a:spLocks noChangeArrowheads="1"/>
            </p:cNvSpPr>
            <p:nvPr/>
          </p:nvSpPr>
          <p:spPr bwMode="auto">
            <a:xfrm>
              <a:off x="960" y="1872"/>
              <a:ext cx="480" cy="1056"/>
            </a:xfrm>
            <a:prstGeom prst="rect">
              <a:avLst/>
            </a:prstGeom>
            <a:solidFill>
              <a:srgbClr val="FF6600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92184" name="AutoShape 49"/>
            <p:cNvSpPr>
              <a:spLocks noChangeArrowheads="1"/>
            </p:cNvSpPr>
            <p:nvPr/>
          </p:nvSpPr>
          <p:spPr bwMode="auto">
            <a:xfrm>
              <a:off x="576" y="2352"/>
              <a:ext cx="384" cy="96"/>
            </a:xfrm>
            <a:prstGeom prst="rightArrow">
              <a:avLst>
                <a:gd name="adj1" fmla="val 50000"/>
                <a:gd name="adj2" fmla="val 100000"/>
              </a:avLst>
            </a:prstGeom>
            <a:noFill/>
            <a:ln w="38100">
              <a:solidFill>
                <a:srgbClr val="0000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92185" name="Text Box 50"/>
            <p:cNvSpPr txBox="1">
              <a:spLocks noChangeArrowheads="1"/>
            </p:cNvSpPr>
            <p:nvPr/>
          </p:nvSpPr>
          <p:spPr bwMode="auto">
            <a:xfrm>
              <a:off x="507" y="2140"/>
              <a:ext cx="6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600" dirty="0">
                  <a:solidFill>
                    <a:schemeClr val="accent2"/>
                  </a:solidFill>
                </a:rPr>
                <a:t>A[8..0]</a:t>
              </a:r>
            </a:p>
          </p:txBody>
        </p:sp>
        <p:sp>
          <p:nvSpPr>
            <p:cNvPr id="92186" name="Text Box 51"/>
            <p:cNvSpPr txBox="1">
              <a:spLocks noChangeArrowheads="1"/>
            </p:cNvSpPr>
            <p:nvPr/>
          </p:nvSpPr>
          <p:spPr bwMode="auto">
            <a:xfrm>
              <a:off x="1497" y="2140"/>
              <a:ext cx="6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600" dirty="0">
                  <a:solidFill>
                    <a:schemeClr val="accent2"/>
                  </a:solidFill>
                </a:rPr>
                <a:t>D[3..0]</a:t>
              </a:r>
            </a:p>
          </p:txBody>
        </p:sp>
        <p:sp>
          <p:nvSpPr>
            <p:cNvPr id="92187" name="Text Box 52"/>
            <p:cNvSpPr txBox="1">
              <a:spLocks noChangeArrowheads="1"/>
            </p:cNvSpPr>
            <p:nvPr/>
          </p:nvSpPr>
          <p:spPr bwMode="auto">
            <a:xfrm>
              <a:off x="960" y="2304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600" dirty="0">
                  <a:solidFill>
                    <a:schemeClr val="bg1"/>
                  </a:solidFill>
                </a:rPr>
                <a:t>512x4</a:t>
              </a:r>
            </a:p>
          </p:txBody>
        </p:sp>
      </p:grpSp>
      <p:grpSp>
        <p:nvGrpSpPr>
          <p:cNvPr id="43" name="Group 62"/>
          <p:cNvGrpSpPr>
            <a:grpSpLocks/>
          </p:cNvGrpSpPr>
          <p:nvPr/>
        </p:nvGrpSpPr>
        <p:grpSpPr bwMode="auto">
          <a:xfrm>
            <a:off x="1604963" y="3905250"/>
            <a:ext cx="2562225" cy="1676400"/>
            <a:chOff x="123" y="2908"/>
            <a:chExt cx="1614" cy="1056"/>
          </a:xfrm>
        </p:grpSpPr>
        <p:grpSp>
          <p:nvGrpSpPr>
            <p:cNvPr id="92175" name="Group 54"/>
            <p:cNvGrpSpPr>
              <a:grpSpLocks/>
            </p:cNvGrpSpPr>
            <p:nvPr/>
          </p:nvGrpSpPr>
          <p:grpSpPr bwMode="auto">
            <a:xfrm>
              <a:off x="123" y="2908"/>
              <a:ext cx="1614" cy="1056"/>
              <a:chOff x="2379" y="1056"/>
              <a:chExt cx="1614" cy="1056"/>
            </a:xfrm>
          </p:grpSpPr>
          <p:sp>
            <p:nvSpPr>
              <p:cNvPr id="92177" name="AutoShape 55"/>
              <p:cNvSpPr>
                <a:spLocks noChangeArrowheads="1"/>
              </p:cNvSpPr>
              <p:nvPr/>
            </p:nvSpPr>
            <p:spPr bwMode="auto">
              <a:xfrm>
                <a:off x="3312" y="1536"/>
                <a:ext cx="384" cy="96"/>
              </a:xfrm>
              <a:prstGeom prst="rightArrow">
                <a:avLst>
                  <a:gd name="adj1" fmla="val 50000"/>
                  <a:gd name="adj2" fmla="val 100000"/>
                </a:avLst>
              </a:prstGeom>
              <a:noFill/>
              <a:ln w="38100">
                <a:solidFill>
                  <a:srgbClr val="0000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92178" name="Rectangle 56"/>
              <p:cNvSpPr>
                <a:spLocks noChangeArrowheads="1"/>
              </p:cNvSpPr>
              <p:nvPr/>
            </p:nvSpPr>
            <p:spPr bwMode="auto">
              <a:xfrm>
                <a:off x="2832" y="1056"/>
                <a:ext cx="480" cy="1056"/>
              </a:xfrm>
              <a:prstGeom prst="rect">
                <a:avLst/>
              </a:prstGeom>
              <a:solidFill>
                <a:srgbClr val="FF66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92179" name="AutoShape 57"/>
              <p:cNvSpPr>
                <a:spLocks noChangeArrowheads="1"/>
              </p:cNvSpPr>
              <p:nvPr/>
            </p:nvSpPr>
            <p:spPr bwMode="auto">
              <a:xfrm>
                <a:off x="2448" y="1536"/>
                <a:ext cx="384" cy="96"/>
              </a:xfrm>
              <a:prstGeom prst="rightArrow">
                <a:avLst>
                  <a:gd name="adj1" fmla="val 50000"/>
                  <a:gd name="adj2" fmla="val 100000"/>
                </a:avLst>
              </a:prstGeom>
              <a:noFill/>
              <a:ln w="38100">
                <a:solidFill>
                  <a:srgbClr val="0000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endParaRPr lang="en-US" altLang="en-US" dirty="0"/>
              </a:p>
            </p:txBody>
          </p:sp>
          <p:sp>
            <p:nvSpPr>
              <p:cNvPr id="92180" name="Text Box 58"/>
              <p:cNvSpPr txBox="1">
                <a:spLocks noChangeArrowheads="1"/>
              </p:cNvSpPr>
              <p:nvPr/>
            </p:nvSpPr>
            <p:spPr bwMode="auto">
              <a:xfrm>
                <a:off x="2379" y="1324"/>
                <a:ext cx="624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600" dirty="0">
                    <a:solidFill>
                      <a:schemeClr val="accent2"/>
                    </a:solidFill>
                  </a:rPr>
                  <a:t>A[8..0]</a:t>
                </a:r>
              </a:p>
            </p:txBody>
          </p:sp>
          <p:sp>
            <p:nvSpPr>
              <p:cNvPr id="92181" name="Text Box 59"/>
              <p:cNvSpPr txBox="1">
                <a:spLocks noChangeArrowheads="1"/>
              </p:cNvSpPr>
              <p:nvPr/>
            </p:nvSpPr>
            <p:spPr bwMode="auto">
              <a:xfrm>
                <a:off x="3369" y="1324"/>
                <a:ext cx="624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1pPr>
                <a:lvl2pPr marL="742950" indent="-28575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2pPr>
                <a:lvl3pPr marL="11430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3pPr>
                <a:lvl4pPr marL="16002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4pPr>
                <a:lvl5pPr marL="2057400" indent="-228600"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100">
                    <a:solidFill>
                      <a:schemeClr val="tx1"/>
                    </a:solidFill>
                    <a:latin typeface="Times New Roman" panose="02020603050405020304" pitchFamily="18" charset="0"/>
                    <a:cs typeface="Arial" panose="020B0604020202020204" pitchFamily="34" charset="0"/>
                  </a:defRPr>
                </a:lvl9pPr>
              </a:lstStyle>
              <a:p>
                <a:r>
                  <a:rPr lang="en-US" altLang="en-US" sz="1600" dirty="0">
                    <a:solidFill>
                      <a:schemeClr val="accent2"/>
                    </a:solidFill>
                  </a:rPr>
                  <a:t>D[3..0]</a:t>
                </a:r>
              </a:p>
            </p:txBody>
          </p:sp>
        </p:grpSp>
        <p:sp>
          <p:nvSpPr>
            <p:cNvPr id="92176" name="Text Box 60"/>
            <p:cNvSpPr txBox="1">
              <a:spLocks noChangeArrowheads="1"/>
            </p:cNvSpPr>
            <p:nvPr/>
          </p:nvSpPr>
          <p:spPr bwMode="auto">
            <a:xfrm>
              <a:off x="576" y="3360"/>
              <a:ext cx="48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600" dirty="0">
                  <a:solidFill>
                    <a:schemeClr val="bg1"/>
                  </a:solidFill>
                </a:rPr>
                <a:t>512x4</a:t>
              </a:r>
            </a:p>
          </p:txBody>
        </p:sp>
      </p:grpSp>
      <p:sp>
        <p:nvSpPr>
          <p:cNvPr id="51" name="Rectangle 61"/>
          <p:cNvSpPr>
            <a:spLocks noChangeArrowheads="1"/>
          </p:cNvSpPr>
          <p:nvPr/>
        </p:nvSpPr>
        <p:spPr bwMode="auto">
          <a:xfrm>
            <a:off x="1638300" y="2000250"/>
            <a:ext cx="2286000" cy="3657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US" altLang="en-US" dirty="0"/>
          </a:p>
        </p:txBody>
      </p:sp>
      <p:grpSp>
        <p:nvGrpSpPr>
          <p:cNvPr id="52" name="Group 77"/>
          <p:cNvGrpSpPr>
            <a:grpSpLocks/>
          </p:cNvGrpSpPr>
          <p:nvPr/>
        </p:nvGrpSpPr>
        <p:grpSpPr bwMode="auto">
          <a:xfrm>
            <a:off x="3924300" y="3219450"/>
            <a:ext cx="1600200" cy="609600"/>
            <a:chOff x="1968" y="2592"/>
            <a:chExt cx="1008" cy="384"/>
          </a:xfrm>
        </p:grpSpPr>
        <p:sp>
          <p:nvSpPr>
            <p:cNvPr id="92173" name="AutoShape 69"/>
            <p:cNvSpPr>
              <a:spLocks noChangeArrowheads="1"/>
            </p:cNvSpPr>
            <p:nvPr/>
          </p:nvSpPr>
          <p:spPr bwMode="auto">
            <a:xfrm>
              <a:off x="1968" y="2736"/>
              <a:ext cx="576" cy="240"/>
            </a:xfrm>
            <a:prstGeom prst="rightArrow">
              <a:avLst>
                <a:gd name="adj1" fmla="val 50000"/>
                <a:gd name="adj2" fmla="val 60000"/>
              </a:avLst>
            </a:prstGeom>
            <a:noFill/>
            <a:ln w="28575">
              <a:solidFill>
                <a:srgbClr val="0000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92174" name="Text Box 70"/>
            <p:cNvSpPr txBox="1">
              <a:spLocks noChangeArrowheads="1"/>
            </p:cNvSpPr>
            <p:nvPr/>
          </p:nvSpPr>
          <p:spPr bwMode="auto">
            <a:xfrm>
              <a:off x="2352" y="2592"/>
              <a:ext cx="6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600" dirty="0">
                  <a:solidFill>
                    <a:schemeClr val="accent2"/>
                  </a:solidFill>
                </a:rPr>
                <a:t>D[7..0]</a:t>
              </a:r>
            </a:p>
          </p:txBody>
        </p:sp>
      </p:grpSp>
      <p:grpSp>
        <p:nvGrpSpPr>
          <p:cNvPr id="55" name="Group 76"/>
          <p:cNvGrpSpPr>
            <a:grpSpLocks/>
          </p:cNvGrpSpPr>
          <p:nvPr/>
        </p:nvGrpSpPr>
        <p:grpSpPr bwMode="auto">
          <a:xfrm>
            <a:off x="571500" y="3416300"/>
            <a:ext cx="1066800" cy="488950"/>
            <a:chOff x="-144" y="2716"/>
            <a:chExt cx="672" cy="308"/>
          </a:xfrm>
        </p:grpSpPr>
        <p:sp>
          <p:nvSpPr>
            <p:cNvPr id="92171" name="AutoShape 72"/>
            <p:cNvSpPr>
              <a:spLocks noChangeArrowheads="1"/>
            </p:cNvSpPr>
            <p:nvPr/>
          </p:nvSpPr>
          <p:spPr bwMode="auto">
            <a:xfrm>
              <a:off x="144" y="2928"/>
              <a:ext cx="384" cy="96"/>
            </a:xfrm>
            <a:prstGeom prst="rightArrow">
              <a:avLst>
                <a:gd name="adj1" fmla="val 50000"/>
                <a:gd name="adj2" fmla="val 100000"/>
              </a:avLst>
            </a:prstGeom>
            <a:noFill/>
            <a:ln w="38100">
              <a:solidFill>
                <a:srgbClr val="0000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endParaRPr lang="en-US" altLang="en-US" dirty="0"/>
            </a:p>
          </p:txBody>
        </p:sp>
        <p:sp>
          <p:nvSpPr>
            <p:cNvPr id="92172" name="Text Box 73"/>
            <p:cNvSpPr txBox="1">
              <a:spLocks noChangeArrowheads="1"/>
            </p:cNvSpPr>
            <p:nvPr/>
          </p:nvSpPr>
          <p:spPr bwMode="auto">
            <a:xfrm>
              <a:off x="-144" y="2716"/>
              <a:ext cx="62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1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r>
                <a:rPr lang="en-US" altLang="en-US" sz="1600" dirty="0">
                  <a:solidFill>
                    <a:schemeClr val="accent2"/>
                  </a:solidFill>
                </a:rPr>
                <a:t>A[8..0]</a:t>
              </a:r>
            </a:p>
          </p:txBody>
        </p:sp>
      </p:grpSp>
      <p:sp>
        <p:nvSpPr>
          <p:cNvPr id="58" name="Content Placeholder 2"/>
          <p:cNvSpPr txBox="1">
            <a:spLocks/>
          </p:cNvSpPr>
          <p:nvPr/>
        </p:nvSpPr>
        <p:spPr bwMode="auto">
          <a:xfrm>
            <a:off x="642938" y="5857875"/>
            <a:ext cx="8215312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828" tIns="50914" rIns="101828" bIns="50914"/>
          <a:lstStyle/>
          <a:p>
            <a:pPr marL="1143000" lvl="2" indent="-228600" algn="r" rtl="1">
              <a:spcBef>
                <a:spcPct val="20000"/>
              </a:spcBef>
              <a:buFont typeface="Arial" charset="0"/>
              <a:buChar char="−"/>
              <a:defRPr/>
            </a:pPr>
            <a:r>
              <a:rPr lang="fa-IR" sz="2400" kern="0" dirty="0">
                <a:latin typeface="+mn-lt"/>
                <a:cs typeface="B Mitra" pitchFamily="2" charset="-78"/>
                <a:sym typeface="Wingdings" pitchFamily="2" charset="2"/>
              </a:rPr>
              <a:t>تشکیل </a:t>
            </a:r>
            <a:r>
              <a:rPr lang="en-US" sz="2400" kern="0" dirty="0">
                <a:latin typeface="+mn-lt"/>
                <a:cs typeface="B Mitra" pitchFamily="2" charset="-78"/>
                <a:sym typeface="Wingdings" pitchFamily="2" charset="2"/>
              </a:rPr>
              <a:t>1024 x 4</a:t>
            </a:r>
            <a:r>
              <a:rPr lang="fa-IR" sz="2400" kern="0" dirty="0">
                <a:latin typeface="+mn-lt"/>
                <a:cs typeface="B Mitra" pitchFamily="2" charset="-78"/>
                <a:sym typeface="Wingdings" pitchFamily="2" charset="2"/>
              </a:rPr>
              <a:t> با دو </a:t>
            </a:r>
            <a:r>
              <a:rPr lang="en-US" sz="2400" kern="0" dirty="0">
                <a:latin typeface="+mn-lt"/>
                <a:cs typeface="B Mitra" pitchFamily="2" charset="-78"/>
                <a:sym typeface="Wingdings" pitchFamily="2" charset="2"/>
              </a:rPr>
              <a:t>512 x 4</a:t>
            </a:r>
            <a:r>
              <a:rPr lang="fa-IR" sz="2400" kern="0" dirty="0">
                <a:latin typeface="+mn-lt"/>
                <a:cs typeface="B Mitra" pitchFamily="2" charset="-78"/>
                <a:sym typeface="Wingdings" pitchFamily="2" charset="2"/>
              </a:rPr>
              <a:t> ؟</a:t>
            </a:r>
          </a:p>
          <a:p>
            <a:pPr marL="1143000" lvl="2" indent="-228600" algn="r" rtl="1">
              <a:spcBef>
                <a:spcPct val="20000"/>
              </a:spcBef>
              <a:buFont typeface="Arial" charset="0"/>
              <a:buChar char="−"/>
              <a:defRPr/>
            </a:pPr>
            <a:endParaRPr lang="fa-IR" sz="2400" kern="0" dirty="0">
              <a:latin typeface="+mn-lt"/>
              <a:cs typeface="B Mitra" pitchFamily="2" charset="-78"/>
              <a:sym typeface="Wingdings" pitchFamily="2" charset="2"/>
            </a:endParaRPr>
          </a:p>
          <a:p>
            <a:pPr marL="1143000" lvl="2" indent="-228600" algn="r" rtl="1">
              <a:spcBef>
                <a:spcPct val="20000"/>
              </a:spcBef>
              <a:buFont typeface="Arial" charset="0"/>
              <a:buChar char="−"/>
              <a:defRPr/>
            </a:pPr>
            <a:endParaRPr lang="fa-IR" sz="2400" kern="0" dirty="0">
              <a:latin typeface="+mn-lt"/>
              <a:cs typeface="B Mitra" pitchFamily="2" charset="-78"/>
              <a:sym typeface="Wingdings" pitchFamily="2" charset="2"/>
            </a:endParaRPr>
          </a:p>
          <a:p>
            <a:pPr marL="1143000" lvl="2" indent="-228600" algn="r" rtl="1">
              <a:spcBef>
                <a:spcPct val="20000"/>
              </a:spcBef>
              <a:buFont typeface="Arial" charset="0"/>
              <a:buChar char="−"/>
              <a:defRPr/>
            </a:pPr>
            <a:endParaRPr lang="en-US" sz="2400" kern="0" dirty="0">
              <a:latin typeface="+mn-lt"/>
              <a:cs typeface="B Mitra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8" grpId="0"/>
    </p:bldLst>
  </p:timing>
</p:sld>
</file>

<file path=ppt/theme/theme1.xml><?xml version="1.0" encoding="utf-8"?>
<a:theme xmlns:a="http://schemas.openxmlformats.org/drawingml/2006/main" name="1_presentation_template">
  <a:themeElements>
    <a:clrScheme name="1_presentation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entation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>
            <a:lumMod val="40000"/>
            <a:lumOff val="60000"/>
          </a:schemeClr>
        </a:solidFill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smtClean="0">
            <a:ln w="19050">
              <a:solidFill>
                <a:schemeClr val="tx1"/>
              </a:solidFill>
            </a:ln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1_presentation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tion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26432</TotalTime>
  <Words>570</Words>
  <Application>Microsoft Office PowerPoint</Application>
  <PresentationFormat>On-screen Show (4:3)</PresentationFormat>
  <Paragraphs>216</Paragraphs>
  <Slides>25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6" baseType="lpstr">
      <vt:lpstr>Arial</vt:lpstr>
      <vt:lpstr>B Mitra</vt:lpstr>
      <vt:lpstr>B Nazanin</vt:lpstr>
      <vt:lpstr>B Titr</vt:lpstr>
      <vt:lpstr>Calibri</vt:lpstr>
      <vt:lpstr>Lotus</vt:lpstr>
      <vt:lpstr>Times New Roman</vt:lpstr>
      <vt:lpstr>Wingdings</vt:lpstr>
      <vt:lpstr>1_presentation_template</vt:lpstr>
      <vt:lpstr>Custom Design</vt:lpstr>
      <vt:lpstr>Visio</vt:lpstr>
      <vt:lpstr>تراشه ها ي منطقي برنامه پذ ير</vt:lpstr>
      <vt:lpstr>انواع تراشه‌های برنامه‌پذیر</vt:lpstr>
      <vt:lpstr>ساختار FPGA</vt:lpstr>
      <vt:lpstr>معماری اتصالات جزیره‌ای</vt:lpstr>
      <vt:lpstr>معماری اتصالات</vt:lpstr>
      <vt:lpstr>Connection Block</vt:lpstr>
      <vt:lpstr>Switch Block</vt:lpstr>
      <vt:lpstr>معماری اتصالات</vt:lpstr>
      <vt:lpstr>بلوک‌های ارتباط سریال سریع</vt:lpstr>
      <vt:lpstr>بلوک‌های ارتباط سریال سریع</vt:lpstr>
      <vt:lpstr>بلوک‌های ارتباط سریال سریع</vt:lpstr>
      <vt:lpstr>بلوک‌های ارتباط سریال سریع</vt:lpstr>
      <vt:lpstr>بلوک‌های خاص‌منظوره</vt:lpstr>
      <vt:lpstr>بلوک‌های خاص‌منظوره</vt:lpstr>
      <vt:lpstr>بلوک‌های خاص‌منظوره</vt:lpstr>
      <vt:lpstr>بلوک‌های محاسباتی</vt:lpstr>
      <vt:lpstr>بلوک‌های محاسباتی</vt:lpstr>
      <vt:lpstr>بلوک‌های محاسباتی</vt:lpstr>
      <vt:lpstr>بلوک‌های محاسباتی</vt:lpstr>
      <vt:lpstr>بلوک‌های محاسباتی</vt:lpstr>
      <vt:lpstr>بلوک‌های حافظه</vt:lpstr>
      <vt:lpstr>بلوک‌های حافظه</vt:lpstr>
      <vt:lpstr>بلوک‌های حافظه</vt:lpstr>
      <vt:lpstr>بلوک‌های حافظه</vt:lpstr>
      <vt:lpstr>بلوک‌های حافظه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szamani</dc:creator>
  <cp:lastModifiedBy>M msz</cp:lastModifiedBy>
  <cp:revision>1091</cp:revision>
  <dcterms:created xsi:type="dcterms:W3CDTF">1601-01-01T00:00:00Z</dcterms:created>
  <dcterms:modified xsi:type="dcterms:W3CDTF">2024-04-28T15:39:30Z</dcterms:modified>
</cp:coreProperties>
</file>