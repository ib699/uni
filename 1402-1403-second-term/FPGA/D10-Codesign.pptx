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9" r:id="rId1"/>
    <p:sldMasterId id="2147483938" r:id="rId2"/>
  </p:sldMasterIdLst>
  <p:notesMasterIdLst>
    <p:notesMasterId r:id="rId36"/>
  </p:notesMasterIdLst>
  <p:sldIdLst>
    <p:sldId id="256" r:id="rId3"/>
    <p:sldId id="293" r:id="rId4"/>
    <p:sldId id="325" r:id="rId5"/>
    <p:sldId id="327" r:id="rId6"/>
    <p:sldId id="352" r:id="rId7"/>
    <p:sldId id="328" r:id="rId8"/>
    <p:sldId id="353" r:id="rId9"/>
    <p:sldId id="350" r:id="rId10"/>
    <p:sldId id="354" r:id="rId11"/>
    <p:sldId id="326" r:id="rId12"/>
    <p:sldId id="329" r:id="rId13"/>
    <p:sldId id="348" r:id="rId14"/>
    <p:sldId id="351" r:id="rId15"/>
    <p:sldId id="330" r:id="rId16"/>
    <p:sldId id="332" r:id="rId17"/>
    <p:sldId id="331" r:id="rId18"/>
    <p:sldId id="333" r:id="rId19"/>
    <p:sldId id="355" r:id="rId20"/>
    <p:sldId id="356" r:id="rId21"/>
    <p:sldId id="334" r:id="rId22"/>
    <p:sldId id="335" r:id="rId23"/>
    <p:sldId id="336" r:id="rId24"/>
    <p:sldId id="349" r:id="rId25"/>
    <p:sldId id="337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46" r:id="rId34"/>
    <p:sldId id="345" r:id="rId35"/>
  </p:sldIdLst>
  <p:sldSz cx="9144000" cy="6858000" type="screen4x3"/>
  <p:notesSz cx="6858000" cy="9144000"/>
  <p:embeddedFontLst>
    <p:embeddedFont>
      <p:font typeface="Elephant" panose="02020904090505020303" pitchFamily="18" charset="0"/>
      <p:regular r:id="rId37"/>
      <p:italic r:id="rId38"/>
    </p:embeddedFont>
    <p:embeddedFont>
      <p:font typeface="B Titr" panose="00000700000000000000" pitchFamily="2" charset="-78"/>
      <p:bold r:id="rId39"/>
    </p:embeddedFont>
    <p:embeddedFont>
      <p:font typeface="B Nazanin" panose="00000400000000000000" pitchFamily="2" charset="-78"/>
      <p:regular r:id="rId40"/>
      <p:bold r:id="rId41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FF"/>
    <a:srgbClr val="6600FF"/>
    <a:srgbClr val="FF6600"/>
    <a:srgbClr val="FF9900"/>
    <a:srgbClr val="CC3300"/>
    <a:srgbClr val="FF3300"/>
    <a:srgbClr val="8BF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7" autoAdjust="0"/>
    <p:restoredTop sz="95540" autoAdjust="0"/>
  </p:normalViewPr>
  <p:slideViewPr>
    <p:cSldViewPr>
      <p:cViewPr varScale="1">
        <p:scale>
          <a:sx n="64" d="100"/>
          <a:sy n="64" d="100"/>
        </p:scale>
        <p:origin x="804" y="36"/>
      </p:cViewPr>
      <p:guideLst>
        <p:guide orient="horz" pos="220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20" Type="http://schemas.openxmlformats.org/officeDocument/2006/relationships/slide" Target="slides/slide18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fld id="{6DCC8BFB-4C71-4584-882A-5F34227E2C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957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C4F96E-4FE7-4DA8-87E1-64312125A3A6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91033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498713-DF5C-4B2B-A711-D2A54D616C92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6340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31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79625F-C825-4C82-9812-0F0D3AA15CDF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70833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79625F-C825-4C82-9812-0F0D3AA15CDF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87428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66FFF2-6276-4EFE-B8E5-A47B6B317C2D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12922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66FFF2-6276-4EFE-B8E5-A47B6B317C2D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89576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17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55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0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36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56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01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07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615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47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905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61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615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024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115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354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35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354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354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057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057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057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057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057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CC8BFB-4C71-4584-882A-5F34227E2C8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8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defTabSz="1019175" eaLnBrk="0" hangingPunct="0">
              <a:defRPr/>
            </a:pPr>
            <a:endParaRPr lang="en-US" sz="1300">
              <a:latin typeface="Arial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>
              <a:defRPr/>
            </a:pPr>
            <a:endParaRPr lang="en-US" sz="2400"/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7526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 baseline="0">
                <a:cs typeface="B Titr" pitchFamily="2" charset="-78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 baseline="0">
                <a:cs typeface="B Nazanin" pitchFamily="2" charset="-78"/>
              </a:defRPr>
            </a:lvl1pPr>
            <a:lvl2pPr>
              <a:defRPr sz="3200" b="1" baseline="0">
                <a:cs typeface="B Nazanin" pitchFamily="2" charset="-78"/>
              </a:defRPr>
            </a:lvl2pPr>
            <a:lvl3pPr>
              <a:defRPr sz="2800" b="1" baseline="0">
                <a:cs typeface="B Nazanin" pitchFamily="2" charset="-78"/>
              </a:defRPr>
            </a:lvl3pPr>
            <a:lvl4pPr>
              <a:defRPr sz="2400" b="1" baseline="0">
                <a:cs typeface="B Nazanin" pitchFamily="2" charset="-78"/>
              </a:defRPr>
            </a:lvl4pPr>
            <a:lvl5pPr>
              <a:defRPr sz="1800" b="1" baseline="0">
                <a:cs typeface="B Nazanin" pitchFamily="2" charset="-7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B8D87-7F0C-459F-BC57-1565986A46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cover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0EF980-3A4E-466B-8073-BF081D394E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cover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3D6D4D-4C10-4590-AA96-1FF0B3592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cover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3AF9A8-1DE9-4870-A09B-6C9E3C4E1E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cover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A26D7E-DF04-4785-84AC-D5001EC83C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cover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CC909C-C244-46A8-832B-BA95D93E28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cover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F387A-7162-4FE7-AE12-7D42E1E8B9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cover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DB4AC-B7B8-452B-9AFB-B3D532808A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cover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D477FE-CE83-496E-B824-A479415728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cover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EE7079-12A5-4BDA-9671-9256F09F6D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cover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>
              <a:solidFill>
                <a:srgbClr val="000000"/>
              </a:solidFill>
            </a:endParaRPr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>
                <a:cs typeface="B Titr" pitchFamily="2" charset="-7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32011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cs typeface="Titr" pitchFamily="2" charset="-78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cs typeface="Lotus" panose="00000400000000000000" pitchFamily="2" charset="-78"/>
              </a:defRPr>
            </a:lvl1pPr>
            <a:lvl2pPr>
              <a:defRPr baseline="0">
                <a:cs typeface="Lotus" panose="00000400000000000000" pitchFamily="2" charset="-78"/>
              </a:defRPr>
            </a:lvl2pPr>
            <a:lvl3pPr>
              <a:defRPr baseline="0">
                <a:cs typeface="Lotus" panose="00000400000000000000" pitchFamily="2" charset="-78"/>
              </a:defRPr>
            </a:lvl3pPr>
            <a:lvl4pPr>
              <a:defRPr baseline="0">
                <a:cs typeface="Lotus" panose="00000400000000000000" pitchFamily="2" charset="-78"/>
              </a:defRPr>
            </a:lvl4pPr>
            <a:lvl5pPr>
              <a:defRPr baseline="0">
                <a:cs typeface="Lotus" panose="00000400000000000000" pitchFamily="2" charset="-7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5DD612-FDCB-434A-B765-BA3FB956CD2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274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0FD8C-5B2A-4544-905B-78C918259AD3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509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42E13-AA2F-4E87-BCA7-F1F91A716EF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283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0EA47-9A69-4916-A809-C9C6BC97BE1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947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defTabSz="1019175" rtl="0" eaLnBrk="0" fontAlgn="base" hangingPunct="0">
              <a:spcBef>
                <a:spcPct val="0"/>
              </a:spcBef>
              <a:spcAft>
                <a:spcPct val="0"/>
              </a:spcAft>
              <a:defRPr lang="en-US" sz="3100" b="1" baseline="0" dirty="0">
                <a:solidFill>
                  <a:srgbClr val="E44EE4"/>
                </a:solidFill>
                <a:latin typeface="+mj-lt"/>
                <a:ea typeface="+mj-ea"/>
                <a:cs typeface="Titr" pitchFamily="2" charset="-78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E2CBE-CE20-4148-B4D3-2CE0D5F988D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0028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C4C7D9-A65A-4AE3-9F52-36A61062529A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653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27385C-E80C-4162-B468-5DBD99F1070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097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4C13C-C89B-48D1-8CB2-0E64DB57E3C3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6604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ADA67-9E4B-4291-A4EE-889FCA48A5B0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8444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E72468-A88A-4C7F-96A8-83CF2527C17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131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  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defTabSz="1019175" eaLnBrk="0" hangingPunct="0">
              <a:defRPr/>
            </a:pPr>
            <a:endParaRPr lang="en-US" sz="1300">
              <a:latin typeface="Arial" pitchFamily="34" charset="0"/>
            </a:endParaRPr>
          </a:p>
        </p:txBody>
      </p:sp>
      <p:sp>
        <p:nvSpPr>
          <p:cNvPr id="1065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5563" y="63246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57B6FC0-955B-42A3-AEC6-2A71A58503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transition>
    <p:cover dir="d"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+mj-cs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Titr" pitchFamily="2" charset="-78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Titr" pitchFamily="2" charset="-78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Titr" pitchFamily="2" charset="-78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Titr" pitchFamily="2" charset="-78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rgbClr val="FF5050"/>
          </a:solidFill>
          <a:latin typeface="+mn-lt"/>
          <a:ea typeface="+mn-ea"/>
          <a:cs typeface="+mn-cs"/>
        </a:defRPr>
      </a:lvl1pPr>
      <a:lvl2pPr marL="741363" indent="-284163" algn="r" rtl="1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×"/>
        <a:defRPr sz="2200">
          <a:solidFill>
            <a:srgbClr val="0000FF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−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−"/>
        <a:defRPr sz="1300">
          <a:solidFill>
            <a:schemeClr val="tx1"/>
          </a:solidFill>
          <a:latin typeface="+mn-lt"/>
          <a:cs typeface="+mn-cs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−"/>
        <a:defRPr sz="1100">
          <a:solidFill>
            <a:schemeClr val="tx1"/>
          </a:solidFill>
          <a:latin typeface="+mn-lt"/>
          <a:cs typeface="+mn-cs"/>
        </a:defRPr>
      </a:lvl5pPr>
      <a:lvl6pPr marL="2514600" indent="-231775" algn="r" rtl="1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100">
          <a:solidFill>
            <a:schemeClr val="tx1"/>
          </a:solidFill>
          <a:latin typeface="+mn-lt"/>
          <a:cs typeface="+mn-cs"/>
        </a:defRPr>
      </a:lvl6pPr>
      <a:lvl7pPr marL="2971800" indent="-231775" algn="r" rtl="1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100">
          <a:solidFill>
            <a:schemeClr val="tx1"/>
          </a:solidFill>
          <a:latin typeface="+mn-lt"/>
          <a:cs typeface="+mn-cs"/>
        </a:defRPr>
      </a:lvl7pPr>
      <a:lvl8pPr marL="3429000" indent="-231775" algn="r" rtl="1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100">
          <a:solidFill>
            <a:schemeClr val="tx1"/>
          </a:solidFill>
          <a:latin typeface="+mn-lt"/>
          <a:cs typeface="+mn-cs"/>
        </a:defRPr>
      </a:lvl8pPr>
      <a:lvl9pPr marL="3886200" indent="-231775" algn="r" rtl="1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FD1C04-F5C0-4684-9068-7A35A60054C9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71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+mj-cs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200">
          <a:solidFill>
            <a:srgbClr val="0000FF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+mn-cs"/>
        </a:defRPr>
      </a:lvl4pPr>
      <a:lvl5pPr marL="2057400" indent="-2317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2150" y="2819400"/>
            <a:ext cx="7759700" cy="1143000"/>
          </a:xfrm>
          <a:ln w="9525"/>
        </p:spPr>
        <p:txBody>
          <a:bodyPr/>
          <a:lstStyle/>
          <a:p>
            <a:pPr eaLnBrk="1" hangingPunct="1"/>
            <a:r>
              <a:rPr lang="en-US" sz="3200" dirty="0" smtClean="0">
                <a:cs typeface="B Titr" pitchFamily="2" charset="-78"/>
              </a:rPr>
              <a:t>Embedded Systems and </a:t>
            </a:r>
            <a:br>
              <a:rPr lang="en-US" sz="3200" dirty="0" smtClean="0">
                <a:cs typeface="B Titr" pitchFamily="2" charset="-78"/>
              </a:rPr>
            </a:br>
            <a:r>
              <a:rPr lang="en-US" sz="3200" dirty="0" smtClean="0">
                <a:cs typeface="B Titr" pitchFamily="2" charset="-78"/>
              </a:rPr>
              <a:t>Hardware/Software </a:t>
            </a:r>
            <a:r>
              <a:rPr lang="en-US" sz="3200" dirty="0" err="1" smtClean="0">
                <a:cs typeface="B Titr" pitchFamily="2" charset="-78"/>
              </a:rPr>
              <a:t>Codesign</a:t>
            </a:r>
            <a:endParaRPr lang="en-US" sz="3200" dirty="0" smtClean="0">
              <a:latin typeface="Elephant" pitchFamily="18" charset="0"/>
              <a:cs typeface="B Titr" pitchFamily="2" charset="-78"/>
            </a:endParaRP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6477000" y="5867400"/>
            <a:ext cx="2209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a-IR">
                <a:cs typeface="Nazanin" pitchFamily="2" charset="-78"/>
              </a:rPr>
              <a:t>مرتضي صاحب الزماني</a:t>
            </a:r>
            <a:endParaRPr lang="en-US">
              <a:cs typeface="Nazanin" pitchFamily="2" charset="-78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82211" y="762000"/>
            <a:ext cx="77597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ctr" defTabSz="1019175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E44EE4"/>
                </a:solidFill>
                <a:latin typeface="+mj-lt"/>
                <a:ea typeface="+mj-ea"/>
                <a:cs typeface="+mj-cs"/>
              </a:defRPr>
            </a:lvl1pPr>
            <a:lvl2pPr algn="ctr" defTabSz="1019175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E44EE4"/>
                </a:solidFill>
                <a:latin typeface="Arial" pitchFamily="34" charset="0"/>
                <a:cs typeface="Titr" pitchFamily="2" charset="-78"/>
              </a:defRPr>
            </a:lvl2pPr>
            <a:lvl3pPr algn="ctr" defTabSz="1019175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E44EE4"/>
                </a:solidFill>
                <a:latin typeface="Arial" pitchFamily="34" charset="0"/>
                <a:cs typeface="Titr" pitchFamily="2" charset="-78"/>
              </a:defRPr>
            </a:lvl3pPr>
            <a:lvl4pPr algn="ctr" defTabSz="1019175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E44EE4"/>
                </a:solidFill>
                <a:latin typeface="Arial" pitchFamily="34" charset="0"/>
                <a:cs typeface="Titr" pitchFamily="2" charset="-78"/>
              </a:defRPr>
            </a:lvl4pPr>
            <a:lvl5pPr algn="ctr" defTabSz="1019175" rtl="0" eaLnBrk="0" fontAlgn="base" hangingPunct="0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E44EE4"/>
                </a:solidFill>
                <a:latin typeface="Arial" pitchFamily="34" charset="0"/>
                <a:cs typeface="Titr" pitchFamily="2" charset="-78"/>
              </a:defRPr>
            </a:lvl5pPr>
            <a:lvl6pPr marL="457200" algn="ctr" defTabSz="1019175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E44EE4"/>
                </a:solidFill>
                <a:latin typeface="Arial" pitchFamily="34" charset="0"/>
                <a:cs typeface="Titr" pitchFamily="2" charset="-78"/>
              </a:defRPr>
            </a:lvl6pPr>
            <a:lvl7pPr marL="914400" algn="ctr" defTabSz="1019175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E44EE4"/>
                </a:solidFill>
                <a:latin typeface="Arial" pitchFamily="34" charset="0"/>
                <a:cs typeface="Titr" pitchFamily="2" charset="-78"/>
              </a:defRPr>
            </a:lvl7pPr>
            <a:lvl8pPr marL="1371600" algn="ctr" defTabSz="1019175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E44EE4"/>
                </a:solidFill>
                <a:latin typeface="Arial" pitchFamily="34" charset="0"/>
                <a:cs typeface="Titr" pitchFamily="2" charset="-78"/>
              </a:defRPr>
            </a:lvl8pPr>
            <a:lvl9pPr marL="1828800" algn="ctr" defTabSz="1019175" rtl="0" fontAlgn="base">
              <a:spcBef>
                <a:spcPct val="0"/>
              </a:spcBef>
              <a:spcAft>
                <a:spcPct val="0"/>
              </a:spcAft>
              <a:defRPr sz="3100" b="1">
                <a:solidFill>
                  <a:srgbClr val="E44EE4"/>
                </a:solidFill>
                <a:latin typeface="Arial" pitchFamily="34" charset="0"/>
                <a:cs typeface="Titr" pitchFamily="2" charset="-78"/>
              </a:defRPr>
            </a:lvl9pPr>
          </a:lstStyle>
          <a:p>
            <a:pPr eaLnBrk="1" hangingPunct="1"/>
            <a:r>
              <a:rPr lang="fa-IR" sz="3600" kern="0" dirty="0" smtClean="0">
                <a:cs typeface="B Titr" pitchFamily="2" charset="-78"/>
              </a:rPr>
              <a:t>طراحی سیستم‌های نهفته و </a:t>
            </a:r>
          </a:p>
          <a:p>
            <a:pPr eaLnBrk="1" hangingPunct="1"/>
            <a:r>
              <a:rPr lang="fa-IR" sz="3600" kern="0" dirty="0" smtClean="0">
                <a:cs typeface="B Titr" pitchFamily="2" charset="-78"/>
              </a:rPr>
              <a:t>طراحی توأم سخت‌افزار و نرم‌افزار</a:t>
            </a:r>
            <a:endParaRPr lang="en-US" sz="3600" kern="0" dirty="0" smtClean="0">
              <a:latin typeface="Elephant" pitchFamily="18" charset="0"/>
              <a:cs typeface="B Titr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a-IR" sz="2800" dirty="0" smtClean="0"/>
              <a:t>انواع طراحي سيستم ديجيتال بزرگ</a:t>
            </a:r>
            <a:endParaRPr lang="en-US" sz="2800" dirty="0" smtClean="0"/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305800" cy="4648200"/>
          </a:xfrm>
        </p:spPr>
        <p:txBody>
          <a:bodyPr/>
          <a:lstStyle/>
          <a:p>
            <a:pPr>
              <a:defRPr/>
            </a:pPr>
            <a:r>
              <a:rPr lang="fa-IR" sz="3600" dirty="0" smtClean="0"/>
              <a:t>پياده‌سازي نرم‌افزاري:</a:t>
            </a:r>
          </a:p>
          <a:p>
            <a:pPr lvl="1">
              <a:defRPr/>
            </a:pPr>
            <a:r>
              <a:rPr lang="fa-IR" sz="2800" b="1" dirty="0" smtClean="0"/>
              <a:t> اجراي برنامه کاربردي با پردازنده نهفته و برنامه سطح بالا روي آن</a:t>
            </a:r>
          </a:p>
          <a:p>
            <a:pPr>
              <a:defRPr/>
            </a:pPr>
            <a:r>
              <a:rPr lang="fa-IR" sz="3600" dirty="0" smtClean="0"/>
              <a:t>پياده‌سازي سخت‌افزاري:</a:t>
            </a:r>
          </a:p>
          <a:p>
            <a:pPr lvl="1">
              <a:defRPr/>
            </a:pPr>
            <a:r>
              <a:rPr lang="fa-IR" sz="2800" b="1" dirty="0" smtClean="0"/>
              <a:t> طراحي سخت‌افزار خاص‌منظوره</a:t>
            </a:r>
          </a:p>
          <a:p>
            <a:pPr lvl="2">
              <a:defRPr/>
            </a:pPr>
            <a:r>
              <a:rPr lang="fa-IR" sz="2400" b="1" dirty="0" smtClean="0"/>
              <a:t> کد </a:t>
            </a:r>
            <a:r>
              <a:rPr lang="en-US" sz="2000" b="1" dirty="0" smtClean="0"/>
              <a:t>HDL</a:t>
            </a:r>
            <a:r>
              <a:rPr lang="fa-IR" sz="2000" b="1" dirty="0" smtClean="0"/>
              <a:t> </a:t>
            </a:r>
            <a:r>
              <a:rPr lang="fa-IR" sz="2400" b="1" dirty="0" smtClean="0"/>
              <a:t>و سنتز و ...</a:t>
            </a:r>
          </a:p>
          <a:p>
            <a:pPr lvl="2">
              <a:defRPr/>
            </a:pPr>
            <a:r>
              <a:rPr lang="fa-IR" sz="2400" dirty="0" smtClean="0"/>
              <a:t>اجرا روی </a:t>
            </a:r>
            <a:r>
              <a:rPr lang="fa-IR" sz="2400" b="1" dirty="0" smtClean="0"/>
              <a:t>منابع سخت‌افزاري </a:t>
            </a:r>
            <a:r>
              <a:rPr lang="en-US" sz="2000" b="1" dirty="0" smtClean="0"/>
              <a:t>FPGA</a:t>
            </a:r>
            <a:r>
              <a:rPr lang="fa-IR" sz="2000" b="1" dirty="0" smtClean="0"/>
              <a:t> (</a:t>
            </a:r>
            <a:r>
              <a:rPr lang="en-US" sz="2000" b="1" dirty="0" smtClean="0"/>
              <a:t>logic blocks</a:t>
            </a:r>
            <a:r>
              <a:rPr lang="fa-IR" sz="2000" b="1" dirty="0" smtClean="0"/>
              <a:t>، </a:t>
            </a:r>
            <a:r>
              <a:rPr lang="en-US" sz="2000" b="1" dirty="0" smtClean="0"/>
              <a:t>Multipliers</a:t>
            </a:r>
            <a:r>
              <a:rPr lang="fa-IR" sz="2400" b="1" dirty="0" smtClean="0"/>
              <a:t>، ...)</a:t>
            </a:r>
          </a:p>
          <a:p>
            <a:pPr lvl="2">
              <a:defRPr/>
            </a:pPr>
            <a:endParaRPr lang="en-US" sz="3000" b="1" dirty="0" smtClean="0"/>
          </a:p>
          <a:p>
            <a:pPr marL="838200" lvl="1" indent="-381000" eaLnBrk="1" hangingPunct="1">
              <a:defRPr/>
            </a:pPr>
            <a:endParaRPr lang="en-US" sz="36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0738">
              <a:defRPr/>
            </a:pPr>
            <a:fld id="{13008D78-D183-4C00-992E-C997115D8D10}" type="slidenum">
              <a:rPr lang="en-US">
                <a:latin typeface="+mn-lt"/>
                <a:cs typeface="Arial" pitchFamily="34" charset="0"/>
              </a:rPr>
              <a:pPr defTabSz="820738">
                <a:defRPr/>
              </a:pPr>
              <a:t>2</a:t>
            </a:fld>
            <a:endParaRPr lang="en-US">
              <a:latin typeface="+mn-lt"/>
              <a:cs typeface="Arial" pitchFamily="34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انواع طراحي سيستم‌هاي ديجيتال بزرگ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229600" cy="4648200"/>
          </a:xfrm>
        </p:spPr>
        <p:txBody>
          <a:bodyPr/>
          <a:lstStyle/>
          <a:p>
            <a:r>
              <a:rPr lang="fa-IR" dirty="0" smtClean="0"/>
              <a:t>تفاوت‌ها:</a:t>
            </a:r>
          </a:p>
          <a:p>
            <a:pPr lvl="1"/>
            <a:r>
              <a:rPr lang="fa-IR" dirty="0" smtClean="0"/>
              <a:t> نرم‌افزاري:</a:t>
            </a:r>
          </a:p>
          <a:p>
            <a:pPr lvl="2"/>
            <a:r>
              <a:rPr lang="fa-IR" dirty="0" smtClean="0"/>
              <a:t> انعطاف بالا</a:t>
            </a:r>
          </a:p>
          <a:p>
            <a:pPr lvl="2"/>
            <a:r>
              <a:rPr lang="fa-IR" dirty="0" smtClean="0"/>
              <a:t> توصيف الگوريتم به زبان سطح بالا و اشکال زدایی آسان</a:t>
            </a:r>
          </a:p>
          <a:p>
            <a:pPr lvl="1"/>
            <a:r>
              <a:rPr lang="fa-IR" dirty="0" smtClean="0"/>
              <a:t> سخت‌‎افزاري:</a:t>
            </a:r>
          </a:p>
          <a:p>
            <a:pPr lvl="2"/>
            <a:r>
              <a:rPr lang="fa-IR" dirty="0" smtClean="0"/>
              <a:t> سرعت بالا</a:t>
            </a:r>
          </a:p>
          <a:p>
            <a:pPr lvl="2"/>
            <a:r>
              <a:rPr lang="fa-IR" dirty="0" smtClean="0"/>
              <a:t> هزينه بالا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0738">
              <a:defRPr/>
            </a:pPr>
            <a:fld id="{AFB2834F-25A7-4A60-92E1-C8DC710E7AF1}" type="slidenum">
              <a:rPr lang="en-US">
                <a:latin typeface="+mn-lt"/>
              </a:rPr>
              <a:pPr defTabSz="820738">
                <a:defRPr/>
              </a:pPr>
              <a:t>4</a:t>
            </a:fld>
            <a:endParaRPr lang="en-US">
              <a:latin typeface="+mn-lt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160" tIns="46080" rIns="92160" bIns="46080"/>
          <a:lstStyle/>
          <a:p>
            <a:pPr rtl="1" eaLnBrk="1" hangingPunct="1"/>
            <a:r>
              <a:rPr lang="fa-IR" dirty="0" smtClean="0">
                <a:cs typeface="B Titr" panose="00000700000000000000" pitchFamily="2" charset="-78"/>
              </a:rPr>
              <a:t>معماری فون نويمن </a:t>
            </a:r>
            <a:r>
              <a:rPr lang="en-GB" dirty="0" smtClean="0">
                <a:cs typeface="B Titr" panose="00000700000000000000" pitchFamily="2" charset="-78"/>
              </a:rPr>
              <a:t>Von Neumann</a:t>
            </a:r>
            <a:endParaRPr lang="de-DE" dirty="0" smtClean="0">
              <a:cs typeface="B Titr" panose="00000700000000000000" pitchFamily="2" charset="-78"/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137805"/>
            <a:ext cx="7772400" cy="5378450"/>
          </a:xfrm>
        </p:spPr>
        <p:txBody>
          <a:bodyPr lIns="92160" tIns="46080" rIns="92160" bIns="46080"/>
          <a:lstStyle/>
          <a:p>
            <a:pPr marL="174625" indent="-174625" algn="r" defTabSz="449263" eaLnBrk="1" hangingPunct="1">
              <a:lnSpc>
                <a:spcPct val="93000"/>
              </a:lnSpc>
            </a:pPr>
            <a:r>
              <a:rPr lang="fa-IR" sz="2800" dirty="0" smtClean="0">
                <a:cs typeface="B Nazanin" panose="00000400000000000000" pitchFamily="2" charset="-78"/>
              </a:rPr>
              <a:t>اجرای سريال</a:t>
            </a:r>
            <a:endParaRPr lang="en-GB" sz="2800" dirty="0" smtClean="0">
              <a:cs typeface="B Nazanin" panose="00000400000000000000" pitchFamily="2" charset="-78"/>
            </a:endParaRPr>
          </a:p>
          <a:p>
            <a:pPr marL="806450" lvl="1" indent="-285750" algn="r" defTabSz="449263" eaLnBrk="1" hangingPunct="1">
              <a:lnSpc>
                <a:spcPct val="93000"/>
              </a:lnSpc>
            </a:pPr>
            <a:r>
              <a:rPr lang="en-GB" dirty="0" err="1" smtClean="0">
                <a:cs typeface="B Nazanin" panose="00000400000000000000" pitchFamily="2" charset="-78"/>
              </a:rPr>
              <a:t>t</a:t>
            </a:r>
            <a:r>
              <a:rPr lang="en-GB" baseline="-33000" dirty="0" err="1" smtClean="0">
                <a:cs typeface="B Nazanin" panose="00000400000000000000" pitchFamily="2" charset="-78"/>
              </a:rPr>
              <a:t>cycle</a:t>
            </a:r>
            <a:r>
              <a:rPr lang="en-GB" dirty="0" smtClean="0">
                <a:cs typeface="B Nazanin" panose="00000400000000000000" pitchFamily="2" charset="-78"/>
              </a:rPr>
              <a:t> = </a:t>
            </a:r>
            <a:r>
              <a:rPr lang="en-GB" sz="2000" dirty="0" smtClean="0">
                <a:cs typeface="B Nazanin" panose="00000400000000000000" pitchFamily="2" charset="-78"/>
              </a:rPr>
              <a:t>cycle execution time</a:t>
            </a:r>
            <a:endParaRPr lang="en-GB" dirty="0" smtClean="0">
              <a:cs typeface="B Nazanin" panose="00000400000000000000" pitchFamily="2" charset="-78"/>
            </a:endParaRPr>
          </a:p>
          <a:p>
            <a:pPr marL="174625" indent="-174625" algn="r" defTabSz="449263" eaLnBrk="1" hangingPunct="1">
              <a:lnSpc>
                <a:spcPct val="93000"/>
              </a:lnSpc>
              <a:buSzPct val="45000"/>
              <a:buFont typeface="StarSymbol" charset="0"/>
              <a:buChar char="➢"/>
            </a:pPr>
            <a:r>
              <a:rPr lang="fa-IR" sz="18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يک دستورالعمل: </a:t>
            </a:r>
            <a:r>
              <a:rPr lang="en-GB" sz="18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t</a:t>
            </a:r>
            <a:r>
              <a:rPr lang="en-GB" sz="1800" baseline="-330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instruction</a:t>
            </a:r>
            <a:r>
              <a:rPr lang="en-GB" sz="18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 = 5*</a:t>
            </a:r>
            <a:r>
              <a:rPr lang="en-GB" sz="18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t</a:t>
            </a:r>
            <a:r>
              <a:rPr lang="en-GB" sz="1800" baseline="-330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cycle</a:t>
            </a:r>
            <a:r>
              <a:rPr lang="en-GB" sz="1800" baseline="-330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	</a:t>
            </a:r>
          </a:p>
          <a:p>
            <a:pPr marL="174625" indent="-174625" algn="r" defTabSz="449263" eaLnBrk="1" hangingPunct="1">
              <a:lnSpc>
                <a:spcPct val="93000"/>
              </a:lnSpc>
              <a:buSzPct val="45000"/>
              <a:buFont typeface="StarSymbol" charset="0"/>
              <a:buChar char="➢"/>
            </a:pPr>
            <a:r>
              <a:rPr lang="fa-IR" sz="18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سه دستورالعمل: </a:t>
            </a:r>
            <a:r>
              <a:rPr lang="en-GB" sz="18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15*</a:t>
            </a:r>
            <a:r>
              <a:rPr lang="en-GB" sz="18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t</a:t>
            </a:r>
            <a:r>
              <a:rPr lang="en-GB" sz="1800" baseline="-330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cycle</a:t>
            </a:r>
            <a:endParaRPr lang="en-GB" sz="1800" baseline="-33000" dirty="0" smtClean="0">
              <a:solidFill>
                <a:srgbClr val="0000FF"/>
              </a:solidFill>
              <a:cs typeface="B Nazanin" panose="00000400000000000000" pitchFamily="2" charset="-78"/>
            </a:endParaRPr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 rotWithShape="1">
          <a:blip r:embed="rId3"/>
          <a:srcRect l="1" r="170" b="68660"/>
          <a:stretch/>
        </p:blipFill>
        <p:spPr bwMode="auto">
          <a:xfrm>
            <a:off x="193982" y="990600"/>
            <a:ext cx="4385162" cy="1367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0738">
              <a:defRPr/>
            </a:pPr>
            <a:fld id="{AFB2834F-25A7-4A60-92E1-C8DC710E7AF1}" type="slidenum">
              <a:rPr lang="en-US">
                <a:latin typeface="+mn-lt"/>
              </a:rPr>
              <a:pPr defTabSz="820738">
                <a:defRPr/>
              </a:pPr>
              <a:t>5</a:t>
            </a:fld>
            <a:endParaRPr lang="en-US">
              <a:latin typeface="+mn-lt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160" tIns="46080" rIns="92160" bIns="46080"/>
          <a:lstStyle/>
          <a:p>
            <a:pPr rtl="1" eaLnBrk="1" hangingPunct="1"/>
            <a:r>
              <a:rPr lang="fa-IR" dirty="0" smtClean="0">
                <a:cs typeface="B Titr" panose="00000700000000000000" pitchFamily="2" charset="-78"/>
              </a:rPr>
              <a:t>معماری فون نويمن </a:t>
            </a:r>
            <a:r>
              <a:rPr lang="en-GB" dirty="0" smtClean="0">
                <a:cs typeface="B Titr" panose="00000700000000000000" pitchFamily="2" charset="-78"/>
              </a:rPr>
              <a:t>Von Neumann</a:t>
            </a:r>
            <a:endParaRPr lang="de-DE" dirty="0" smtClean="0">
              <a:cs typeface="B Titr" panose="00000700000000000000" pitchFamily="2" charset="-78"/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137805"/>
            <a:ext cx="7772400" cy="5378450"/>
          </a:xfrm>
        </p:spPr>
        <p:txBody>
          <a:bodyPr lIns="92160" tIns="46080" rIns="92160" bIns="46080"/>
          <a:lstStyle/>
          <a:p>
            <a:pPr marL="174625" indent="-174625" algn="r" defTabSz="449263" eaLnBrk="1" hangingPunct="1">
              <a:lnSpc>
                <a:spcPct val="93000"/>
              </a:lnSpc>
            </a:pPr>
            <a:r>
              <a:rPr lang="fa-IR" sz="2800" dirty="0" smtClean="0">
                <a:cs typeface="B Nazanin" panose="00000400000000000000" pitchFamily="2" charset="-78"/>
              </a:rPr>
              <a:t>اجرای سريال</a:t>
            </a:r>
            <a:endParaRPr lang="en-GB" sz="2800" dirty="0" smtClean="0">
              <a:cs typeface="B Nazanin" panose="00000400000000000000" pitchFamily="2" charset="-78"/>
            </a:endParaRPr>
          </a:p>
          <a:p>
            <a:pPr marL="806450" lvl="1" indent="-285750" algn="r" defTabSz="449263" eaLnBrk="1" hangingPunct="1">
              <a:lnSpc>
                <a:spcPct val="93000"/>
              </a:lnSpc>
            </a:pPr>
            <a:r>
              <a:rPr lang="en-GB" dirty="0" err="1" smtClean="0">
                <a:cs typeface="B Nazanin" panose="00000400000000000000" pitchFamily="2" charset="-78"/>
              </a:rPr>
              <a:t>t</a:t>
            </a:r>
            <a:r>
              <a:rPr lang="en-GB" baseline="-33000" dirty="0" err="1" smtClean="0">
                <a:cs typeface="B Nazanin" panose="00000400000000000000" pitchFamily="2" charset="-78"/>
              </a:rPr>
              <a:t>cycle</a:t>
            </a:r>
            <a:r>
              <a:rPr lang="en-GB" dirty="0" smtClean="0">
                <a:cs typeface="B Nazanin" panose="00000400000000000000" pitchFamily="2" charset="-78"/>
              </a:rPr>
              <a:t> = cycle execution time</a:t>
            </a:r>
          </a:p>
          <a:p>
            <a:pPr marL="174625" indent="-174625" algn="r" defTabSz="449263" eaLnBrk="1" hangingPunct="1">
              <a:lnSpc>
                <a:spcPct val="93000"/>
              </a:lnSpc>
              <a:buSzPct val="45000"/>
              <a:buFont typeface="StarSymbol" charset="0"/>
              <a:buChar char="➢"/>
            </a:pPr>
            <a:r>
              <a:rPr lang="fa-IR" sz="18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يک دستورالعمل: </a:t>
            </a:r>
            <a:r>
              <a:rPr lang="en-GB" sz="18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t</a:t>
            </a:r>
            <a:r>
              <a:rPr lang="en-GB" sz="1800" baseline="-330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instruction</a:t>
            </a:r>
            <a:r>
              <a:rPr lang="en-GB" sz="18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 = 5*</a:t>
            </a:r>
            <a:r>
              <a:rPr lang="en-GB" sz="18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t</a:t>
            </a:r>
            <a:r>
              <a:rPr lang="en-GB" sz="1800" baseline="-330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cycle</a:t>
            </a:r>
            <a:r>
              <a:rPr lang="en-GB" sz="1800" baseline="-330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	</a:t>
            </a:r>
          </a:p>
          <a:p>
            <a:pPr marL="174625" indent="-174625" algn="r" defTabSz="449263" eaLnBrk="1" hangingPunct="1">
              <a:lnSpc>
                <a:spcPct val="93000"/>
              </a:lnSpc>
              <a:buSzPct val="45000"/>
              <a:buFont typeface="StarSymbol" charset="0"/>
              <a:buChar char="➢"/>
            </a:pPr>
            <a:r>
              <a:rPr lang="fa-IR" sz="18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سه دستورالعمل: </a:t>
            </a:r>
            <a:r>
              <a:rPr lang="en-GB" sz="18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15*</a:t>
            </a:r>
            <a:r>
              <a:rPr lang="en-GB" sz="18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t</a:t>
            </a:r>
            <a:r>
              <a:rPr lang="en-GB" sz="1800" baseline="-330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cycle</a:t>
            </a:r>
            <a:endParaRPr lang="en-GB" sz="1800" baseline="-33000" dirty="0" smtClean="0">
              <a:solidFill>
                <a:srgbClr val="0000FF"/>
              </a:solidFill>
              <a:cs typeface="B Nazanin" panose="00000400000000000000" pitchFamily="2" charset="-78"/>
            </a:endParaRPr>
          </a:p>
          <a:p>
            <a:pPr marL="174625" indent="-174625" algn="r" defTabSz="449263" eaLnBrk="1" hangingPunct="1">
              <a:lnSpc>
                <a:spcPct val="93000"/>
              </a:lnSpc>
            </a:pPr>
            <a:endParaRPr lang="en-GB" sz="1000" dirty="0" smtClean="0">
              <a:solidFill>
                <a:srgbClr val="0000FF"/>
              </a:solidFill>
              <a:cs typeface="B Nazanin" panose="00000400000000000000" pitchFamily="2" charset="-78"/>
            </a:endParaRPr>
          </a:p>
          <a:p>
            <a:pPr marL="174625" indent="-174625" algn="r" defTabSz="449263" eaLnBrk="1" hangingPunct="1">
              <a:lnSpc>
                <a:spcPct val="93000"/>
              </a:lnSpc>
            </a:pPr>
            <a:r>
              <a:rPr lang="en-GB" sz="2800" dirty="0" smtClean="0">
                <a:cs typeface="B Nazanin" panose="00000400000000000000" pitchFamily="2" charset="-78"/>
              </a:rPr>
              <a:t>Pipelining</a:t>
            </a:r>
            <a:r>
              <a:rPr lang="fa-IR" sz="2800" dirty="0">
                <a:cs typeface="B Nazanin" panose="00000400000000000000" pitchFamily="2" charset="-78"/>
              </a:rPr>
              <a:t>:</a:t>
            </a:r>
            <a:endParaRPr lang="en-GB" sz="2800" dirty="0" smtClean="0">
              <a:cs typeface="B Nazanin" panose="00000400000000000000" pitchFamily="2" charset="-78"/>
            </a:endParaRPr>
          </a:p>
          <a:p>
            <a:pPr marL="174625" indent="-174625" defTabSz="449263" eaLnBrk="1" hangingPunct="1">
              <a:lnSpc>
                <a:spcPct val="93000"/>
              </a:lnSpc>
            </a:pPr>
            <a:r>
              <a:rPr lang="fa-IR" sz="1800" dirty="0">
                <a:solidFill>
                  <a:srgbClr val="0000FF"/>
                </a:solidFill>
                <a:cs typeface="B Nazanin" panose="00000400000000000000" pitchFamily="2" charset="-78"/>
              </a:rPr>
              <a:t>يک دستورالعمل: </a:t>
            </a:r>
            <a:r>
              <a:rPr lang="en-GB" sz="18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t</a:t>
            </a:r>
            <a:r>
              <a:rPr lang="en-GB" sz="1800" baseline="-330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instruction</a:t>
            </a:r>
            <a:r>
              <a:rPr lang="en-GB" sz="18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 = 5*</a:t>
            </a:r>
            <a:r>
              <a:rPr lang="en-GB" sz="18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t</a:t>
            </a:r>
            <a:r>
              <a:rPr lang="en-GB" sz="1800" baseline="-330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cycle</a:t>
            </a:r>
            <a:endParaRPr lang="en-GB" sz="1800" baseline="-33000" dirty="0" smtClean="0">
              <a:solidFill>
                <a:srgbClr val="0000FF"/>
              </a:solidFill>
              <a:cs typeface="B Nazanin" panose="00000400000000000000" pitchFamily="2" charset="-78"/>
            </a:endParaRPr>
          </a:p>
          <a:p>
            <a:pPr marL="174625" indent="-174625" defTabSz="449263" eaLnBrk="1" hangingPunct="1">
              <a:lnSpc>
                <a:spcPct val="93000"/>
              </a:lnSpc>
            </a:pPr>
            <a:r>
              <a:rPr lang="fa-IR" sz="1800" dirty="0">
                <a:solidFill>
                  <a:srgbClr val="0000FF"/>
                </a:solidFill>
                <a:cs typeface="B Nazanin" panose="00000400000000000000" pitchFamily="2" charset="-78"/>
              </a:rPr>
              <a:t>سه دستورالعمل: </a:t>
            </a:r>
            <a:r>
              <a:rPr lang="en-GB" sz="18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7*</a:t>
            </a:r>
            <a:r>
              <a:rPr lang="en-GB" sz="18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t</a:t>
            </a:r>
            <a:r>
              <a:rPr lang="en-GB" sz="1800" baseline="-330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cycle</a:t>
            </a:r>
            <a:r>
              <a:rPr lang="en-GB" sz="18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 </a:t>
            </a:r>
            <a:r>
              <a:rPr lang="fa-IR" sz="18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 در حالت ايده‌آل</a:t>
            </a:r>
            <a:endParaRPr lang="en-GB" sz="1800" dirty="0" smtClean="0">
              <a:solidFill>
                <a:srgbClr val="0000FF"/>
              </a:solidFill>
              <a:cs typeface="B Nazanin" panose="00000400000000000000" pitchFamily="2" charset="-78"/>
            </a:endParaRPr>
          </a:p>
          <a:p>
            <a:pPr marL="174625" indent="-174625" algn="r" defTabSz="449263" eaLnBrk="1" hangingPunct="1">
              <a:lnSpc>
                <a:spcPct val="93000"/>
              </a:lnSpc>
            </a:pPr>
            <a:endParaRPr lang="en-GB" sz="1800" dirty="0" smtClean="0">
              <a:solidFill>
                <a:srgbClr val="0000FF"/>
              </a:solidFill>
              <a:cs typeface="B Nazanin" panose="00000400000000000000" pitchFamily="2" charset="-78"/>
            </a:endParaRPr>
          </a:p>
          <a:p>
            <a:pPr marL="174625" indent="-174625" algn="r" defTabSz="449263" eaLnBrk="1" hangingPunct="1">
              <a:lnSpc>
                <a:spcPct val="93000"/>
              </a:lnSpc>
            </a:pPr>
            <a:r>
              <a:rPr lang="fa-IR" sz="1800" dirty="0" smtClean="0">
                <a:solidFill>
                  <a:srgbClr val="008000"/>
                </a:solidFill>
                <a:cs typeface="B Nazanin" panose="00000400000000000000" pitchFamily="2" charset="-78"/>
                <a:sym typeface="Wingdings" panose="05000000000000000000" pitchFamily="2" charset="2"/>
              </a:rPr>
              <a:t> </a:t>
            </a:r>
            <a:r>
              <a:rPr lang="en-GB" sz="1800" dirty="0" smtClean="0">
                <a:solidFill>
                  <a:srgbClr val="008000"/>
                </a:solidFill>
                <a:cs typeface="B Nazanin" panose="00000400000000000000" pitchFamily="2" charset="-78"/>
              </a:rPr>
              <a:t>throughput</a:t>
            </a:r>
            <a:r>
              <a:rPr lang="fa-IR" sz="1800" dirty="0" smtClean="0">
                <a:solidFill>
                  <a:srgbClr val="008000"/>
                </a:solidFill>
                <a:cs typeface="B Nazanin" panose="00000400000000000000" pitchFamily="2" charset="-78"/>
              </a:rPr>
              <a:t> بالاتر</a:t>
            </a:r>
            <a:endParaRPr lang="en-GB" sz="1800" dirty="0" smtClean="0">
              <a:solidFill>
                <a:srgbClr val="008000"/>
              </a:solidFill>
              <a:cs typeface="B Nazanin" panose="00000400000000000000" pitchFamily="2" charset="-78"/>
            </a:endParaRPr>
          </a:p>
          <a:p>
            <a:pPr marL="174625" indent="-174625" algn="r" defTabSz="449263" eaLnBrk="1" hangingPunct="1">
              <a:lnSpc>
                <a:spcPct val="93000"/>
              </a:lnSpc>
            </a:pPr>
            <a:endParaRPr lang="en-GB" sz="1800" dirty="0" smtClean="0">
              <a:solidFill>
                <a:srgbClr val="008000"/>
              </a:solidFill>
              <a:cs typeface="B Nazanin" panose="00000400000000000000" pitchFamily="2" charset="-78"/>
            </a:endParaRPr>
          </a:p>
          <a:p>
            <a:pPr marL="174625" indent="-174625" algn="r" defTabSz="449263" eaLnBrk="1" hangingPunct="1">
              <a:lnSpc>
                <a:spcPct val="93000"/>
              </a:lnSpc>
            </a:pPr>
            <a:r>
              <a:rPr lang="fa-IR" sz="1800" dirty="0" smtClean="0">
                <a:solidFill>
                  <a:srgbClr val="DC2300"/>
                </a:solidFill>
                <a:cs typeface="B Nazanin" panose="00000400000000000000" pitchFamily="2" charset="-78"/>
              </a:rPr>
              <a:t>با وجود بهبودهای خط لوله و حافظة نهان و ...، هنوز ماهيت معماری فون نويمن اجرای سريال است.</a:t>
            </a:r>
            <a:endParaRPr lang="de-DE" sz="1800" dirty="0" smtClean="0">
              <a:solidFill>
                <a:srgbClr val="DC2300"/>
              </a:solidFill>
              <a:cs typeface="B Nazanin" panose="00000400000000000000" pitchFamily="2" charset="-78"/>
            </a:endParaRPr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 rotWithShape="1">
          <a:blip r:embed="rId3"/>
          <a:srcRect l="1" r="170" b="68660"/>
          <a:stretch/>
        </p:blipFill>
        <p:spPr bwMode="auto">
          <a:xfrm>
            <a:off x="193982" y="990600"/>
            <a:ext cx="4385162" cy="1367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 rotWithShape="1">
          <a:blip r:embed="rId3"/>
          <a:srcRect t="31039" r="1064" b="35395"/>
          <a:stretch/>
        </p:blipFill>
        <p:spPr bwMode="auto">
          <a:xfrm>
            <a:off x="354460" y="2878570"/>
            <a:ext cx="4345930" cy="146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6571946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0738">
              <a:defRPr/>
            </a:pPr>
            <a:fld id="{F4EF473B-7BC3-4490-8F2B-19C089E17C4F}" type="slidenum">
              <a:rPr lang="en-US">
                <a:latin typeface="+mn-lt"/>
              </a:rPr>
              <a:pPr defTabSz="820738">
                <a:defRPr/>
              </a:pPr>
              <a:t>6</a:t>
            </a:fld>
            <a:endParaRPr lang="en-US">
              <a:latin typeface="+mn-lt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160" tIns="46080" rIns="92160" bIns="46080"/>
          <a:lstStyle/>
          <a:p>
            <a:pPr rtl="1" eaLnBrk="1" hangingPunct="1"/>
            <a:r>
              <a:rPr lang="fa-IR" dirty="0" smtClean="0">
                <a:cs typeface="B Titr" panose="00000700000000000000" pitchFamily="2" charset="-78"/>
              </a:rPr>
              <a:t>پياده‌سازی سخت‌افزاری</a:t>
            </a:r>
            <a:endParaRPr lang="de-DE" dirty="0" smtClean="0">
              <a:cs typeface="B Titr" panose="00000700000000000000" pitchFamily="2" charset="-78"/>
            </a:endParaRPr>
          </a:p>
        </p:txBody>
      </p:sp>
      <p:sp>
        <p:nvSpPr>
          <p:cNvPr id="18436" name="Rectangle 9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371600"/>
            <a:ext cx="4054475" cy="4143375"/>
          </a:xfrm>
        </p:spPr>
        <p:txBody>
          <a:bodyPr lIns="92160" tIns="46080" rIns="92160" bIns="46080"/>
          <a:lstStyle/>
          <a:p>
            <a:pPr marL="457200" indent="-457200" algn="l" defTabSz="449263" rtl="0" eaLnBrk="1" hangingPunct="1">
              <a:lnSpc>
                <a:spcPct val="93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endParaRPr lang="en-GB" sz="1000" dirty="0" smtClean="0">
              <a:solidFill>
                <a:srgbClr val="0000FF"/>
              </a:solidFill>
            </a:endParaRPr>
          </a:p>
          <a:p>
            <a:pPr marL="879475" lvl="1" indent="-457200" algn="l" defTabSz="449263" rtl="0" eaLnBrk="1" hangingPunct="1">
              <a:lnSpc>
                <a:spcPct val="89000"/>
              </a:lnSpc>
              <a:buFont typeface="Wingdings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sz="1800" b="1" dirty="0" smtClean="0">
                <a:latin typeface="Courier New" pitchFamily="49" charset="0"/>
              </a:rPr>
              <a:t>if (a &lt; b) then</a:t>
            </a:r>
          </a:p>
          <a:p>
            <a:pPr marL="879475" lvl="1" indent="-457200" algn="l" defTabSz="449263" rtl="0" eaLnBrk="1" hangingPunct="1">
              <a:lnSpc>
                <a:spcPct val="89000"/>
              </a:lnSpc>
              <a:spcBef>
                <a:spcPct val="0"/>
              </a:spcBef>
              <a:buFont typeface="Wingdings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sz="1800" b="1" i="1" dirty="0" smtClean="0">
                <a:latin typeface="Courier New" pitchFamily="49" charset="0"/>
              </a:rPr>
              <a:t>{</a:t>
            </a:r>
          </a:p>
          <a:p>
            <a:pPr marL="1108075" lvl="2" indent="-280988" algn="l" defTabSz="449263" rtl="0" eaLnBrk="1" hangingPunct="1">
              <a:lnSpc>
                <a:spcPct val="95000"/>
              </a:lnSpc>
              <a:spcBef>
                <a:spcPct val="0"/>
              </a:spcBef>
              <a:buFont typeface="Arial" pitchFamily="34" charset="0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b="1" i="1" dirty="0" smtClean="0">
                <a:latin typeface="Courier New" pitchFamily="49" charset="0"/>
              </a:rPr>
              <a:t>d = </a:t>
            </a:r>
            <a:r>
              <a:rPr lang="en-GB" b="1" i="1" dirty="0" err="1" smtClean="0">
                <a:latin typeface="Courier New" pitchFamily="49" charset="0"/>
              </a:rPr>
              <a:t>a+b</a:t>
            </a:r>
            <a:r>
              <a:rPr lang="en-GB" b="1" i="1" dirty="0" smtClean="0">
                <a:latin typeface="Courier New" pitchFamily="49" charset="0"/>
              </a:rPr>
              <a:t>;</a:t>
            </a:r>
          </a:p>
          <a:p>
            <a:pPr marL="1108075" lvl="2" indent="-280988" algn="l" defTabSz="449263" rtl="0" eaLnBrk="1" hangingPunct="1">
              <a:lnSpc>
                <a:spcPct val="95000"/>
              </a:lnSpc>
              <a:spcBef>
                <a:spcPct val="0"/>
              </a:spcBef>
              <a:buFont typeface="Arial" pitchFamily="34" charset="0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b="1" i="1" dirty="0" smtClean="0">
                <a:latin typeface="Courier New" pitchFamily="49" charset="0"/>
              </a:rPr>
              <a:t>c = a*b;</a:t>
            </a:r>
          </a:p>
          <a:p>
            <a:pPr marL="879475" lvl="1" indent="-457200" algn="l" defTabSz="449263" rtl="0" eaLnBrk="1" hangingPunct="1">
              <a:lnSpc>
                <a:spcPct val="89000"/>
              </a:lnSpc>
              <a:spcBef>
                <a:spcPct val="0"/>
              </a:spcBef>
              <a:buFont typeface="Wingdings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sz="1800" b="1" i="1" dirty="0" smtClean="0">
                <a:latin typeface="Courier New" pitchFamily="49" charset="0"/>
              </a:rPr>
              <a:t>}</a:t>
            </a:r>
          </a:p>
          <a:p>
            <a:pPr marL="879475" lvl="1" indent="-457200" algn="l" defTabSz="449263" rtl="0" eaLnBrk="1" hangingPunct="1">
              <a:lnSpc>
                <a:spcPct val="89000"/>
              </a:lnSpc>
              <a:spcBef>
                <a:spcPct val="0"/>
              </a:spcBef>
              <a:buFont typeface="Wingdings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sz="1800" b="1" i="1" dirty="0" smtClean="0">
                <a:latin typeface="Courier New" pitchFamily="49" charset="0"/>
              </a:rPr>
              <a:t>else</a:t>
            </a:r>
          </a:p>
          <a:p>
            <a:pPr marL="879475" lvl="1" indent="-457200" algn="l" defTabSz="449263" rtl="0" eaLnBrk="1" hangingPunct="1">
              <a:lnSpc>
                <a:spcPct val="89000"/>
              </a:lnSpc>
              <a:spcBef>
                <a:spcPct val="0"/>
              </a:spcBef>
              <a:buFont typeface="Wingdings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sz="1800" b="1" i="1" dirty="0" smtClean="0">
                <a:latin typeface="Courier New" pitchFamily="49" charset="0"/>
              </a:rPr>
              <a:t>{</a:t>
            </a:r>
          </a:p>
          <a:p>
            <a:pPr marL="1108075" lvl="2" indent="-280988" algn="l" defTabSz="449263" rtl="0" eaLnBrk="1" hangingPunct="1">
              <a:lnSpc>
                <a:spcPct val="95000"/>
              </a:lnSpc>
              <a:spcBef>
                <a:spcPct val="0"/>
              </a:spcBef>
              <a:buFont typeface="Arial" pitchFamily="34" charset="0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b="1" i="1" dirty="0" smtClean="0">
                <a:latin typeface="Courier New" pitchFamily="49" charset="0"/>
              </a:rPr>
              <a:t>d = a+1;</a:t>
            </a:r>
          </a:p>
          <a:p>
            <a:pPr marL="1108075" lvl="2" indent="-280988" algn="l" defTabSz="449263" rtl="0" eaLnBrk="1" hangingPunct="1">
              <a:lnSpc>
                <a:spcPct val="95000"/>
              </a:lnSpc>
              <a:spcBef>
                <a:spcPct val="0"/>
              </a:spcBef>
              <a:buFont typeface="Arial" pitchFamily="34" charset="0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b="1" i="1" dirty="0" smtClean="0">
                <a:latin typeface="Courier New" pitchFamily="49" charset="0"/>
              </a:rPr>
              <a:t>c = b-1;</a:t>
            </a:r>
          </a:p>
          <a:p>
            <a:pPr marL="879475" lvl="1" indent="-457200" algn="l" defTabSz="449263" rtl="0" eaLnBrk="1" hangingPunct="1">
              <a:lnSpc>
                <a:spcPct val="89000"/>
              </a:lnSpc>
              <a:spcBef>
                <a:spcPct val="0"/>
              </a:spcBef>
              <a:buFont typeface="Wingdings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sz="1800" b="1" i="1" dirty="0" smtClean="0">
                <a:latin typeface="Courier New" pitchFamily="49" charset="0"/>
              </a:rPr>
              <a:t>}</a:t>
            </a:r>
          </a:p>
          <a:p>
            <a:pPr marL="457200" indent="-457200" algn="l" defTabSz="449263" rtl="0" eaLnBrk="1" hangingPunct="1">
              <a:lnSpc>
                <a:spcPct val="89000"/>
              </a:lnSpc>
              <a:spcBef>
                <a:spcPct val="0"/>
              </a:spcBef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endParaRPr lang="en-GB" i="1" dirty="0" smtClean="0">
              <a:latin typeface="Courier New" pitchFamily="49" charset="0"/>
            </a:endParaRPr>
          </a:p>
        </p:txBody>
      </p:sp>
      <p:sp>
        <p:nvSpPr>
          <p:cNvPr id="18438" name="Text Box 12"/>
          <p:cNvSpPr txBox="1">
            <a:spLocks noChangeArrowheads="1"/>
          </p:cNvSpPr>
          <p:nvPr/>
        </p:nvSpPr>
        <p:spPr bwMode="auto">
          <a:xfrm>
            <a:off x="241300" y="5354638"/>
            <a:ext cx="4516438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de-DE" sz="2400">
              <a:solidFill>
                <a:schemeClr val="bg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133600" y="903421"/>
            <a:ext cx="6705599" cy="4648200"/>
          </a:xfrm>
          <a:prstGeom prst="rect">
            <a:avLst/>
          </a:prstGeom>
        </p:spPr>
        <p:txBody>
          <a:bodyPr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rgbClr val="FF5050"/>
                </a:solidFill>
                <a:latin typeface="+mn-lt"/>
                <a:ea typeface="+mn-ea"/>
                <a:cs typeface="+mn-cs"/>
              </a:defRPr>
            </a:lvl1pPr>
            <a:lvl2pPr marL="741363" indent="-284163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×"/>
              <a:defRPr sz="2200">
                <a:solidFill>
                  <a:srgbClr val="0000FF"/>
                </a:solidFill>
                <a:latin typeface="+mn-lt"/>
                <a:cs typeface="+mn-cs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3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31775" algn="r" rtl="1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r" rtl="1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r" rtl="1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r" rtl="1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r"/>
            <a:r>
              <a:rPr lang="fa-IR" kern="0" dirty="0" smtClean="0">
                <a:cs typeface="B Nazanin" panose="00000400000000000000" pitchFamily="2" charset="-78"/>
              </a:rPr>
              <a:t>مقايسة پياده‌سازی </a:t>
            </a:r>
            <a:r>
              <a:rPr lang="fa-IR" dirty="0" smtClean="0">
                <a:cs typeface="B Nazanin" panose="00000400000000000000" pitchFamily="2" charset="-78"/>
              </a:rPr>
              <a:t>سخت‌افزاری و نرم‌افزاری</a:t>
            </a:r>
            <a:r>
              <a:rPr lang="fa-IR" kern="0" dirty="0" smtClean="0">
                <a:cs typeface="B Nazanin" panose="00000400000000000000" pitchFamily="2" charset="-78"/>
              </a:rPr>
              <a:t>:</a:t>
            </a:r>
          </a:p>
          <a:p>
            <a:pPr lvl="1"/>
            <a:r>
              <a:rPr lang="fa-IR" b="1" kern="0" dirty="0" smtClean="0">
                <a:cs typeface="B Nazanin" panose="00000400000000000000" pitchFamily="2" charset="-78"/>
              </a:rPr>
              <a:t> نرم‌افزاري:</a:t>
            </a:r>
          </a:p>
          <a:p>
            <a:pPr lvl="2"/>
            <a:r>
              <a:rPr lang="fa-IR" sz="1800" b="1" kern="0" dirty="0" smtClean="0">
                <a:cs typeface="B Nazanin" panose="00000400000000000000" pitchFamily="2" charset="-78"/>
              </a:rPr>
              <a:t>حداقل 3 دستور</a:t>
            </a:r>
          </a:p>
          <a:p>
            <a:pPr lvl="2"/>
            <a:r>
              <a:rPr lang="fa-IR" sz="1800" b="1" kern="0" dirty="0" smtClean="0">
                <a:cs typeface="B Nazanin" panose="00000400000000000000" pitchFamily="2" charset="-78"/>
              </a:rPr>
              <a:t>زمان اجرا:  </a:t>
            </a:r>
            <a:r>
              <a:rPr lang="en-GB" sz="1800" b="1" i="1" dirty="0" smtClean="0">
                <a:solidFill>
                  <a:srgbClr val="0000FF"/>
                </a:solidFill>
                <a:cs typeface="B Nazanin" panose="00000400000000000000" pitchFamily="2" charset="-78"/>
              </a:rPr>
              <a:t>3*</a:t>
            </a:r>
            <a:r>
              <a:rPr lang="en-GB" sz="1800" b="1" i="1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t</a:t>
            </a:r>
            <a:r>
              <a:rPr lang="en-GB" sz="1800" b="1" i="1" baseline="-330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instruction</a:t>
            </a:r>
            <a:endParaRPr lang="en-GB" sz="1800" b="1" i="1" baseline="-33000" dirty="0">
              <a:solidFill>
                <a:srgbClr val="0000FF"/>
              </a:solidFill>
              <a:cs typeface="B Nazanin" panose="00000400000000000000" pitchFamily="2" charset="-78"/>
            </a:endParaRPr>
          </a:p>
          <a:p>
            <a:pPr lvl="2"/>
            <a:endParaRPr lang="fa-IR" b="1" kern="0" dirty="0" smtClean="0">
              <a:cs typeface="B Nazanin" panose="00000400000000000000" pitchFamily="2" charset="-78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20738">
              <a:defRPr/>
            </a:pPr>
            <a:fld id="{F4EF473B-7BC3-4490-8F2B-19C089E17C4F}" type="slidenum">
              <a:rPr lang="en-US">
                <a:latin typeface="+mn-lt"/>
              </a:rPr>
              <a:pPr defTabSz="820738">
                <a:defRPr/>
              </a:pPr>
              <a:t>7</a:t>
            </a:fld>
            <a:endParaRPr lang="en-US">
              <a:latin typeface="+mn-lt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160" tIns="46080" rIns="92160" bIns="46080"/>
          <a:lstStyle/>
          <a:p>
            <a:pPr rtl="1" eaLnBrk="1" hangingPunct="1"/>
            <a:r>
              <a:rPr lang="fa-IR" dirty="0" smtClean="0">
                <a:cs typeface="B Titr" panose="00000700000000000000" pitchFamily="2" charset="-78"/>
              </a:rPr>
              <a:t>پياده‌سازی سخت‌افزاری</a:t>
            </a:r>
            <a:endParaRPr lang="de-DE" dirty="0" smtClean="0">
              <a:cs typeface="B Titr" panose="00000700000000000000" pitchFamily="2" charset="-78"/>
            </a:endParaRPr>
          </a:p>
        </p:txBody>
      </p:sp>
      <p:sp>
        <p:nvSpPr>
          <p:cNvPr id="18436" name="Rectangle 9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371600"/>
            <a:ext cx="4054475" cy="4143375"/>
          </a:xfrm>
        </p:spPr>
        <p:txBody>
          <a:bodyPr lIns="92160" tIns="46080" rIns="92160" bIns="46080"/>
          <a:lstStyle/>
          <a:p>
            <a:pPr marL="457200" indent="-457200" algn="l" defTabSz="449263" rtl="0" eaLnBrk="1" hangingPunct="1">
              <a:lnSpc>
                <a:spcPct val="93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endParaRPr lang="en-GB" sz="1000" dirty="0" smtClean="0">
              <a:solidFill>
                <a:srgbClr val="0000FF"/>
              </a:solidFill>
            </a:endParaRPr>
          </a:p>
          <a:p>
            <a:pPr marL="879475" lvl="1" indent="-457200" algn="l" defTabSz="449263" rtl="0" eaLnBrk="1" hangingPunct="1">
              <a:lnSpc>
                <a:spcPct val="89000"/>
              </a:lnSpc>
              <a:buFont typeface="Wingdings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sz="1800" b="1" dirty="0" smtClean="0">
                <a:latin typeface="Courier New" pitchFamily="49" charset="0"/>
              </a:rPr>
              <a:t>if (a &lt; b) then</a:t>
            </a:r>
          </a:p>
          <a:p>
            <a:pPr marL="879475" lvl="1" indent="-457200" algn="l" defTabSz="449263" rtl="0" eaLnBrk="1" hangingPunct="1">
              <a:lnSpc>
                <a:spcPct val="89000"/>
              </a:lnSpc>
              <a:spcBef>
                <a:spcPct val="0"/>
              </a:spcBef>
              <a:buFont typeface="Wingdings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sz="1800" b="1" i="1" dirty="0" smtClean="0">
                <a:latin typeface="Courier New" pitchFamily="49" charset="0"/>
              </a:rPr>
              <a:t>{</a:t>
            </a:r>
          </a:p>
          <a:p>
            <a:pPr marL="1108075" lvl="2" indent="-280988" algn="l" defTabSz="449263" rtl="0" eaLnBrk="1" hangingPunct="1">
              <a:lnSpc>
                <a:spcPct val="95000"/>
              </a:lnSpc>
              <a:spcBef>
                <a:spcPct val="0"/>
              </a:spcBef>
              <a:buFont typeface="Arial" pitchFamily="34" charset="0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b="1" i="1" dirty="0" smtClean="0">
                <a:latin typeface="Courier New" pitchFamily="49" charset="0"/>
              </a:rPr>
              <a:t>d = </a:t>
            </a:r>
            <a:r>
              <a:rPr lang="en-GB" b="1" i="1" dirty="0" err="1" smtClean="0">
                <a:latin typeface="Courier New" pitchFamily="49" charset="0"/>
              </a:rPr>
              <a:t>a+b</a:t>
            </a:r>
            <a:r>
              <a:rPr lang="en-GB" b="1" i="1" dirty="0" smtClean="0">
                <a:latin typeface="Courier New" pitchFamily="49" charset="0"/>
              </a:rPr>
              <a:t>;</a:t>
            </a:r>
          </a:p>
          <a:p>
            <a:pPr marL="1108075" lvl="2" indent="-280988" algn="l" defTabSz="449263" rtl="0" eaLnBrk="1" hangingPunct="1">
              <a:lnSpc>
                <a:spcPct val="95000"/>
              </a:lnSpc>
              <a:spcBef>
                <a:spcPct val="0"/>
              </a:spcBef>
              <a:buFont typeface="Arial" pitchFamily="34" charset="0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b="1" i="1" dirty="0" smtClean="0">
                <a:latin typeface="Courier New" pitchFamily="49" charset="0"/>
              </a:rPr>
              <a:t>c = a*b;</a:t>
            </a:r>
          </a:p>
          <a:p>
            <a:pPr marL="879475" lvl="1" indent="-457200" algn="l" defTabSz="449263" rtl="0" eaLnBrk="1" hangingPunct="1">
              <a:lnSpc>
                <a:spcPct val="89000"/>
              </a:lnSpc>
              <a:spcBef>
                <a:spcPct val="0"/>
              </a:spcBef>
              <a:buFont typeface="Wingdings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sz="1800" b="1" i="1" dirty="0" smtClean="0">
                <a:latin typeface="Courier New" pitchFamily="49" charset="0"/>
              </a:rPr>
              <a:t>}</a:t>
            </a:r>
          </a:p>
          <a:p>
            <a:pPr marL="879475" lvl="1" indent="-457200" algn="l" defTabSz="449263" rtl="0" eaLnBrk="1" hangingPunct="1">
              <a:lnSpc>
                <a:spcPct val="89000"/>
              </a:lnSpc>
              <a:spcBef>
                <a:spcPct val="0"/>
              </a:spcBef>
              <a:buFont typeface="Wingdings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sz="1800" b="1" i="1" dirty="0" smtClean="0">
                <a:latin typeface="Courier New" pitchFamily="49" charset="0"/>
              </a:rPr>
              <a:t>else</a:t>
            </a:r>
          </a:p>
          <a:p>
            <a:pPr marL="879475" lvl="1" indent="-457200" algn="l" defTabSz="449263" rtl="0" eaLnBrk="1" hangingPunct="1">
              <a:lnSpc>
                <a:spcPct val="89000"/>
              </a:lnSpc>
              <a:spcBef>
                <a:spcPct val="0"/>
              </a:spcBef>
              <a:buFont typeface="Wingdings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sz="1800" b="1" i="1" dirty="0" smtClean="0">
                <a:latin typeface="Courier New" pitchFamily="49" charset="0"/>
              </a:rPr>
              <a:t>{</a:t>
            </a:r>
          </a:p>
          <a:p>
            <a:pPr marL="1108075" lvl="2" indent="-280988" algn="l" defTabSz="449263" rtl="0" eaLnBrk="1" hangingPunct="1">
              <a:lnSpc>
                <a:spcPct val="95000"/>
              </a:lnSpc>
              <a:spcBef>
                <a:spcPct val="0"/>
              </a:spcBef>
              <a:buFont typeface="Arial" pitchFamily="34" charset="0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b="1" i="1" dirty="0" smtClean="0">
                <a:latin typeface="Courier New" pitchFamily="49" charset="0"/>
              </a:rPr>
              <a:t>d = a+1;</a:t>
            </a:r>
          </a:p>
          <a:p>
            <a:pPr marL="1108075" lvl="2" indent="-280988" algn="l" defTabSz="449263" rtl="0" eaLnBrk="1" hangingPunct="1">
              <a:lnSpc>
                <a:spcPct val="95000"/>
              </a:lnSpc>
              <a:spcBef>
                <a:spcPct val="0"/>
              </a:spcBef>
              <a:buFont typeface="Arial" pitchFamily="34" charset="0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b="1" i="1" dirty="0" smtClean="0">
                <a:latin typeface="Courier New" pitchFamily="49" charset="0"/>
              </a:rPr>
              <a:t>c = b-1;</a:t>
            </a:r>
          </a:p>
          <a:p>
            <a:pPr marL="879475" lvl="1" indent="-457200" algn="l" defTabSz="449263" rtl="0" eaLnBrk="1" hangingPunct="1">
              <a:lnSpc>
                <a:spcPct val="89000"/>
              </a:lnSpc>
              <a:spcBef>
                <a:spcPct val="0"/>
              </a:spcBef>
              <a:buFont typeface="Wingdings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sz="1800" b="1" i="1" dirty="0" smtClean="0">
                <a:latin typeface="Courier New" pitchFamily="49" charset="0"/>
              </a:rPr>
              <a:t>}</a:t>
            </a:r>
          </a:p>
          <a:p>
            <a:pPr marL="457200" indent="-457200" algn="l" defTabSz="449263" rtl="0" eaLnBrk="1" hangingPunct="1">
              <a:lnSpc>
                <a:spcPct val="89000"/>
              </a:lnSpc>
              <a:spcBef>
                <a:spcPct val="0"/>
              </a:spcBef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endParaRPr lang="en-GB" i="1" dirty="0" smtClean="0">
              <a:latin typeface="Courier New" pitchFamily="49" charset="0"/>
            </a:endParaRPr>
          </a:p>
        </p:txBody>
      </p:sp>
      <p:sp>
        <p:nvSpPr>
          <p:cNvPr id="18438" name="Text Box 12"/>
          <p:cNvSpPr txBox="1">
            <a:spLocks noChangeArrowheads="1"/>
          </p:cNvSpPr>
          <p:nvPr/>
        </p:nvSpPr>
        <p:spPr bwMode="auto">
          <a:xfrm>
            <a:off x="241300" y="5354638"/>
            <a:ext cx="4516438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de-DE" sz="2400">
              <a:solidFill>
                <a:schemeClr val="bg1"/>
              </a:solidFill>
            </a:endParaRPr>
          </a:p>
        </p:txBody>
      </p:sp>
      <p:pic>
        <p:nvPicPr>
          <p:cNvPr id="18439" name="Picture 14" descr="asic_co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0" y="3507831"/>
            <a:ext cx="3529013" cy="345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2133600" y="903421"/>
            <a:ext cx="6705599" cy="4648200"/>
          </a:xfrm>
          <a:prstGeom prst="rect">
            <a:avLst/>
          </a:prstGeom>
        </p:spPr>
        <p:txBody>
          <a:bodyPr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rgbClr val="FF5050"/>
                </a:solidFill>
                <a:latin typeface="+mn-lt"/>
                <a:ea typeface="+mn-ea"/>
                <a:cs typeface="+mn-cs"/>
              </a:defRPr>
            </a:lvl1pPr>
            <a:lvl2pPr marL="741363" indent="-284163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×"/>
              <a:defRPr sz="2200">
                <a:solidFill>
                  <a:srgbClr val="0000FF"/>
                </a:solidFill>
                <a:latin typeface="+mn-lt"/>
                <a:cs typeface="+mn-cs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3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31775" algn="r" rtl="1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r" rtl="1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r" rtl="1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r" rtl="1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r"/>
            <a:r>
              <a:rPr lang="fa-IR" kern="0" dirty="0" smtClean="0">
                <a:cs typeface="B Nazanin" panose="00000400000000000000" pitchFamily="2" charset="-78"/>
              </a:rPr>
              <a:t>مقايسة پياده‌سازی </a:t>
            </a:r>
            <a:r>
              <a:rPr lang="fa-IR" dirty="0" smtClean="0">
                <a:cs typeface="B Nazanin" panose="00000400000000000000" pitchFamily="2" charset="-78"/>
              </a:rPr>
              <a:t>سخت‌افزاری و نرم‌افزاری</a:t>
            </a:r>
            <a:r>
              <a:rPr lang="fa-IR" kern="0" dirty="0" smtClean="0">
                <a:cs typeface="B Nazanin" panose="00000400000000000000" pitchFamily="2" charset="-78"/>
              </a:rPr>
              <a:t>:</a:t>
            </a:r>
          </a:p>
          <a:p>
            <a:pPr lvl="1"/>
            <a:r>
              <a:rPr lang="fa-IR" b="1" kern="0" dirty="0" smtClean="0">
                <a:cs typeface="B Nazanin" panose="00000400000000000000" pitchFamily="2" charset="-78"/>
              </a:rPr>
              <a:t> نرم‌افزاري:</a:t>
            </a:r>
          </a:p>
          <a:p>
            <a:pPr lvl="2"/>
            <a:r>
              <a:rPr lang="fa-IR" sz="1800" b="1" kern="0" dirty="0" smtClean="0">
                <a:cs typeface="B Nazanin" panose="00000400000000000000" pitchFamily="2" charset="-78"/>
              </a:rPr>
              <a:t>حداقل 3 دستور</a:t>
            </a:r>
          </a:p>
          <a:p>
            <a:pPr lvl="2"/>
            <a:r>
              <a:rPr lang="fa-IR" sz="1800" b="1" kern="0" dirty="0" smtClean="0">
                <a:cs typeface="B Nazanin" panose="00000400000000000000" pitchFamily="2" charset="-78"/>
              </a:rPr>
              <a:t>زمان اجرا:  </a:t>
            </a:r>
            <a:r>
              <a:rPr lang="en-GB" sz="1800" b="1" i="1" dirty="0" smtClean="0">
                <a:solidFill>
                  <a:srgbClr val="0000FF"/>
                </a:solidFill>
                <a:cs typeface="B Nazanin" panose="00000400000000000000" pitchFamily="2" charset="-78"/>
              </a:rPr>
              <a:t>3*</a:t>
            </a:r>
            <a:r>
              <a:rPr lang="en-GB" sz="1800" b="1" i="1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t</a:t>
            </a:r>
            <a:r>
              <a:rPr lang="en-GB" sz="1800" b="1" i="1" baseline="-330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instruction</a:t>
            </a:r>
            <a:endParaRPr lang="en-GB" sz="1800" b="1" i="1" baseline="-33000" dirty="0">
              <a:solidFill>
                <a:srgbClr val="0000FF"/>
              </a:solidFill>
              <a:cs typeface="B Nazanin" panose="00000400000000000000" pitchFamily="2" charset="-78"/>
            </a:endParaRPr>
          </a:p>
          <a:p>
            <a:pPr lvl="1"/>
            <a:r>
              <a:rPr lang="fa-IR" b="1" kern="0" dirty="0" smtClean="0">
                <a:cs typeface="B Nazanin" panose="00000400000000000000" pitchFamily="2" charset="-78"/>
              </a:rPr>
              <a:t>سخت‌‎افزاري:</a:t>
            </a:r>
          </a:p>
          <a:p>
            <a:pPr lvl="2"/>
            <a:r>
              <a:rPr lang="fa-IR" sz="2000" b="1" kern="0" dirty="0" smtClean="0">
                <a:cs typeface="B Nazanin" panose="00000400000000000000" pitchFamily="2" charset="-78"/>
              </a:rPr>
              <a:t>اجرای موازی</a:t>
            </a:r>
          </a:p>
          <a:p>
            <a:pPr lvl="2"/>
            <a:r>
              <a:rPr lang="fa-IR" sz="2000" b="1" kern="0" dirty="0" smtClean="0">
                <a:cs typeface="B Nazanin" panose="00000400000000000000" pitchFamily="2" charset="-78"/>
              </a:rPr>
              <a:t>زمان اجرا:  </a:t>
            </a:r>
            <a:r>
              <a:rPr lang="en-GB" sz="2000" b="1" i="1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t</a:t>
            </a:r>
            <a:r>
              <a:rPr lang="en-GB" sz="2000" b="1" i="1" baseline="-33000" dirty="0" err="1" smtClean="0">
                <a:solidFill>
                  <a:srgbClr val="0000FF"/>
                </a:solidFill>
                <a:cs typeface="B Nazanin" panose="00000400000000000000" pitchFamily="2" charset="-78"/>
              </a:rPr>
              <a:t>clock</a:t>
            </a:r>
            <a:r>
              <a:rPr lang="fa-IR" sz="2000" b="1" i="1" baseline="-33000" dirty="0" smtClean="0">
                <a:solidFill>
                  <a:srgbClr val="0000FF"/>
                </a:solidFill>
                <a:cs typeface="B Nazanin" panose="00000400000000000000" pitchFamily="2" charset="-78"/>
              </a:rPr>
              <a:t> </a:t>
            </a:r>
            <a:r>
              <a:rPr lang="fa-IR" sz="2000" b="1" i="1" dirty="0" smtClean="0">
                <a:solidFill>
                  <a:srgbClr val="0000FF"/>
                </a:solidFill>
                <a:cs typeface="B Nazanin" panose="00000400000000000000" pitchFamily="2" charset="-78"/>
              </a:rPr>
              <a:t> : </a:t>
            </a:r>
            <a:r>
              <a:rPr lang="fa-IR" sz="2000" b="1" dirty="0" smtClean="0">
                <a:solidFill>
                  <a:srgbClr val="0000FF"/>
                </a:solidFill>
                <a:cs typeface="B Nazanin" panose="00000400000000000000" pitchFamily="2" charset="-78"/>
              </a:rPr>
              <a:t>تأخير بلندترين مسير از ورودی تا خروجی</a:t>
            </a:r>
          </a:p>
          <a:p>
            <a:pPr lvl="2"/>
            <a:endParaRPr lang="fa-IR" b="1" kern="0" dirty="0" smtClean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36575811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cs typeface="Titr"/>
              </a:rPr>
              <a:t>پياده‌سازی سخت‌افزاری</a:t>
            </a:r>
            <a:endParaRPr altLang="en-US" dirty="0" smtClean="0"/>
          </a:p>
        </p:txBody>
      </p:sp>
      <p:sp>
        <p:nvSpPr>
          <p:cNvPr id="1843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A10971-E377-4C54-85AF-0C02F54DE7AD}" type="slidenum">
              <a:rPr lang="en-US" altLang="en-US" sz="1300" b="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300" b="0" smtClean="0">
              <a:solidFill>
                <a:srgbClr val="0000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7" t="11163" r="4636" b="36745"/>
          <a:stretch>
            <a:fillRect/>
          </a:stretch>
        </p:blipFill>
        <p:spPr bwMode="auto">
          <a:xfrm>
            <a:off x="454025" y="2895600"/>
            <a:ext cx="5334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600" b="1" baseline="0">
                <a:solidFill>
                  <a:srgbClr val="FF5050"/>
                </a:solidFill>
                <a:latin typeface="+mn-lt"/>
                <a:ea typeface="+mn-ea"/>
                <a:cs typeface="B Nazanin" pitchFamily="2" charset="-78"/>
              </a:defRPr>
            </a:lvl1pPr>
            <a:lvl2pPr marL="741363" indent="-284163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×"/>
              <a:defRPr sz="3200" b="1" baseline="0">
                <a:solidFill>
                  <a:srgbClr val="0000FF"/>
                </a:solidFill>
                <a:latin typeface="+mn-lt"/>
                <a:cs typeface="B Nazanin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2800" b="1" baseline="0">
                <a:solidFill>
                  <a:schemeClr val="tx1"/>
                </a:solidFill>
                <a:latin typeface="+mn-lt"/>
                <a:cs typeface="B Nazanin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2400" b="1" baseline="0">
                <a:solidFill>
                  <a:schemeClr val="tx1"/>
                </a:solidFill>
                <a:latin typeface="+mn-lt"/>
                <a:cs typeface="B Nazanin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800" b="1" baseline="0">
                <a:solidFill>
                  <a:schemeClr val="tx1"/>
                </a:solidFill>
                <a:latin typeface="+mn-lt"/>
                <a:cs typeface="B Nazanin" pitchFamily="2" charset="-78"/>
              </a:defRPr>
            </a:lvl5pPr>
            <a:lvl6pPr marL="2514600" indent="-231775" algn="r" rtl="1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r" rtl="1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r" rtl="1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r" rtl="1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1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fa-IR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Arial"/>
                <a:ea typeface="+mn-ea"/>
                <a:cs typeface="B Nazanin" pitchFamily="2" charset="-78"/>
              </a:rPr>
              <a:t>مرتب</a:t>
            </a:r>
            <a:r>
              <a:rPr lang="fa-IR" kern="0" dirty="0">
                <a:latin typeface="Arial"/>
              </a:rPr>
              <a:t> </a:t>
            </a:r>
            <a:r>
              <a:rPr lang="fa-IR" kern="0" dirty="0" smtClean="0">
                <a:latin typeface="Arial"/>
              </a:rPr>
              <a:t>کردن اعداد (</a:t>
            </a:r>
            <a:r>
              <a:rPr lang="en-US" kern="0" dirty="0" smtClean="0">
                <a:latin typeface="Arial"/>
              </a:rPr>
              <a:t>Sort</a:t>
            </a:r>
            <a:r>
              <a:rPr lang="fa-IR" kern="0" dirty="0" smtClean="0">
                <a:latin typeface="Arial"/>
              </a:rPr>
              <a:t>)</a:t>
            </a:r>
          </a:p>
          <a:p>
            <a:pPr lvl="1" indent="-342900">
              <a:buFontTx/>
              <a:buChar char="•"/>
            </a:pPr>
            <a:r>
              <a:rPr lang="fa-IR" sz="2400" kern="0" noProof="0" dirty="0" smtClean="0">
                <a:solidFill>
                  <a:srgbClr val="000000"/>
                </a:solidFill>
                <a:latin typeface="Arial"/>
              </a:rPr>
              <a:t>عنصر سخت‌افزاری</a:t>
            </a:r>
            <a:endParaRPr kumimoji="0" lang="fa-IR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B Nazanin" pitchFamily="2" charset="-78"/>
            </a:endParaRPr>
          </a:p>
          <a:p>
            <a:pPr marL="1143000" marR="0" lvl="2" indent="-228600" algn="r" defTabSz="914400" rtl="1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−"/>
              <a:tabLst/>
              <a:defRPr/>
            </a:pPr>
            <a:endParaRPr kumimoji="0" lang="fa-IR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B Nazan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621667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cs typeface="Titr"/>
              </a:rPr>
              <a:t>پياده‌سازی سخت‌افزاری</a:t>
            </a:r>
            <a:endParaRPr altLang="en-US" dirty="0" smtClean="0"/>
          </a:p>
        </p:txBody>
      </p:sp>
      <p:sp>
        <p:nvSpPr>
          <p:cNvPr id="1843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A10971-E377-4C54-85AF-0C02F54DE7AD}" type="slidenum">
              <a:rPr lang="en-US" altLang="en-US" sz="1300" b="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300" b="0" smtClean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184275"/>
            <a:ext cx="31432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184275"/>
            <a:ext cx="314325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3273425"/>
            <a:ext cx="316230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3270250"/>
            <a:ext cx="31527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68181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انواع طراحي سيستم‌هاي ديجيتال بزرگ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 smtClean="0"/>
              <a:t>روش سوم:</a:t>
            </a:r>
          </a:p>
          <a:p>
            <a:pPr lvl="1"/>
            <a:r>
              <a:rPr lang="fa-IR" dirty="0" smtClean="0"/>
              <a:t> استفاده از مزاياي هر دو:</a:t>
            </a:r>
          </a:p>
          <a:p>
            <a:pPr lvl="2"/>
            <a:r>
              <a:rPr lang="fa-IR" dirty="0" smtClean="0"/>
              <a:t> پياده‌سازي بخش‌هاي غيربحراني با نرم‌افزار (کنترل هزينه)</a:t>
            </a:r>
          </a:p>
          <a:p>
            <a:pPr lvl="2"/>
            <a:r>
              <a:rPr lang="fa-IR" dirty="0" smtClean="0"/>
              <a:t> پياده‌سازي بخش‌هاي بحراني روي سخت‌افزار</a:t>
            </a:r>
          </a:p>
          <a:p>
            <a:pPr lvl="2"/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انواع طراحي سيستم‌هاي ديجيتال بزرگ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 smtClean="0">
                <a:sym typeface="Wingdings" pitchFamily="2" charset="2"/>
              </a:rPr>
              <a:t> طراحي توام</a:t>
            </a:r>
          </a:p>
          <a:p>
            <a:pPr lvl="1"/>
            <a:r>
              <a:rPr lang="fa-IR" dirty="0" smtClean="0">
                <a:sym typeface="Wingdings" pitchFamily="2" charset="2"/>
              </a:rPr>
              <a:t> افراز (</a:t>
            </a:r>
            <a:r>
              <a:rPr lang="en-US" sz="2800" dirty="0" smtClean="0">
                <a:sym typeface="Wingdings" pitchFamily="2" charset="2"/>
              </a:rPr>
              <a:t>partitioning</a:t>
            </a:r>
            <a:r>
              <a:rPr lang="fa-IR" dirty="0" smtClean="0">
                <a:sym typeface="Wingdings" pitchFamily="2" charset="2"/>
              </a:rPr>
              <a:t>)</a:t>
            </a:r>
          </a:p>
          <a:p>
            <a:pPr lvl="2"/>
            <a:r>
              <a:rPr lang="fa-IR" dirty="0" smtClean="0">
                <a:sym typeface="Wingdings" pitchFamily="2" charset="2"/>
              </a:rPr>
              <a:t> تحليل زماني + تحليل هزينه + تحليل توان مصرفي</a:t>
            </a:r>
          </a:p>
          <a:p>
            <a:pPr lvl="2"/>
            <a:endParaRPr lang="fa-IR" dirty="0" smtClean="0">
              <a:sym typeface="Wingdings" pitchFamily="2" charset="2"/>
            </a:endParaRPr>
          </a:p>
          <a:p>
            <a:pPr lvl="2"/>
            <a:r>
              <a:rPr lang="fa-IR" dirty="0" smtClean="0">
                <a:sym typeface="Wingdings" pitchFamily="2" charset="2"/>
              </a:rPr>
              <a:t> سعي و خطا  انتخاب بهترين افراز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JPEG Encoder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36" y="1600200"/>
            <a:ext cx="5109963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19200"/>
            <a:ext cx="7772400" cy="4648200"/>
          </a:xfrm>
        </p:spPr>
        <p:txBody>
          <a:bodyPr/>
          <a:lstStyle/>
          <a:p>
            <a:r>
              <a:rPr lang="en-US" dirty="0" smtClean="0"/>
              <a:t>Profiling</a:t>
            </a:r>
            <a:r>
              <a:rPr lang="fa-IR" dirty="0" smtClean="0"/>
              <a:t>:</a:t>
            </a:r>
          </a:p>
          <a:p>
            <a:pPr lvl="1"/>
            <a:r>
              <a:rPr lang="en-US" sz="2800" dirty="0" err="1" smtClean="0"/>
              <a:t>gprof</a:t>
            </a:r>
            <a:r>
              <a:rPr lang="fa-IR" sz="2800" dirty="0" smtClean="0"/>
              <a:t> </a:t>
            </a:r>
            <a:r>
              <a:rPr lang="fa-IR" dirty="0" smtClean="0"/>
              <a:t>در </a:t>
            </a:r>
            <a:r>
              <a:rPr lang="en-US" sz="2800" dirty="0" smtClean="0"/>
              <a:t>Linux</a:t>
            </a:r>
            <a:endParaRPr lang="en-US" dirty="0" smtClean="0"/>
          </a:p>
          <a:p>
            <a:pPr lvl="2"/>
            <a:r>
              <a:rPr lang="fa-IR" dirty="0" smtClean="0"/>
              <a:t>11٪ خواندن تصویر</a:t>
            </a:r>
          </a:p>
          <a:p>
            <a:pPr lvl="2"/>
            <a:r>
              <a:rPr lang="fa-IR" dirty="0" smtClean="0"/>
              <a:t>89٪ کد کردن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138322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 smtClean="0"/>
              <a:t>Profiling</a:t>
            </a:r>
            <a:r>
              <a:rPr lang="fa-IR" dirty="0" smtClean="0"/>
              <a:t> در ویوادو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8001000" cy="3352800"/>
          </a:xfrm>
        </p:spPr>
        <p:txBody>
          <a:bodyPr/>
          <a:lstStyle/>
          <a:p>
            <a:r>
              <a:rPr lang="en-US" dirty="0" smtClean="0"/>
              <a:t>Profiling</a:t>
            </a:r>
            <a:r>
              <a:rPr lang="fa-IR" dirty="0" smtClean="0"/>
              <a:t>:</a:t>
            </a:r>
          </a:p>
          <a:p>
            <a:pPr lvl="1"/>
            <a:r>
              <a:rPr lang="fa-IR" dirty="0" smtClean="0"/>
              <a:t>هر سطر، یک تابع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514600"/>
            <a:ext cx="8238409" cy="342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71339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جريان طراحي توأمان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Flowchart: Alternate Process 4"/>
          <p:cNvSpPr/>
          <p:nvPr/>
        </p:nvSpPr>
        <p:spPr>
          <a:xfrm>
            <a:off x="2438400" y="990600"/>
            <a:ext cx="3962400" cy="13716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</a:rPr>
              <a:t>تصميم‌هاي اوليه</a:t>
            </a:r>
          </a:p>
          <a:p>
            <a:pPr lvl="1" algn="r" rtl="1">
              <a:buFontTx/>
              <a:buChar char="-"/>
            </a:pPr>
            <a:r>
              <a:rPr lang="fa-IR" b="1" dirty="0" smtClean="0">
                <a:solidFill>
                  <a:srgbClr val="FF0000"/>
                </a:solidFill>
              </a:rPr>
              <a:t> افراز</a:t>
            </a:r>
          </a:p>
          <a:p>
            <a:pPr lvl="1" algn="r" rtl="1">
              <a:buFontTx/>
              <a:buChar char="-"/>
            </a:pPr>
            <a:r>
              <a:rPr lang="fa-IR" b="1" dirty="0" smtClean="0">
                <a:solidFill>
                  <a:srgbClr val="FF0000"/>
                </a:solidFill>
              </a:rPr>
              <a:t> انتخاب زبان نرم‌افزاري</a:t>
            </a:r>
          </a:p>
          <a:p>
            <a:pPr lvl="1" algn="r" rtl="1">
              <a:buFontTx/>
              <a:buChar char="-"/>
            </a:pPr>
            <a:r>
              <a:rPr lang="fa-IR" b="1" dirty="0" smtClean="0">
                <a:solidFill>
                  <a:srgbClr val="FF0000"/>
                </a:solidFill>
              </a:rPr>
              <a:t> انتخاب زبان توصيف سخت‌افزار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2438400" y="2743200"/>
            <a:ext cx="3962400" cy="8382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</a:rPr>
              <a:t>تعيين بورد و/يا تراشه </a:t>
            </a:r>
            <a:r>
              <a:rPr lang="en-US" b="1" dirty="0" smtClean="0">
                <a:solidFill>
                  <a:srgbClr val="FF0000"/>
                </a:solidFill>
              </a:rPr>
              <a:t>FPGA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6" name="Shape 15"/>
          <p:cNvCxnSpPr>
            <a:stCxn id="6" idx="2"/>
          </p:cNvCxnSpPr>
          <p:nvPr/>
        </p:nvCxnSpPr>
        <p:spPr>
          <a:xfrm rot="16200000" flipH="1">
            <a:off x="4114800" y="3886200"/>
            <a:ext cx="1828800" cy="121920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6" idx="2"/>
          </p:cNvCxnSpPr>
          <p:nvPr/>
        </p:nvCxnSpPr>
        <p:spPr>
          <a:xfrm rot="5400000">
            <a:off x="2857500" y="3848100"/>
            <a:ext cx="1828800" cy="129540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  <a:endCxn id="6" idx="0"/>
          </p:cNvCxnSpPr>
          <p:nvPr/>
        </p:nvCxnSpPr>
        <p:spPr>
          <a:xfrm rot="5400000">
            <a:off x="4229100" y="2552700"/>
            <a:ext cx="381000" cy="158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00600" y="54864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800" b="1" dirty="0" smtClean="0">
                <a:solidFill>
                  <a:schemeClr val="accent1">
                    <a:lumMod val="50000"/>
                  </a:schemeClr>
                </a:solidFill>
                <a:cs typeface="B Nazanin" pitchFamily="2" charset="-78"/>
              </a:rPr>
              <a:t>جریان طراحی نرم‌افزار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cs typeface="B Nazanin" pitchFamily="2" charset="-7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47800" y="54864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800" b="1" dirty="0" smtClean="0">
                <a:solidFill>
                  <a:schemeClr val="accent1">
                    <a:lumMod val="50000"/>
                  </a:schemeClr>
                </a:solidFill>
                <a:cs typeface="B Nazanin" pitchFamily="2" charset="-78"/>
              </a:rPr>
              <a:t>جریان طراحی سخت‌افزار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cs typeface="B Nazanin" pitchFamily="2" charset="-78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جریان طراحی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25513"/>
            <a:ext cx="7772400" cy="4648200"/>
          </a:xfrm>
        </p:spPr>
        <p:txBody>
          <a:bodyPr/>
          <a:lstStyle/>
          <a:p>
            <a:r>
              <a:rPr lang="fa-IR" dirty="0" smtClean="0"/>
              <a:t>انتخاب بورد:</a:t>
            </a:r>
            <a:endParaRPr lang="en-US" dirty="0" smtClean="0"/>
          </a:p>
          <a:p>
            <a:pPr lvl="1"/>
            <a:r>
              <a:rPr lang="fa-IR" dirty="0" smtClean="0"/>
              <a:t> بوردهای توسعه در فهرست</a:t>
            </a:r>
          </a:p>
          <a:p>
            <a:pPr lvl="2"/>
            <a:r>
              <a:rPr lang="fa-IR" dirty="0" smtClean="0"/>
              <a:t> مشخصات کامل (نوع تراشه </a:t>
            </a:r>
            <a:r>
              <a:rPr lang="en-US" dirty="0" smtClean="0"/>
              <a:t>FPGA</a:t>
            </a:r>
            <a:r>
              <a:rPr lang="fa-IR" dirty="0" smtClean="0"/>
              <a:t> + امکانات ارتباطی + تراشه‌های جانبی + اتصال پین‌ها) موجود است</a:t>
            </a:r>
          </a:p>
          <a:p>
            <a:pPr lvl="1"/>
            <a:r>
              <a:rPr lang="fa-IR" dirty="0"/>
              <a:t> </a:t>
            </a:r>
            <a:r>
              <a:rPr lang="fa-IR" dirty="0" smtClean="0"/>
              <a:t>بورد خودتان:</a:t>
            </a:r>
          </a:p>
          <a:p>
            <a:pPr lvl="2"/>
            <a:r>
              <a:rPr lang="fa-IR" dirty="0"/>
              <a:t> </a:t>
            </a:r>
            <a:r>
              <a:rPr lang="fa-IR" dirty="0" smtClean="0"/>
              <a:t>مشخصات را بدهید</a:t>
            </a:r>
          </a:p>
          <a:p>
            <a:r>
              <a:rPr lang="fa-IR" sz="3200" dirty="0" smtClean="0"/>
              <a:t>به هر حال نوع تراشه</a:t>
            </a:r>
          </a:p>
          <a:p>
            <a:pPr marL="0" indent="0">
              <a:buNone/>
            </a:pPr>
            <a:r>
              <a:rPr lang="fa-IR" sz="3200" dirty="0"/>
              <a:t> </a:t>
            </a:r>
            <a:r>
              <a:rPr lang="fa-IR" sz="3200" dirty="0" smtClean="0"/>
              <a:t>   مشخص می‌شود.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5" name="Picture 4" descr="High Speed Application board with adc, dac and large virtex FPGA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49613"/>
            <a:ext cx="381952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/>
          <p:cNvSpPr/>
          <p:nvPr/>
        </p:nvSpPr>
        <p:spPr>
          <a:xfrm>
            <a:off x="5334000" y="914400"/>
            <a:ext cx="3733800" cy="6858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76200" y="914400"/>
            <a:ext cx="3733800" cy="6858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3200" dirty="0" smtClean="0"/>
              <a:t>جريان طراحي توأمان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563" y="6248400"/>
            <a:ext cx="554037" cy="334963"/>
          </a:xfrm>
        </p:spPr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lowchart: Alternate Process 4"/>
          <p:cNvSpPr/>
          <p:nvPr/>
        </p:nvSpPr>
        <p:spPr>
          <a:xfrm>
            <a:off x="457200" y="1676400"/>
            <a:ext cx="3200400" cy="5334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  <a:cs typeface="B Nazanin" pitchFamily="2" charset="-78"/>
              </a:rPr>
              <a:t>تعیین پردازنده و پیکربندی آن</a:t>
            </a:r>
            <a:endParaRPr lang="en-US" b="1" dirty="0">
              <a:solidFill>
                <a:srgbClr val="FF0000"/>
              </a:solidFill>
              <a:cs typeface="B Nazanin" pitchFamily="2" charset="-78"/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381000" y="2514600"/>
            <a:ext cx="3352800" cy="6096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  <a:cs typeface="B Nazanin" pitchFamily="2" charset="-78"/>
              </a:rPr>
              <a:t>افزودن وسایل جانبی و هسته‌های سخت‌افزاری</a:t>
            </a:r>
            <a:endParaRPr lang="en-US" b="1" dirty="0" smtClean="0">
              <a:solidFill>
                <a:srgbClr val="FF0000"/>
              </a:solidFill>
              <a:cs typeface="B Nazanin" pitchFamily="2" charset="-78"/>
            </a:endParaRPr>
          </a:p>
        </p:txBody>
      </p:sp>
      <p:cxnSp>
        <p:nvCxnSpPr>
          <p:cNvPr id="21" name="Straight Arrow Connector 20"/>
          <p:cNvCxnSpPr>
            <a:stCxn id="5" idx="2"/>
            <a:endCxn id="6" idx="0"/>
          </p:cNvCxnSpPr>
          <p:nvPr/>
        </p:nvCxnSpPr>
        <p:spPr>
          <a:xfrm rot="5400000">
            <a:off x="1905000" y="2362200"/>
            <a:ext cx="304800" cy="158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91200" y="100078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800" b="1" dirty="0" smtClean="0">
                <a:solidFill>
                  <a:schemeClr val="accent1">
                    <a:lumMod val="50000"/>
                  </a:schemeClr>
                </a:solidFill>
                <a:cs typeface="B Nazanin" pitchFamily="2" charset="-78"/>
              </a:rPr>
              <a:t>جریان طراحی نرم‌افزار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cs typeface="B Nazanin" pitchFamily="2" charset="-7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4800" y="9906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800" b="1" dirty="0" smtClean="0">
                <a:solidFill>
                  <a:schemeClr val="accent1">
                    <a:lumMod val="50000"/>
                  </a:schemeClr>
                </a:solidFill>
                <a:cs typeface="B Nazanin" pitchFamily="2" charset="-78"/>
              </a:rPr>
              <a:t>جریان طراحی سخت‌افزار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cs typeface="B Nazanin" pitchFamily="2" charset="-78"/>
            </a:endParaRPr>
          </a:p>
        </p:txBody>
      </p:sp>
      <p:sp>
        <p:nvSpPr>
          <p:cNvPr id="20" name="Flowchart: Alternate Process 19"/>
          <p:cNvSpPr/>
          <p:nvPr/>
        </p:nvSpPr>
        <p:spPr>
          <a:xfrm>
            <a:off x="76200" y="3429000"/>
            <a:ext cx="3962400" cy="5334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  <a:cs typeface="B Nazanin" pitchFamily="2" charset="-78"/>
              </a:rPr>
              <a:t>انتخاب نوع ارتباط وسایل جانبی با پردازنده</a:t>
            </a:r>
            <a:endParaRPr lang="en-US" b="1" dirty="0" smtClean="0">
              <a:solidFill>
                <a:srgbClr val="FF0000"/>
              </a:solidFill>
              <a:cs typeface="B Nazanin" pitchFamily="2" charset="-78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1905000" y="3275806"/>
            <a:ext cx="304800" cy="158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Alternate Process 23"/>
          <p:cNvSpPr/>
          <p:nvPr/>
        </p:nvSpPr>
        <p:spPr>
          <a:xfrm>
            <a:off x="304800" y="4267200"/>
            <a:ext cx="3581400" cy="4572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  <a:cs typeface="B Nazanin" pitchFamily="2" charset="-78"/>
              </a:rPr>
              <a:t>مجتمع‌سازی بخش‌های سخت‌افزاری</a:t>
            </a:r>
            <a:endParaRPr lang="en-US" b="1" dirty="0" smtClean="0">
              <a:solidFill>
                <a:srgbClr val="FF0000"/>
              </a:solidFill>
              <a:cs typeface="B Nazanin" pitchFamily="2" charset="-78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rot="5400000">
            <a:off x="1905000" y="4114006"/>
            <a:ext cx="304800" cy="158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Alternate Process 30"/>
          <p:cNvSpPr/>
          <p:nvPr/>
        </p:nvSpPr>
        <p:spPr>
          <a:xfrm>
            <a:off x="685800" y="5029200"/>
            <a:ext cx="2819400" cy="4572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  <a:cs typeface="B Nazanin" pitchFamily="2" charset="-78"/>
              </a:rPr>
              <a:t>سنتز، جایابی، و مسیریابی</a:t>
            </a:r>
            <a:endParaRPr lang="en-US" b="1" dirty="0" smtClean="0">
              <a:solidFill>
                <a:srgbClr val="FF0000"/>
              </a:solidFill>
              <a:cs typeface="B Nazanin" pitchFamily="2" charset="-78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 rot="5400000">
            <a:off x="1905000" y="4876006"/>
            <a:ext cx="304800" cy="158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Alternate Process 32"/>
          <p:cNvSpPr/>
          <p:nvPr/>
        </p:nvSpPr>
        <p:spPr>
          <a:xfrm>
            <a:off x="1066800" y="5791200"/>
            <a:ext cx="1981200" cy="4572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  <a:cs typeface="B Nazanin" pitchFamily="2" charset="-78"/>
              </a:rPr>
              <a:t>تولید دنباله بیتی</a:t>
            </a:r>
            <a:endParaRPr lang="en-US" b="1" dirty="0" smtClean="0">
              <a:solidFill>
                <a:srgbClr val="FF0000"/>
              </a:solidFill>
              <a:cs typeface="B Nazanin" pitchFamily="2" charset="-78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rot="5400000">
            <a:off x="1905000" y="5638006"/>
            <a:ext cx="304800" cy="158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hape 15"/>
          <p:cNvCxnSpPr>
            <a:stCxn id="33" idx="2"/>
            <a:endCxn id="49" idx="1"/>
          </p:cNvCxnSpPr>
          <p:nvPr/>
        </p:nvCxnSpPr>
        <p:spPr>
          <a:xfrm rot="16200000" flipH="1">
            <a:off x="2552700" y="5753100"/>
            <a:ext cx="228600" cy="1219200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Alternate Process 48"/>
          <p:cNvSpPr/>
          <p:nvPr/>
        </p:nvSpPr>
        <p:spPr>
          <a:xfrm>
            <a:off x="3276600" y="6248400"/>
            <a:ext cx="1981200" cy="4572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  <a:cs typeface="B Nazanin" pitchFamily="2" charset="-78"/>
              </a:rPr>
              <a:t>انتقال به </a:t>
            </a:r>
            <a:r>
              <a:rPr lang="en-US" b="1" dirty="0" smtClean="0">
                <a:solidFill>
                  <a:srgbClr val="FF0000"/>
                </a:solidFill>
                <a:cs typeface="B Nazanin" pitchFamily="2" charset="-78"/>
              </a:rPr>
              <a:t>FPGA</a:t>
            </a:r>
          </a:p>
        </p:txBody>
      </p:sp>
      <p:sp>
        <p:nvSpPr>
          <p:cNvPr id="54" name="Flowchart: Alternate Process 53"/>
          <p:cNvSpPr/>
          <p:nvPr/>
        </p:nvSpPr>
        <p:spPr>
          <a:xfrm>
            <a:off x="6400800" y="1676400"/>
            <a:ext cx="2362200" cy="5334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  <a:cs typeface="B Nazanin" pitchFamily="2" charset="-78"/>
              </a:rPr>
              <a:t>ایجاد پروژه نرم‌افزار</a:t>
            </a:r>
            <a:endParaRPr lang="en-US" b="1" dirty="0">
              <a:solidFill>
                <a:srgbClr val="FF0000"/>
              </a:solidFill>
              <a:cs typeface="B Nazanin" pitchFamily="2" charset="-78"/>
            </a:endParaRPr>
          </a:p>
        </p:txBody>
      </p:sp>
      <p:sp>
        <p:nvSpPr>
          <p:cNvPr id="55" name="Flowchart: Alternate Process 54"/>
          <p:cNvSpPr/>
          <p:nvPr/>
        </p:nvSpPr>
        <p:spPr>
          <a:xfrm>
            <a:off x="6705600" y="2514600"/>
            <a:ext cx="1752600" cy="6096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  <a:cs typeface="B Nazanin" pitchFamily="2" charset="-78"/>
              </a:rPr>
              <a:t>توسعه نرم‌افزار</a:t>
            </a:r>
            <a:endParaRPr lang="en-US" b="1" dirty="0" smtClean="0">
              <a:solidFill>
                <a:srgbClr val="FF0000"/>
              </a:solidFill>
              <a:cs typeface="B Nazanin" pitchFamily="2" charset="-78"/>
            </a:endParaRPr>
          </a:p>
        </p:txBody>
      </p:sp>
      <p:cxnSp>
        <p:nvCxnSpPr>
          <p:cNvPr id="56" name="Straight Arrow Connector 55"/>
          <p:cNvCxnSpPr>
            <a:stCxn id="54" idx="2"/>
            <a:endCxn id="55" idx="0"/>
          </p:cNvCxnSpPr>
          <p:nvPr/>
        </p:nvCxnSpPr>
        <p:spPr>
          <a:xfrm rot="5400000">
            <a:off x="7429500" y="2362200"/>
            <a:ext cx="304800" cy="158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owchart: Alternate Process 56"/>
          <p:cNvSpPr/>
          <p:nvPr/>
        </p:nvSpPr>
        <p:spPr>
          <a:xfrm>
            <a:off x="6629400" y="3429000"/>
            <a:ext cx="1828800" cy="5334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  <a:cs typeface="B Nazanin" pitchFamily="2" charset="-78"/>
              </a:rPr>
              <a:t>کامپایل و لینک</a:t>
            </a:r>
            <a:endParaRPr lang="en-US" b="1" dirty="0" smtClean="0">
              <a:solidFill>
                <a:srgbClr val="FF0000"/>
              </a:solidFill>
              <a:cs typeface="B Nazanin" pitchFamily="2" charset="-78"/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rot="5400000">
            <a:off x="7391400" y="3275806"/>
            <a:ext cx="304800" cy="158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hape 15"/>
          <p:cNvCxnSpPr>
            <a:stCxn id="57" idx="2"/>
          </p:cNvCxnSpPr>
          <p:nvPr/>
        </p:nvCxnSpPr>
        <p:spPr>
          <a:xfrm rot="5400000">
            <a:off x="6362700" y="3848100"/>
            <a:ext cx="1066800" cy="1295400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Flowchart: Alternate Process 79"/>
          <p:cNvSpPr/>
          <p:nvPr/>
        </p:nvSpPr>
        <p:spPr>
          <a:xfrm>
            <a:off x="4724400" y="4648200"/>
            <a:ext cx="1524000" cy="6096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  <a:cs typeface="B Nazanin" pitchFamily="2" charset="-78"/>
              </a:rPr>
              <a:t>انتقال برنامه به حافظه</a:t>
            </a:r>
            <a:endParaRPr lang="en-US" b="1" dirty="0" smtClean="0">
              <a:solidFill>
                <a:srgbClr val="FF0000"/>
              </a:solidFill>
              <a:cs typeface="B Nazanin" pitchFamily="2" charset="-78"/>
            </a:endParaRPr>
          </a:p>
        </p:txBody>
      </p: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1219200" y="5562600"/>
            <a:ext cx="7772400" cy="685800"/>
          </a:xfrm>
        </p:spPr>
        <p:txBody>
          <a:bodyPr/>
          <a:lstStyle/>
          <a:p>
            <a:pPr lvl="1"/>
            <a:r>
              <a:rPr lang="fa-IR" sz="2000" dirty="0" smtClean="0"/>
              <a:t>جریان نرم‌افزار مستقل از جریان سخت‌افزار نیست.</a:t>
            </a:r>
          </a:p>
          <a:p>
            <a:pPr lvl="2"/>
            <a:r>
              <a:rPr lang="fa-IR" sz="1600" dirty="0" smtClean="0"/>
              <a:t>نوع پردازنده، پیکربندی آن، نحوه ارتباط نرم‌افزار با سخت‌افزار</a:t>
            </a: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جریان طراحی سخت‌افزار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 smtClean="0"/>
              <a:t>تعیین پردازنده:</a:t>
            </a:r>
          </a:p>
          <a:p>
            <a:pPr lvl="1"/>
            <a:r>
              <a:rPr lang="fa-IR" dirty="0" smtClean="0"/>
              <a:t> </a:t>
            </a:r>
            <a:r>
              <a:rPr lang="fa-IR" dirty="0"/>
              <a:t>پردازنده </a:t>
            </a:r>
            <a:r>
              <a:rPr lang="fa-IR" dirty="0" smtClean="0"/>
              <a:t>سخت:</a:t>
            </a:r>
          </a:p>
          <a:p>
            <a:pPr lvl="3"/>
            <a:r>
              <a:rPr lang="fa-IR" dirty="0" smtClean="0"/>
              <a:t>سریع، مساحت کمتر، توان مصرفی کم</a:t>
            </a:r>
          </a:p>
          <a:p>
            <a:pPr lvl="3"/>
            <a:r>
              <a:rPr lang="fa-IR" dirty="0" smtClean="0"/>
              <a:t>عدم نیاز به استفاده از </a:t>
            </a:r>
            <a:r>
              <a:rPr lang="en-US" dirty="0" smtClean="0"/>
              <a:t>Logic Block</a:t>
            </a:r>
            <a:r>
              <a:rPr lang="fa-IR" dirty="0" smtClean="0"/>
              <a:t>ها</a:t>
            </a:r>
          </a:p>
          <a:p>
            <a:pPr lvl="3"/>
            <a:r>
              <a:rPr lang="fa-IR" dirty="0" smtClean="0"/>
              <a:t>یکی یا بیشتر</a:t>
            </a:r>
            <a:endParaRPr lang="fa-IR" dirty="0"/>
          </a:p>
          <a:p>
            <a:pPr lvl="2"/>
            <a:r>
              <a:rPr lang="en-US" dirty="0"/>
              <a:t>ARM Cortex</a:t>
            </a:r>
          </a:p>
          <a:p>
            <a:pPr lvl="2"/>
            <a:r>
              <a:rPr lang="en-US" dirty="0" smtClean="0"/>
              <a:t>PowerPC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r>
              <a:rPr lang="fa-IR" dirty="0" smtClean="0"/>
              <a:t>پردازنده نرم</a:t>
            </a:r>
          </a:p>
          <a:p>
            <a:pPr lvl="2"/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52333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جریان طراحی سخت‌افزار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400" y="990600"/>
            <a:ext cx="4724400" cy="914400"/>
          </a:xfrm>
        </p:spPr>
        <p:txBody>
          <a:bodyPr/>
          <a:lstStyle/>
          <a:p>
            <a:pPr lvl="1"/>
            <a:r>
              <a:rPr lang="fa-IR" dirty="0" smtClean="0"/>
              <a:t> بدون پردازنده سخت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" t="4651" r="2235" b="3876"/>
          <a:stretch/>
        </p:blipFill>
        <p:spPr>
          <a:xfrm>
            <a:off x="1295400" y="1600200"/>
            <a:ext cx="6172201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92712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جریان طراحی سخت‌افزار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400" y="990600"/>
            <a:ext cx="4724400" cy="914400"/>
          </a:xfrm>
        </p:spPr>
        <p:txBody>
          <a:bodyPr/>
          <a:lstStyle/>
          <a:p>
            <a:pPr lvl="1"/>
            <a:r>
              <a:rPr lang="fa-IR" dirty="0" smtClean="0"/>
              <a:t> با پردازنده سخت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71123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جریان طراحی سخت‌افزار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5486400"/>
          </a:xfrm>
        </p:spPr>
        <p:txBody>
          <a:bodyPr/>
          <a:lstStyle/>
          <a:p>
            <a:r>
              <a:rPr lang="fa-IR" sz="3200" dirty="0" smtClean="0"/>
              <a:t>تعیین پردازنده:</a:t>
            </a:r>
          </a:p>
          <a:p>
            <a:pPr lvl="1"/>
            <a:r>
              <a:rPr lang="fa-IR" dirty="0" smtClean="0"/>
              <a:t>پردازنده نرم</a:t>
            </a:r>
          </a:p>
          <a:p>
            <a:pPr lvl="2"/>
            <a:r>
              <a:rPr lang="fa-IR" sz="2000" dirty="0"/>
              <a:t> </a:t>
            </a:r>
            <a:r>
              <a:rPr lang="en-US" sz="2000" dirty="0" err="1" smtClean="0"/>
              <a:t>PicoBlaze</a:t>
            </a:r>
            <a:r>
              <a:rPr lang="fa-IR" sz="2000" dirty="0"/>
              <a:t> </a:t>
            </a:r>
            <a:r>
              <a:rPr lang="fa-IR" sz="2000" dirty="0" smtClean="0"/>
              <a:t>(</a:t>
            </a:r>
            <a:r>
              <a:rPr lang="en-US" sz="2000" dirty="0" smtClean="0"/>
              <a:t>Xilinx</a:t>
            </a:r>
            <a:r>
              <a:rPr lang="fa-IR" sz="2000" dirty="0" smtClean="0"/>
              <a:t>)</a:t>
            </a:r>
            <a:endParaRPr lang="en-US" sz="2000" dirty="0" smtClean="0"/>
          </a:p>
          <a:p>
            <a:pPr lvl="2"/>
            <a:r>
              <a:rPr lang="en-US" sz="2000" dirty="0" err="1" smtClean="0"/>
              <a:t>MicroBlaze</a:t>
            </a:r>
            <a:r>
              <a:rPr lang="fa-IR" sz="2000" dirty="0" smtClean="0"/>
              <a:t> (</a:t>
            </a:r>
            <a:r>
              <a:rPr lang="en-US" sz="2000" dirty="0" smtClean="0"/>
              <a:t>Xilinx</a:t>
            </a:r>
            <a:r>
              <a:rPr lang="fa-IR" sz="2000" dirty="0" smtClean="0"/>
              <a:t>)</a:t>
            </a:r>
            <a:endParaRPr lang="en-US" sz="2000" dirty="0" smtClean="0"/>
          </a:p>
          <a:p>
            <a:pPr lvl="2"/>
            <a:r>
              <a:rPr lang="en-US" sz="2000" dirty="0" smtClean="0"/>
              <a:t>NIOS II</a:t>
            </a:r>
            <a:r>
              <a:rPr lang="fa-IR" sz="2000" dirty="0" smtClean="0"/>
              <a:t> (</a:t>
            </a:r>
            <a:r>
              <a:rPr lang="en-US" sz="2000" dirty="0" smtClean="0"/>
              <a:t>Intel</a:t>
            </a:r>
            <a:r>
              <a:rPr lang="fa-IR" sz="2000" dirty="0" smtClean="0"/>
              <a:t>)</a:t>
            </a:r>
            <a:endParaRPr lang="en-US" sz="2000" dirty="0" smtClean="0"/>
          </a:p>
          <a:p>
            <a:pPr lvl="2"/>
            <a:r>
              <a:rPr lang="en-US" sz="2000" dirty="0" smtClean="0"/>
              <a:t>OR1200</a:t>
            </a:r>
            <a:r>
              <a:rPr lang="fa-IR" sz="2000" dirty="0" smtClean="0"/>
              <a:t> (</a:t>
            </a:r>
            <a:r>
              <a:rPr lang="en-US" sz="2000" dirty="0" smtClean="0"/>
              <a:t>Open Cores</a:t>
            </a:r>
            <a:r>
              <a:rPr lang="fa-IR" sz="2000" dirty="0" smtClean="0"/>
              <a:t>) (متن باز)</a:t>
            </a:r>
          </a:p>
          <a:p>
            <a:pPr lvl="2"/>
            <a:r>
              <a:rPr lang="fa-IR" dirty="0" smtClean="0"/>
              <a:t> </a:t>
            </a:r>
            <a:r>
              <a:rPr lang="fa-IR" sz="2400" dirty="0" smtClean="0"/>
              <a:t>اگر تراشه هسته سخت داشته باشد، استفاده از نرم توجیه چندانی ندارد)</a:t>
            </a:r>
          </a:p>
          <a:p>
            <a:pPr lvl="2"/>
            <a:r>
              <a:rPr lang="fa-IR" sz="2400" dirty="0" smtClean="0"/>
              <a:t>انعطاف‌پذیری بالا (پیکربندی و تنظیم پارامترها بسته به کاربرد)</a:t>
            </a:r>
          </a:p>
          <a:p>
            <a:pPr lvl="3"/>
            <a:r>
              <a:rPr lang="fa-IR" sz="2000" dirty="0" smtClean="0"/>
              <a:t>مثال: استفاده از </a:t>
            </a:r>
            <a:r>
              <a:rPr lang="en-US" sz="2000" dirty="0" err="1" smtClean="0"/>
              <a:t>PicoBlaze</a:t>
            </a:r>
            <a:r>
              <a:rPr lang="fa-IR" sz="2000" dirty="0" smtClean="0"/>
              <a:t> 8 بیتی بجای پردازنده قوی</a:t>
            </a:r>
          </a:p>
          <a:p>
            <a:pPr lvl="3"/>
            <a:r>
              <a:rPr lang="fa-IR" sz="2000" dirty="0" smtClean="0"/>
              <a:t>مجموعه دستورالعمل‌ها</a:t>
            </a:r>
          </a:p>
          <a:p>
            <a:pPr lvl="3"/>
            <a:r>
              <a:rPr lang="fa-IR" sz="2000" dirty="0" smtClean="0"/>
              <a:t>عمق خط لوله دستورالعمل‌ها</a:t>
            </a:r>
          </a:p>
          <a:p>
            <a:pPr lvl="3"/>
            <a:r>
              <a:rPr lang="fa-IR" sz="2000" dirty="0" smtClean="0"/>
              <a:t>....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4761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جریان طراحی سخت‌افزار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 smtClean="0"/>
              <a:t>پیکربندی پردازنده:</a:t>
            </a:r>
          </a:p>
          <a:p>
            <a:pPr lvl="1"/>
            <a:r>
              <a:rPr lang="fa-IR" sz="2800" dirty="0" smtClean="0"/>
              <a:t> فرکانس کلاک </a:t>
            </a:r>
          </a:p>
          <a:p>
            <a:pPr lvl="1"/>
            <a:r>
              <a:rPr lang="fa-IR" sz="2800" dirty="0" smtClean="0"/>
              <a:t> پهنای گذرگاه داده و آدرس</a:t>
            </a:r>
          </a:p>
          <a:p>
            <a:pPr lvl="1"/>
            <a:r>
              <a:rPr lang="fa-IR" sz="2800" dirty="0"/>
              <a:t> </a:t>
            </a:r>
            <a:r>
              <a:rPr lang="fa-IR" sz="2800" dirty="0" smtClean="0"/>
              <a:t>اندازه حافظه نهان داده و دستورالعمل</a:t>
            </a:r>
          </a:p>
          <a:p>
            <a:pPr lvl="1"/>
            <a:r>
              <a:rPr lang="fa-IR" sz="2800" dirty="0" smtClean="0"/>
              <a:t> نوع گذرگاه ارتباطی</a:t>
            </a:r>
            <a:endParaRPr lang="en-US" sz="2800" dirty="0" smtClean="0"/>
          </a:p>
          <a:p>
            <a:pPr lvl="1"/>
            <a:r>
              <a:rPr lang="fa-IR" sz="2800" dirty="0" smtClean="0"/>
              <a:t>خصوصیات </a:t>
            </a:r>
            <a:r>
              <a:rPr lang="en-US" sz="2800" dirty="0" smtClean="0"/>
              <a:t>Reset</a:t>
            </a:r>
            <a:r>
              <a:rPr lang="fa-IR" sz="2800" dirty="0" smtClean="0"/>
              <a:t> (مثبت یا منفی)</a:t>
            </a:r>
          </a:p>
          <a:p>
            <a:pPr lvl="1"/>
            <a:r>
              <a:rPr lang="fa-IR" sz="2800" dirty="0"/>
              <a:t> </a:t>
            </a:r>
            <a:r>
              <a:rPr lang="en-US" sz="2800" dirty="0" smtClean="0"/>
              <a:t>FPU</a:t>
            </a:r>
            <a:r>
              <a:rPr lang="fa-IR" sz="2800" dirty="0" smtClean="0"/>
              <a:t>؟ و تنظیمات آن</a:t>
            </a:r>
            <a:endParaRPr lang="fa-IR" sz="2800" dirty="0"/>
          </a:p>
          <a:p>
            <a:pPr lvl="1"/>
            <a:r>
              <a:rPr lang="fa-IR" sz="2800" dirty="0"/>
              <a:t> </a:t>
            </a:r>
            <a:r>
              <a:rPr lang="fa-IR" sz="2800" dirty="0" smtClean="0"/>
              <a:t>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21300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150" y="622300"/>
            <a:ext cx="7773988" cy="444500"/>
          </a:xfrm>
        </p:spPr>
        <p:txBody>
          <a:bodyPr/>
          <a:lstStyle/>
          <a:p>
            <a:r>
              <a:rPr lang="fa-IR" sz="3200" dirty="0"/>
              <a:t>افزودن وسایل جانبی و هسته‌های </a:t>
            </a:r>
            <a:r>
              <a:rPr lang="fa-IR" sz="3200" dirty="0" smtClean="0"/>
              <a:t>سخت‌افزاری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4648200"/>
          </a:xfrm>
        </p:spPr>
        <p:txBody>
          <a:bodyPr/>
          <a:lstStyle/>
          <a:p>
            <a:r>
              <a:rPr lang="fa-IR" sz="3200" dirty="0" smtClean="0"/>
              <a:t>هسته‎‌های سخت‌افزاري:</a:t>
            </a:r>
          </a:p>
          <a:p>
            <a:pPr marL="971550" lvl="1" indent="-514350">
              <a:buFont typeface="+mj-lt"/>
              <a:buAutoNum type="arabicPeriod"/>
            </a:pPr>
            <a:r>
              <a:rPr lang="fa-IR" sz="2800" dirty="0" smtClean="0"/>
              <a:t> انتخاب بلوک‌های </a:t>
            </a:r>
            <a:r>
              <a:rPr lang="en-US" sz="2400" dirty="0" smtClean="0"/>
              <a:t>IP</a:t>
            </a:r>
            <a:r>
              <a:rPr lang="fa-IR" sz="2400" dirty="0" smtClean="0"/>
              <a:t> </a:t>
            </a:r>
            <a:r>
              <a:rPr lang="fa-IR" sz="2800" dirty="0" smtClean="0"/>
              <a:t>آماده در کتابخانه ابزار و پیکربندی آن</a:t>
            </a:r>
          </a:p>
          <a:p>
            <a:pPr lvl="2"/>
            <a:r>
              <a:rPr lang="fa-IR" sz="2400" dirty="0" smtClean="0"/>
              <a:t> کنترلر حافظه (پیکربندی مشخصات حافظه)</a:t>
            </a:r>
          </a:p>
          <a:p>
            <a:pPr lvl="2"/>
            <a:r>
              <a:rPr lang="fa-IR" sz="2400" dirty="0"/>
              <a:t> </a:t>
            </a:r>
            <a:r>
              <a:rPr lang="fa-IR" sz="2400" dirty="0" smtClean="0"/>
              <a:t>مدار </a:t>
            </a:r>
            <a:r>
              <a:rPr lang="en-US" sz="2000" dirty="0" smtClean="0"/>
              <a:t>UART</a:t>
            </a:r>
            <a:r>
              <a:rPr lang="fa-IR" sz="2000" dirty="0" smtClean="0"/>
              <a:t> </a:t>
            </a:r>
            <a:r>
              <a:rPr lang="fa-IR" sz="2400" dirty="0" smtClean="0"/>
              <a:t>(تنظیم نرخ ارسال/دریافت داده، اندازه داده و نوع توازن)</a:t>
            </a:r>
          </a:p>
          <a:p>
            <a:pPr lvl="2"/>
            <a:r>
              <a:rPr lang="en-US" sz="2000" dirty="0" smtClean="0"/>
              <a:t>FIFO</a:t>
            </a:r>
            <a:r>
              <a:rPr lang="fa-IR" sz="2000" dirty="0" smtClean="0"/>
              <a:t> </a:t>
            </a:r>
            <a:r>
              <a:rPr lang="fa-IR" sz="2400" dirty="0" smtClean="0"/>
              <a:t>با ابعاد مشخص</a:t>
            </a:r>
          </a:p>
          <a:p>
            <a:pPr marL="971550" lvl="1" indent="-514350">
              <a:buFont typeface="+mj-lt"/>
              <a:buAutoNum type="arabicPeriod"/>
            </a:pPr>
            <a:r>
              <a:rPr lang="fa-IR" sz="2800" dirty="0"/>
              <a:t> </a:t>
            </a:r>
            <a:r>
              <a:rPr lang="fa-IR" sz="2800" dirty="0" smtClean="0"/>
              <a:t>خرید </a:t>
            </a:r>
            <a:r>
              <a:rPr lang="en-US" sz="2400" dirty="0" smtClean="0"/>
              <a:t>IP</a:t>
            </a:r>
            <a:r>
              <a:rPr lang="fa-IR" sz="2400" dirty="0" smtClean="0"/>
              <a:t> </a:t>
            </a:r>
            <a:r>
              <a:rPr lang="fa-IR" sz="2800" dirty="0" smtClean="0"/>
              <a:t>از شرکت‌های طراح</a:t>
            </a:r>
          </a:p>
          <a:p>
            <a:pPr marL="971550" lvl="1" indent="-514350">
              <a:buFont typeface="+mj-lt"/>
              <a:buAutoNum type="arabicPeriod"/>
            </a:pPr>
            <a:r>
              <a:rPr lang="fa-IR" sz="2800" dirty="0"/>
              <a:t> </a:t>
            </a:r>
            <a:r>
              <a:rPr lang="fa-IR" sz="2800" dirty="0" smtClean="0"/>
              <a:t>طراحی مستقل بلوک</a:t>
            </a:r>
            <a:r>
              <a:rPr lang="fa-IR" sz="2800" dirty="0"/>
              <a:t> </a:t>
            </a:r>
            <a:r>
              <a:rPr lang="fa-IR" sz="1800" dirty="0" smtClean="0"/>
              <a:t>(در ابزار نیست و خرید مقرون به صرفه نیست)</a:t>
            </a:r>
            <a:endParaRPr lang="fa-IR" sz="2800" dirty="0" smtClean="0"/>
          </a:p>
          <a:p>
            <a:pPr lvl="2"/>
            <a:r>
              <a:rPr lang="fa-IR" sz="2400" dirty="0"/>
              <a:t> </a:t>
            </a:r>
            <a:r>
              <a:rPr lang="fa-IR" sz="2400" dirty="0" smtClean="0"/>
              <a:t>توصیف با </a:t>
            </a:r>
            <a:r>
              <a:rPr lang="en-US" sz="2000" dirty="0" smtClean="0"/>
              <a:t>VHDL</a:t>
            </a:r>
            <a:r>
              <a:rPr lang="fa-IR" sz="2000" dirty="0" smtClean="0"/>
              <a:t> </a:t>
            </a:r>
            <a:r>
              <a:rPr lang="fa-IR" sz="2400" dirty="0" smtClean="0"/>
              <a:t>یا </a:t>
            </a:r>
            <a:r>
              <a:rPr lang="en-US" sz="2000" dirty="0" smtClean="0"/>
              <a:t>Verilog</a:t>
            </a:r>
            <a:endParaRPr lang="fa-IR" sz="2400" dirty="0" smtClean="0"/>
          </a:p>
          <a:p>
            <a:pPr lvl="2"/>
            <a:r>
              <a:rPr lang="fa-IR" sz="2400" dirty="0"/>
              <a:t> </a:t>
            </a:r>
            <a:r>
              <a:rPr lang="fa-IR" sz="2400" dirty="0" smtClean="0"/>
              <a:t>سنتز و ....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46852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Xilinx Core Generator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39" y="914400"/>
            <a:ext cx="8048121" cy="544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79731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150" y="774700"/>
            <a:ext cx="7773988" cy="444500"/>
          </a:xfrm>
        </p:spPr>
        <p:txBody>
          <a:bodyPr/>
          <a:lstStyle/>
          <a:p>
            <a:r>
              <a:rPr lang="fa-IR" dirty="0"/>
              <a:t>انتخاب نوع ارتباط وسایل جانبی با </a:t>
            </a:r>
            <a:r>
              <a:rPr lang="fa-IR" dirty="0" smtClean="0"/>
              <a:t>پردازنده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7772400" cy="4267200"/>
          </a:xfrm>
        </p:spPr>
        <p:txBody>
          <a:bodyPr/>
          <a:lstStyle/>
          <a:p>
            <a:r>
              <a:rPr lang="fa-IR" dirty="0" smtClean="0"/>
              <a:t>دو نوع:</a:t>
            </a:r>
          </a:p>
          <a:p>
            <a:pPr lvl="1"/>
            <a:r>
              <a:rPr lang="fa-IR" dirty="0"/>
              <a:t> </a:t>
            </a:r>
            <a:r>
              <a:rPr lang="fa-IR" dirty="0" smtClean="0"/>
              <a:t>ارتباط نقطه به نقطه</a:t>
            </a:r>
            <a:endParaRPr lang="en-US" dirty="0" smtClean="0"/>
          </a:p>
          <a:p>
            <a:pPr lvl="1"/>
            <a:r>
              <a:rPr lang="fa-IR" dirty="0"/>
              <a:t> </a:t>
            </a:r>
            <a:r>
              <a:rPr lang="fa-IR" dirty="0" smtClean="0"/>
              <a:t>گذرگاه (</a:t>
            </a:r>
            <a:r>
              <a:rPr lang="en-US" dirty="0" smtClean="0"/>
              <a:t>bus</a:t>
            </a:r>
            <a:r>
              <a:rPr lang="fa-IR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53700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150" y="698500"/>
            <a:ext cx="7773988" cy="444500"/>
          </a:xfrm>
        </p:spPr>
        <p:txBody>
          <a:bodyPr/>
          <a:lstStyle/>
          <a:p>
            <a:r>
              <a:rPr lang="fa-IR" dirty="0"/>
              <a:t>انتخاب نوع ارتباط </a:t>
            </a:r>
            <a:r>
              <a:rPr lang="fa-IR" dirty="0" smtClean="0"/>
              <a:t>وسایل جانبی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7772400" cy="4267200"/>
          </a:xfrm>
        </p:spPr>
        <p:txBody>
          <a:bodyPr/>
          <a:lstStyle/>
          <a:p>
            <a:pPr marL="0" indent="0">
              <a:buNone/>
            </a:pPr>
            <a:endParaRPr lang="en-US" sz="3200" dirty="0"/>
          </a:p>
          <a:p>
            <a:r>
              <a:rPr lang="fa-IR" sz="3200" dirty="0" smtClean="0"/>
              <a:t>ارتباط نقطه به نقطه</a:t>
            </a:r>
            <a:endParaRPr lang="fa-IR" sz="2800" dirty="0" smtClean="0"/>
          </a:p>
          <a:p>
            <a:pPr lvl="2"/>
            <a:r>
              <a:rPr lang="fa-IR" sz="2400" dirty="0" smtClean="0"/>
              <a:t> داده‌ها: به صورت دنباله</a:t>
            </a:r>
          </a:p>
          <a:p>
            <a:pPr lvl="2"/>
            <a:r>
              <a:rPr lang="fa-IR" sz="2400" dirty="0" smtClean="0"/>
              <a:t>نمونه: </a:t>
            </a:r>
            <a:r>
              <a:rPr lang="en-US" sz="2000" dirty="0" smtClean="0"/>
              <a:t>FSL</a:t>
            </a:r>
            <a:r>
              <a:rPr lang="fa-IR" sz="2000" dirty="0" smtClean="0"/>
              <a:t> </a:t>
            </a:r>
            <a:r>
              <a:rPr lang="fa-IR" sz="2400" dirty="0" smtClean="0"/>
              <a:t>(شرکت </a:t>
            </a:r>
            <a:r>
              <a:rPr lang="en-US" sz="2000" dirty="0" err="1" smtClean="0"/>
              <a:t>LogiCore</a:t>
            </a:r>
            <a:r>
              <a:rPr lang="fa-IR" sz="2400" dirty="0" smtClean="0"/>
              <a:t>) و </a:t>
            </a:r>
            <a:r>
              <a:rPr lang="en-US" sz="2000" dirty="0" smtClean="0"/>
              <a:t>AXI4-Stream</a:t>
            </a:r>
            <a:endParaRPr lang="en-US" sz="2400" dirty="0"/>
          </a:p>
          <a:p>
            <a:pPr lvl="3"/>
            <a:r>
              <a:rPr lang="fa-IR" sz="2000" dirty="0"/>
              <a:t> </a:t>
            </a:r>
            <a:r>
              <a:rPr lang="fa-IR" sz="2000" dirty="0" smtClean="0"/>
              <a:t>ارتباط مبتنی بر </a:t>
            </a:r>
            <a:r>
              <a:rPr lang="en-US" sz="1800" dirty="0" smtClean="0"/>
              <a:t>FIFO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05000" y="3657600"/>
            <a:ext cx="19812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Microprocessor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0300" y="3581400"/>
            <a:ext cx="11811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Peripheral Device 1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0300" y="4495800"/>
            <a:ext cx="11811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Peripheral Device 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Left-Right Arrow 10"/>
          <p:cNvSpPr/>
          <p:nvPr/>
        </p:nvSpPr>
        <p:spPr>
          <a:xfrm>
            <a:off x="3886200" y="3886200"/>
            <a:ext cx="2324099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-Right Arrow 8"/>
          <p:cNvSpPr/>
          <p:nvPr/>
        </p:nvSpPr>
        <p:spPr>
          <a:xfrm>
            <a:off x="3848100" y="4724400"/>
            <a:ext cx="2324099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81600" y="53340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181600" y="56388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181600" y="59436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49408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150" y="698500"/>
            <a:ext cx="7773988" cy="444500"/>
          </a:xfrm>
        </p:spPr>
        <p:txBody>
          <a:bodyPr/>
          <a:lstStyle/>
          <a:p>
            <a:r>
              <a:rPr lang="fa-IR" dirty="0"/>
              <a:t>انتخاب نوع ارتباط </a:t>
            </a:r>
            <a:r>
              <a:rPr lang="fa-IR" dirty="0" smtClean="0"/>
              <a:t>وسایل جانبی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7772400" cy="4267200"/>
          </a:xfrm>
        </p:spPr>
        <p:txBody>
          <a:bodyPr/>
          <a:lstStyle/>
          <a:p>
            <a:pPr marL="0" indent="0">
              <a:buNone/>
            </a:pPr>
            <a:endParaRPr lang="en-US" sz="2800" dirty="0"/>
          </a:p>
          <a:p>
            <a:r>
              <a:rPr lang="fa-IR" sz="2800" dirty="0"/>
              <a:t>گذرگاه (</a:t>
            </a:r>
            <a:r>
              <a:rPr lang="en-US" sz="2800" dirty="0"/>
              <a:t>bus</a:t>
            </a:r>
            <a:r>
              <a:rPr lang="fa-IR" sz="2800" dirty="0" smtClean="0"/>
              <a:t>)</a:t>
            </a:r>
            <a:endParaRPr lang="fa-IR" sz="2400" dirty="0" smtClean="0"/>
          </a:p>
          <a:p>
            <a:pPr lvl="2"/>
            <a:r>
              <a:rPr lang="fa-IR" sz="2000" dirty="0"/>
              <a:t> </a:t>
            </a:r>
            <a:r>
              <a:rPr lang="fa-IR" sz="2000" dirty="0" smtClean="0"/>
              <a:t>چند سخت‌افزار جانبی با اتصالات مشترک</a:t>
            </a:r>
            <a:endParaRPr lang="en-US" sz="2000" dirty="0" smtClean="0"/>
          </a:p>
          <a:p>
            <a:pPr lvl="2"/>
            <a:r>
              <a:rPr lang="en-US" sz="2000" dirty="0"/>
              <a:t> </a:t>
            </a:r>
            <a:r>
              <a:rPr lang="fa-IR" sz="2000" dirty="0" smtClean="0"/>
              <a:t>درخواست استفاده از گذرگاه توسط داور بررسی (پذیرفته یا رد) می‌شود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05000" y="3657600"/>
            <a:ext cx="19812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Microprocessor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0300" y="3581400"/>
            <a:ext cx="11811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Peripheral Device 1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0300" y="4495800"/>
            <a:ext cx="11811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Peripheral Device 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Left-Right Arrow 10"/>
          <p:cNvSpPr/>
          <p:nvPr/>
        </p:nvSpPr>
        <p:spPr>
          <a:xfrm>
            <a:off x="5638800" y="3886200"/>
            <a:ext cx="571499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-Right Arrow 8"/>
          <p:cNvSpPr/>
          <p:nvPr/>
        </p:nvSpPr>
        <p:spPr>
          <a:xfrm>
            <a:off x="3848101" y="4724400"/>
            <a:ext cx="1790699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81600" y="53340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181600" y="56388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181600" y="59436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-Right Arrow 13"/>
          <p:cNvSpPr/>
          <p:nvPr/>
        </p:nvSpPr>
        <p:spPr>
          <a:xfrm rot="5400000">
            <a:off x="4610100" y="4229100"/>
            <a:ext cx="2133600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-Right Arrow 14"/>
          <p:cNvSpPr/>
          <p:nvPr/>
        </p:nvSpPr>
        <p:spPr>
          <a:xfrm>
            <a:off x="5638800" y="4800600"/>
            <a:ext cx="571499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029200" y="2743200"/>
            <a:ext cx="11811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Bus Arbiter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950728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150" y="698500"/>
            <a:ext cx="7773988" cy="444500"/>
          </a:xfrm>
        </p:spPr>
        <p:txBody>
          <a:bodyPr/>
          <a:lstStyle/>
          <a:p>
            <a:r>
              <a:rPr lang="fa-IR" dirty="0"/>
              <a:t>انتخاب نوع ارتباط </a:t>
            </a:r>
            <a:r>
              <a:rPr lang="fa-IR" dirty="0" smtClean="0"/>
              <a:t>وسایل جانبی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7772400" cy="4267200"/>
          </a:xfrm>
        </p:spPr>
        <p:txBody>
          <a:bodyPr/>
          <a:lstStyle/>
          <a:p>
            <a:pPr marL="0" indent="0">
              <a:buNone/>
            </a:pPr>
            <a:endParaRPr lang="en-US" sz="2800" dirty="0"/>
          </a:p>
          <a:p>
            <a:r>
              <a:rPr lang="fa-IR" sz="2800" dirty="0"/>
              <a:t>گذرگاه (</a:t>
            </a:r>
            <a:r>
              <a:rPr lang="en-US" sz="2800" dirty="0"/>
              <a:t>bus</a:t>
            </a:r>
            <a:r>
              <a:rPr lang="fa-IR" sz="2800" dirty="0" smtClean="0"/>
              <a:t>)</a:t>
            </a:r>
            <a:endParaRPr lang="fa-IR" sz="2400" dirty="0" smtClean="0"/>
          </a:p>
          <a:p>
            <a:pPr lvl="2"/>
            <a:r>
              <a:rPr lang="fa-IR" sz="2000" dirty="0"/>
              <a:t> </a:t>
            </a:r>
            <a:r>
              <a:rPr lang="fa-IR" sz="2000" dirty="0" smtClean="0"/>
              <a:t>دو گذرگاه با سرعت‌های مختلف: سریع‌ها روی گذرگاه سیستم (حافظه‌ها و ....) کندها روی گذرگاه جانبی (</a:t>
            </a:r>
            <a:r>
              <a:rPr lang="en-US" sz="2000" dirty="0" smtClean="0"/>
              <a:t>RS232</a:t>
            </a:r>
            <a:r>
              <a:rPr lang="fa-IR" sz="2000" dirty="0" smtClean="0"/>
              <a:t>، </a:t>
            </a:r>
            <a:r>
              <a:rPr lang="en-US" sz="2000" dirty="0" smtClean="0"/>
              <a:t>GPIO</a:t>
            </a:r>
            <a:r>
              <a:rPr lang="fa-IR" sz="2000" dirty="0" smtClean="0"/>
              <a:t>)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800" y="3124200"/>
            <a:ext cx="19812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Microprocessor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4648200"/>
            <a:ext cx="8001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Memory Controller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5562600"/>
            <a:ext cx="8001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Peripheral Device 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Left-Right Arrow 10"/>
          <p:cNvSpPr/>
          <p:nvPr/>
        </p:nvSpPr>
        <p:spPr>
          <a:xfrm>
            <a:off x="1562100" y="4704497"/>
            <a:ext cx="2424041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-Right Arrow 8"/>
          <p:cNvSpPr/>
          <p:nvPr/>
        </p:nvSpPr>
        <p:spPr>
          <a:xfrm>
            <a:off x="2263539" y="3619500"/>
            <a:ext cx="1790699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-Right Arrow 13"/>
          <p:cNvSpPr/>
          <p:nvPr/>
        </p:nvSpPr>
        <p:spPr>
          <a:xfrm rot="5400000">
            <a:off x="2476500" y="4610100"/>
            <a:ext cx="3048000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-Right Arrow 14"/>
          <p:cNvSpPr/>
          <p:nvPr/>
        </p:nvSpPr>
        <p:spPr>
          <a:xfrm>
            <a:off x="1562100" y="5829300"/>
            <a:ext cx="2447925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505700" y="3505200"/>
            <a:ext cx="8001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Peripheral Device </a:t>
            </a:r>
            <a:r>
              <a:rPr lang="fa-IR" sz="1400" dirty="0" smtClean="0">
                <a:solidFill>
                  <a:schemeClr val="tx1"/>
                </a:solidFill>
              </a:rPr>
              <a:t>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05700" y="4419600"/>
            <a:ext cx="8001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Peripheral Device </a:t>
            </a:r>
            <a:r>
              <a:rPr lang="fa-IR" sz="1400" dirty="0" smtClean="0">
                <a:solidFill>
                  <a:schemeClr val="tx1"/>
                </a:solidFill>
              </a:rPr>
              <a:t>4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Left-Right Arrow 17"/>
          <p:cNvSpPr/>
          <p:nvPr/>
        </p:nvSpPr>
        <p:spPr>
          <a:xfrm>
            <a:off x="6934200" y="3810000"/>
            <a:ext cx="571499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477000" y="52578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477000" y="55626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477000" y="586740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-Right Arrow 21"/>
          <p:cNvSpPr/>
          <p:nvPr/>
        </p:nvSpPr>
        <p:spPr>
          <a:xfrm rot="5400000">
            <a:off x="5905500" y="4152900"/>
            <a:ext cx="2133600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-Right Arrow 22"/>
          <p:cNvSpPr/>
          <p:nvPr/>
        </p:nvSpPr>
        <p:spPr>
          <a:xfrm>
            <a:off x="6934200" y="4724400"/>
            <a:ext cx="571499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295651" y="2743200"/>
            <a:ext cx="1428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System Bus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343651" y="2743200"/>
            <a:ext cx="1962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Peripheral Bus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4658435" y="3429000"/>
            <a:ext cx="990600" cy="1905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Bridge</a:t>
            </a:r>
            <a:endParaRPr lang="en-US" dirty="0"/>
          </a:p>
        </p:txBody>
      </p:sp>
      <p:sp>
        <p:nvSpPr>
          <p:cNvPr id="28" name="Left-Right Arrow 27"/>
          <p:cNvSpPr/>
          <p:nvPr/>
        </p:nvSpPr>
        <p:spPr>
          <a:xfrm>
            <a:off x="4086936" y="4419600"/>
            <a:ext cx="571499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-Right Arrow 28"/>
          <p:cNvSpPr/>
          <p:nvPr/>
        </p:nvSpPr>
        <p:spPr>
          <a:xfrm>
            <a:off x="5676901" y="4419600"/>
            <a:ext cx="1257299" cy="22860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61944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انواع گذرگاه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 smtClean="0"/>
              <a:t>گزینه‌ها: </a:t>
            </a:r>
          </a:p>
          <a:p>
            <a:pPr lvl="1"/>
            <a:r>
              <a:rPr lang="fa-IR" dirty="0" smtClean="0"/>
              <a:t> تفاوت در کارایی و هزینه سخت‌افزاری (</a:t>
            </a:r>
            <a:r>
              <a:rPr lang="en-US" sz="2800" dirty="0" smtClean="0"/>
              <a:t>LE</a:t>
            </a:r>
            <a:r>
              <a:rPr lang="fa-IR" dirty="0" smtClean="0"/>
              <a:t>ها)</a:t>
            </a:r>
          </a:p>
          <a:p>
            <a:pPr marL="457200" lvl="1" indent="0">
              <a:buNone/>
            </a:pPr>
            <a:endParaRPr lang="fa-IR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16616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انواع گذرگاه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077200" cy="4648200"/>
          </a:xfrm>
        </p:spPr>
        <p:txBody>
          <a:bodyPr/>
          <a:lstStyle/>
          <a:p>
            <a:r>
              <a:rPr lang="fa-IR" sz="3200" dirty="0" smtClean="0"/>
              <a:t>گزینه‌ها: </a:t>
            </a:r>
          </a:p>
          <a:p>
            <a:pPr lvl="1"/>
            <a:r>
              <a:rPr lang="fa-IR" sz="2800" dirty="0"/>
              <a:t> </a:t>
            </a:r>
            <a:r>
              <a:rPr lang="en-US" sz="2400" dirty="0" smtClean="0"/>
              <a:t>AXI</a:t>
            </a:r>
            <a:r>
              <a:rPr lang="fa-IR" sz="2800" dirty="0" smtClean="0"/>
              <a:t> (</a:t>
            </a:r>
            <a:r>
              <a:rPr lang="en-US" sz="2400" dirty="0" smtClean="0"/>
              <a:t>Xilinx</a:t>
            </a:r>
            <a:r>
              <a:rPr lang="fa-IR" sz="2800" dirty="0" smtClean="0"/>
              <a:t>) مبتنی بر </a:t>
            </a:r>
            <a:r>
              <a:rPr lang="en-US" sz="2400" dirty="0" smtClean="0"/>
              <a:t>AMBA</a:t>
            </a:r>
            <a:r>
              <a:rPr lang="fa-IR" sz="2800" dirty="0" smtClean="0"/>
              <a:t> (شرکت </a:t>
            </a:r>
            <a:r>
              <a:rPr lang="en-US" sz="2400" dirty="0" smtClean="0"/>
              <a:t>ARM</a:t>
            </a:r>
            <a:r>
              <a:rPr lang="fa-IR" sz="2800" dirty="0" smtClean="0"/>
              <a:t>)</a:t>
            </a:r>
          </a:p>
          <a:p>
            <a:pPr lvl="2"/>
            <a:r>
              <a:rPr lang="fa-IR" sz="2400" dirty="0" smtClean="0"/>
              <a:t> برای ارتباط وسایل جانبی سریع (مانند حافظه و اترنت)</a:t>
            </a:r>
          </a:p>
          <a:p>
            <a:pPr lvl="3"/>
            <a:r>
              <a:rPr lang="fa-IR" sz="2000" dirty="0"/>
              <a:t>(</a:t>
            </a:r>
            <a:r>
              <a:rPr lang="fa-IR" sz="2000" dirty="0" smtClean="0"/>
              <a:t>برای </a:t>
            </a:r>
            <a:r>
              <a:rPr lang="fa-IR" sz="2000" dirty="0" smtClean="0"/>
              <a:t>حافظه داخلی </a:t>
            </a:r>
            <a:r>
              <a:rPr lang="en-US" sz="1600" dirty="0" smtClean="0"/>
              <a:t>FPGA</a:t>
            </a:r>
            <a:r>
              <a:rPr lang="fa-IR" sz="2000" dirty="0" smtClean="0"/>
              <a:t> از </a:t>
            </a:r>
            <a:r>
              <a:rPr lang="en-US" sz="1600" dirty="0" smtClean="0"/>
              <a:t>LMB</a:t>
            </a:r>
            <a:r>
              <a:rPr lang="fa-IR" sz="2000" dirty="0" smtClean="0"/>
              <a:t> استفاده می‌شود</a:t>
            </a:r>
            <a:r>
              <a:rPr lang="fa-IR" sz="2000" dirty="0" smtClean="0"/>
              <a:t>.)</a:t>
            </a:r>
            <a:endParaRPr lang="fa-IR" sz="2000" dirty="0" smtClean="0"/>
          </a:p>
          <a:p>
            <a:pPr lvl="2"/>
            <a:endParaRPr lang="fa-IR" sz="2400" dirty="0" smtClean="0"/>
          </a:p>
          <a:p>
            <a:pPr lvl="1"/>
            <a:r>
              <a:rPr lang="fa-IR" sz="2800" dirty="0" smtClean="0"/>
              <a:t> </a:t>
            </a:r>
            <a:r>
              <a:rPr lang="en-US" sz="2400" dirty="0" err="1" smtClean="0"/>
              <a:t>AXI</a:t>
            </a:r>
            <a:r>
              <a:rPr lang="en-US" sz="2400" dirty="0" smtClean="0"/>
              <a:t>-Lite</a:t>
            </a:r>
            <a:endParaRPr lang="en-US" sz="2400" dirty="0"/>
          </a:p>
          <a:p>
            <a:pPr lvl="2"/>
            <a:r>
              <a:rPr lang="fa-IR" sz="2400" dirty="0" smtClean="0"/>
              <a:t> برای وسایل جانبی کندتر (</a:t>
            </a:r>
            <a:r>
              <a:rPr lang="en-US" sz="2000" dirty="0" err="1" smtClean="0"/>
              <a:t>UART</a:t>
            </a:r>
            <a:r>
              <a:rPr lang="fa-IR" sz="2000" dirty="0" smtClean="0"/>
              <a:t> </a:t>
            </a:r>
            <a:r>
              <a:rPr lang="fa-IR" sz="2400" dirty="0" smtClean="0"/>
              <a:t>یا صفحه کلید)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62559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انواع گذرگاه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 smtClean="0"/>
              <a:t>گزینه‌ها: </a:t>
            </a:r>
          </a:p>
          <a:p>
            <a:pPr lvl="1"/>
            <a:r>
              <a:rPr lang="fa-IR" dirty="0"/>
              <a:t> </a:t>
            </a:r>
            <a:r>
              <a:rPr lang="en-US" dirty="0" smtClean="0"/>
              <a:t>Avalon</a:t>
            </a:r>
            <a:r>
              <a:rPr lang="fa-IR" dirty="0" smtClean="0"/>
              <a:t> </a:t>
            </a:r>
            <a:r>
              <a:rPr lang="fa-IR" sz="3600" dirty="0" smtClean="0"/>
              <a:t>(</a:t>
            </a:r>
            <a:r>
              <a:rPr lang="en-US" dirty="0" smtClean="0"/>
              <a:t>Altera</a:t>
            </a:r>
            <a:r>
              <a:rPr lang="fa-IR" sz="3600" dirty="0" smtClean="0"/>
              <a:t>)</a:t>
            </a:r>
            <a:endParaRPr lang="fa-IR" dirty="0" smtClean="0"/>
          </a:p>
          <a:p>
            <a:pPr lvl="2"/>
            <a:r>
              <a:rPr lang="fa-IR" dirty="0"/>
              <a:t> </a:t>
            </a:r>
            <a:r>
              <a:rPr lang="en-US" sz="2400" dirty="0" smtClean="0"/>
              <a:t>Avalon-ST</a:t>
            </a:r>
            <a:r>
              <a:rPr lang="fa-IR" dirty="0" smtClean="0"/>
              <a:t>: نقطه به نقطه</a:t>
            </a:r>
          </a:p>
          <a:p>
            <a:pPr lvl="2"/>
            <a:r>
              <a:rPr lang="en-US" sz="2400" dirty="0" smtClean="0"/>
              <a:t>Avalon-MM</a:t>
            </a:r>
            <a:r>
              <a:rPr lang="fa-IR" dirty="0" smtClean="0"/>
              <a:t>: گذرگاه مشترک</a:t>
            </a:r>
          </a:p>
          <a:p>
            <a:pPr lvl="1"/>
            <a:r>
              <a:rPr lang="fa-IR" dirty="0"/>
              <a:t> </a:t>
            </a:r>
            <a:r>
              <a:rPr lang="en-US" dirty="0" smtClean="0"/>
              <a:t>Wishbone</a:t>
            </a:r>
            <a:r>
              <a:rPr lang="fa-IR" dirty="0"/>
              <a:t> </a:t>
            </a:r>
            <a:r>
              <a:rPr lang="fa-IR" dirty="0" smtClean="0"/>
              <a:t>(</a:t>
            </a:r>
            <a:r>
              <a:rPr lang="en-US" dirty="0" err="1" smtClean="0"/>
              <a:t>SiliCore</a:t>
            </a:r>
            <a:r>
              <a:rPr lang="fa-IR" dirty="0" smtClean="0"/>
              <a:t>)</a:t>
            </a:r>
            <a:endParaRPr lang="en-US" dirty="0" smtClean="0"/>
          </a:p>
          <a:p>
            <a:pPr lvl="2"/>
            <a:r>
              <a:rPr lang="fa-IR" dirty="0" smtClean="0"/>
              <a:t> متن باز </a:t>
            </a:r>
            <a:r>
              <a:rPr lang="fa-IR" dirty="0" smtClean="0">
                <a:sym typeface="Wingdings" pitchFamily="2" charset="2"/>
              </a:rPr>
              <a:t> قابل تغییر</a:t>
            </a:r>
            <a:endParaRPr lang="en-US" dirty="0" smtClean="0">
              <a:sym typeface="Wingdings" pitchFamily="2" charset="2"/>
            </a:endParaRPr>
          </a:p>
          <a:p>
            <a:pPr lvl="2"/>
            <a:endParaRPr lang="en-US" dirty="0">
              <a:sym typeface="Wingdings" pitchFamily="2" charset="2"/>
            </a:endParaRPr>
          </a:p>
          <a:p>
            <a:r>
              <a:rPr lang="fa-IR" dirty="0" smtClean="0">
                <a:sym typeface="Wingdings" pitchFamily="2" charset="2"/>
              </a:rPr>
              <a:t>طراح انتخاب می‌کند – ابزار سخت‌افزار را ایجاد می‌کند</a:t>
            </a:r>
          </a:p>
          <a:p>
            <a:pPr lvl="2"/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74162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مجتمع‌سازی بخش‌های سخت‌افزاری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 smtClean="0"/>
              <a:t>مجتمع‌سازی</a:t>
            </a:r>
          </a:p>
          <a:p>
            <a:pPr lvl="1"/>
            <a:r>
              <a:rPr lang="fa-IR" dirty="0"/>
              <a:t> </a:t>
            </a:r>
            <a:r>
              <a:rPr lang="fa-IR" dirty="0" smtClean="0"/>
              <a:t>پردازنده(ها)</a:t>
            </a:r>
          </a:p>
          <a:p>
            <a:pPr lvl="1"/>
            <a:r>
              <a:rPr lang="fa-IR" dirty="0"/>
              <a:t> </a:t>
            </a:r>
            <a:r>
              <a:rPr lang="fa-IR" dirty="0" smtClean="0"/>
              <a:t>سیستم ارتباطی</a:t>
            </a:r>
          </a:p>
          <a:p>
            <a:pPr lvl="1"/>
            <a:r>
              <a:rPr lang="fa-IR" dirty="0"/>
              <a:t> </a:t>
            </a:r>
            <a:r>
              <a:rPr lang="fa-IR" dirty="0" smtClean="0"/>
              <a:t>هسته‌های سخت‌افزاری و حافظه‌ها</a:t>
            </a:r>
            <a:endParaRPr lang="fa-IR" dirty="0"/>
          </a:p>
          <a:p>
            <a:r>
              <a:rPr lang="fa-IR" dirty="0" smtClean="0"/>
              <a:t>تولید دنباله بیتی</a:t>
            </a:r>
          </a:p>
          <a:p>
            <a:r>
              <a:rPr lang="en-US" sz="3200" dirty="0" smtClean="0"/>
              <a:t>Export</a:t>
            </a:r>
            <a:r>
              <a:rPr lang="fa-IR" sz="3200" dirty="0" smtClean="0"/>
              <a:t> </a:t>
            </a:r>
            <a:r>
              <a:rPr lang="fa-IR" dirty="0" smtClean="0"/>
              <a:t>به محیط نرم‌افزار:</a:t>
            </a:r>
          </a:p>
          <a:p>
            <a:pPr lvl="1"/>
            <a:r>
              <a:rPr lang="fa-IR" dirty="0"/>
              <a:t> </a:t>
            </a:r>
            <a:r>
              <a:rPr lang="fa-IR" dirty="0" smtClean="0">
                <a:sym typeface="Wingdings" pitchFamily="2" charset="2"/>
              </a:rPr>
              <a:t></a:t>
            </a:r>
            <a:r>
              <a:rPr lang="fa-IR" dirty="0" smtClean="0"/>
              <a:t> ارسال مشخصات </a:t>
            </a:r>
            <a:r>
              <a:rPr lang="en-US" sz="2800" dirty="0" smtClean="0"/>
              <a:t>hardware platform</a:t>
            </a:r>
            <a:r>
              <a:rPr lang="fa-IR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57439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جریان توصیف نرم‌افزار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 smtClean="0"/>
              <a:t>مراحل</a:t>
            </a:r>
          </a:p>
          <a:p>
            <a:pPr lvl="1"/>
            <a:r>
              <a:rPr lang="fa-IR" dirty="0"/>
              <a:t> </a:t>
            </a:r>
            <a:r>
              <a:rPr lang="fa-IR" dirty="0" smtClean="0"/>
              <a:t>ایجاد پروژه (</a:t>
            </a:r>
            <a:r>
              <a:rPr lang="en-US" dirty="0" smtClean="0"/>
              <a:t>C</a:t>
            </a:r>
            <a:r>
              <a:rPr lang="fa-IR" dirty="0" smtClean="0"/>
              <a:t> یا </a:t>
            </a:r>
            <a:r>
              <a:rPr lang="en-US" dirty="0" smtClean="0"/>
              <a:t>C++</a:t>
            </a:r>
            <a:r>
              <a:rPr lang="fa-IR" dirty="0" smtClean="0"/>
              <a:t>)</a:t>
            </a:r>
          </a:p>
          <a:p>
            <a:pPr lvl="1"/>
            <a:r>
              <a:rPr lang="fa-IR" dirty="0"/>
              <a:t> </a:t>
            </a:r>
            <a:r>
              <a:rPr lang="fa-IR" dirty="0" smtClean="0"/>
              <a:t>برنامه‌نویسی </a:t>
            </a:r>
          </a:p>
          <a:p>
            <a:pPr lvl="2"/>
            <a:r>
              <a:rPr lang="fa-IR" dirty="0"/>
              <a:t> </a:t>
            </a:r>
            <a:r>
              <a:rPr lang="fa-IR" dirty="0" smtClean="0"/>
              <a:t>معمولا ویرایش الگوهای موجود</a:t>
            </a:r>
          </a:p>
          <a:p>
            <a:pPr lvl="1"/>
            <a:r>
              <a:rPr lang="fa-IR" dirty="0"/>
              <a:t> </a:t>
            </a:r>
            <a:r>
              <a:rPr lang="fa-IR" dirty="0" smtClean="0"/>
              <a:t>ارتباط با سخت‌افزار به کمک </a:t>
            </a:r>
            <a:r>
              <a:rPr lang="en-US" sz="2800" dirty="0" smtClean="0"/>
              <a:t>API</a:t>
            </a:r>
            <a:r>
              <a:rPr lang="fa-IR" dirty="0" smtClean="0"/>
              <a:t>ها</a:t>
            </a:r>
          </a:p>
          <a:p>
            <a:pPr lvl="1"/>
            <a:r>
              <a:rPr lang="fa-IR" dirty="0"/>
              <a:t> </a:t>
            </a:r>
            <a:r>
              <a:rPr lang="fa-IR" dirty="0" smtClean="0"/>
              <a:t>اشکال‌زدایی</a:t>
            </a:r>
          </a:p>
          <a:p>
            <a:pPr lvl="1"/>
            <a:r>
              <a:rPr lang="fa-IR" dirty="0"/>
              <a:t> </a:t>
            </a:r>
            <a:r>
              <a:rPr lang="fa-IR" dirty="0" smtClean="0"/>
              <a:t>انتقال برنامه به حافظه</a:t>
            </a:r>
          </a:p>
          <a:p>
            <a:pPr lvl="2"/>
            <a:r>
              <a:rPr lang="fa-IR" dirty="0" smtClean="0"/>
              <a:t>داخلی </a:t>
            </a:r>
            <a:r>
              <a:rPr lang="en-US" sz="2400" dirty="0" smtClean="0"/>
              <a:t>FPGA</a:t>
            </a:r>
            <a:r>
              <a:rPr lang="fa-IR" sz="2400" dirty="0" smtClean="0"/>
              <a:t> </a:t>
            </a:r>
            <a:r>
              <a:rPr lang="fa-IR" dirty="0" smtClean="0"/>
              <a:t>یا خارجی (اگر جا نشد)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98021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نکات متفرقه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914400"/>
            <a:ext cx="7772400" cy="5715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r>
              <a:rPr lang="fa-IR" dirty="0"/>
              <a:t> سیستم چندپردازنده‌ای</a:t>
            </a:r>
          </a:p>
          <a:p>
            <a:r>
              <a:rPr lang="fa-IR" dirty="0"/>
              <a:t> پیاده‌سازی </a:t>
            </a:r>
          </a:p>
          <a:p>
            <a:pPr lvl="1"/>
            <a:r>
              <a:rPr lang="fa-IR" dirty="0"/>
              <a:t> سیستم پایه</a:t>
            </a:r>
          </a:p>
          <a:p>
            <a:pPr lvl="1"/>
            <a:r>
              <a:rPr lang="fa-IR" dirty="0"/>
              <a:t> سیستم عامل:</a:t>
            </a:r>
          </a:p>
          <a:p>
            <a:pPr lvl="2"/>
            <a:r>
              <a:rPr lang="fa-IR" dirty="0"/>
              <a:t> حافظه مجازی</a:t>
            </a:r>
          </a:p>
          <a:p>
            <a:pPr lvl="2"/>
            <a:r>
              <a:rPr lang="fa-IR" dirty="0"/>
              <a:t> مدیریت پردازش چندنخی</a:t>
            </a:r>
          </a:p>
          <a:p>
            <a:pPr lvl="2"/>
            <a:r>
              <a:rPr lang="fa-IR" dirty="0"/>
              <a:t> ....</a:t>
            </a:r>
          </a:p>
          <a:p>
            <a:pPr lvl="3"/>
            <a:r>
              <a:rPr lang="fa-IR" dirty="0"/>
              <a:t>مثال: سیستم عامل لینوکس روی </a:t>
            </a:r>
            <a:r>
              <a:rPr lang="en-US"/>
              <a:t>FPGA</a:t>
            </a:r>
            <a:r>
              <a:rPr lang="fa-IR" smtClean="0"/>
              <a:t> </a:t>
            </a:r>
            <a:r>
              <a:rPr lang="fa-IR" dirty="0" smtClean="0">
                <a:sym typeface="Wingdings" pitchFamily="2" charset="2"/>
              </a:rPr>
              <a:t> امکان اجرای انواع </a:t>
            </a:r>
            <a:r>
              <a:rPr lang="fa-IR" smtClean="0">
                <a:sym typeface="Wingdings" pitchFamily="2" charset="2"/>
              </a:rPr>
              <a:t>نرم‌افزارهای موجود</a:t>
            </a:r>
            <a:endParaRPr lang="fa-IR" dirty="0"/>
          </a:p>
          <a:p>
            <a:pPr lvl="4"/>
            <a:r>
              <a:rPr lang="fa-IR" dirty="0"/>
              <a:t>سربار زیاد (سیکل اضافه پردازنده، حافظه، توان)</a:t>
            </a:r>
          </a:p>
          <a:p>
            <a:pPr lvl="4"/>
            <a:r>
              <a:rPr lang="fa-IR" dirty="0">
                <a:sym typeface="Wingdings" pitchFamily="2" charset="2"/>
              </a:rPr>
              <a:t> فقط وقتی که لازم است</a:t>
            </a:r>
            <a:endParaRPr lang="fa-I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B8D87-7F0C-459F-BC57-1565986A4617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0387"/>
      </p:ext>
    </p:extLst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Titr"/>
      </a:majorFont>
      <a:minorFont>
        <a:latin typeface="Arial"/>
        <a:ea typeface=""/>
        <a:cs typeface="Nazani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12512</TotalTime>
  <Words>1173</Words>
  <Application>Microsoft Office PowerPoint</Application>
  <PresentationFormat>On-screen Show (4:3)</PresentationFormat>
  <Paragraphs>319</Paragraphs>
  <Slides>33</Slides>
  <Notes>31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6" baseType="lpstr">
      <vt:lpstr>Titr</vt:lpstr>
      <vt:lpstr>Arial</vt:lpstr>
      <vt:lpstr>Wingdings</vt:lpstr>
      <vt:lpstr>Elephant</vt:lpstr>
      <vt:lpstr>Lotus</vt:lpstr>
      <vt:lpstr>Times New Roman</vt:lpstr>
      <vt:lpstr>B Titr</vt:lpstr>
      <vt:lpstr>Nazanin</vt:lpstr>
      <vt:lpstr>StarSymbol</vt:lpstr>
      <vt:lpstr>B Nazanin</vt:lpstr>
      <vt:lpstr>Courier New</vt:lpstr>
      <vt:lpstr>1_presentation_template</vt:lpstr>
      <vt:lpstr>2_presentation_template</vt:lpstr>
      <vt:lpstr>Embedded Systems and  Hardware/Software Codesign</vt:lpstr>
      <vt:lpstr>انواع طراحي سيستم ديجيتال بزرگ</vt:lpstr>
      <vt:lpstr>انواع طراحي سيستم‌هاي ديجيتال بزرگ</vt:lpstr>
      <vt:lpstr>معماری فون نويمن Von Neumann</vt:lpstr>
      <vt:lpstr>معماری فون نويمن Von Neumann</vt:lpstr>
      <vt:lpstr>پياده‌سازی سخت‌افزاری</vt:lpstr>
      <vt:lpstr>پياده‌سازی سخت‌افزاری</vt:lpstr>
      <vt:lpstr>پياده‌سازی سخت‌افزاری</vt:lpstr>
      <vt:lpstr>پياده‌سازی سخت‌افزاری</vt:lpstr>
      <vt:lpstr>انواع طراحي سيستم‌هاي ديجيتال بزرگ</vt:lpstr>
      <vt:lpstr>انواع طراحي سيستم‌هاي ديجيتال بزرگ</vt:lpstr>
      <vt:lpstr>JPEG Encoder</vt:lpstr>
      <vt:lpstr>Profiling در ویوادو</vt:lpstr>
      <vt:lpstr>جريان طراحي توأمان</vt:lpstr>
      <vt:lpstr>جریان طراحی</vt:lpstr>
      <vt:lpstr>جريان طراحي توأمان</vt:lpstr>
      <vt:lpstr>جریان طراحی سخت‌افزار</vt:lpstr>
      <vt:lpstr>جریان طراحی سخت‌افزار</vt:lpstr>
      <vt:lpstr>جریان طراحی سخت‌افزار</vt:lpstr>
      <vt:lpstr>جریان طراحی سخت‌افزار</vt:lpstr>
      <vt:lpstr>جریان طراحی سخت‌افزار</vt:lpstr>
      <vt:lpstr>افزودن وسایل جانبی و هسته‌های سخت‌افزاری</vt:lpstr>
      <vt:lpstr>Xilinx Core Generator</vt:lpstr>
      <vt:lpstr>انتخاب نوع ارتباط وسایل جانبی با پردازنده</vt:lpstr>
      <vt:lpstr>انتخاب نوع ارتباط وسایل جانبی</vt:lpstr>
      <vt:lpstr>انتخاب نوع ارتباط وسایل جانبی</vt:lpstr>
      <vt:lpstr>انتخاب نوع ارتباط وسایل جانبی</vt:lpstr>
      <vt:lpstr>انواع گذرگاه</vt:lpstr>
      <vt:lpstr>انواع گذرگاه</vt:lpstr>
      <vt:lpstr>انواع گذرگاه</vt:lpstr>
      <vt:lpstr>مجتمع‌سازی بخش‌های سخت‌افزاری</vt:lpstr>
      <vt:lpstr>جریان توصیف نرم‌افزار</vt:lpstr>
      <vt:lpstr>نکات متفرقه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253</cp:revision>
  <dcterms:created xsi:type="dcterms:W3CDTF">1601-01-01T00:00:00Z</dcterms:created>
  <dcterms:modified xsi:type="dcterms:W3CDTF">2021-12-04T18:12:55Z</dcterms:modified>
</cp:coreProperties>
</file>