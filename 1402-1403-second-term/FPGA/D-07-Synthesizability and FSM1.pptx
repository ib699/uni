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60"/>
  </p:notesMasterIdLst>
  <p:sldIdLst>
    <p:sldId id="256" r:id="rId3"/>
    <p:sldId id="532" r:id="rId4"/>
    <p:sldId id="535" r:id="rId5"/>
    <p:sldId id="537" r:id="rId6"/>
    <p:sldId id="539" r:id="rId7"/>
    <p:sldId id="540" r:id="rId8"/>
    <p:sldId id="538" r:id="rId9"/>
    <p:sldId id="541" r:id="rId10"/>
    <p:sldId id="536" r:id="rId11"/>
    <p:sldId id="542" r:id="rId12"/>
    <p:sldId id="543" r:id="rId13"/>
    <p:sldId id="544" r:id="rId14"/>
    <p:sldId id="589" r:id="rId15"/>
    <p:sldId id="547" r:id="rId16"/>
    <p:sldId id="548" r:id="rId17"/>
    <p:sldId id="549" r:id="rId18"/>
    <p:sldId id="550" r:id="rId19"/>
    <p:sldId id="551" r:id="rId20"/>
    <p:sldId id="552" r:id="rId21"/>
    <p:sldId id="553" r:id="rId22"/>
    <p:sldId id="555" r:id="rId23"/>
    <p:sldId id="554" r:id="rId24"/>
    <p:sldId id="556" r:id="rId25"/>
    <p:sldId id="597" r:id="rId26"/>
    <p:sldId id="557" r:id="rId27"/>
    <p:sldId id="558" r:id="rId28"/>
    <p:sldId id="560" r:id="rId29"/>
    <p:sldId id="592" r:id="rId30"/>
    <p:sldId id="561" r:id="rId31"/>
    <p:sldId id="563" r:id="rId32"/>
    <p:sldId id="593" r:id="rId33"/>
    <p:sldId id="564" r:id="rId34"/>
    <p:sldId id="565" r:id="rId35"/>
    <p:sldId id="566" r:id="rId36"/>
    <p:sldId id="546" r:id="rId37"/>
    <p:sldId id="598" r:id="rId38"/>
    <p:sldId id="599" r:id="rId39"/>
    <p:sldId id="567" r:id="rId40"/>
    <p:sldId id="569" r:id="rId41"/>
    <p:sldId id="568" r:id="rId42"/>
    <p:sldId id="576" r:id="rId43"/>
    <p:sldId id="577" r:id="rId44"/>
    <p:sldId id="570" r:id="rId45"/>
    <p:sldId id="571" r:id="rId46"/>
    <p:sldId id="572" r:id="rId47"/>
    <p:sldId id="573" r:id="rId48"/>
    <p:sldId id="575" r:id="rId49"/>
    <p:sldId id="578" r:id="rId50"/>
    <p:sldId id="580" r:id="rId51"/>
    <p:sldId id="581" r:id="rId52"/>
    <p:sldId id="582" r:id="rId53"/>
    <p:sldId id="583" r:id="rId54"/>
    <p:sldId id="584" r:id="rId55"/>
    <p:sldId id="585" r:id="rId56"/>
    <p:sldId id="586" r:id="rId57"/>
    <p:sldId id="587" r:id="rId58"/>
    <p:sldId id="588" r:id="rId5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7FFD1"/>
    <a:srgbClr val="0000CC"/>
    <a:srgbClr val="0033CC"/>
    <a:srgbClr val="CC6600"/>
    <a:srgbClr val="669900"/>
    <a:srgbClr val="CCFFCC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4" autoAdjust="0"/>
    <p:restoredTop sz="90493" autoAdjust="0"/>
  </p:normalViewPr>
  <p:slideViewPr>
    <p:cSldViewPr>
      <p:cViewPr varScale="1">
        <p:scale>
          <a:sx n="65" d="100"/>
          <a:sy n="65" d="100"/>
        </p:scale>
        <p:origin x="146" y="29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2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8E80C0E-90A8-415D-8491-241403D806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8787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A0CD922-3EDC-449B-9420-33DC7015B935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65931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84DE909-0B27-44F1-B66A-A47BB8A8D36E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884883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3710F7D-AA2D-42B7-A26B-EA62DDC8C1B0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682051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19BF8A6-BBA1-4117-B55F-58F18F9ABA64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920690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5489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EFAB9-F793-4CF3-B176-48A0396187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50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66AE9-8759-4966-8F35-13AB29B39B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7336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3F3A0-4DC2-4F33-BF90-FAC3F62B31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242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759FA-354E-46D7-9CFB-6CC6C25997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12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FE909-8CDE-4F30-B93E-DB9E7084CA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26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2BBFD-C932-4104-A95A-0E9CF9CE4F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747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826CA-F179-4734-BD24-8A9CB335BD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97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B21701-9EFB-4CEB-80E5-25ECE82392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4857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9B2B13-71E2-48FA-9247-7EA3CF7A2D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483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C0C51-E3A7-4C16-A293-8F15DD7B3E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319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13751-EB18-444B-92F7-CE60BC71ED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9517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10D41-59F6-48AA-B461-B7B6DD1401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7555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2434D-0A84-4E70-BCA4-9A6DC585C4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613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E0388-6BBA-4213-B6B1-51AED67DA5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993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B18A6-DBA3-4EB2-B338-FC45423979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0369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2D0718-D89C-4EB6-AB5A-405CE8C0C2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09970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8B7134-4D73-46EA-B45F-5C61277187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181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671A4-94CF-48B8-9E5F-575F9A7113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4578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FFF3D-6C9D-44EF-804B-61857CE5C2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0591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77B45-CF92-4748-B2B9-2D4831E54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36518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93E4C-E6DE-4DFF-869E-7A358972CA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91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C4338BE-CC20-4DFA-B01F-ED8749AB4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84" r:id="rId1"/>
    <p:sldLayoutId id="2147485563" r:id="rId2"/>
    <p:sldLayoutId id="2147485564" r:id="rId3"/>
    <p:sldLayoutId id="2147485565" r:id="rId4"/>
    <p:sldLayoutId id="2147485566" r:id="rId5"/>
    <p:sldLayoutId id="2147485567" r:id="rId6"/>
    <p:sldLayoutId id="2147485568" r:id="rId7"/>
    <p:sldLayoutId id="2147485569" r:id="rId8"/>
    <p:sldLayoutId id="2147485570" r:id="rId9"/>
    <p:sldLayoutId id="2147485571" r:id="rId10"/>
    <p:sldLayoutId id="2147485572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96CDE94-DE8E-4A5F-B64D-962C8C8A27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73" r:id="rId1"/>
    <p:sldLayoutId id="2147485574" r:id="rId2"/>
    <p:sldLayoutId id="2147485575" r:id="rId3"/>
    <p:sldLayoutId id="2147485576" r:id="rId4"/>
    <p:sldLayoutId id="2147485577" r:id="rId5"/>
    <p:sldLayoutId id="2147485578" r:id="rId6"/>
    <p:sldLayoutId id="2147485579" r:id="rId7"/>
    <p:sldLayoutId id="2147485580" r:id="rId8"/>
    <p:sldLayoutId id="2147485581" r:id="rId9"/>
    <p:sldLayoutId id="2147485582" r:id="rId10"/>
    <p:sldLayoutId id="214748558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smtClean="0"/>
              <a:t>توصیف </a:t>
            </a:r>
            <a:r>
              <a:rPr lang="en-US" altLang="en-US" smtClean="0"/>
              <a:t>VHDL</a:t>
            </a:r>
            <a:r>
              <a:rPr lang="fa-IR" altLang="en-US" smtClean="0"/>
              <a:t> قابل سنتز</a:t>
            </a:r>
            <a:endParaRPr lang="en-US" altLang="en-US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smtClean="0"/>
              <a:t>Synthesizable VHDL Description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کد قابل سنتز</a:t>
            </a:r>
            <a:endParaRPr lang="en-US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85800" y="1589088"/>
            <a:ext cx="7772400" cy="4648200"/>
          </a:xfrm>
        </p:spPr>
        <p:txBody>
          <a:bodyPr/>
          <a:lstStyle/>
          <a:p>
            <a:r>
              <a:rPr lang="fa-IR" altLang="en-US" smtClean="0"/>
              <a:t>چگونه کد قابل سنتز بنویسیم؟</a:t>
            </a:r>
          </a:p>
          <a:p>
            <a:r>
              <a:rPr lang="fa-IR" altLang="en-US" smtClean="0"/>
              <a:t>چگونه کد قابل سنتز خوب بنویسیم؟</a:t>
            </a:r>
          </a:p>
          <a:p>
            <a:pPr lvl="1"/>
            <a:r>
              <a:rPr lang="fa-IR" altLang="en-US" smtClean="0"/>
              <a:t>نکات کلی برای همة ابزارها</a:t>
            </a:r>
          </a:p>
          <a:p>
            <a:pPr lvl="1"/>
            <a:r>
              <a:rPr lang="fa-IR" altLang="en-US" smtClean="0"/>
              <a:t>نکات جزئی: </a:t>
            </a:r>
          </a:p>
          <a:p>
            <a:pPr lvl="2"/>
            <a:r>
              <a:rPr lang="fa-IR" altLang="en-US" smtClean="0"/>
              <a:t>موردکاوی ابزار سنتز </a:t>
            </a:r>
            <a:r>
              <a:rPr lang="en-US" altLang="en-US" smtClean="0"/>
              <a:t>Vivado</a:t>
            </a:r>
            <a:endParaRPr lang="fa-IR" altLang="en-US" smtClean="0"/>
          </a:p>
          <a:p>
            <a:pPr lvl="2"/>
            <a:r>
              <a:rPr lang="fa-IR" altLang="en-US" smtClean="0"/>
              <a:t>مراجعه به مستندات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E10B50B-9047-4ACA-BF24-6FA30DE8655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کد قابل سنتز</a:t>
            </a:r>
            <a:endParaRPr lang="en-US" altLang="en-US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85800" y="1157288"/>
            <a:ext cx="7772400" cy="4648200"/>
          </a:xfrm>
        </p:spPr>
        <p:txBody>
          <a:bodyPr/>
          <a:lstStyle/>
          <a:p>
            <a:r>
              <a:rPr lang="fa-IR" altLang="en-US" smtClean="0"/>
              <a:t>یادآوری:</a:t>
            </a:r>
          </a:p>
          <a:p>
            <a:pPr lvl="1"/>
            <a:r>
              <a:rPr lang="fa-IR" altLang="en-US" smtClean="0"/>
              <a:t>طراح بی‌نیاز از سایر امکانات </a:t>
            </a:r>
            <a:r>
              <a:rPr lang="en-US" altLang="en-US" sz="2400" smtClean="0"/>
              <a:t>VHDL</a:t>
            </a:r>
            <a:r>
              <a:rPr lang="fa-IR" altLang="en-US" smtClean="0"/>
              <a:t> نیست.</a:t>
            </a:r>
          </a:p>
          <a:p>
            <a:pPr lvl="2"/>
            <a:r>
              <a:rPr lang="fa-IR" altLang="en-US" smtClean="0"/>
              <a:t> توصیف </a:t>
            </a:r>
            <a:r>
              <a:rPr lang="en-US" altLang="en-US" smtClean="0"/>
              <a:t>testbench</a:t>
            </a:r>
            <a:r>
              <a:rPr lang="fa-IR" altLang="en-US" smtClean="0"/>
              <a:t>:</a:t>
            </a:r>
          </a:p>
          <a:p>
            <a:pPr lvl="3"/>
            <a:r>
              <a:rPr lang="fa-IR" altLang="en-US" smtClean="0"/>
              <a:t>مثال: </a:t>
            </a:r>
            <a:r>
              <a:rPr lang="en-US" altLang="en-US" smtClean="0"/>
              <a:t>after</a:t>
            </a:r>
            <a:r>
              <a:rPr lang="fa-IR" altLang="en-US" smtClean="0"/>
              <a:t> برای تولید سیگنال‌های تست</a:t>
            </a:r>
          </a:p>
          <a:p>
            <a:pPr lvl="3"/>
            <a:r>
              <a:rPr lang="fa-IR" altLang="en-US" smtClean="0"/>
              <a:t>مثال: خواندن و نوشتن فایل‌ها</a:t>
            </a:r>
          </a:p>
          <a:p>
            <a:pPr lvl="3"/>
            <a:r>
              <a:rPr lang="fa-IR" altLang="en-US" smtClean="0"/>
              <a:t>مثال: مقایسة خروجی‌های توصیف رفتاری طرح با خروجی‌های مدار سنتز شده</a:t>
            </a:r>
          </a:p>
          <a:p>
            <a:pPr lvl="2"/>
            <a:r>
              <a:rPr lang="fa-IR" altLang="en-US" smtClean="0"/>
              <a:t> توصیف رفتاری پودمان‌های طرح‌های متوسط و بزرگ در ابتدا</a:t>
            </a:r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B2E512F-98DC-4EAD-84DF-915FA8ACBB5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نیاز به کد رفتاری</a:t>
            </a:r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2051050" y="908050"/>
            <a:ext cx="6881813" cy="5214938"/>
          </a:xfrm>
        </p:spPr>
        <p:txBody>
          <a:bodyPr/>
          <a:lstStyle/>
          <a:p>
            <a:pPr lvl="1"/>
            <a:r>
              <a:rPr lang="fa-IR" altLang="en-US" smtClean="0"/>
              <a:t>مثال: </a:t>
            </a:r>
            <a:endParaRPr lang="en-US" altLang="en-US" smtClean="0"/>
          </a:p>
          <a:p>
            <a:pPr lvl="2"/>
            <a:r>
              <a:rPr lang="fa-IR" altLang="en-US" sz="2800" smtClean="0"/>
              <a:t> سخت‌افزار محاسبة </a:t>
            </a:r>
            <a:r>
              <a:rPr lang="en-US" altLang="en-US" sz="2800" smtClean="0"/>
              <a:t>(x</a:t>
            </a:r>
            <a:r>
              <a:rPr lang="en-US" altLang="en-US" sz="2800" baseline="30000" smtClean="0"/>
              <a:t>2</a:t>
            </a:r>
            <a:r>
              <a:rPr lang="en-US" altLang="en-US" sz="2800" smtClean="0"/>
              <a:t> + y</a:t>
            </a:r>
            <a:r>
              <a:rPr lang="en-US" altLang="en-US" sz="2800" baseline="30000" smtClean="0"/>
              <a:t>2</a:t>
            </a:r>
            <a:r>
              <a:rPr lang="en-US" altLang="en-US" sz="2800" smtClean="0"/>
              <a:t>)</a:t>
            </a:r>
            <a:endParaRPr lang="en-US" altLang="en-US" sz="2800" baseline="30000" smtClean="0"/>
          </a:p>
          <a:p>
            <a:pPr lvl="2"/>
            <a:r>
              <a:rPr lang="fa-IR" altLang="en-US" sz="2800" smtClean="0"/>
              <a:t> مقایسه با نتیجة رفتاری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D9FBEFA-547B-4AAA-8F57-631D5AFC2EB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468313" y="2616200"/>
            <a:ext cx="6767512" cy="36004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TBENCH of ENT_BENCH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procedure WAVE_GEN (signal X:out integer, signal Y:out integer)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variable I integer:= 0;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for VX in 0 to 63 loop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for VY in 0 to 63 loop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X &lt;= VX after I*10 ns;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Y &lt;= VY after I*10 ns;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I:= I + 1;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end loop;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end procedure WAVE_GEN;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WAVE_GEN (X, Y);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L1:L_MODULE port map(X,Y,L);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L_BEHAVE &lt;= (X**2 + Y**2);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ERROR_SIG &lt;= L_BEHAVE xor 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end architecture TBENCH;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انواع داده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2051050" y="908050"/>
            <a:ext cx="6881813" cy="5214938"/>
          </a:xfrm>
        </p:spPr>
        <p:txBody>
          <a:bodyPr/>
          <a:lstStyle/>
          <a:p>
            <a:r>
              <a:rPr lang="fa-IR" altLang="en-US" dirty="0" smtClean="0"/>
              <a:t>انواع دادة سنتز‌پذیر:</a:t>
            </a:r>
          </a:p>
          <a:p>
            <a:pPr lvl="1"/>
            <a:r>
              <a:rPr lang="en-US" altLang="en-US" sz="2400" dirty="0" smtClean="0"/>
              <a:t>bit</a:t>
            </a:r>
            <a:r>
              <a:rPr lang="fa-IR" altLang="en-US" sz="2400" dirty="0" smtClean="0"/>
              <a:t> </a:t>
            </a:r>
            <a:r>
              <a:rPr lang="fa-IR" altLang="en-US" dirty="0" smtClean="0"/>
              <a:t>و </a:t>
            </a:r>
            <a:r>
              <a:rPr lang="en-US" altLang="en-US" sz="2400" dirty="0" err="1" smtClean="0"/>
              <a:t>bit_vector</a:t>
            </a:r>
            <a:endParaRPr lang="en-US" altLang="en-US" dirty="0" smtClean="0"/>
          </a:p>
          <a:p>
            <a:pPr lvl="1"/>
            <a:r>
              <a:rPr lang="en-US" altLang="en-US" sz="2400" dirty="0" err="1" smtClean="0"/>
              <a:t>boolean</a:t>
            </a:r>
            <a:endParaRPr lang="en-US" altLang="en-US" dirty="0" smtClean="0"/>
          </a:p>
          <a:p>
            <a:pPr lvl="1"/>
            <a:r>
              <a:rPr lang="en-US" altLang="en-US" sz="2400" dirty="0" smtClean="0"/>
              <a:t>integer</a:t>
            </a:r>
          </a:p>
          <a:p>
            <a:pPr lvl="2"/>
            <a:r>
              <a:rPr lang="fa-IR" altLang="en-US" dirty="0" smtClean="0"/>
              <a:t>به تعدادی بیت (سیم یا فلیپ فلاپ یا پورت) تبدیل می‌شود.</a:t>
            </a:r>
          </a:p>
          <a:p>
            <a:pPr lvl="1"/>
            <a:r>
              <a:rPr lang="en-US" altLang="en-US" sz="2400" dirty="0" err="1" smtClean="0"/>
              <a:t>std_logic</a:t>
            </a:r>
            <a:r>
              <a:rPr lang="fa-IR" altLang="en-US" sz="2400" dirty="0" smtClean="0"/>
              <a:t> </a:t>
            </a:r>
            <a:r>
              <a:rPr lang="fa-IR" altLang="en-US" dirty="0" smtClean="0"/>
              <a:t>و </a:t>
            </a:r>
            <a:r>
              <a:rPr lang="en-US" altLang="en-US" sz="2400" dirty="0" err="1" smtClean="0"/>
              <a:t>std_ulogic</a:t>
            </a:r>
            <a:endParaRPr lang="fa-IR" altLang="en-US" dirty="0" smtClean="0"/>
          </a:p>
          <a:p>
            <a:pPr lvl="2"/>
            <a:r>
              <a:rPr lang="fa-IR" altLang="en-US" dirty="0" smtClean="0"/>
              <a:t>برخی از مقادیر آن قابل استفاده است</a:t>
            </a:r>
          </a:p>
          <a:p>
            <a:pPr lvl="3"/>
            <a:r>
              <a:rPr lang="en-US" altLang="en-US" dirty="0" smtClean="0"/>
              <a:t>‘1’, ‘0’, ‘Z</a:t>
            </a:r>
            <a:r>
              <a:rPr lang="en-US" altLang="en-US" smtClean="0"/>
              <a:t>’, ‘-’</a:t>
            </a:r>
            <a:endParaRPr lang="fa-IR" altLang="en-US" dirty="0" smtClean="0"/>
          </a:p>
          <a:p>
            <a:pPr lvl="1"/>
            <a:r>
              <a:rPr lang="en-US" altLang="en-US" sz="2400" dirty="0" smtClean="0"/>
              <a:t>signed</a:t>
            </a:r>
            <a:r>
              <a:rPr lang="fa-IR" altLang="en-US" sz="2400" dirty="0" smtClean="0"/>
              <a:t> </a:t>
            </a:r>
            <a:r>
              <a:rPr lang="fa-IR" altLang="en-US" dirty="0" smtClean="0"/>
              <a:t>و </a:t>
            </a:r>
            <a:r>
              <a:rPr lang="en-US" altLang="en-US" sz="2400" dirty="0" smtClean="0"/>
              <a:t>unsigned</a:t>
            </a:r>
            <a:endParaRPr lang="en-US" altLang="en-US" dirty="0" smtClean="0"/>
          </a:p>
          <a:p>
            <a:pPr lvl="1"/>
            <a:r>
              <a:rPr lang="en-US" altLang="en-US" sz="2400" dirty="0" smtClean="0"/>
              <a:t>enumeration type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برای حالت‌های </a:t>
            </a:r>
            <a:r>
              <a:rPr lang="en-US" altLang="en-US" sz="2000" dirty="0" smtClean="0"/>
              <a:t>FSM</a:t>
            </a:r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fa-IR" altLang="en-US" dirty="0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F2A835B-7B37-4E4C-BD84-1CBCB18EE11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انواع داده</a:t>
            </a:r>
            <a:endParaRPr lang="en-US" altLang="en-US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835150" y="1238250"/>
            <a:ext cx="6881813" cy="5214938"/>
          </a:xfrm>
        </p:spPr>
        <p:txBody>
          <a:bodyPr/>
          <a:lstStyle/>
          <a:p>
            <a:r>
              <a:rPr lang="fa-IR" altLang="en-US" smtClean="0"/>
              <a:t>انواع دادة سنتزنا‌پذیر:</a:t>
            </a:r>
          </a:p>
          <a:p>
            <a:pPr lvl="1"/>
            <a:r>
              <a:rPr lang="en-US" altLang="en-US" smtClean="0"/>
              <a:t>real</a:t>
            </a:r>
          </a:p>
          <a:p>
            <a:pPr lvl="1"/>
            <a:r>
              <a:rPr lang="en-US" altLang="en-US" smtClean="0"/>
              <a:t>character</a:t>
            </a:r>
          </a:p>
          <a:p>
            <a:pPr lvl="1"/>
            <a:r>
              <a:rPr lang="en-US" altLang="en-US" smtClean="0"/>
              <a:t>string</a:t>
            </a:r>
          </a:p>
          <a:p>
            <a:pPr lvl="1"/>
            <a:endParaRPr lang="en-US" altLang="en-US" smtClean="0"/>
          </a:p>
          <a:p>
            <a:pPr lvl="1"/>
            <a:endParaRPr lang="fa-IR" altLang="en-US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5BAC5BC-921A-4CEB-873B-C1E2F530BA0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دستورها</a:t>
            </a:r>
            <a:endParaRPr lang="en-US" altLang="en-US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dirty="0" smtClean="0"/>
              <a:t>دستورهای سنتزپذیر:</a:t>
            </a:r>
          </a:p>
          <a:p>
            <a:pPr lvl="1"/>
            <a:r>
              <a:rPr lang="fa-IR" altLang="en-US" dirty="0" smtClean="0"/>
              <a:t>انتساب به سیگنال</a:t>
            </a:r>
          </a:p>
          <a:p>
            <a:pPr lvl="1"/>
            <a:r>
              <a:rPr lang="fa-IR" altLang="en-US" dirty="0" smtClean="0"/>
              <a:t>انتساب به متغیر</a:t>
            </a:r>
          </a:p>
          <a:p>
            <a:pPr lvl="1"/>
            <a:r>
              <a:rPr lang="en-US" altLang="en-US" sz="2400" dirty="0" smtClean="0"/>
              <a:t>if-then-else</a:t>
            </a:r>
          </a:p>
          <a:p>
            <a:pPr lvl="1"/>
            <a:r>
              <a:rPr lang="en-US" altLang="en-US" sz="2400" dirty="0" smtClean="0"/>
              <a:t>case-when</a:t>
            </a:r>
          </a:p>
          <a:p>
            <a:pPr lvl="1"/>
            <a:r>
              <a:rPr lang="en-US" altLang="en-US" sz="2400" dirty="0" smtClean="0"/>
              <a:t>when-else</a:t>
            </a:r>
            <a:endParaRPr lang="en-US" altLang="en-US" dirty="0" smtClean="0"/>
          </a:p>
          <a:p>
            <a:pPr lvl="1"/>
            <a:r>
              <a:rPr lang="en-US" altLang="en-US" sz="2400" dirty="0" smtClean="0"/>
              <a:t>with-select-when</a:t>
            </a:r>
            <a:endParaRPr lang="en-US" altLang="en-US" dirty="0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B39F531-5942-4E16-A755-DBF86F2991C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دستورها</a:t>
            </a:r>
            <a:endParaRPr lang="en-US" altLang="en-US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685800" y="981075"/>
            <a:ext cx="7772400" cy="4648200"/>
          </a:xfrm>
        </p:spPr>
        <p:txBody>
          <a:bodyPr/>
          <a:lstStyle/>
          <a:p>
            <a:r>
              <a:rPr lang="fa-IR" altLang="en-US" dirty="0" smtClean="0"/>
              <a:t>دستورهای سنتزپذیر:</a:t>
            </a:r>
          </a:p>
          <a:p>
            <a:pPr lvl="1"/>
            <a:r>
              <a:rPr lang="en-US" altLang="en-US" sz="2400" dirty="0" smtClean="0"/>
              <a:t>if-generate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با شرط </a:t>
            </a:r>
            <a:r>
              <a:rPr lang="en-US" altLang="en-US" sz="2000" dirty="0" smtClean="0"/>
              <a:t>static</a:t>
            </a:r>
            <a:endParaRPr lang="en-US" altLang="en-US" dirty="0" smtClean="0"/>
          </a:p>
          <a:p>
            <a:pPr lvl="1"/>
            <a:r>
              <a:rPr lang="en-US" altLang="en-US" sz="2400" dirty="0" smtClean="0"/>
              <a:t>for-generate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با تکرار </a:t>
            </a:r>
            <a:r>
              <a:rPr lang="en-US" altLang="en-US" sz="2000" dirty="0" smtClean="0"/>
              <a:t>static</a:t>
            </a:r>
            <a:endParaRPr lang="en-US" altLang="en-US" dirty="0" smtClean="0"/>
          </a:p>
          <a:p>
            <a:pPr lvl="1"/>
            <a:r>
              <a:rPr lang="en-US" altLang="en-US" sz="2400" dirty="0" smtClean="0"/>
              <a:t>for-loop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در بعضی ابزارها با تکرار </a:t>
            </a:r>
            <a:r>
              <a:rPr lang="en-US" altLang="en-US" sz="2000" dirty="0" smtClean="0"/>
              <a:t>static</a:t>
            </a:r>
            <a:endParaRPr lang="en-US" altLang="en-US" dirty="0" smtClean="0"/>
          </a:p>
          <a:p>
            <a:pPr lvl="1"/>
            <a:r>
              <a:rPr lang="en-US" altLang="en-US" sz="2400" dirty="0" smtClean="0"/>
              <a:t>while-loop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در بعضی ابزارها با شرط حلقة </a:t>
            </a:r>
            <a:r>
              <a:rPr lang="en-US" altLang="en-US" sz="2000" dirty="0" smtClean="0"/>
              <a:t>static</a:t>
            </a:r>
            <a:endParaRPr lang="fa-IR" altLang="en-US" dirty="0" smtClean="0"/>
          </a:p>
          <a:p>
            <a:pPr lvl="1"/>
            <a:r>
              <a:rPr lang="en-US" altLang="en-US" sz="2400" dirty="0" smtClean="0"/>
              <a:t>wait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به شکل بسیار محدود (بعداً)</a:t>
            </a:r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fa-IR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9A891FC-CFB1-46D0-8EE3-F7EFC47E88E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عملگرها</a:t>
            </a:r>
            <a:endParaRPr lang="en-US" alt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85800" y="1013048"/>
            <a:ext cx="7772400" cy="4648200"/>
          </a:xfrm>
        </p:spPr>
        <p:txBody>
          <a:bodyPr/>
          <a:lstStyle/>
          <a:p>
            <a:r>
              <a:rPr lang="fa-IR" altLang="en-US" smtClean="0"/>
              <a:t>عملگرهای سنتزپذیر:</a:t>
            </a:r>
          </a:p>
          <a:p>
            <a:pPr lvl="1"/>
            <a:r>
              <a:rPr lang="fa-IR" altLang="en-US" smtClean="0"/>
              <a:t>منطقی:</a:t>
            </a:r>
          </a:p>
          <a:p>
            <a:pPr lvl="2"/>
            <a:r>
              <a:rPr lang="en-US" altLang="en-US" smtClean="0"/>
              <a:t>and, or, xor, nand, nor, not, xnor</a:t>
            </a:r>
            <a:endParaRPr lang="fa-IR" altLang="en-US" smtClean="0"/>
          </a:p>
          <a:p>
            <a:pPr lvl="1"/>
            <a:r>
              <a:rPr lang="fa-IR" altLang="en-US" smtClean="0"/>
              <a:t>حسابی:</a:t>
            </a:r>
          </a:p>
          <a:p>
            <a:pPr lvl="2"/>
            <a:r>
              <a:rPr lang="en-US" altLang="en-US" smtClean="0"/>
              <a:t>+, -, *</a:t>
            </a:r>
            <a:r>
              <a:rPr lang="fa-IR" altLang="en-US" smtClean="0"/>
              <a:t>، </a:t>
            </a:r>
            <a:r>
              <a:rPr lang="en-US" altLang="en-US" smtClean="0"/>
              <a:t>abs</a:t>
            </a:r>
            <a:endParaRPr lang="fa-IR" altLang="en-US" smtClean="0"/>
          </a:p>
          <a:p>
            <a:pPr lvl="1"/>
            <a:r>
              <a:rPr lang="fa-IR" altLang="en-US" smtClean="0"/>
              <a:t>الحاقی:</a:t>
            </a:r>
          </a:p>
          <a:p>
            <a:pPr lvl="2"/>
            <a:r>
              <a:rPr lang="en-US" altLang="en-US"/>
              <a:t>&amp;</a:t>
            </a:r>
            <a:endParaRPr lang="fa-IR" altLang="en-US" smtClean="0"/>
          </a:p>
          <a:p>
            <a:pPr lvl="1"/>
            <a:r>
              <a:rPr lang="fa-IR" altLang="en-US" smtClean="0"/>
              <a:t>رابطه‌ای:</a:t>
            </a:r>
          </a:p>
          <a:p>
            <a:pPr lvl="2"/>
            <a:r>
              <a:rPr lang="en-US" altLang="en-US" smtClean="0"/>
              <a:t>&lt;, &gt;, =, /=, &lt;=, &gt;=</a:t>
            </a:r>
          </a:p>
          <a:p>
            <a:pPr lvl="1"/>
            <a:r>
              <a:rPr lang="fa-IR" altLang="en-US" smtClean="0"/>
              <a:t>شیفت:</a:t>
            </a:r>
            <a:endParaRPr lang="en-US" altLang="en-US" smtClean="0"/>
          </a:p>
          <a:p>
            <a:pPr lvl="2"/>
            <a:r>
              <a:rPr lang="en-US" altLang="en-US" smtClean="0"/>
              <a:t>sra, ror, sra, …</a:t>
            </a:r>
          </a:p>
          <a:p>
            <a:pPr lvl="2"/>
            <a:endParaRPr lang="fa-IR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0EAB06A-5AF5-46A4-B180-1E40F95C0A3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عملگرها</a:t>
            </a:r>
            <a:endParaRPr lang="en-US" altLang="en-US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smtClean="0"/>
              <a:t>عملگرهای سنتزناپذیر:</a:t>
            </a:r>
          </a:p>
          <a:p>
            <a:pPr lvl="1"/>
            <a:r>
              <a:rPr lang="en-US" altLang="en-US" smtClean="0"/>
              <a:t>**</a:t>
            </a:r>
          </a:p>
          <a:p>
            <a:pPr lvl="2"/>
            <a:r>
              <a:rPr lang="fa-IR" altLang="en-US" smtClean="0"/>
              <a:t>اگر عملوند سمت چپ برابر 2 باشد</a:t>
            </a:r>
            <a:endParaRPr lang="en-US" altLang="en-US" smtClean="0"/>
          </a:p>
          <a:p>
            <a:pPr lvl="1"/>
            <a:r>
              <a:rPr lang="en-US" altLang="en-US" smtClean="0"/>
              <a:t>/</a:t>
            </a:r>
          </a:p>
          <a:p>
            <a:pPr lvl="2"/>
            <a:r>
              <a:rPr lang="fa-IR" altLang="en-US" smtClean="0"/>
              <a:t>اگر عملوند سمت چپ توانی از 2 باشد، یا </a:t>
            </a:r>
          </a:p>
          <a:p>
            <a:pPr lvl="2"/>
            <a:r>
              <a:rPr lang="fa-IR" altLang="en-US" smtClean="0"/>
              <a:t>هر دو عملوند ثابت باشند</a:t>
            </a:r>
            <a:endParaRPr lang="en-US" altLang="en-US" smtClean="0"/>
          </a:p>
          <a:p>
            <a:pPr lvl="1"/>
            <a:r>
              <a:rPr lang="en-US" altLang="en-US" smtClean="0"/>
              <a:t>mod</a:t>
            </a:r>
            <a:r>
              <a:rPr lang="fa-IR" altLang="en-US" smtClean="0"/>
              <a:t> و </a:t>
            </a:r>
            <a:r>
              <a:rPr lang="en-US" altLang="en-US" smtClean="0"/>
              <a:t>rem</a:t>
            </a:r>
          </a:p>
          <a:p>
            <a:pPr lvl="2"/>
            <a:r>
              <a:rPr lang="fa-IR" altLang="en-US" smtClean="0"/>
              <a:t>اگر عملوند سمت راست توان ثابتی از 2 باشد</a:t>
            </a:r>
            <a:endParaRPr lang="en-US" altLang="en-US" smtClean="0"/>
          </a:p>
          <a:p>
            <a:pPr lvl="2"/>
            <a:endParaRPr lang="en-US" altLang="en-US" smtClean="0"/>
          </a:p>
          <a:p>
            <a:pPr lvl="1"/>
            <a:endParaRPr lang="fa-IR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C42F5B3-D828-41EE-993D-F47161B925D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ctrTitle" sz="quarter"/>
          </p:nvPr>
        </p:nvSpPr>
        <p:spPr>
          <a:xfrm>
            <a:off x="692150" y="2276872"/>
            <a:ext cx="7759700" cy="1143000"/>
          </a:xfrm>
          <a:ln w="9525"/>
        </p:spPr>
        <p:txBody>
          <a:bodyPr/>
          <a:lstStyle/>
          <a:p>
            <a:pPr rtl="1"/>
            <a:r>
              <a:rPr lang="fa-IR" altLang="en-US" smtClean="0"/>
              <a:t>توصیف سنتزپذیر </a:t>
            </a:r>
            <a:r>
              <a:rPr lang="en-US" altLang="en-US" smtClean="0"/>
              <a:t>RTL</a:t>
            </a:r>
          </a:p>
        </p:txBody>
      </p:sp>
      <p:sp>
        <p:nvSpPr>
          <p:cNvPr id="19459" name="Subtitle 2"/>
          <p:cNvSpPr>
            <a:spLocks noGrp="1"/>
          </p:cNvSpPr>
          <p:nvPr>
            <p:ph type="subTitle" sz="quarter" idx="1"/>
          </p:nvPr>
        </p:nvSpPr>
        <p:spPr>
          <a:ln w="9525"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توصیف مدارهای ترکیبی</a:t>
            </a:r>
            <a:endParaRPr lang="en-US" altLang="en-US" smtClean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smtClean="0"/>
              <a:t>با فرایند:</a:t>
            </a:r>
          </a:p>
          <a:p>
            <a:pPr lvl="1"/>
            <a:r>
              <a:rPr lang="fa-IR" altLang="en-US" smtClean="0"/>
              <a:t>عملیات منطقی یا حسابی: با عملگرهای مجاز</a:t>
            </a:r>
          </a:p>
          <a:p>
            <a:pPr lvl="1"/>
            <a:r>
              <a:rPr lang="fa-IR" altLang="en-US" smtClean="0"/>
              <a:t>انتساب به سیگنال‌ها یا متغیرها</a:t>
            </a:r>
          </a:p>
          <a:p>
            <a:pPr lvl="1"/>
            <a:r>
              <a:rPr lang="fa-IR" altLang="en-US" smtClean="0"/>
              <a:t>استفاده از دستورهای شرطی و مانند آن</a:t>
            </a:r>
          </a:p>
          <a:p>
            <a:pPr lvl="1"/>
            <a:r>
              <a:rPr lang="fa-IR" altLang="en-US" smtClean="0"/>
              <a:t>همة ورودی‌های مدار ترکیبی در لیست حساسیت</a:t>
            </a:r>
          </a:p>
          <a:p>
            <a:pPr lvl="2"/>
            <a:r>
              <a:rPr lang="fa-IR" altLang="en-US" smtClean="0"/>
              <a:t>علت؟ نیاز به به‌هنگام شدن خروجی‌ها</a:t>
            </a:r>
          </a:p>
          <a:p>
            <a:pPr lvl="2"/>
            <a:r>
              <a:rPr lang="fa-IR" altLang="en-US" smtClean="0"/>
              <a:t>اگر نگذاریم؟</a:t>
            </a:r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EDF0ADC-F0DE-41AA-9FB6-82A02DFD2BE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مدارهای ترکیبی</a:t>
            </a:r>
            <a:endParaRPr lang="en-US" alt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716463" y="873125"/>
            <a:ext cx="3741737" cy="1692275"/>
          </a:xfrm>
        </p:spPr>
        <p:txBody>
          <a:bodyPr/>
          <a:lstStyle/>
          <a:p>
            <a:r>
              <a:rPr lang="fa-IR" altLang="en-US" smtClean="0"/>
              <a:t>توصیف </a:t>
            </a:r>
            <a:r>
              <a:rPr lang="en-US" altLang="en-US" smtClean="0"/>
              <a:t>MUX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7A8D622-7B58-421E-8CFE-20894F151BE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1509" name="Rectangle 2"/>
          <p:cNvSpPr>
            <a:spLocks noChangeArrowheads="1"/>
          </p:cNvSpPr>
          <p:nvPr/>
        </p:nvSpPr>
        <p:spPr bwMode="auto">
          <a:xfrm>
            <a:off x="395288" y="1654175"/>
            <a:ext cx="3816350" cy="24622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(SEL, A, B, C, D)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SEL = ”00”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A;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elsif SEL = ”01”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elsif SEL = ”10”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else Z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21510" name="Rectangle 2"/>
          <p:cNvSpPr>
            <a:spLocks noChangeArrowheads="1"/>
          </p:cNvSpPr>
          <p:nvPr/>
        </p:nvSpPr>
        <p:spPr bwMode="auto">
          <a:xfrm>
            <a:off x="395288" y="4344988"/>
            <a:ext cx="3816350" cy="20304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(SEL, A, B, C, D)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case SEL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"00" =&gt; Z &lt;= A;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"01" =&gt; Z &lt;=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"10" =&gt; Z &lt;= 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"11" =&gt; Z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21511" name="Rectangle 2"/>
          <p:cNvSpPr>
            <a:spLocks noChangeArrowheads="1"/>
          </p:cNvSpPr>
          <p:nvPr/>
        </p:nvSpPr>
        <p:spPr bwMode="auto">
          <a:xfrm>
            <a:off x="4572000" y="2111375"/>
            <a:ext cx="3960813" cy="1600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…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Z &lt;= A when SEL = "00"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B when SEL = "01"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C when SEL = "10"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architecture;</a:t>
            </a:r>
          </a:p>
        </p:txBody>
      </p:sp>
      <p:sp>
        <p:nvSpPr>
          <p:cNvPr id="21512" name="Rectangle 2"/>
          <p:cNvSpPr>
            <a:spLocks noChangeArrowheads="1"/>
          </p:cNvSpPr>
          <p:nvPr/>
        </p:nvSpPr>
        <p:spPr bwMode="auto">
          <a:xfrm>
            <a:off x="4572000" y="4452938"/>
            <a:ext cx="3816350" cy="18145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…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with SEL select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A when "00",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B when "01",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C when "10",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D when others;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مدارهای ترکیبی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3276600" y="873125"/>
            <a:ext cx="5181600" cy="4932363"/>
          </a:xfrm>
        </p:spPr>
        <p:txBody>
          <a:bodyPr/>
          <a:lstStyle/>
          <a:p>
            <a:r>
              <a:rPr lang="fa-IR" altLang="en-US" dirty="0" smtClean="0"/>
              <a:t>حلقة ترکیبی:</a:t>
            </a:r>
          </a:p>
          <a:p>
            <a:pPr lvl="1"/>
            <a:r>
              <a:rPr lang="fa-IR" altLang="en-US" dirty="0" smtClean="0"/>
              <a:t>قابل سنتز</a:t>
            </a:r>
          </a:p>
          <a:p>
            <a:pPr lvl="1"/>
            <a:r>
              <a:rPr lang="fa-IR" altLang="en-US" dirty="0" smtClean="0"/>
              <a:t>ولی اجتناب کنید: مشکلات زمانی:</a:t>
            </a:r>
          </a:p>
          <a:p>
            <a:pPr lvl="2"/>
            <a:r>
              <a:rPr lang="fa-IR" altLang="en-US" dirty="0" smtClean="0"/>
              <a:t>ابهام نتیجه</a:t>
            </a:r>
          </a:p>
          <a:p>
            <a:pPr lvl="2"/>
            <a:r>
              <a:rPr lang="fa-IR" altLang="en-US" dirty="0" smtClean="0"/>
              <a:t>نوسان</a:t>
            </a:r>
          </a:p>
          <a:p>
            <a:pPr lvl="2"/>
            <a:r>
              <a:rPr lang="fa-IR" altLang="en-US" dirty="0" smtClean="0"/>
              <a:t>نمونه: </a:t>
            </a:r>
            <a:r>
              <a:rPr lang="en-US" altLang="en-US" sz="2000" dirty="0" smtClean="0"/>
              <a:t>SR-latch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ابزارهای سنتز معمولاً هشدار می‌دهند</a:t>
            </a:r>
          </a:p>
          <a:p>
            <a:pPr lvl="1"/>
            <a:endParaRPr lang="fa-IR" altLang="en-US" dirty="0" smtClean="0"/>
          </a:p>
          <a:p>
            <a:r>
              <a:rPr lang="fa-IR" altLang="en-US" dirty="0" smtClean="0"/>
              <a:t>توجه به هشدارها</a:t>
            </a:r>
          </a:p>
          <a:p>
            <a:pPr lvl="1"/>
            <a:r>
              <a:rPr lang="fa-IR" altLang="en-US" dirty="0" smtClean="0"/>
              <a:t>رفع کنید</a:t>
            </a:r>
          </a:p>
          <a:p>
            <a:pPr lvl="1"/>
            <a:r>
              <a:rPr lang="fa-IR" altLang="en-US" dirty="0" smtClean="0"/>
              <a:t>حداقل بدانید چه می‌کنید</a:t>
            </a:r>
          </a:p>
          <a:p>
            <a:pPr lvl="2"/>
            <a:endParaRPr lang="en-US" altLang="en-US" dirty="0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D6EE3EC-CFE9-4F7B-A6AF-F5F40E4A008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253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292600"/>
            <a:ext cx="4416425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مدارهای ترتیبی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539750" y="873125"/>
            <a:ext cx="7918450" cy="2068513"/>
          </a:xfrm>
        </p:spPr>
        <p:txBody>
          <a:bodyPr/>
          <a:lstStyle/>
          <a:p>
            <a:r>
              <a:rPr lang="fa-IR" altLang="en-US" smtClean="0"/>
              <a:t>فلیپ فلاپ:</a:t>
            </a:r>
          </a:p>
          <a:p>
            <a:pPr lvl="1"/>
            <a:r>
              <a:rPr lang="fa-IR" altLang="en-US" smtClean="0"/>
              <a:t>در تراشه‌ها: عمدتاً </a:t>
            </a:r>
            <a:r>
              <a:rPr lang="en-US" altLang="en-US" smtClean="0"/>
              <a:t>DFF</a:t>
            </a:r>
          </a:p>
          <a:p>
            <a:pPr lvl="2"/>
            <a:r>
              <a:rPr lang="fa-IR" altLang="en-US" smtClean="0"/>
              <a:t>بعضی تراشه‌ها: </a:t>
            </a:r>
            <a:r>
              <a:rPr lang="en-US" altLang="en-US" smtClean="0"/>
              <a:t>DFF</a:t>
            </a:r>
            <a:r>
              <a:rPr lang="fa-IR" altLang="en-US" smtClean="0"/>
              <a:t> با قابلیت برنامه‌ریزی به صورت  </a:t>
            </a:r>
            <a:r>
              <a:rPr lang="en-US" altLang="en-US" smtClean="0"/>
              <a:t>TFF</a:t>
            </a:r>
          </a:p>
          <a:p>
            <a:pPr lvl="2"/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C93C037-FC85-4464-9553-72B56187D53E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4581" name="Rectangle 2"/>
          <p:cNvSpPr>
            <a:spLocks noChangeArrowheads="1"/>
          </p:cNvSpPr>
          <p:nvPr/>
        </p:nvSpPr>
        <p:spPr bwMode="auto">
          <a:xfrm>
            <a:off x="539750" y="3573463"/>
            <a:ext cx="4319588" cy="13843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(CLK’event and CLK = ’1’)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Q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6516688" y="3284538"/>
            <a:ext cx="1150937" cy="15128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 sz="2800"/>
          </a:p>
        </p:txBody>
      </p:sp>
      <p:sp>
        <p:nvSpPr>
          <p:cNvPr id="4" name="Isosceles Triangle 3"/>
          <p:cNvSpPr/>
          <p:nvPr/>
        </p:nvSpPr>
        <p:spPr bwMode="auto">
          <a:xfrm rot="5400000">
            <a:off x="6516688" y="4221163"/>
            <a:ext cx="215900" cy="2159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 sz="2800"/>
          </a:p>
        </p:txBody>
      </p:sp>
      <p:cxnSp>
        <p:nvCxnSpPr>
          <p:cNvPr id="24584" name="Straight Connector 6"/>
          <p:cNvCxnSpPr>
            <a:cxnSpLocks noChangeShapeType="1"/>
          </p:cNvCxnSpPr>
          <p:nvPr/>
        </p:nvCxnSpPr>
        <p:spPr bwMode="auto">
          <a:xfrm flipH="1">
            <a:off x="5795963" y="3557588"/>
            <a:ext cx="7207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6516688" y="3373438"/>
            <a:ext cx="323850" cy="415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75" y="4149725"/>
            <a:ext cx="61277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+mn-lt"/>
              </a:rPr>
              <a:t>CLK</a:t>
            </a:r>
          </a:p>
        </p:txBody>
      </p:sp>
      <p:cxnSp>
        <p:nvCxnSpPr>
          <p:cNvPr id="24587" name="Straight Connector 12"/>
          <p:cNvCxnSpPr>
            <a:cxnSpLocks noChangeShapeType="1"/>
          </p:cNvCxnSpPr>
          <p:nvPr/>
        </p:nvCxnSpPr>
        <p:spPr bwMode="auto">
          <a:xfrm flipH="1">
            <a:off x="5795963" y="4292600"/>
            <a:ext cx="7207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8" name="Straight Connector 13"/>
          <p:cNvCxnSpPr>
            <a:cxnSpLocks noChangeShapeType="1"/>
          </p:cNvCxnSpPr>
          <p:nvPr/>
        </p:nvCxnSpPr>
        <p:spPr bwMode="auto">
          <a:xfrm flipH="1">
            <a:off x="7667625" y="3573463"/>
            <a:ext cx="7207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7308850" y="3373438"/>
            <a:ext cx="323850" cy="415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Q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92275" y="3821113"/>
            <a:ext cx="1901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rising_edge(CLK)</a:t>
            </a:r>
            <a:endParaRPr lang="en-US" altLang="en-US" sz="1400" b="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627313" y="4273550"/>
            <a:ext cx="3192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not CLK’stable and CLK = ‘1’</a:t>
            </a: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539750" y="5172075"/>
            <a:ext cx="3671888" cy="11699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wait until rising_edge(CLK);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Q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181475" y="5518150"/>
            <a:ext cx="22256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wait on CLK;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 (CLK = ‘1’) then</a:t>
            </a:r>
            <a:endParaRPr lang="en-US" altLang="en-US" sz="1400" b="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8" grpId="0" animBg="1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مدارهای ترتیبی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3924300" y="873125"/>
            <a:ext cx="4533900" cy="1390650"/>
          </a:xfrm>
        </p:spPr>
        <p:txBody>
          <a:bodyPr/>
          <a:lstStyle/>
          <a:p>
            <a:r>
              <a:rPr lang="fa-IR" altLang="en-US" smtClean="0"/>
              <a:t>فلیپ فلاپ با بازنشانی:</a:t>
            </a:r>
          </a:p>
          <a:p>
            <a:pPr lvl="1"/>
            <a:r>
              <a:rPr lang="fa-IR" altLang="en-US" smtClean="0"/>
              <a:t>همگام / ناهمگام</a:t>
            </a:r>
            <a:endParaRPr lang="en-US" altLang="en-US" smtClean="0"/>
          </a:p>
          <a:p>
            <a:pPr lvl="2"/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AFD64C4-D5B7-409D-863F-61FE035E1F3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771900" y="2295525"/>
            <a:ext cx="4679950" cy="1816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(CLK, RST)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(RST = '1')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Q &lt;= '0';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elsif (CLK'event and CLK = '1')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Q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3795713" y="4111625"/>
            <a:ext cx="4338637" cy="22463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(CLK'event and CLK = '1')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(RST = '1')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Q &lt;= '0';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Q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grpSp>
        <p:nvGrpSpPr>
          <p:cNvPr id="25607" name="Group 4"/>
          <p:cNvGrpSpPr>
            <a:grpSpLocks/>
          </p:cNvGrpSpPr>
          <p:nvPr/>
        </p:nvGrpSpPr>
        <p:grpSpPr bwMode="auto">
          <a:xfrm>
            <a:off x="827088" y="549275"/>
            <a:ext cx="2592387" cy="1944688"/>
            <a:chOff x="5795963" y="2852738"/>
            <a:chExt cx="2592387" cy="1944687"/>
          </a:xfrm>
        </p:grpSpPr>
        <p:sp>
          <p:nvSpPr>
            <p:cNvPr id="3" name="Rectangle 2"/>
            <p:cNvSpPr/>
            <p:nvPr/>
          </p:nvSpPr>
          <p:spPr bwMode="auto">
            <a:xfrm>
              <a:off x="6516688" y="3284538"/>
              <a:ext cx="1150937" cy="151288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sz="2800"/>
            </a:p>
          </p:txBody>
        </p:sp>
        <p:sp>
          <p:nvSpPr>
            <p:cNvPr id="4" name="Isosceles Triangle 3"/>
            <p:cNvSpPr/>
            <p:nvPr/>
          </p:nvSpPr>
          <p:spPr bwMode="auto">
            <a:xfrm rot="5400000">
              <a:off x="6516688" y="4221162"/>
              <a:ext cx="215900" cy="215900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sz="2800"/>
            </a:p>
          </p:txBody>
        </p:sp>
        <p:cxnSp>
          <p:nvCxnSpPr>
            <p:cNvPr id="25610" name="Straight Connector 6"/>
            <p:cNvCxnSpPr>
              <a:cxnSpLocks noChangeShapeType="1"/>
            </p:cNvCxnSpPr>
            <p:nvPr/>
          </p:nvCxnSpPr>
          <p:spPr bwMode="auto">
            <a:xfrm flipH="1">
              <a:off x="5795963" y="3557588"/>
              <a:ext cx="72072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TextBox 7"/>
            <p:cNvSpPr txBox="1"/>
            <p:nvPr/>
          </p:nvSpPr>
          <p:spPr>
            <a:xfrm>
              <a:off x="6516688" y="3373438"/>
              <a:ext cx="323850" cy="4159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latin typeface="+mn-lt"/>
                </a:rPr>
                <a:t>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96075" y="4149725"/>
              <a:ext cx="612775" cy="33813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600" b="1" dirty="0">
                  <a:latin typeface="+mn-lt"/>
                </a:rPr>
                <a:t>CLK</a:t>
              </a:r>
            </a:p>
          </p:txBody>
        </p:sp>
        <p:cxnSp>
          <p:nvCxnSpPr>
            <p:cNvPr id="25613" name="Straight Connector 12"/>
            <p:cNvCxnSpPr>
              <a:cxnSpLocks noChangeShapeType="1"/>
            </p:cNvCxnSpPr>
            <p:nvPr/>
          </p:nvCxnSpPr>
          <p:spPr bwMode="auto">
            <a:xfrm flipH="1">
              <a:off x="5795963" y="4292600"/>
              <a:ext cx="72072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4" name="Straight Connector 13"/>
            <p:cNvCxnSpPr>
              <a:cxnSpLocks noChangeShapeType="1"/>
            </p:cNvCxnSpPr>
            <p:nvPr/>
          </p:nvCxnSpPr>
          <p:spPr bwMode="auto">
            <a:xfrm flipH="1">
              <a:off x="7667625" y="3573463"/>
              <a:ext cx="72072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Box 14"/>
            <p:cNvSpPr txBox="1"/>
            <p:nvPr/>
          </p:nvSpPr>
          <p:spPr>
            <a:xfrm>
              <a:off x="7308850" y="3373438"/>
              <a:ext cx="323850" cy="4159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latin typeface="+mn-lt"/>
                </a:rPr>
                <a:t>Q</a:t>
              </a:r>
            </a:p>
          </p:txBody>
        </p:sp>
        <p:cxnSp>
          <p:nvCxnSpPr>
            <p:cNvPr id="25616" name="Straight Connector 4"/>
            <p:cNvCxnSpPr>
              <a:cxnSpLocks noChangeShapeType="1"/>
            </p:cNvCxnSpPr>
            <p:nvPr/>
          </p:nvCxnSpPr>
          <p:spPr bwMode="auto">
            <a:xfrm>
              <a:off x="7019925" y="2852738"/>
              <a:ext cx="0" cy="43180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Box 19"/>
            <p:cNvSpPr txBox="1"/>
            <p:nvPr/>
          </p:nvSpPr>
          <p:spPr>
            <a:xfrm>
              <a:off x="6732588" y="3265488"/>
              <a:ext cx="611187" cy="3079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 dirty="0">
                  <a:solidFill>
                    <a:srgbClr val="FF0000"/>
                  </a:solidFill>
                  <a:latin typeface="+mn-lt"/>
                </a:rPr>
                <a:t>RST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مدارهای ترتیبی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2339975" y="873125"/>
            <a:ext cx="6118225" cy="1390650"/>
          </a:xfrm>
        </p:spPr>
        <p:txBody>
          <a:bodyPr/>
          <a:lstStyle/>
          <a:p>
            <a:r>
              <a:rPr lang="fa-IR" altLang="en-US" smtClean="0"/>
              <a:t>فلیپ فلاپ با بازنشانی و فعال‌ساز کلاک:</a:t>
            </a:r>
          </a:p>
          <a:p>
            <a:pPr lvl="1"/>
            <a:r>
              <a:rPr lang="fa-IR" altLang="en-US" smtClean="0"/>
              <a:t>در زمان‌هایی نیازی به خروجی </a:t>
            </a:r>
            <a:r>
              <a:rPr lang="en-US" altLang="en-US" smtClean="0"/>
              <a:t>FF</a:t>
            </a:r>
            <a:r>
              <a:rPr lang="fa-IR" altLang="en-US" smtClean="0"/>
              <a:t>ها نداریم</a:t>
            </a:r>
          </a:p>
          <a:p>
            <a:pPr lvl="1"/>
            <a:r>
              <a:rPr lang="fa-IR" altLang="en-US" smtClean="0">
                <a:sym typeface="Wingdings" panose="05000000000000000000" pitchFamily="2" charset="2"/>
              </a:rPr>
              <a:t> </a:t>
            </a:r>
            <a:r>
              <a:rPr lang="fa-IR" altLang="en-US" smtClean="0"/>
              <a:t>صرفه‌جویی در توان مصرفی</a:t>
            </a:r>
            <a:endParaRPr lang="en-US" altLang="en-US" smtClean="0"/>
          </a:p>
          <a:p>
            <a:pPr lvl="2"/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F936954-7AA5-496B-9846-2749933F553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39750" y="2727325"/>
            <a:ext cx="5327650" cy="11699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wait until rising_edge(CLK) and CLKEN = ’1’;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Q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26630" name="Rectangle 2"/>
          <p:cNvSpPr>
            <a:spLocks noChangeArrowheads="1"/>
          </p:cNvSpPr>
          <p:nvPr/>
        </p:nvSpPr>
        <p:spPr bwMode="auto">
          <a:xfrm>
            <a:off x="6875463" y="3284538"/>
            <a:ext cx="1152525" cy="1512887"/>
          </a:xfrm>
          <a:prstGeom prst="rect">
            <a:avLst/>
          </a:prstGeom>
          <a:solidFill>
            <a:srgbClr val="47FFD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8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Isosceles Triangle 3"/>
          <p:cNvSpPr/>
          <p:nvPr/>
        </p:nvSpPr>
        <p:spPr bwMode="auto">
          <a:xfrm rot="5400000">
            <a:off x="6876257" y="4385469"/>
            <a:ext cx="215900" cy="217487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 sz="2800"/>
          </a:p>
        </p:txBody>
      </p:sp>
      <p:cxnSp>
        <p:nvCxnSpPr>
          <p:cNvPr id="26632" name="Straight Connector 6"/>
          <p:cNvCxnSpPr>
            <a:cxnSpLocks noChangeShapeType="1"/>
          </p:cNvCxnSpPr>
          <p:nvPr/>
        </p:nvCxnSpPr>
        <p:spPr bwMode="auto">
          <a:xfrm flipH="1">
            <a:off x="6156325" y="3557588"/>
            <a:ext cx="7191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6875463" y="3373438"/>
            <a:ext cx="325437" cy="415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6438" y="4314825"/>
            <a:ext cx="611187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+mn-lt"/>
              </a:rPr>
              <a:t>CLK</a:t>
            </a:r>
          </a:p>
        </p:txBody>
      </p:sp>
      <p:cxnSp>
        <p:nvCxnSpPr>
          <p:cNvPr id="26635" name="Straight Connector 12"/>
          <p:cNvCxnSpPr>
            <a:cxnSpLocks noChangeShapeType="1"/>
          </p:cNvCxnSpPr>
          <p:nvPr/>
        </p:nvCxnSpPr>
        <p:spPr bwMode="auto">
          <a:xfrm flipH="1">
            <a:off x="6156325" y="4459288"/>
            <a:ext cx="7191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6" name="Straight Connector 13"/>
          <p:cNvCxnSpPr>
            <a:cxnSpLocks noChangeShapeType="1"/>
          </p:cNvCxnSpPr>
          <p:nvPr/>
        </p:nvCxnSpPr>
        <p:spPr bwMode="auto">
          <a:xfrm flipH="1">
            <a:off x="8027988" y="3573463"/>
            <a:ext cx="7207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7667625" y="3373438"/>
            <a:ext cx="325438" cy="415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Q</a:t>
            </a:r>
          </a:p>
        </p:txBody>
      </p:sp>
      <p:cxnSp>
        <p:nvCxnSpPr>
          <p:cNvPr id="26638" name="Straight Connector 4"/>
          <p:cNvCxnSpPr>
            <a:cxnSpLocks noChangeShapeType="1"/>
          </p:cNvCxnSpPr>
          <p:nvPr/>
        </p:nvCxnSpPr>
        <p:spPr bwMode="auto">
          <a:xfrm>
            <a:off x="7380288" y="2852738"/>
            <a:ext cx="0" cy="4318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7092950" y="3265488"/>
            <a:ext cx="611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>
                <a:latin typeface="+mn-lt"/>
              </a:rPr>
              <a:t>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5463" y="3810000"/>
            <a:ext cx="9731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</a:rPr>
              <a:t>CLKEN</a:t>
            </a:r>
          </a:p>
        </p:txBody>
      </p:sp>
      <p:cxnSp>
        <p:nvCxnSpPr>
          <p:cNvPr id="26641" name="Straight Connector 21"/>
          <p:cNvCxnSpPr>
            <a:cxnSpLocks noChangeShapeType="1"/>
          </p:cNvCxnSpPr>
          <p:nvPr/>
        </p:nvCxnSpPr>
        <p:spPr bwMode="auto">
          <a:xfrm flipH="1">
            <a:off x="6156325" y="4005263"/>
            <a:ext cx="7191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مدارهای ترتیبی</a:t>
            </a:r>
            <a:endParaRPr lang="en-US" altLang="en-US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39975" y="1247775"/>
            <a:ext cx="6118225" cy="1389063"/>
          </a:xfrm>
        </p:spPr>
        <p:txBody>
          <a:bodyPr/>
          <a:lstStyle/>
          <a:p>
            <a:r>
              <a:rPr lang="fa-IR" altLang="en-US" smtClean="0"/>
              <a:t>عملیات منطقی/حسابی همگام با کلاک:</a:t>
            </a:r>
          </a:p>
          <a:p>
            <a:pPr lvl="2"/>
            <a:endParaRPr lang="en-US" alt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7FA7DC6-70F4-4ED6-8FB2-A4DD62AB632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39750" y="2838450"/>
            <a:ext cx="4248150" cy="24622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…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A, B, 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(CLK'event and CLK = '0')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 &lt;= A *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…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architecture;</a:t>
            </a:r>
          </a:p>
        </p:txBody>
      </p:sp>
      <p:sp>
        <p:nvSpPr>
          <p:cNvPr id="27654" name="Rectangle 2"/>
          <p:cNvSpPr>
            <a:spLocks noChangeArrowheads="1"/>
          </p:cNvSpPr>
          <p:nvPr/>
        </p:nvSpPr>
        <p:spPr bwMode="auto">
          <a:xfrm>
            <a:off x="6011863" y="3235325"/>
            <a:ext cx="1590675" cy="2160588"/>
          </a:xfrm>
          <a:prstGeom prst="rect">
            <a:avLst/>
          </a:prstGeom>
          <a:solidFill>
            <a:srgbClr val="47FFD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8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Isosceles Triangle 3"/>
          <p:cNvSpPr/>
          <p:nvPr/>
        </p:nvSpPr>
        <p:spPr bwMode="auto">
          <a:xfrm rot="5400000">
            <a:off x="6011863" y="5129213"/>
            <a:ext cx="215900" cy="2159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 sz="2800"/>
          </a:p>
        </p:txBody>
      </p:sp>
      <p:sp>
        <p:nvSpPr>
          <p:cNvPr id="8" name="TextBox 7"/>
          <p:cNvSpPr txBox="1"/>
          <p:nvPr/>
        </p:nvSpPr>
        <p:spPr>
          <a:xfrm>
            <a:off x="5183188" y="3540125"/>
            <a:ext cx="323850" cy="415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2838" y="5057775"/>
            <a:ext cx="611187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+mn-lt"/>
              </a:rPr>
              <a:t>CLK</a:t>
            </a:r>
          </a:p>
        </p:txBody>
      </p:sp>
      <p:cxnSp>
        <p:nvCxnSpPr>
          <p:cNvPr id="27658" name="Straight Connector 12"/>
          <p:cNvCxnSpPr>
            <a:cxnSpLocks noChangeShapeType="1"/>
          </p:cNvCxnSpPr>
          <p:nvPr/>
        </p:nvCxnSpPr>
        <p:spPr bwMode="auto">
          <a:xfrm flipH="1">
            <a:off x="5292725" y="5200650"/>
            <a:ext cx="7191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7675563" y="3748088"/>
            <a:ext cx="323850" cy="415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C</a:t>
            </a:r>
          </a:p>
        </p:txBody>
      </p:sp>
      <p:cxnSp>
        <p:nvCxnSpPr>
          <p:cNvPr id="5" name="Straight Connector 4"/>
          <p:cNvCxnSpPr>
            <a:cxnSpLocks noChangeShapeType="1"/>
          </p:cNvCxnSpPr>
          <p:nvPr/>
        </p:nvCxnSpPr>
        <p:spPr bwMode="auto">
          <a:xfrm>
            <a:off x="6765925" y="2784475"/>
            <a:ext cx="0" cy="4318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6461125" y="3244850"/>
            <a:ext cx="611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>
                <a:latin typeface="+mn-lt"/>
              </a:rPr>
              <a:t>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9225" y="4044950"/>
            <a:ext cx="323850" cy="414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B</a:t>
            </a:r>
          </a:p>
        </p:txBody>
      </p:sp>
      <p:sp>
        <p:nvSpPr>
          <p:cNvPr id="27663" name="Right Arrow 1"/>
          <p:cNvSpPr>
            <a:spLocks noChangeArrowheads="1"/>
          </p:cNvSpPr>
          <p:nvPr/>
        </p:nvSpPr>
        <p:spPr bwMode="auto">
          <a:xfrm>
            <a:off x="5632450" y="3678238"/>
            <a:ext cx="360363" cy="215900"/>
          </a:xfrm>
          <a:prstGeom prst="rightArrow">
            <a:avLst>
              <a:gd name="adj1" fmla="val 50000"/>
              <a:gd name="adj2" fmla="val 50074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7664" name="Right Arrow 22"/>
          <p:cNvSpPr>
            <a:spLocks noChangeArrowheads="1"/>
          </p:cNvSpPr>
          <p:nvPr/>
        </p:nvSpPr>
        <p:spPr bwMode="auto">
          <a:xfrm>
            <a:off x="5616575" y="4143375"/>
            <a:ext cx="360363" cy="217488"/>
          </a:xfrm>
          <a:prstGeom prst="rightArrow">
            <a:avLst>
              <a:gd name="adj1" fmla="val 50000"/>
              <a:gd name="adj2" fmla="val 49708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7665" name="Right Arrow 23"/>
          <p:cNvSpPr>
            <a:spLocks noChangeArrowheads="1"/>
          </p:cNvSpPr>
          <p:nvPr/>
        </p:nvSpPr>
        <p:spPr bwMode="auto">
          <a:xfrm>
            <a:off x="7596188" y="4100513"/>
            <a:ext cx="360362" cy="215900"/>
          </a:xfrm>
          <a:prstGeom prst="rightArrow">
            <a:avLst>
              <a:gd name="adj1" fmla="val 50000"/>
              <a:gd name="adj2" fmla="val 50073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ماشین حالت متناهی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2846388" y="981075"/>
            <a:ext cx="6118225" cy="1389063"/>
          </a:xfrm>
        </p:spPr>
        <p:txBody>
          <a:bodyPr/>
          <a:lstStyle/>
          <a:p>
            <a:r>
              <a:rPr lang="en-US" altLang="en-US" smtClean="0"/>
              <a:t>FSM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r>
              <a:rPr lang="fa-IR" altLang="en-US" smtClean="0"/>
              <a:t>مدل کلی:</a:t>
            </a:r>
          </a:p>
          <a:p>
            <a:pPr lvl="1"/>
            <a:r>
              <a:rPr lang="fa-IR" altLang="en-US" smtClean="0"/>
              <a:t>توصیف هر بخش با یک پروسس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2452C66-8DC2-4573-9321-6BD32C1DBAA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9750" y="908050"/>
            <a:ext cx="4103688" cy="86360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outputs = 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f</a:t>
            </a:r>
            <a:r>
              <a:rPr lang="en-US" sz="1800" baseline="-250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o</a:t>
            </a:r>
            <a:r>
              <a:rPr lang="en-US" sz="1800" baseline="-250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(inputs, 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cur_state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)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next_state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 = 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f</a:t>
            </a:r>
            <a:r>
              <a:rPr lang="en-US" sz="1800" baseline="-250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n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 (inputs, 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cur_state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)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+mn-lt"/>
              <a:ea typeface="Calibri" panose="020F050202020403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9750" y="1882775"/>
            <a:ext cx="4103688" cy="85725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outputs = 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f</a:t>
            </a:r>
            <a:r>
              <a:rPr lang="en-US" sz="1800" baseline="-250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o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 (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cur_state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next_state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 = 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f</a:t>
            </a:r>
            <a:r>
              <a:rPr lang="en-US" sz="1800" baseline="-250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n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 (inputs, 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cur_state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)</a:t>
            </a:r>
          </a:p>
        </p:txBody>
      </p:sp>
      <p:pic>
        <p:nvPicPr>
          <p:cNvPr id="2867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924175"/>
            <a:ext cx="7154863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ماشین حالت متناهی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2846388" y="981075"/>
            <a:ext cx="6118225" cy="1389063"/>
          </a:xfrm>
        </p:spPr>
        <p:txBody>
          <a:bodyPr/>
          <a:lstStyle/>
          <a:p>
            <a:r>
              <a:rPr lang="en-US" altLang="en-US" smtClean="0"/>
              <a:t>FSM</a:t>
            </a:r>
            <a:r>
              <a:rPr lang="fa-IR" altLang="en-US" smtClean="0"/>
              <a:t>:</a:t>
            </a:r>
            <a:endParaRPr lang="en-US" alt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717E183-C929-4929-929A-E0F2A059B3B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23875" y="963613"/>
            <a:ext cx="4248150" cy="1600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FSM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port(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CLK : in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RESET : in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INPUTS : in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OUTPUTS : out ...);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FSM;</a:t>
            </a:r>
          </a:p>
        </p:txBody>
      </p:sp>
      <p:pic>
        <p:nvPicPr>
          <p:cNvPr id="2970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924175"/>
            <a:ext cx="7154863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50850" y="981075"/>
            <a:ext cx="5056188" cy="353853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 ...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STATE_TYPE is (RST_ST, ST1, ...);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CUR_STATE, NEXT_STATE : STATE_TYPE;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process(CLK)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CUR_STATE &lt;= RST_ST;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CUR_STATE &lt;= NEXT_STATE;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pic>
        <p:nvPicPr>
          <p:cNvPr id="30722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995738"/>
            <a:ext cx="4862513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ماشین حالت متناهی</a:t>
            </a:r>
            <a:endParaRPr lang="en-US" altLang="en-US" smtClean="0"/>
          </a:p>
        </p:txBody>
      </p:sp>
      <p:sp>
        <p:nvSpPr>
          <p:cNvPr id="30724" name="Content Placeholder 2"/>
          <p:cNvSpPr>
            <a:spLocks noGrp="1"/>
          </p:cNvSpPr>
          <p:nvPr>
            <p:ph idx="1"/>
          </p:nvPr>
        </p:nvSpPr>
        <p:spPr>
          <a:xfrm>
            <a:off x="4932363" y="981075"/>
            <a:ext cx="4032250" cy="1389063"/>
          </a:xfrm>
        </p:spPr>
        <p:txBody>
          <a:bodyPr/>
          <a:lstStyle/>
          <a:p>
            <a:r>
              <a:rPr lang="en-US" altLang="en-US" smtClean="0"/>
              <a:t>FSM</a:t>
            </a:r>
            <a:r>
              <a:rPr lang="fa-IR" altLang="en-US" smtClean="0"/>
              <a:t>: بخش ثبات‌ها</a:t>
            </a:r>
            <a:endParaRPr lang="en-US" altLang="en-US" smtClean="0"/>
          </a:p>
          <a:p>
            <a:pPr lvl="1"/>
            <a:r>
              <a:rPr lang="fa-IR" altLang="en-US" smtClean="0"/>
              <a:t>تعداد </a:t>
            </a:r>
            <a:r>
              <a:rPr lang="en-US" altLang="en-US" smtClean="0"/>
              <a:t>FF</a:t>
            </a:r>
            <a:r>
              <a:rPr lang="fa-IR" altLang="en-US" smtClean="0"/>
              <a:t>ها:</a:t>
            </a:r>
          </a:p>
          <a:p>
            <a:pPr lvl="2"/>
            <a:r>
              <a:rPr lang="fa-IR" altLang="en-US" smtClean="0"/>
              <a:t>بستگی به تعداد حالت‌ها</a:t>
            </a:r>
          </a:p>
          <a:p>
            <a:pPr lvl="2"/>
            <a:r>
              <a:rPr lang="fa-IR" altLang="en-US" smtClean="0"/>
              <a:t>بستگی به نوع کدگذاری</a:t>
            </a:r>
            <a:endParaRPr lang="en-US" altLang="en-US" smtClean="0"/>
          </a:p>
        </p:txBody>
      </p:sp>
      <p:sp>
        <p:nvSpPr>
          <p:cNvPr id="3072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C534477-3851-4CE8-8603-D23FC2E565F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Oval 1"/>
          <p:cNvSpPr/>
          <p:nvPr/>
        </p:nvSpPr>
        <p:spPr bwMode="auto">
          <a:xfrm>
            <a:off x="692150" y="4652963"/>
            <a:ext cx="927100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dirty="0"/>
              <a:t>RST_ST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2051050" y="5300663"/>
            <a:ext cx="928688" cy="649287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dirty="0"/>
              <a:t>ST1</a:t>
            </a:r>
          </a:p>
        </p:txBody>
      </p:sp>
      <p:cxnSp>
        <p:nvCxnSpPr>
          <p:cNvPr id="30729" name="Straight Arrow Connector 3"/>
          <p:cNvCxnSpPr>
            <a:cxnSpLocks noChangeShapeType="1"/>
          </p:cNvCxnSpPr>
          <p:nvPr/>
        </p:nvCxnSpPr>
        <p:spPr bwMode="auto">
          <a:xfrm>
            <a:off x="539750" y="4784725"/>
            <a:ext cx="166688" cy="1000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0" name="TextBox 4"/>
          <p:cNvSpPr txBox="1">
            <a:spLocks noChangeArrowheads="1"/>
          </p:cNvSpPr>
          <p:nvPr/>
        </p:nvSpPr>
        <p:spPr bwMode="auto">
          <a:xfrm>
            <a:off x="300038" y="4522788"/>
            <a:ext cx="7207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RESET</a:t>
            </a:r>
          </a:p>
        </p:txBody>
      </p:sp>
      <p:cxnSp>
        <p:nvCxnSpPr>
          <p:cNvPr id="30731" name="Curved Connector 6"/>
          <p:cNvCxnSpPr>
            <a:cxnSpLocks noChangeShapeType="1"/>
            <a:stCxn id="2" idx="7"/>
            <a:endCxn id="9" idx="0"/>
          </p:cNvCxnSpPr>
          <p:nvPr/>
        </p:nvCxnSpPr>
        <p:spPr bwMode="auto">
          <a:xfrm rot="16200000" flipH="1">
            <a:off x="1724026" y="4508500"/>
            <a:ext cx="552450" cy="1031875"/>
          </a:xfrm>
          <a:prstGeom prst="curvedConnector3">
            <a:avLst>
              <a:gd name="adj1" fmla="val -10139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2" name="Curved Connector 13"/>
          <p:cNvCxnSpPr>
            <a:cxnSpLocks noChangeShapeType="1"/>
            <a:stCxn id="9" idx="3"/>
          </p:cNvCxnSpPr>
          <p:nvPr/>
        </p:nvCxnSpPr>
        <p:spPr bwMode="auto">
          <a:xfrm rot="5400000">
            <a:off x="1640682" y="5618956"/>
            <a:ext cx="311150" cy="782637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Oval 17"/>
          <p:cNvSpPr/>
          <p:nvPr/>
        </p:nvSpPr>
        <p:spPr bwMode="auto">
          <a:xfrm>
            <a:off x="490538" y="5797550"/>
            <a:ext cx="928687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dirty="0"/>
              <a:t>ST2</a:t>
            </a:r>
          </a:p>
        </p:txBody>
      </p:sp>
      <p:sp>
        <p:nvSpPr>
          <p:cNvPr id="30734" name="Rounded Rectangle 4"/>
          <p:cNvSpPr>
            <a:spLocks noChangeArrowheads="1"/>
          </p:cNvSpPr>
          <p:nvPr/>
        </p:nvSpPr>
        <p:spPr bwMode="auto">
          <a:xfrm>
            <a:off x="5938838" y="4092575"/>
            <a:ext cx="677862" cy="163988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95288" y="1376363"/>
            <a:ext cx="4248150" cy="41862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process(CUR_STATE, INPUTS)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case CUR_STATE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RST_ST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(INPUTS = ...)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(INPUTS = ...)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ماشین حالت متناهی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2846388" y="836712"/>
            <a:ext cx="6118225" cy="1389063"/>
          </a:xfrm>
        </p:spPr>
        <p:txBody>
          <a:bodyPr/>
          <a:lstStyle/>
          <a:p>
            <a:r>
              <a:rPr lang="en-US" altLang="en-US" dirty="0" smtClean="0"/>
              <a:t>FSM</a:t>
            </a:r>
            <a:r>
              <a:rPr lang="fa-IR" altLang="en-US" dirty="0" smtClean="0"/>
              <a:t>: بخش تعیین حالت بعدی</a:t>
            </a:r>
            <a:endParaRPr lang="en-US" altLang="en-US" dirty="0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1CFCC7B-0A0C-453E-852D-EACC6665020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651500" y="1722438"/>
            <a:ext cx="1008063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b="1" dirty="0"/>
              <a:t>RST_ST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7011988" y="2370138"/>
            <a:ext cx="1006475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b="1" dirty="0"/>
              <a:t>ST1</a:t>
            </a:r>
          </a:p>
        </p:txBody>
      </p:sp>
      <p:cxnSp>
        <p:nvCxnSpPr>
          <p:cNvPr id="31752" name="Straight Arrow Connector 11"/>
          <p:cNvCxnSpPr>
            <a:cxnSpLocks noChangeShapeType="1"/>
          </p:cNvCxnSpPr>
          <p:nvPr/>
        </p:nvCxnSpPr>
        <p:spPr bwMode="auto">
          <a:xfrm>
            <a:off x="5499100" y="1852613"/>
            <a:ext cx="168275" cy="101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3" name="TextBox 12"/>
          <p:cNvSpPr txBox="1">
            <a:spLocks noChangeArrowheads="1"/>
          </p:cNvSpPr>
          <p:nvPr/>
        </p:nvSpPr>
        <p:spPr bwMode="auto">
          <a:xfrm>
            <a:off x="5259388" y="1590675"/>
            <a:ext cx="7826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RESET</a:t>
            </a:r>
          </a:p>
        </p:txBody>
      </p:sp>
      <p:cxnSp>
        <p:nvCxnSpPr>
          <p:cNvPr id="31754" name="Curved Connector 13"/>
          <p:cNvCxnSpPr>
            <a:cxnSpLocks noChangeShapeType="1"/>
            <a:stCxn id="9" idx="7"/>
            <a:endCxn id="11" idx="0"/>
          </p:cNvCxnSpPr>
          <p:nvPr/>
        </p:nvCxnSpPr>
        <p:spPr bwMode="auto">
          <a:xfrm rot="16200000" flipH="1">
            <a:off x="6737350" y="1592263"/>
            <a:ext cx="552450" cy="1003300"/>
          </a:xfrm>
          <a:prstGeom prst="curvedConnector3">
            <a:avLst>
              <a:gd name="adj1" fmla="val -58509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5" name="Curved Connector 14"/>
          <p:cNvCxnSpPr>
            <a:cxnSpLocks noChangeShapeType="1"/>
            <a:stCxn id="11" idx="3"/>
          </p:cNvCxnSpPr>
          <p:nvPr/>
        </p:nvCxnSpPr>
        <p:spPr bwMode="auto">
          <a:xfrm rot="5400000">
            <a:off x="6607175" y="2681288"/>
            <a:ext cx="311150" cy="793750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Oval 15"/>
          <p:cNvSpPr/>
          <p:nvPr/>
        </p:nvSpPr>
        <p:spPr bwMode="auto">
          <a:xfrm>
            <a:off x="5451475" y="2867025"/>
            <a:ext cx="1006475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b="1" dirty="0"/>
              <a:t>ST2</a:t>
            </a:r>
          </a:p>
        </p:txBody>
      </p:sp>
      <p:sp>
        <p:nvSpPr>
          <p:cNvPr id="31757" name="TextBox 1"/>
          <p:cNvSpPr txBox="1">
            <a:spLocks noChangeArrowheads="1"/>
          </p:cNvSpPr>
          <p:nvPr/>
        </p:nvSpPr>
        <p:spPr bwMode="auto">
          <a:xfrm>
            <a:off x="6873875" y="1511300"/>
            <a:ext cx="7143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11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/010</a:t>
            </a:r>
            <a:endParaRPr lang="en-US" altLang="en-US" sz="210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31758" name="Curved Connector 3"/>
          <p:cNvCxnSpPr>
            <a:cxnSpLocks noChangeShapeType="1"/>
            <a:stCxn id="9" idx="4"/>
            <a:endCxn id="16" idx="1"/>
          </p:cNvCxnSpPr>
          <p:nvPr/>
        </p:nvCxnSpPr>
        <p:spPr bwMode="auto">
          <a:xfrm rot="5400000">
            <a:off x="5581650" y="2387601"/>
            <a:ext cx="592137" cy="557212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9" name="TextBox 17"/>
          <p:cNvSpPr txBox="1">
            <a:spLocks noChangeArrowheads="1"/>
          </p:cNvSpPr>
          <p:nvPr/>
        </p:nvSpPr>
        <p:spPr bwMode="auto">
          <a:xfrm>
            <a:off x="5307013" y="2455863"/>
            <a:ext cx="8096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01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/111</a:t>
            </a:r>
            <a:endParaRPr lang="en-US" altLang="en-US" sz="210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1760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175" y="3995738"/>
            <a:ext cx="4862513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61" name="Rounded Rectangle 4"/>
          <p:cNvSpPr>
            <a:spLocks noChangeArrowheads="1"/>
          </p:cNvSpPr>
          <p:nvPr/>
        </p:nvSpPr>
        <p:spPr bwMode="auto">
          <a:xfrm>
            <a:off x="4724400" y="4149725"/>
            <a:ext cx="855663" cy="158273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995738"/>
            <a:ext cx="4862513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ماشین حالت متناهی</a:t>
            </a:r>
            <a:endParaRPr lang="en-US" altLang="en-US" smtClean="0"/>
          </a:p>
        </p:txBody>
      </p:sp>
      <p:sp>
        <p:nvSpPr>
          <p:cNvPr id="32772" name="Content Placeholder 2"/>
          <p:cNvSpPr>
            <a:spLocks noGrp="1"/>
          </p:cNvSpPr>
          <p:nvPr>
            <p:ph idx="1"/>
          </p:nvPr>
        </p:nvSpPr>
        <p:spPr>
          <a:xfrm>
            <a:off x="2846388" y="981075"/>
            <a:ext cx="6118225" cy="1389063"/>
          </a:xfrm>
        </p:spPr>
        <p:txBody>
          <a:bodyPr/>
          <a:lstStyle/>
          <a:p>
            <a:r>
              <a:rPr lang="en-US" altLang="en-US" smtClean="0"/>
              <a:t>FSM</a:t>
            </a:r>
            <a:r>
              <a:rPr lang="fa-IR" altLang="en-US" smtClean="0"/>
              <a:t>: بخش تعیین خروجی</a:t>
            </a:r>
            <a:endParaRPr lang="en-US" altLang="en-US" smtClean="0"/>
          </a:p>
        </p:txBody>
      </p:sp>
      <p:sp>
        <p:nvSpPr>
          <p:cNvPr id="3277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FF87008-DC70-4494-AE28-E069170A2C7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65150" y="1739900"/>
            <a:ext cx="3862388" cy="9540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process(CUR_STATE)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a-IR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توصیف مدار ترکیبی و تولید خروجی‌ها در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OUTPUTS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5651500" y="2068513"/>
            <a:ext cx="962025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b="1" dirty="0"/>
              <a:t>RST_ST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7011988" y="2716213"/>
            <a:ext cx="927100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b="1" dirty="0"/>
              <a:t>ST1</a:t>
            </a:r>
          </a:p>
        </p:txBody>
      </p:sp>
      <p:cxnSp>
        <p:nvCxnSpPr>
          <p:cNvPr id="32777" name="Straight Arrow Connector 11"/>
          <p:cNvCxnSpPr>
            <a:cxnSpLocks noChangeShapeType="1"/>
          </p:cNvCxnSpPr>
          <p:nvPr/>
        </p:nvCxnSpPr>
        <p:spPr bwMode="auto">
          <a:xfrm>
            <a:off x="5499100" y="2198688"/>
            <a:ext cx="168275" cy="101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8" name="TextBox 12"/>
          <p:cNvSpPr txBox="1">
            <a:spLocks noChangeArrowheads="1"/>
          </p:cNvSpPr>
          <p:nvPr/>
        </p:nvSpPr>
        <p:spPr bwMode="auto">
          <a:xfrm>
            <a:off x="5259388" y="1936750"/>
            <a:ext cx="7207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RESET</a:t>
            </a:r>
          </a:p>
        </p:txBody>
      </p:sp>
      <p:cxnSp>
        <p:nvCxnSpPr>
          <p:cNvPr id="32779" name="Curved Connector 13"/>
          <p:cNvCxnSpPr>
            <a:cxnSpLocks noChangeShapeType="1"/>
            <a:stCxn id="9" idx="7"/>
            <a:endCxn id="11" idx="0"/>
          </p:cNvCxnSpPr>
          <p:nvPr/>
        </p:nvCxnSpPr>
        <p:spPr bwMode="auto">
          <a:xfrm rot="16200000" flipH="1">
            <a:off x="6697663" y="1938338"/>
            <a:ext cx="552450" cy="1003300"/>
          </a:xfrm>
          <a:prstGeom prst="curvedConnector3">
            <a:avLst>
              <a:gd name="adj1" fmla="val -16375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0" name="Curved Connector 14"/>
          <p:cNvCxnSpPr>
            <a:cxnSpLocks noChangeShapeType="1"/>
            <a:stCxn id="11" idx="3"/>
          </p:cNvCxnSpPr>
          <p:nvPr/>
        </p:nvCxnSpPr>
        <p:spPr bwMode="auto">
          <a:xfrm rot="5400000">
            <a:off x="6601618" y="3034507"/>
            <a:ext cx="309563" cy="781050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Oval 15"/>
          <p:cNvSpPr/>
          <p:nvPr/>
        </p:nvSpPr>
        <p:spPr bwMode="auto">
          <a:xfrm>
            <a:off x="5451475" y="3213100"/>
            <a:ext cx="927100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b="1" dirty="0"/>
              <a:t>ST2</a:t>
            </a:r>
          </a:p>
        </p:txBody>
      </p:sp>
      <p:sp>
        <p:nvSpPr>
          <p:cNvPr id="32782" name="TextBox 1"/>
          <p:cNvSpPr txBox="1">
            <a:spLocks noChangeArrowheads="1"/>
          </p:cNvSpPr>
          <p:nvPr/>
        </p:nvSpPr>
        <p:spPr bwMode="auto">
          <a:xfrm>
            <a:off x="6873875" y="1857375"/>
            <a:ext cx="7937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11/</a:t>
            </a:r>
            <a:r>
              <a:rPr lang="en-US" altLang="en-US" sz="12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010</a:t>
            </a:r>
            <a:endParaRPr lang="en-US" altLang="en-US" sz="210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32783" name="Curved Connector 3"/>
          <p:cNvCxnSpPr>
            <a:cxnSpLocks noChangeShapeType="1"/>
            <a:stCxn id="9" idx="4"/>
            <a:endCxn id="16" idx="1"/>
          </p:cNvCxnSpPr>
          <p:nvPr/>
        </p:nvCxnSpPr>
        <p:spPr bwMode="auto">
          <a:xfrm rot="5400000">
            <a:off x="5564188" y="2740025"/>
            <a:ext cx="592137" cy="544513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4" name="TextBox 17"/>
          <p:cNvSpPr txBox="1">
            <a:spLocks noChangeArrowheads="1"/>
          </p:cNvSpPr>
          <p:nvPr/>
        </p:nvSpPr>
        <p:spPr bwMode="auto">
          <a:xfrm>
            <a:off x="5307013" y="2801938"/>
            <a:ext cx="8096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01/</a:t>
            </a:r>
            <a:r>
              <a:rPr lang="en-US" altLang="en-US" sz="12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111</a:t>
            </a:r>
            <a:endParaRPr lang="en-US" altLang="en-US" sz="210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2785" name="Rounded Rectangle 16"/>
          <p:cNvSpPr>
            <a:spLocks noChangeArrowheads="1"/>
          </p:cNvSpPr>
          <p:nvPr/>
        </p:nvSpPr>
        <p:spPr bwMode="auto">
          <a:xfrm>
            <a:off x="6948488" y="4149725"/>
            <a:ext cx="857250" cy="158273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863600" y="2689225"/>
            <a:ext cx="3897313" cy="9540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میلی یا مور؟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995738"/>
            <a:ext cx="4862513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ماشین حالت متناهی</a:t>
            </a:r>
            <a:endParaRPr lang="en-US" altLang="en-US" smtClean="0"/>
          </a:p>
        </p:txBody>
      </p:sp>
      <p:sp>
        <p:nvSpPr>
          <p:cNvPr id="33796" name="Content Placeholder 2"/>
          <p:cNvSpPr>
            <a:spLocks noGrp="1"/>
          </p:cNvSpPr>
          <p:nvPr>
            <p:ph idx="1"/>
          </p:nvPr>
        </p:nvSpPr>
        <p:spPr>
          <a:xfrm>
            <a:off x="2846388" y="981075"/>
            <a:ext cx="6118225" cy="1389063"/>
          </a:xfrm>
        </p:spPr>
        <p:txBody>
          <a:bodyPr/>
          <a:lstStyle/>
          <a:p>
            <a:r>
              <a:rPr lang="en-US" altLang="en-US" smtClean="0"/>
              <a:t>FSM</a:t>
            </a:r>
            <a:r>
              <a:rPr lang="fa-IR" altLang="en-US" smtClean="0"/>
              <a:t>: بخش تعیین خروجی</a:t>
            </a:r>
            <a:endParaRPr lang="en-US" altLang="en-US" smtClean="0"/>
          </a:p>
        </p:txBody>
      </p:sp>
      <p:sp>
        <p:nvSpPr>
          <p:cNvPr id="3379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45FD784-638F-4395-A38B-28A720D4E98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65150" y="1739900"/>
            <a:ext cx="3862388" cy="9540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process(CUR_STATE)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a-IR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توصیف مدار ترکیبی و تولید خروجی‌ها در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OUTPUTS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5651500" y="2068513"/>
            <a:ext cx="962025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b="1" dirty="0"/>
              <a:t>RST_ST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7011988" y="2716213"/>
            <a:ext cx="927100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b="1" dirty="0"/>
              <a:t>ST1</a:t>
            </a:r>
          </a:p>
        </p:txBody>
      </p:sp>
      <p:cxnSp>
        <p:nvCxnSpPr>
          <p:cNvPr id="33801" name="Straight Arrow Connector 11"/>
          <p:cNvCxnSpPr>
            <a:cxnSpLocks noChangeShapeType="1"/>
          </p:cNvCxnSpPr>
          <p:nvPr/>
        </p:nvCxnSpPr>
        <p:spPr bwMode="auto">
          <a:xfrm>
            <a:off x="5499100" y="2198688"/>
            <a:ext cx="168275" cy="101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2" name="TextBox 12"/>
          <p:cNvSpPr txBox="1">
            <a:spLocks noChangeArrowheads="1"/>
          </p:cNvSpPr>
          <p:nvPr/>
        </p:nvSpPr>
        <p:spPr bwMode="auto">
          <a:xfrm>
            <a:off x="5259388" y="1936750"/>
            <a:ext cx="7207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RESET</a:t>
            </a:r>
          </a:p>
        </p:txBody>
      </p:sp>
      <p:cxnSp>
        <p:nvCxnSpPr>
          <p:cNvPr id="33803" name="Curved Connector 13"/>
          <p:cNvCxnSpPr>
            <a:cxnSpLocks noChangeShapeType="1"/>
            <a:stCxn id="9" idx="7"/>
            <a:endCxn id="11" idx="0"/>
          </p:cNvCxnSpPr>
          <p:nvPr/>
        </p:nvCxnSpPr>
        <p:spPr bwMode="auto">
          <a:xfrm rot="16200000" flipH="1">
            <a:off x="6697663" y="1938338"/>
            <a:ext cx="552450" cy="1003300"/>
          </a:xfrm>
          <a:prstGeom prst="curvedConnector3">
            <a:avLst>
              <a:gd name="adj1" fmla="val -16375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4" name="Curved Connector 14"/>
          <p:cNvCxnSpPr>
            <a:cxnSpLocks noChangeShapeType="1"/>
            <a:stCxn id="11" idx="3"/>
          </p:cNvCxnSpPr>
          <p:nvPr/>
        </p:nvCxnSpPr>
        <p:spPr bwMode="auto">
          <a:xfrm rot="5400000">
            <a:off x="6601618" y="3034507"/>
            <a:ext cx="309563" cy="781050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Oval 15"/>
          <p:cNvSpPr/>
          <p:nvPr/>
        </p:nvSpPr>
        <p:spPr bwMode="auto">
          <a:xfrm>
            <a:off x="5451475" y="3213100"/>
            <a:ext cx="927100" cy="647700"/>
          </a:xfrm>
          <a:prstGeom prst="ellipse">
            <a:avLst/>
          </a:prstGeom>
          <a:solidFill>
            <a:srgbClr val="47FFD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sz="1050" b="1" dirty="0"/>
              <a:t>ST2</a:t>
            </a:r>
          </a:p>
        </p:txBody>
      </p:sp>
      <p:sp>
        <p:nvSpPr>
          <p:cNvPr id="33806" name="TextBox 1"/>
          <p:cNvSpPr txBox="1">
            <a:spLocks noChangeArrowheads="1"/>
          </p:cNvSpPr>
          <p:nvPr/>
        </p:nvSpPr>
        <p:spPr bwMode="auto">
          <a:xfrm>
            <a:off x="6873875" y="1857375"/>
            <a:ext cx="7937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11/</a:t>
            </a:r>
            <a:r>
              <a:rPr lang="en-US" altLang="en-US" sz="12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010</a:t>
            </a:r>
            <a:endParaRPr lang="en-US" altLang="en-US" sz="210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33807" name="Curved Connector 3"/>
          <p:cNvCxnSpPr>
            <a:cxnSpLocks noChangeShapeType="1"/>
            <a:stCxn id="9" idx="4"/>
            <a:endCxn id="16" idx="1"/>
          </p:cNvCxnSpPr>
          <p:nvPr/>
        </p:nvCxnSpPr>
        <p:spPr bwMode="auto">
          <a:xfrm rot="5400000">
            <a:off x="5564188" y="2740025"/>
            <a:ext cx="592137" cy="544513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8" name="TextBox 17"/>
          <p:cNvSpPr txBox="1">
            <a:spLocks noChangeArrowheads="1"/>
          </p:cNvSpPr>
          <p:nvPr/>
        </p:nvSpPr>
        <p:spPr bwMode="auto">
          <a:xfrm>
            <a:off x="5307013" y="2801938"/>
            <a:ext cx="8096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01/</a:t>
            </a:r>
            <a:r>
              <a:rPr lang="en-US" altLang="en-US" sz="12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111</a:t>
            </a:r>
            <a:endParaRPr lang="en-US" altLang="en-US" sz="210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3809" name="Rounded Rectangle 16"/>
          <p:cNvSpPr>
            <a:spLocks noChangeArrowheads="1"/>
          </p:cNvSpPr>
          <p:nvPr/>
        </p:nvSpPr>
        <p:spPr bwMode="auto">
          <a:xfrm>
            <a:off x="6948488" y="4149725"/>
            <a:ext cx="857250" cy="158273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250825" y="3873500"/>
            <a:ext cx="3816350" cy="9540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process(CUR_STATE,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INPUTS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a-IR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توصیف مدار ترکیبی و تولید خروجی‌ها در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OUTPUTS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863600" y="2689225"/>
            <a:ext cx="3897313" cy="9540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میلی یا مور؟</a:t>
            </a:r>
          </a:p>
          <a:p>
            <a:pPr lvl="2">
              <a:defRPr/>
            </a:pPr>
            <a:r>
              <a:rPr lang="fa-IR" altLang="en-US" kern="0" dirty="0" smtClean="0"/>
              <a:t>میلی چطور؟</a:t>
            </a:r>
            <a:endParaRPr lang="en-US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335097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ماشین حالت متناهی</a:t>
            </a:r>
            <a:endParaRPr lang="en-US" altLang="en-US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3916363" y="981075"/>
            <a:ext cx="5048250" cy="4103688"/>
          </a:xfrm>
        </p:spPr>
        <p:txBody>
          <a:bodyPr/>
          <a:lstStyle/>
          <a:p>
            <a:r>
              <a:rPr lang="fa-IR" altLang="en-US" smtClean="0"/>
              <a:t>مثال: ماشین فروش شکلات:</a:t>
            </a:r>
          </a:p>
          <a:p>
            <a:pPr lvl="1"/>
            <a:r>
              <a:rPr lang="en-US" altLang="en-US" smtClean="0"/>
              <a:t>D</a:t>
            </a:r>
            <a:r>
              <a:rPr lang="fa-IR" altLang="en-US" smtClean="0"/>
              <a:t>: سکة دویست تومانی</a:t>
            </a:r>
          </a:p>
          <a:p>
            <a:pPr lvl="1"/>
            <a:r>
              <a:rPr lang="en-US" altLang="en-US" smtClean="0"/>
              <a:t>P</a:t>
            </a:r>
            <a:r>
              <a:rPr lang="fa-IR" altLang="en-US" smtClean="0"/>
              <a:t>: سکة پانصد تومانی</a:t>
            </a:r>
          </a:p>
          <a:p>
            <a:pPr lvl="1"/>
            <a:r>
              <a:rPr lang="fa-IR" altLang="en-US" smtClean="0"/>
              <a:t>هر دو با هم غیرممکن</a:t>
            </a:r>
          </a:p>
          <a:p>
            <a:pPr lvl="1"/>
            <a:r>
              <a:rPr lang="fa-IR" altLang="en-US" smtClean="0"/>
              <a:t>قیمت شکلات: پانصد تومان</a:t>
            </a:r>
            <a:endParaRPr lang="en-US" altLang="en-US" smtClean="0"/>
          </a:p>
          <a:p>
            <a:pPr lvl="1"/>
            <a:r>
              <a:rPr lang="fa-IR" altLang="en-US" smtClean="0"/>
              <a:t>وقتی شکلات داد باید </a:t>
            </a:r>
            <a:r>
              <a:rPr lang="en-US" altLang="en-US" sz="2400" smtClean="0"/>
              <a:t>reset</a:t>
            </a:r>
            <a:r>
              <a:rPr lang="fa-IR" altLang="en-US" smtClean="0"/>
              <a:t> شود.</a:t>
            </a:r>
          </a:p>
          <a:p>
            <a:pPr lvl="1"/>
            <a:endParaRPr lang="fa-IR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D6BB579-BDD8-4D8D-AA2C-A6722323430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4821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25538"/>
            <a:ext cx="2952750" cy="504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مثال: ماشین فروش شکلات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4356100" y="981075"/>
            <a:ext cx="4608513" cy="1389063"/>
          </a:xfrm>
        </p:spPr>
        <p:txBody>
          <a:bodyPr/>
          <a:lstStyle/>
          <a:p>
            <a:endParaRPr lang="fa-IR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8B61D88-83A5-4E68-AC5E-D1D6020140E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50850" y="1627188"/>
            <a:ext cx="5056188" cy="22463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library ieee;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use ieee.std_logic_1164.all;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VENDING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port(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CLK : in 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RST : in 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D, P : in 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DOOR : out std_logic);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VENDING;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116013" y="4292600"/>
            <a:ext cx="1368425" cy="16573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/>
          </a:p>
        </p:txBody>
      </p:sp>
      <p:cxnSp>
        <p:nvCxnSpPr>
          <p:cNvPr id="35847" name="Straight Connector 4"/>
          <p:cNvCxnSpPr>
            <a:cxnSpLocks noChangeShapeType="1"/>
          </p:cNvCxnSpPr>
          <p:nvPr/>
        </p:nvCxnSpPr>
        <p:spPr bwMode="auto">
          <a:xfrm flipH="1" flipV="1">
            <a:off x="611188" y="4652963"/>
            <a:ext cx="5048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8" name="Straight Connector 18"/>
          <p:cNvCxnSpPr>
            <a:cxnSpLocks noChangeShapeType="1"/>
          </p:cNvCxnSpPr>
          <p:nvPr/>
        </p:nvCxnSpPr>
        <p:spPr bwMode="auto">
          <a:xfrm flipH="1" flipV="1">
            <a:off x="611188" y="4868863"/>
            <a:ext cx="5048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9" name="Straight Connector 19"/>
          <p:cNvCxnSpPr>
            <a:cxnSpLocks noChangeShapeType="1"/>
          </p:cNvCxnSpPr>
          <p:nvPr/>
        </p:nvCxnSpPr>
        <p:spPr bwMode="auto">
          <a:xfrm flipH="1" flipV="1">
            <a:off x="611188" y="5589588"/>
            <a:ext cx="5048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0" name="Freeform 10"/>
          <p:cNvSpPr>
            <a:spLocks/>
          </p:cNvSpPr>
          <p:nvPr/>
        </p:nvSpPr>
        <p:spPr bwMode="auto">
          <a:xfrm>
            <a:off x="1116013" y="5432425"/>
            <a:ext cx="195262" cy="320675"/>
          </a:xfrm>
          <a:custGeom>
            <a:avLst/>
            <a:gdLst>
              <a:gd name="T0" fmla="*/ 0 w 189781"/>
              <a:gd name="T1" fmla="*/ 0 h 370936"/>
              <a:gd name="T2" fmla="*/ 365930 w 189781"/>
              <a:gd name="T3" fmla="*/ 7593 h 370936"/>
              <a:gd name="T4" fmla="*/ 0 w 189781"/>
              <a:gd name="T5" fmla="*/ 12757 h 370936"/>
              <a:gd name="T6" fmla="*/ 0 w 189781"/>
              <a:gd name="T7" fmla="*/ 13062 h 370936"/>
              <a:gd name="T8" fmla="*/ 0 60000 65536"/>
              <a:gd name="T9" fmla="*/ 0 60000 65536"/>
              <a:gd name="T10" fmla="*/ 0 60000 65536"/>
              <a:gd name="T11" fmla="*/ 0 60000 65536"/>
              <a:gd name="T12" fmla="*/ 0 w 189781"/>
              <a:gd name="T13" fmla="*/ 0 h 370936"/>
              <a:gd name="T14" fmla="*/ 189781 w 189781"/>
              <a:gd name="T15" fmla="*/ 370936 h 3709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9781" h="370936">
                <a:moveTo>
                  <a:pt x="0" y="0"/>
                </a:moveTo>
                <a:lnTo>
                  <a:pt x="189781" y="215660"/>
                </a:lnTo>
                <a:lnTo>
                  <a:pt x="0" y="362309"/>
                </a:lnTo>
                <a:lnTo>
                  <a:pt x="0" y="370936"/>
                </a:lnTo>
              </a:path>
            </a:pathLst>
          </a:cu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a-IR"/>
          </a:p>
        </p:txBody>
      </p:sp>
      <p:sp>
        <p:nvSpPr>
          <p:cNvPr id="35851" name="TextBox 11"/>
          <p:cNvSpPr txBox="1">
            <a:spLocks noChangeArrowheads="1"/>
          </p:cNvSpPr>
          <p:nvPr/>
        </p:nvSpPr>
        <p:spPr bwMode="auto">
          <a:xfrm>
            <a:off x="323850" y="4437063"/>
            <a:ext cx="28733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35852" name="TextBox 24"/>
          <p:cNvSpPr txBox="1">
            <a:spLocks noChangeArrowheads="1"/>
          </p:cNvSpPr>
          <p:nvPr/>
        </p:nvSpPr>
        <p:spPr bwMode="auto">
          <a:xfrm>
            <a:off x="346075" y="4745038"/>
            <a:ext cx="288925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35853" name="TextBox 25"/>
          <p:cNvSpPr txBox="1">
            <a:spLocks noChangeArrowheads="1"/>
          </p:cNvSpPr>
          <p:nvPr/>
        </p:nvSpPr>
        <p:spPr bwMode="auto">
          <a:xfrm>
            <a:off x="323850" y="5227638"/>
            <a:ext cx="596900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Clk</a:t>
            </a:r>
          </a:p>
        </p:txBody>
      </p:sp>
      <p:cxnSp>
        <p:nvCxnSpPr>
          <p:cNvPr id="35854" name="Straight Connector 26"/>
          <p:cNvCxnSpPr>
            <a:cxnSpLocks noChangeShapeType="1"/>
          </p:cNvCxnSpPr>
          <p:nvPr/>
        </p:nvCxnSpPr>
        <p:spPr bwMode="auto">
          <a:xfrm flipH="1" flipV="1">
            <a:off x="2484438" y="4652963"/>
            <a:ext cx="503237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5" name="TextBox 27"/>
          <p:cNvSpPr txBox="1">
            <a:spLocks noChangeArrowheads="1"/>
          </p:cNvSpPr>
          <p:nvPr/>
        </p:nvSpPr>
        <p:spPr bwMode="auto">
          <a:xfrm>
            <a:off x="2794000" y="4271963"/>
            <a:ext cx="10572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DOOR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657350"/>
            <a:ext cx="2663825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66750" y="2060575"/>
            <a:ext cx="5056188" cy="3108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RTL of VENDING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ST_TYPE is (START, P200, P400, FULL);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CUR,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ST_TYPE;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process(CLK)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RST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CUR;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686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ماشین فروش شکلات</a:t>
            </a:r>
            <a:endParaRPr lang="en-US" altLang="en-US" smtClean="0"/>
          </a:p>
        </p:txBody>
      </p:sp>
      <p:pic>
        <p:nvPicPr>
          <p:cNvPr id="36869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4549775"/>
            <a:ext cx="4075113" cy="190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Content Placeholder 2"/>
          <p:cNvSpPr>
            <a:spLocks noGrp="1"/>
          </p:cNvSpPr>
          <p:nvPr>
            <p:ph idx="1"/>
          </p:nvPr>
        </p:nvSpPr>
        <p:spPr>
          <a:xfrm>
            <a:off x="4356100" y="982663"/>
            <a:ext cx="4608513" cy="1389062"/>
          </a:xfrm>
        </p:spPr>
        <p:txBody>
          <a:bodyPr/>
          <a:lstStyle/>
          <a:p>
            <a:r>
              <a:rPr lang="fa-IR" altLang="en-US" smtClean="0"/>
              <a:t>توصیف ثبات حالت (</a:t>
            </a:r>
            <a:r>
              <a:rPr lang="en-US" altLang="en-US" smtClean="0"/>
              <a:t>FF</a:t>
            </a:r>
            <a:r>
              <a:rPr lang="fa-IR" altLang="en-US" smtClean="0"/>
              <a:t>ها)</a:t>
            </a:r>
          </a:p>
        </p:txBody>
      </p:sp>
      <p:sp>
        <p:nvSpPr>
          <p:cNvPr id="3687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CD17F3E-3E1C-48B6-96B8-0C0910167F8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Rounded Rectangle 4"/>
          <p:cNvSpPr>
            <a:spLocks noChangeArrowheads="1"/>
          </p:cNvSpPr>
          <p:nvPr/>
        </p:nvSpPr>
        <p:spPr bwMode="auto">
          <a:xfrm>
            <a:off x="4341813" y="4724400"/>
            <a:ext cx="434975" cy="115570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341813" y="4014788"/>
            <a:ext cx="13827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657350"/>
            <a:ext cx="2663825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66750" y="2060575"/>
            <a:ext cx="5056188" cy="3108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RTL of VENDING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ST_TYPE is (START, P200, P400, FULL);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CUR,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ST_TYPE;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process(CLK)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RST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CUR;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78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ماشین فروش شکلات</a:t>
            </a:r>
            <a:endParaRPr lang="en-US" altLang="en-US" smtClean="0"/>
          </a:p>
        </p:txBody>
      </p:sp>
      <p:pic>
        <p:nvPicPr>
          <p:cNvPr id="37893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4549775"/>
            <a:ext cx="4075113" cy="190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Content Placeholder 2"/>
          <p:cNvSpPr>
            <a:spLocks noGrp="1"/>
          </p:cNvSpPr>
          <p:nvPr>
            <p:ph idx="1"/>
          </p:nvPr>
        </p:nvSpPr>
        <p:spPr>
          <a:xfrm>
            <a:off x="4356100" y="982663"/>
            <a:ext cx="4608513" cy="1389062"/>
          </a:xfrm>
        </p:spPr>
        <p:txBody>
          <a:bodyPr/>
          <a:lstStyle/>
          <a:p>
            <a:r>
              <a:rPr lang="fa-IR" altLang="en-US" smtClean="0"/>
              <a:t>توصیف ثبات حالت (</a:t>
            </a:r>
            <a:r>
              <a:rPr lang="en-US" altLang="en-US" smtClean="0"/>
              <a:t>FF</a:t>
            </a:r>
            <a:r>
              <a:rPr lang="fa-IR" altLang="en-US" smtClean="0"/>
              <a:t>ها)</a:t>
            </a:r>
          </a:p>
        </p:txBody>
      </p:sp>
      <p:sp>
        <p:nvSpPr>
          <p:cNvPr id="3789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5B0B03D-E69B-40AC-9592-EE88FFFD8DE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Rounded Rectangle 4"/>
          <p:cNvSpPr>
            <a:spLocks noChangeArrowheads="1"/>
          </p:cNvSpPr>
          <p:nvPr/>
        </p:nvSpPr>
        <p:spPr bwMode="auto">
          <a:xfrm>
            <a:off x="4341813" y="4724400"/>
            <a:ext cx="434975" cy="115570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341813" y="4014788"/>
            <a:ext cx="13827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Exchange!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5108575" y="423863"/>
            <a:ext cx="3749675" cy="444500"/>
          </a:xfrm>
        </p:spPr>
        <p:txBody>
          <a:bodyPr/>
          <a:lstStyle/>
          <a:p>
            <a:pPr rtl="1"/>
            <a:r>
              <a:rPr lang="fa-IR" altLang="en-US" smtClean="0"/>
              <a:t>ماشین فروش شکلات</a:t>
            </a:r>
            <a:endParaRPr lang="en-US" alt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356100" y="982663"/>
            <a:ext cx="4608513" cy="1389062"/>
          </a:xfrm>
        </p:spPr>
        <p:txBody>
          <a:bodyPr/>
          <a:lstStyle/>
          <a:p>
            <a:r>
              <a:rPr lang="fa-IR" altLang="en-US" smtClean="0"/>
              <a:t>توصیف حالت بعدی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AC37AF2-1C30-48C5-9C7F-A0252E0C8FD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23850" y="225425"/>
            <a:ext cx="5056188" cy="63404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process(CUR, D, P)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case CUR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START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(D, P) = “00”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40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elsif (D, P) = “01”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FULL;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elsif (D, P) = “10”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P200;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P200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(D, P) = “00”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P200;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elsif (D, P) = “01”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FULL;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P400;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P400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(D, P) = “00”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P400;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FULL;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FULL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FULL;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pic>
        <p:nvPicPr>
          <p:cNvPr id="38918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657350"/>
            <a:ext cx="2663825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924300" y="2482850"/>
            <a:ext cx="223202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altLang="en-US" sz="140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NXT </a:t>
            </a:r>
            <a:r>
              <a:rPr lang="en-US" altLang="en-US" sz="14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 P200</a:t>
            </a:r>
          </a:p>
        </p:txBody>
      </p:sp>
      <p:cxnSp>
        <p:nvCxnSpPr>
          <p:cNvPr id="5" name="Straight Connector 4"/>
          <p:cNvCxnSpPr>
            <a:cxnSpLocks noChangeShapeType="1"/>
          </p:cNvCxnSpPr>
          <p:nvPr/>
        </p:nvCxnSpPr>
        <p:spPr bwMode="auto">
          <a:xfrm>
            <a:off x="1692275" y="2133600"/>
            <a:ext cx="237490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12"/>
          <p:cNvCxnSpPr>
            <a:cxnSpLocks noChangeShapeType="1"/>
          </p:cNvCxnSpPr>
          <p:nvPr/>
        </p:nvCxnSpPr>
        <p:spPr bwMode="auto">
          <a:xfrm>
            <a:off x="2051050" y="2276475"/>
            <a:ext cx="13684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8922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0" y="4549775"/>
            <a:ext cx="4075113" cy="190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4"/>
          <p:cNvSpPr>
            <a:spLocks noChangeArrowheads="1"/>
          </p:cNvSpPr>
          <p:nvPr/>
        </p:nvSpPr>
        <p:spPr bwMode="auto">
          <a:xfrm>
            <a:off x="5508625" y="4797425"/>
            <a:ext cx="576263" cy="118268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5202238" y="434975"/>
            <a:ext cx="3894137" cy="444500"/>
          </a:xfrm>
        </p:spPr>
        <p:txBody>
          <a:bodyPr/>
          <a:lstStyle/>
          <a:p>
            <a:pPr rtl="1"/>
            <a:r>
              <a:rPr lang="fa-IR" altLang="en-US" smtClean="0"/>
              <a:t>ماشین فروش شکلات</a:t>
            </a:r>
            <a:endParaRPr lang="en-US" altLang="en-US" smtClean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3419475" y="982663"/>
            <a:ext cx="5545138" cy="1389062"/>
          </a:xfrm>
        </p:spPr>
        <p:txBody>
          <a:bodyPr/>
          <a:lstStyle/>
          <a:p>
            <a:pPr>
              <a:defRPr/>
            </a:pPr>
            <a:r>
              <a:rPr lang="fa-IR" altLang="en-US" dirty="0" smtClean="0"/>
              <a:t>توصیف خروجی</a:t>
            </a:r>
          </a:p>
          <a:p>
            <a:pPr lvl="1">
              <a:defRPr/>
            </a:pPr>
            <a:r>
              <a:rPr lang="fa-IR" altLang="en-US" dirty="0"/>
              <a:t>حتماً به همة خروجی‌ها مقدار داده شود.</a:t>
            </a:r>
            <a:endParaRPr lang="en-US" altLang="en-US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a-IR" altLang="en-US" dirty="0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49658CE-F1AB-47D5-A2E5-0CDE465C63C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23850" y="439738"/>
            <a:ext cx="5056188" cy="59102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process(CUR, D, P)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variable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DP := (D, P)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case CUR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START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P = ‘0’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‘1’;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P200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P = ‘0’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‘1’;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P400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DP = “00” or DP = “11”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‘1’;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FULL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DOOR &lt;= ‘0’;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RTL;</a:t>
            </a:r>
          </a:p>
        </p:txBody>
      </p:sp>
      <p:pic>
        <p:nvPicPr>
          <p:cNvPr id="39942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2038350"/>
            <a:ext cx="2663825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4662488"/>
            <a:ext cx="395922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4"/>
          <p:cNvSpPr>
            <a:spLocks noChangeArrowheads="1"/>
          </p:cNvSpPr>
          <p:nvPr/>
        </p:nvSpPr>
        <p:spPr bwMode="auto">
          <a:xfrm>
            <a:off x="7521575" y="4868863"/>
            <a:ext cx="579438" cy="111125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5202238" y="434975"/>
            <a:ext cx="3894137" cy="444500"/>
          </a:xfrm>
        </p:spPr>
        <p:txBody>
          <a:bodyPr/>
          <a:lstStyle/>
          <a:p>
            <a:pPr rtl="1"/>
            <a:r>
              <a:rPr lang="fa-IR" altLang="en-US" smtClean="0"/>
              <a:t>ماشین فروش شکلات</a:t>
            </a:r>
            <a:endParaRPr lang="en-US" altLang="en-US" smtClean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3419475" y="982663"/>
            <a:ext cx="5545138" cy="1389062"/>
          </a:xfrm>
        </p:spPr>
        <p:txBody>
          <a:bodyPr/>
          <a:lstStyle/>
          <a:p>
            <a:pPr>
              <a:defRPr/>
            </a:pPr>
            <a:r>
              <a:rPr lang="fa-IR" altLang="en-US" dirty="0" smtClean="0"/>
              <a:t>توصیف خروجی</a:t>
            </a:r>
          </a:p>
          <a:p>
            <a:pPr lvl="1">
              <a:defRPr/>
            </a:pPr>
            <a:r>
              <a:rPr lang="fa-IR" altLang="en-US" dirty="0"/>
              <a:t>حتماً به همة خروجی‌ها مقدار داده شود.</a:t>
            </a:r>
            <a:endParaRPr lang="en-US" altLang="en-US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a-IR" altLang="en-US" dirty="0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01211B2-8E15-4DEE-B5A0-5409E07FD49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23850" y="439738"/>
            <a:ext cx="5056188" cy="59102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process(CUR, D, P)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variable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DP := (D, P)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case CUR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START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P = ‘0’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‘1’;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P200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P = ‘0’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‘1’;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P400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DP = “00” or DP = “11”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DOOR &lt;= ‘1’;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FULL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DOOR &lt;= ‘0’;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RTL;</a:t>
            </a:r>
          </a:p>
        </p:txBody>
      </p:sp>
      <p:pic>
        <p:nvPicPr>
          <p:cNvPr id="4096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2038350"/>
            <a:ext cx="2663825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887788" y="2149475"/>
            <a:ext cx="223202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DOOR &lt;= P;</a:t>
            </a:r>
          </a:p>
        </p:txBody>
      </p:sp>
      <p:sp>
        <p:nvSpPr>
          <p:cNvPr id="3" name="Right Brace 2"/>
          <p:cNvSpPr>
            <a:spLocks/>
          </p:cNvSpPr>
          <p:nvPr/>
        </p:nvSpPr>
        <p:spPr bwMode="auto">
          <a:xfrm>
            <a:off x="3419475" y="1700213"/>
            <a:ext cx="360363" cy="1090612"/>
          </a:xfrm>
          <a:prstGeom prst="rightBrace">
            <a:avLst>
              <a:gd name="adj1" fmla="val 8323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3698875" y="2762250"/>
            <a:ext cx="2024063" cy="66675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914400" lvl="2" indent="0">
              <a:buFont typeface="Arial" panose="020B0604020202020204" pitchFamily="34" charset="0"/>
              <a:buNone/>
              <a:defRPr/>
            </a:pPr>
            <a:r>
              <a:rPr lang="fa-IR" altLang="en-US" kern="0" dirty="0" smtClean="0"/>
              <a:t>با </a:t>
            </a:r>
            <a:r>
              <a:rPr lang="en-US" altLang="en-US" kern="0" dirty="0" smtClean="0"/>
              <a:t>if</a:t>
            </a:r>
            <a:r>
              <a:rPr lang="fa-IR" altLang="en-US" kern="0" dirty="0" smtClean="0"/>
              <a:t> بهتر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3" grpId="0" animBg="1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ماشین فروش شکلات</a:t>
            </a:r>
            <a:endParaRPr lang="en-US" altLang="en-US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5724525" y="982663"/>
            <a:ext cx="3240088" cy="1389062"/>
          </a:xfrm>
        </p:spPr>
        <p:txBody>
          <a:bodyPr/>
          <a:lstStyle/>
          <a:p>
            <a:r>
              <a:rPr lang="fa-IR" altLang="en-US" smtClean="0"/>
              <a:t>عملاً مور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30A46D8-F0A6-43E5-AD4C-857484799FC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23875" y="1017588"/>
            <a:ext cx="4552950" cy="20304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case CUR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START || P200 || P400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DOOR &lt;= ‘0’;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when FULL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DOOR &lt;= ‘1’;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pic>
        <p:nvPicPr>
          <p:cNvPr id="41990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657350"/>
            <a:ext cx="2663825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548188"/>
            <a:ext cx="396081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4"/>
          <p:cNvSpPr>
            <a:spLocks noChangeArrowheads="1"/>
          </p:cNvSpPr>
          <p:nvPr/>
        </p:nvSpPr>
        <p:spPr bwMode="auto">
          <a:xfrm>
            <a:off x="3059113" y="4724400"/>
            <a:ext cx="579437" cy="111125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425950" y="420688"/>
            <a:ext cx="4895850" cy="444500"/>
          </a:xfrm>
        </p:spPr>
        <p:txBody>
          <a:bodyPr/>
          <a:lstStyle/>
          <a:p>
            <a:pPr rtl="1"/>
            <a:r>
              <a:rPr lang="fa-IR" altLang="en-US" sz="2800" smtClean="0"/>
              <a:t>توصیف ماشین حالت متناهی</a:t>
            </a:r>
            <a:endParaRPr lang="en-US" altLang="en-US" sz="2800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932363" y="977900"/>
            <a:ext cx="4032250" cy="1389063"/>
          </a:xfrm>
        </p:spPr>
        <p:txBody>
          <a:bodyPr/>
          <a:lstStyle/>
          <a:p>
            <a:r>
              <a:rPr lang="en-US" altLang="en-US" smtClean="0"/>
              <a:t>FSM</a:t>
            </a:r>
            <a:r>
              <a:rPr lang="fa-IR" altLang="en-US" smtClean="0"/>
              <a:t> با دو فرایند: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fa-IR" altLang="en-US" smtClean="0"/>
              <a:t>تغییر حالات</a:t>
            </a:r>
          </a:p>
          <a:p>
            <a:pPr lvl="2"/>
            <a:r>
              <a:rPr lang="fa-IR" altLang="en-US" smtClean="0"/>
              <a:t>عدم نیاز به </a:t>
            </a:r>
            <a:r>
              <a:rPr lang="en-US" altLang="en-US" sz="2000" smtClean="0"/>
              <a:t>NEXT_STATE</a:t>
            </a:r>
            <a:endParaRPr lang="fa-IR" altLang="en-US" smtClean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fa-IR" altLang="en-US" smtClean="0"/>
              <a:t>تولید خروجی</a:t>
            </a:r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7AC21B8-E2FC-4BC5-B220-5248C58A220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50825" y="400050"/>
            <a:ext cx="4752975" cy="61245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 ...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STATE_TYPE is (RST_ST, ST1, ...);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STATE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STATE_TYPE;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process(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RESET = '1'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STATE &lt;= RST_ST;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case STATE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RST_ST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if (INPUTS = ...)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STATE &lt;=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ST1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pic>
        <p:nvPicPr>
          <p:cNvPr id="43014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3994150"/>
            <a:ext cx="541020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5" name="Rounded Rectangle 4"/>
          <p:cNvSpPr>
            <a:spLocks noChangeArrowheads="1"/>
          </p:cNvSpPr>
          <p:nvPr/>
        </p:nvSpPr>
        <p:spPr bwMode="auto">
          <a:xfrm>
            <a:off x="4500563" y="3857625"/>
            <a:ext cx="2663825" cy="187483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3016" name="Rounded Rectangle 4"/>
          <p:cNvSpPr>
            <a:spLocks noChangeArrowheads="1"/>
          </p:cNvSpPr>
          <p:nvPr/>
        </p:nvSpPr>
        <p:spPr bwMode="auto">
          <a:xfrm>
            <a:off x="7304088" y="4092575"/>
            <a:ext cx="874712" cy="163988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4425950" y="420688"/>
            <a:ext cx="4895850" cy="444500"/>
          </a:xfrm>
        </p:spPr>
        <p:txBody>
          <a:bodyPr/>
          <a:lstStyle/>
          <a:p>
            <a:pPr rtl="1"/>
            <a:r>
              <a:rPr lang="fa-IR" altLang="en-US" sz="2800" smtClean="0"/>
              <a:t>توصیف ماشین حالت متناهی</a:t>
            </a:r>
            <a:endParaRPr lang="en-US" altLang="en-US" sz="2800" smtClean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932363" y="977900"/>
            <a:ext cx="4032250" cy="1389063"/>
          </a:xfrm>
        </p:spPr>
        <p:txBody>
          <a:bodyPr/>
          <a:lstStyle/>
          <a:p>
            <a:r>
              <a:rPr lang="en-US" altLang="en-US" smtClean="0"/>
              <a:t>FSM</a:t>
            </a:r>
            <a:r>
              <a:rPr lang="fa-IR" altLang="en-US" smtClean="0"/>
              <a:t> با یک فرایند: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fa-IR" altLang="en-US" smtClean="0"/>
              <a:t>تغییر حالات و تولید خروجی</a:t>
            </a: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FD3BAC-ADA3-4FD6-8FA9-934A58AD8F3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50825" y="400050"/>
            <a:ext cx="4752975" cy="61261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STATE_TYPE is (RST_ST, ST1, ...);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STATE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STATE_TYPE;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process(CLK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STATE &lt;= RST_ST;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OUTPUTS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case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STATE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RST_ST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(INPUTS = ...)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OUTPUTS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OUTPUTS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ST1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pic>
        <p:nvPicPr>
          <p:cNvPr id="44038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3994150"/>
            <a:ext cx="541020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9" name="Rounded Rectangle 4"/>
          <p:cNvSpPr>
            <a:spLocks noChangeArrowheads="1"/>
          </p:cNvSpPr>
          <p:nvPr/>
        </p:nvSpPr>
        <p:spPr bwMode="auto">
          <a:xfrm>
            <a:off x="4500563" y="3857625"/>
            <a:ext cx="3816350" cy="187483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تفاوت انواع توصیف </a:t>
            </a:r>
            <a:r>
              <a:rPr lang="en-US" altLang="en-US" smtClean="0"/>
              <a:t>FSM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dirty="0" smtClean="0"/>
              <a:t>کدام بهتر است؟</a:t>
            </a:r>
          </a:p>
          <a:p>
            <a:pPr lvl="1"/>
            <a:r>
              <a:rPr lang="fa-IR" altLang="en-US" dirty="0" smtClean="0"/>
              <a:t>حجم توصیف کمتر: یک یا دو فرایندی</a:t>
            </a:r>
          </a:p>
          <a:p>
            <a:pPr lvl="2"/>
            <a:r>
              <a:rPr lang="fa-IR" altLang="en-US" dirty="0" smtClean="0"/>
              <a:t>حجم بیشتر: احتمال اشکال بیشتر (نه همیشه)</a:t>
            </a:r>
            <a:endParaRPr lang="en-US" altLang="en-US" dirty="0" smtClean="0"/>
          </a:p>
          <a:p>
            <a:pPr lvl="2"/>
            <a:endParaRPr lang="fa-IR" altLang="en-US" dirty="0" smtClean="0"/>
          </a:p>
          <a:p>
            <a:pPr lvl="1"/>
            <a:r>
              <a:rPr lang="fa-IR" altLang="en-US" dirty="0" smtClean="0"/>
              <a:t>نزدیک بودن به سخت‌افزار: سه فرایندی</a:t>
            </a:r>
          </a:p>
          <a:p>
            <a:pPr lvl="2"/>
            <a:r>
              <a:rPr lang="fa-IR" altLang="en-US" dirty="0" smtClean="0"/>
              <a:t>اشکال‌زدایی آسان‌تر: دسترسی به سیگنال‌های </a:t>
            </a:r>
            <a:r>
              <a:rPr lang="en-US" altLang="en-US" sz="2000" dirty="0" err="1" smtClean="0"/>
              <a:t>NEXT_STATE</a:t>
            </a:r>
            <a:endParaRPr lang="fa-IR" altLang="en-US" dirty="0" smtClean="0"/>
          </a:p>
          <a:p>
            <a:pPr lvl="3"/>
            <a:r>
              <a:rPr lang="fa-IR" altLang="en-US" dirty="0" smtClean="0"/>
              <a:t>در صورت وجود اشکال، مشاهدة شکل موج آنها</a:t>
            </a:r>
          </a:p>
          <a:p>
            <a:pPr lvl="3"/>
            <a:endParaRPr lang="fa-IR" altLang="en-US" sz="2800" dirty="0" smtClean="0"/>
          </a:p>
          <a:p>
            <a:pPr lvl="1"/>
            <a:r>
              <a:rPr lang="fa-IR" altLang="en-US" dirty="0" smtClean="0"/>
              <a:t>نزدیک بودن به رفتار (دیاگرام حالت): دو فرایندی و یک فرایندی</a:t>
            </a:r>
          </a:p>
          <a:p>
            <a:pPr lvl="2"/>
            <a:r>
              <a:rPr lang="fa-IR" altLang="en-US" dirty="0" smtClean="0"/>
              <a:t>دنبال کردن عملیات کد </a:t>
            </a:r>
            <a:r>
              <a:rPr lang="en-US" altLang="en-US" sz="2000" dirty="0" err="1" smtClean="0"/>
              <a:t>VHDL</a:t>
            </a:r>
            <a:r>
              <a:rPr lang="fa-IR" altLang="en-US" sz="2000" dirty="0" smtClean="0"/>
              <a:t> </a:t>
            </a:r>
            <a:r>
              <a:rPr lang="fa-IR" altLang="en-US" dirty="0" smtClean="0"/>
              <a:t>از روی دیاگرام حالت </a:t>
            </a: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44C766E-C265-455E-AAF9-002BBA84E07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mtClean="0"/>
              <a:t>کلاس جبرانی دوم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smtClean="0"/>
              <a:t>دوشنبه آینده، سوم اردیبهشت، ساعت 3 تا </a:t>
            </a:r>
            <a:r>
              <a:rPr lang="fa-IR" smtClean="0"/>
              <a:t>4:30</a:t>
            </a:r>
          </a:p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8EFAB9-F793-4CF3-B176-48A0396187CE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384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756" y="403225"/>
            <a:ext cx="4392488" cy="623324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8EFAB9-F793-4CF3-B176-48A0396187CE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965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انتساب کد حالات</a:t>
            </a:r>
            <a:endParaRPr lang="en-US" altLang="en-US" smtClean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1116013" y="982663"/>
            <a:ext cx="7848600" cy="1389062"/>
          </a:xfrm>
        </p:spPr>
        <p:txBody>
          <a:bodyPr/>
          <a:lstStyle/>
          <a:p>
            <a:r>
              <a:rPr lang="en-US" altLang="en-US" sz="2800" smtClean="0"/>
              <a:t>State Assignment</a:t>
            </a:r>
            <a:r>
              <a:rPr lang="fa-IR" altLang="en-US" sz="2800" smtClean="0"/>
              <a:t> </a:t>
            </a:r>
            <a:r>
              <a:rPr lang="fa-IR" altLang="en-US" smtClean="0"/>
              <a:t>یا </a:t>
            </a:r>
            <a:r>
              <a:rPr lang="en-US" altLang="en-US" sz="2800" smtClean="0"/>
              <a:t>State Encoding</a:t>
            </a:r>
            <a:endParaRPr lang="fa-IR" altLang="en-US" sz="2800" smtClean="0"/>
          </a:p>
          <a:p>
            <a:pPr lvl="1"/>
            <a:r>
              <a:rPr lang="fa-IR" altLang="en-US" smtClean="0"/>
              <a:t>دستی</a:t>
            </a:r>
            <a:endParaRPr lang="en-US" altLang="en-US" smtClean="0"/>
          </a:p>
          <a:p>
            <a:pPr lvl="2"/>
            <a:r>
              <a:rPr lang="fa-IR" altLang="en-US" smtClean="0"/>
              <a:t>کار بیشتر توسط طراح</a:t>
            </a:r>
          </a:p>
          <a:p>
            <a:pPr lvl="2"/>
            <a:r>
              <a:rPr lang="fa-IR" altLang="en-US" smtClean="0"/>
              <a:t>نیاز به تغییر کد اگر انتساب عوض شود</a:t>
            </a:r>
            <a:endParaRPr lang="en-US" altLang="en-US" smtClean="0"/>
          </a:p>
          <a:p>
            <a:pPr lvl="2"/>
            <a:r>
              <a:rPr lang="fa-IR" altLang="en-US" smtClean="0"/>
              <a:t>توصیه نمی‌شود (مگر در موارد خاص)</a:t>
            </a:r>
            <a:endParaRPr lang="en-US" altLang="en-US" smtClean="0"/>
          </a:p>
          <a:p>
            <a:endParaRPr lang="fa-IR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71B7969-CDE1-48B9-89DC-20B5AD90B50B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68313" y="3860800"/>
            <a:ext cx="6062662" cy="20320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subtype STATE_TYPE is std_logic_vector (2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STATE: STATE_TYPE;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constant START: STATE_TYPE := "000";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constant S1: STATE_TYPE := "001";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constant S2: STATE_TYPE := "010";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constant S3: STATE_TYPE := "011";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constant S4: STATE_TYPE := "100";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constant S5: STATE_TYPE := "101";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انتساب کد حالات</a:t>
            </a:r>
            <a:endParaRPr lang="en-US" altLang="en-US" smtClean="0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1116013" y="982663"/>
            <a:ext cx="7848600" cy="1389062"/>
          </a:xfrm>
        </p:spPr>
        <p:txBody>
          <a:bodyPr/>
          <a:lstStyle/>
          <a:p>
            <a:r>
              <a:rPr lang="fa-IR" altLang="en-US" sz="2800" smtClean="0"/>
              <a:t>انتساب کد حالات</a:t>
            </a:r>
          </a:p>
          <a:p>
            <a:pPr lvl="1"/>
            <a:r>
              <a:rPr lang="fa-IR" altLang="en-US" smtClean="0"/>
              <a:t>تکیه به تشخیص ابزار (انتساب پیش‌فرض ابزار)</a:t>
            </a:r>
          </a:p>
          <a:p>
            <a:pPr lvl="2"/>
            <a:r>
              <a:rPr lang="fa-IR" altLang="en-US" smtClean="0"/>
              <a:t>نامشخص (</a:t>
            </a:r>
            <a:r>
              <a:rPr lang="en-US" altLang="en-US" sz="2000" smtClean="0"/>
              <a:t>portability</a:t>
            </a:r>
            <a:r>
              <a:rPr lang="fa-IR" altLang="en-US" smtClean="0"/>
              <a:t>)</a:t>
            </a:r>
          </a:p>
          <a:p>
            <a:pPr lvl="3"/>
            <a:r>
              <a:rPr lang="fa-IR" altLang="en-US" smtClean="0"/>
              <a:t>تغییر ابزار </a:t>
            </a:r>
            <a:r>
              <a:rPr lang="fa-IR" altLang="en-US" smtClean="0">
                <a:sym typeface="Wingdings" panose="05000000000000000000" pitchFamily="2" charset="2"/>
              </a:rPr>
              <a:t> نتایج متفاوت</a:t>
            </a:r>
            <a:endParaRPr lang="fa-IR" altLang="en-US" smtClean="0"/>
          </a:p>
          <a:p>
            <a:pPr lvl="2"/>
            <a:r>
              <a:rPr lang="fa-IR" altLang="en-US" smtClean="0"/>
              <a:t>عدم کنترل کافی</a:t>
            </a:r>
            <a:endParaRPr lang="en-US" altLang="en-US" smtClean="0"/>
          </a:p>
          <a:p>
            <a:endParaRPr lang="fa-IR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36D4135-E565-41F1-B9E4-444D12579EC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انتساب کد حالات</a:t>
            </a:r>
            <a:endParaRPr lang="en-US" altLang="en-US" smtClean="0"/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1116013" y="981075"/>
            <a:ext cx="7848600" cy="1389063"/>
          </a:xfrm>
        </p:spPr>
        <p:txBody>
          <a:bodyPr/>
          <a:lstStyle/>
          <a:p>
            <a:r>
              <a:rPr lang="fa-IR" altLang="en-US" sz="2800" smtClean="0"/>
              <a:t>انتساب کد حالات</a:t>
            </a:r>
          </a:p>
          <a:p>
            <a:pPr lvl="1"/>
            <a:r>
              <a:rPr lang="fa-IR" altLang="en-US" smtClean="0"/>
              <a:t>به صورت محدودیت</a:t>
            </a:r>
          </a:p>
          <a:p>
            <a:pPr lvl="2"/>
            <a:r>
              <a:rPr lang="fa-IR" altLang="en-US" smtClean="0"/>
              <a:t>در کد </a:t>
            </a:r>
            <a:r>
              <a:rPr lang="en-US" altLang="en-US" smtClean="0"/>
              <a:t>VHDL</a:t>
            </a:r>
          </a:p>
          <a:p>
            <a:endParaRPr lang="fa-IR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6199729-39A2-4E98-A2C6-DDC2B20DDB56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68313" y="3644900"/>
            <a:ext cx="6048375" cy="11699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STATE_T is (STATE0, STATE1, STATE2, STATE3);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</a:t>
            </a:r>
            <a:r>
              <a:rPr lang="en-US" altLang="en-US" sz="140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STATE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STATE_T;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fsm_encoding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string;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fsm_encoding of STATE : signal is "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one-hot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";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68313" y="5211763"/>
            <a:ext cx="6048375" cy="7381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STATE_T is (STATE0, STATE1, STATE2, STATE3);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enum_encoding : string;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enum_encoding of STATE_T : type is "one-hot";</a:t>
            </a:r>
          </a:p>
        </p:txBody>
      </p:sp>
      <p:sp>
        <p:nvSpPr>
          <p:cNvPr id="48135" name="TextBox 1"/>
          <p:cNvSpPr txBox="1">
            <a:spLocks noChangeArrowheads="1"/>
          </p:cNvSpPr>
          <p:nvPr/>
        </p:nvSpPr>
        <p:spPr bwMode="auto">
          <a:xfrm>
            <a:off x="6659563" y="3860800"/>
            <a:ext cx="15843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Xilinx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انتساب کد حالات</a:t>
            </a:r>
            <a:endParaRPr lang="en-US" altLang="en-US" smtClean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1116013" y="981075"/>
            <a:ext cx="7848600" cy="1389063"/>
          </a:xfrm>
        </p:spPr>
        <p:txBody>
          <a:bodyPr/>
          <a:lstStyle/>
          <a:p>
            <a:r>
              <a:rPr lang="fa-IR" altLang="en-US" sz="2800" smtClean="0"/>
              <a:t>انتساب کد حالات</a:t>
            </a:r>
          </a:p>
          <a:p>
            <a:pPr lvl="1"/>
            <a:r>
              <a:rPr lang="fa-IR" altLang="en-US" smtClean="0"/>
              <a:t>به صورت محدودیت</a:t>
            </a:r>
          </a:p>
          <a:p>
            <a:pPr lvl="2"/>
            <a:r>
              <a:rPr lang="fa-IR" altLang="en-US" smtClean="0"/>
              <a:t>در فایل محدودیت‌ها </a:t>
            </a:r>
            <a:r>
              <a:rPr lang="en-US" altLang="en-US" smtClean="0"/>
              <a:t>XDC</a:t>
            </a:r>
            <a:r>
              <a:rPr lang="fa-IR" altLang="en-US" smtClean="0"/>
              <a:t> (</a:t>
            </a:r>
            <a:r>
              <a:rPr lang="en-US" altLang="en-US" smtClean="0"/>
              <a:t>Xilinx Design Constraints</a:t>
            </a:r>
            <a:r>
              <a:rPr lang="fa-IR" altLang="en-US" smtClean="0"/>
              <a:t>)</a:t>
            </a:r>
          </a:p>
          <a:p>
            <a:endParaRPr lang="fa-IR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D4F3105-BF4B-4CDD-8798-B86C011FB7F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68313" y="3644900"/>
            <a:ext cx="6048375" cy="7381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 MODEL "entity_name"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NET "signal_name" fsm_encoding=one-hot;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END;</a:t>
            </a:r>
          </a:p>
        </p:txBody>
      </p:sp>
      <p:sp>
        <p:nvSpPr>
          <p:cNvPr id="49158" name="TextBox 1"/>
          <p:cNvSpPr txBox="1">
            <a:spLocks noChangeArrowheads="1"/>
          </p:cNvSpPr>
          <p:nvPr/>
        </p:nvSpPr>
        <p:spPr bwMode="auto">
          <a:xfrm>
            <a:off x="6659563" y="3860800"/>
            <a:ext cx="15843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Xilinx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انتساب کد حالات</a:t>
            </a:r>
            <a:endParaRPr lang="en-US" altLang="en-US" smtClean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1116013" y="981075"/>
            <a:ext cx="7848600" cy="1389063"/>
          </a:xfrm>
        </p:spPr>
        <p:txBody>
          <a:bodyPr/>
          <a:lstStyle/>
          <a:p>
            <a:r>
              <a:rPr lang="fa-IR" altLang="en-US" sz="2800" smtClean="0"/>
              <a:t>انتساب کد حالات</a:t>
            </a:r>
          </a:p>
          <a:p>
            <a:pPr lvl="1"/>
            <a:r>
              <a:rPr lang="fa-IR" altLang="en-US" smtClean="0"/>
              <a:t>به صورت محدودیت</a:t>
            </a:r>
          </a:p>
          <a:p>
            <a:pPr lvl="2"/>
            <a:r>
              <a:rPr lang="fa-IR" altLang="en-US" smtClean="0"/>
              <a:t>به صورت </a:t>
            </a:r>
            <a:r>
              <a:rPr lang="en-US" altLang="en-US" smtClean="0"/>
              <a:t>script</a:t>
            </a:r>
            <a:r>
              <a:rPr lang="fa-IR" altLang="en-US" smtClean="0"/>
              <a:t> یا در خط فرمان</a:t>
            </a:r>
            <a:endParaRPr lang="en-US" altLang="en-US" smtClean="0"/>
          </a:p>
          <a:p>
            <a:endParaRPr lang="fa-IR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DC58249-BD70-471A-95E8-D9BEFA6C141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68312" y="3284984"/>
            <a:ext cx="7704088" cy="30777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synth_design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-part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xc7k30tfbg484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-2 -top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my_top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…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</a:t>
            </a:r>
            <a:r>
              <a:rPr lang="en-US" altLang="en-US" sz="1400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fsm_encoding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one-hot</a:t>
            </a:r>
          </a:p>
        </p:txBody>
      </p:sp>
      <p:sp>
        <p:nvSpPr>
          <p:cNvPr id="50182" name="TextBox 1"/>
          <p:cNvSpPr txBox="1">
            <a:spLocks noChangeArrowheads="1"/>
          </p:cNvSpPr>
          <p:nvPr/>
        </p:nvSpPr>
        <p:spPr bwMode="auto">
          <a:xfrm>
            <a:off x="6659563" y="3584575"/>
            <a:ext cx="15843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Xilinx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-180975" y="333375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انواع کدهای حالت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2771775" y="981075"/>
            <a:ext cx="6192838" cy="2592388"/>
          </a:xfrm>
        </p:spPr>
        <p:txBody>
          <a:bodyPr/>
          <a:lstStyle/>
          <a:p>
            <a:pPr>
              <a:defRPr/>
            </a:pPr>
            <a:r>
              <a:rPr lang="fa-IR" altLang="en-US" sz="2800" dirty="0" smtClean="0"/>
              <a:t>انواع کدها:</a:t>
            </a:r>
          </a:p>
          <a:p>
            <a:pPr lvl="1">
              <a:defRPr/>
            </a:pPr>
            <a:r>
              <a:rPr lang="fa-IR" altLang="en-US" dirty="0" smtClean="0"/>
              <a:t>باینری یا ترتیبی (</a:t>
            </a:r>
            <a:r>
              <a:rPr lang="en-US" altLang="en-US" sz="2400" dirty="0" smtClean="0"/>
              <a:t>sequential</a:t>
            </a:r>
            <a:r>
              <a:rPr lang="fa-IR" altLang="en-US" dirty="0" smtClean="0"/>
              <a:t>)</a:t>
            </a:r>
            <a:endParaRPr lang="en-US" altLang="en-US" dirty="0" smtClean="0"/>
          </a:p>
          <a:p>
            <a:pPr lvl="2">
              <a:defRPr/>
            </a:pPr>
            <a:r>
              <a:rPr lang="fa-IR" altLang="en-US" dirty="0" smtClean="0"/>
              <a:t>تعداد فلیپ فلاپ</a:t>
            </a:r>
            <a:r>
              <a:rPr lang="fa-IR" altLang="en-US" dirty="0"/>
              <a:t> </a:t>
            </a:r>
            <a:r>
              <a:rPr lang="fa-IR" altLang="en-US" dirty="0" smtClean="0"/>
              <a:t>برای </a:t>
            </a:r>
            <a:r>
              <a:rPr lang="en-US" altLang="en-US" dirty="0" smtClean="0"/>
              <a:t>N</a:t>
            </a:r>
            <a:r>
              <a:rPr lang="en-US" altLang="en-US" baseline="-25000" dirty="0" smtClean="0"/>
              <a:t>s</a:t>
            </a:r>
            <a:r>
              <a:rPr lang="fa-IR" altLang="en-US" dirty="0" smtClean="0"/>
              <a:t> حالت: </a:t>
            </a:r>
          </a:p>
          <a:p>
            <a:pPr marL="1371600" lvl="3" indent="0" algn="l" rtl="0">
              <a:buFont typeface="Arial" panose="020B0604020202020204" pitchFamily="34" charset="0"/>
              <a:buNone/>
              <a:defRPr/>
            </a:pPr>
            <a:r>
              <a:rPr lang="en-US" dirty="0" err="1"/>
              <a:t>N</a:t>
            </a:r>
            <a:r>
              <a:rPr lang="en-US" baseline="-25000" dirty="0" err="1"/>
              <a:t>f</a:t>
            </a:r>
            <a:r>
              <a:rPr lang="en-US" dirty="0"/>
              <a:t> =  ⌈log</a:t>
            </a:r>
            <a:r>
              <a:rPr lang="en-US" baseline="-25000" dirty="0"/>
              <a:t>2</a:t>
            </a:r>
            <a:r>
              <a:rPr lang="en-US" dirty="0"/>
              <a:t>N­</a:t>
            </a:r>
            <a:r>
              <a:rPr lang="en-US" baseline="-25000" dirty="0"/>
              <a:t>s</a:t>
            </a:r>
            <a:r>
              <a:rPr lang="en-US" dirty="0"/>
              <a:t> </a:t>
            </a:r>
            <a:r>
              <a:rPr lang="en-US" dirty="0" smtClean="0"/>
              <a:t>⌉</a:t>
            </a:r>
            <a:endParaRPr lang="fa-IR" dirty="0" smtClean="0"/>
          </a:p>
          <a:p>
            <a:pPr lvl="3">
              <a:defRPr/>
            </a:pPr>
            <a:endParaRPr lang="fa-IR" altLang="en-US" dirty="0" smtClean="0"/>
          </a:p>
          <a:p>
            <a:pPr lvl="1">
              <a:defRPr/>
            </a:pPr>
            <a:endParaRPr lang="en-US" altLang="en-US" dirty="0" smtClean="0"/>
          </a:p>
          <a:p>
            <a:pPr>
              <a:defRPr/>
            </a:pPr>
            <a:endParaRPr lang="fa-IR" altLang="en-US" dirty="0" smtClean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98488" y="3933825"/>
            <a:ext cx="6985000" cy="1168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STATE_T is (STATE0, STATE1, STATE2, STATE3);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STATE, NEXT_STATE : STATE_T;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fsm_encoding : string;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fsm_encoding of STATE : signal is “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sequential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";</a:t>
            </a:r>
          </a:p>
        </p:txBody>
      </p:sp>
      <p:sp>
        <p:nvSpPr>
          <p:cNvPr id="51205" name="Rectangle 2"/>
          <p:cNvSpPr>
            <a:spLocks noChangeArrowheads="1"/>
          </p:cNvSpPr>
          <p:nvPr/>
        </p:nvSpPr>
        <p:spPr bwMode="auto">
          <a:xfrm>
            <a:off x="684213" y="887413"/>
            <a:ext cx="2357437" cy="189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STATE0: 00</a:t>
            </a:r>
            <a:endParaRPr lang="en-US" altLang="en-US" sz="14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STATE1: 01</a:t>
            </a:r>
            <a:endParaRPr lang="en-US" altLang="en-US" sz="14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STATE2:</a:t>
            </a: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10</a:t>
            </a:r>
            <a:endParaRPr lang="en-US" altLang="en-US" sz="14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STATE3: 11</a:t>
            </a:r>
            <a:endParaRPr lang="en-US" altLang="en-US" sz="14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2771775" y="5373688"/>
            <a:ext cx="5976938" cy="935037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sz="2400" kern="0" dirty="0" smtClean="0"/>
              <a:t>اگر تعداد حالات≠ </a:t>
            </a:r>
            <a:r>
              <a:rPr lang="en-US" altLang="en-US" sz="2400" kern="0" dirty="0" smtClean="0"/>
              <a:t>2</a:t>
            </a:r>
            <a:r>
              <a:rPr lang="en-US" altLang="en-US" sz="2400" kern="0" baseline="30000" dirty="0" smtClean="0"/>
              <a:t>i</a:t>
            </a:r>
          </a:p>
          <a:p>
            <a:pPr lvl="2">
              <a:defRPr/>
            </a:pPr>
            <a:r>
              <a:rPr lang="fa-IR" altLang="en-US" sz="2000" kern="0" dirty="0"/>
              <a:t>حالات ا</a:t>
            </a:r>
            <a:r>
              <a:rPr lang="fa-IR" altLang="en-US" sz="2000" kern="0" dirty="0" smtClean="0"/>
              <a:t>ضافی دردسرساز </a:t>
            </a:r>
            <a:endParaRPr lang="en-US" kern="0" dirty="0" smtClean="0"/>
          </a:p>
          <a:p>
            <a:pPr lvl="3">
              <a:defRPr/>
            </a:pPr>
            <a:endParaRPr lang="fa-IR" altLang="en-US" kern="0" dirty="0" smtClean="0"/>
          </a:p>
          <a:p>
            <a:pPr lvl="1">
              <a:defRPr/>
            </a:pPr>
            <a:endParaRPr lang="en-US" altLang="en-US" kern="0" dirty="0" smtClean="0"/>
          </a:p>
          <a:p>
            <a:pPr>
              <a:defRPr/>
            </a:pPr>
            <a:endParaRPr lang="fa-IR" altLang="en-US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انواع کدهای حالت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2771775" y="981075"/>
            <a:ext cx="6192838" cy="2592388"/>
          </a:xfrm>
        </p:spPr>
        <p:txBody>
          <a:bodyPr/>
          <a:lstStyle/>
          <a:p>
            <a:pPr>
              <a:defRPr/>
            </a:pPr>
            <a:r>
              <a:rPr lang="fa-IR" altLang="en-US" sz="2800" dirty="0" smtClean="0"/>
              <a:t>انواع کدها:</a:t>
            </a:r>
          </a:p>
          <a:p>
            <a:pPr lvl="1">
              <a:defRPr/>
            </a:pPr>
            <a:r>
              <a:rPr lang="fa-IR" altLang="en-US" dirty="0" smtClean="0"/>
              <a:t>تک فعال (</a:t>
            </a:r>
            <a:r>
              <a:rPr lang="en-US" altLang="en-US" dirty="0" smtClean="0"/>
              <a:t>one-hot</a:t>
            </a:r>
            <a:r>
              <a:rPr lang="fa-IR" altLang="en-US" dirty="0" smtClean="0"/>
              <a:t>)</a:t>
            </a:r>
            <a:endParaRPr lang="en-US" altLang="en-US" dirty="0" smtClean="0"/>
          </a:p>
          <a:p>
            <a:pPr lvl="2">
              <a:defRPr/>
            </a:pPr>
            <a:r>
              <a:rPr lang="fa-IR" altLang="en-US" dirty="0" smtClean="0"/>
              <a:t>تعداد فلیپ فلاپ: 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US" dirty="0" err="1"/>
              <a:t>N</a:t>
            </a:r>
            <a:r>
              <a:rPr lang="en-US" baseline="-25000" dirty="0" err="1"/>
              <a:t>f</a:t>
            </a:r>
            <a:r>
              <a:rPr lang="en-US" dirty="0"/>
              <a:t> = N</a:t>
            </a:r>
            <a:r>
              <a:rPr lang="en-US" baseline="-25000" dirty="0"/>
              <a:t>s</a:t>
            </a:r>
            <a:endParaRPr lang="fa-IR" dirty="0" smtClean="0"/>
          </a:p>
          <a:p>
            <a:pPr lvl="3">
              <a:defRPr/>
            </a:pPr>
            <a:endParaRPr lang="fa-IR" altLang="en-US" dirty="0" smtClean="0"/>
          </a:p>
          <a:p>
            <a:pPr lvl="1">
              <a:defRPr/>
            </a:pPr>
            <a:endParaRPr lang="en-US" altLang="en-US" dirty="0" smtClean="0"/>
          </a:p>
          <a:p>
            <a:pPr>
              <a:defRPr/>
            </a:pPr>
            <a:endParaRPr lang="fa-IR" altLang="en-US" dirty="0" smtClean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98488" y="3933825"/>
            <a:ext cx="6985000" cy="1168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STATE_T is (STATE0, STATE1, STATE2, STATE3);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STATE, NEXT_STATE : STATE_T;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fsm_encoding : string;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fsm_encoding of STATE : signal is “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one_hot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";</a:t>
            </a:r>
          </a:p>
        </p:txBody>
      </p:sp>
      <p:sp>
        <p:nvSpPr>
          <p:cNvPr id="52229" name="Rectangle 2"/>
          <p:cNvSpPr>
            <a:spLocks noChangeArrowheads="1"/>
          </p:cNvSpPr>
          <p:nvPr/>
        </p:nvSpPr>
        <p:spPr bwMode="auto">
          <a:xfrm>
            <a:off x="827088" y="1685925"/>
            <a:ext cx="23590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STATE0: 0001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STATE1: 0010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STATE2: 0100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STATE3: 1000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انواع کدهای حالت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2771775" y="981075"/>
            <a:ext cx="6192838" cy="2592388"/>
          </a:xfrm>
        </p:spPr>
        <p:txBody>
          <a:bodyPr/>
          <a:lstStyle/>
          <a:p>
            <a:pPr>
              <a:defRPr/>
            </a:pPr>
            <a:r>
              <a:rPr lang="fa-IR" altLang="en-US" sz="2800" dirty="0" smtClean="0"/>
              <a:t>انواع کدها:</a:t>
            </a:r>
          </a:p>
          <a:p>
            <a:pPr lvl="1">
              <a:defRPr/>
            </a:pPr>
            <a:r>
              <a:rPr lang="fa-IR" altLang="en-US" dirty="0" smtClean="0"/>
              <a:t>کد گری (</a:t>
            </a:r>
            <a:r>
              <a:rPr lang="en-US" altLang="en-US" dirty="0" smtClean="0"/>
              <a:t>gray</a:t>
            </a:r>
            <a:r>
              <a:rPr lang="fa-IR" altLang="en-US" dirty="0" smtClean="0"/>
              <a:t>)</a:t>
            </a:r>
            <a:endParaRPr lang="en-US" altLang="en-US" dirty="0" smtClean="0"/>
          </a:p>
          <a:p>
            <a:pPr lvl="2">
              <a:defRPr/>
            </a:pPr>
            <a:r>
              <a:rPr lang="fa-IR" altLang="en-US" dirty="0" smtClean="0"/>
              <a:t>تعداد فلیپ فلاپ: </a:t>
            </a:r>
          </a:p>
          <a:p>
            <a:pPr marL="1371600" lvl="3" indent="0">
              <a:buFont typeface="Arial" panose="020B0604020202020204" pitchFamily="34" charset="0"/>
              <a:buNone/>
              <a:defRPr/>
            </a:pPr>
            <a:r>
              <a:rPr lang="en-US" dirty="0" err="1"/>
              <a:t>N</a:t>
            </a:r>
            <a:r>
              <a:rPr lang="en-US" baseline="-25000" dirty="0" err="1"/>
              <a:t>f</a:t>
            </a:r>
            <a:r>
              <a:rPr lang="en-US" dirty="0"/>
              <a:t> =  ⌈log</a:t>
            </a:r>
            <a:r>
              <a:rPr lang="en-US" baseline="-25000" dirty="0"/>
              <a:t>2</a:t>
            </a:r>
            <a:r>
              <a:rPr lang="en-US" dirty="0"/>
              <a:t>N­</a:t>
            </a:r>
            <a:r>
              <a:rPr lang="en-US" baseline="-25000" dirty="0"/>
              <a:t>s</a:t>
            </a:r>
            <a:r>
              <a:rPr lang="en-US" dirty="0"/>
              <a:t> ⌉</a:t>
            </a:r>
            <a:endParaRPr lang="fa-IR" dirty="0"/>
          </a:p>
          <a:p>
            <a:pPr lvl="3">
              <a:defRPr/>
            </a:pPr>
            <a:endParaRPr lang="fa-IR" altLang="en-US" dirty="0" smtClean="0"/>
          </a:p>
          <a:p>
            <a:pPr lvl="1">
              <a:defRPr/>
            </a:pPr>
            <a:endParaRPr lang="en-US" altLang="en-US" dirty="0" smtClean="0"/>
          </a:p>
          <a:p>
            <a:pPr>
              <a:defRPr/>
            </a:pPr>
            <a:endParaRPr lang="fa-IR" altLang="en-US" dirty="0" smtClean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01663" y="4221163"/>
            <a:ext cx="7199312" cy="13843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STATE_T is (STATE0, STATE1, STATE2, STATE3, STATE4, STATE5, STATE6, STATE7);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STATE, NEXT_STATE : STATE_T;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fsm_encoding : string;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fsm_encoding of STATE : signal is “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gray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";</a:t>
            </a:r>
          </a:p>
        </p:txBody>
      </p:sp>
      <p:sp>
        <p:nvSpPr>
          <p:cNvPr id="53253" name="Rectangle 2"/>
          <p:cNvSpPr>
            <a:spLocks noChangeArrowheads="1"/>
          </p:cNvSpPr>
          <p:nvPr/>
        </p:nvSpPr>
        <p:spPr bwMode="auto">
          <a:xfrm>
            <a:off x="611188" y="1116013"/>
            <a:ext cx="2359025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STATE0: 000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STATE1: 001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STATE2: 011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STATE3: 010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STATE4: 110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STATE5: 111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STATE6: 101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STATE7: 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انواع کدهای حالت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2771775" y="1125538"/>
            <a:ext cx="6192838" cy="2590800"/>
          </a:xfrm>
        </p:spPr>
        <p:txBody>
          <a:bodyPr/>
          <a:lstStyle/>
          <a:p>
            <a:r>
              <a:rPr lang="fa-IR" altLang="en-US" sz="2800" smtClean="0"/>
              <a:t>انواع کدها:</a:t>
            </a:r>
          </a:p>
          <a:p>
            <a:pPr lvl="1"/>
            <a:r>
              <a:rPr lang="fa-IR" altLang="en-US" smtClean="0"/>
              <a:t>کد جانسون (</a:t>
            </a:r>
            <a:r>
              <a:rPr lang="en-US" altLang="en-US" smtClean="0"/>
              <a:t>johnson</a:t>
            </a:r>
            <a:r>
              <a:rPr lang="fa-IR" altLang="en-US" smtClean="0"/>
              <a:t>)</a:t>
            </a:r>
            <a:endParaRPr lang="en-US" altLang="en-US" smtClean="0"/>
          </a:p>
          <a:p>
            <a:pPr lvl="2"/>
            <a:r>
              <a:rPr lang="fa-IR" altLang="en-US" smtClean="0"/>
              <a:t>تعداد فلیپ فلاپ: 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US" altLang="en-US" smtClean="0"/>
              <a:t>N</a:t>
            </a:r>
            <a:r>
              <a:rPr lang="en-US" altLang="en-US" baseline="-25000" smtClean="0"/>
              <a:t>f</a:t>
            </a:r>
            <a:r>
              <a:rPr lang="en-US" altLang="en-US" smtClean="0"/>
              <a:t> = ?</a:t>
            </a:r>
            <a:endParaRPr lang="fa-IR" altLang="en-US" smtClean="0"/>
          </a:p>
          <a:p>
            <a:pPr lvl="1"/>
            <a:endParaRPr lang="en-US" altLang="en-US" smtClean="0"/>
          </a:p>
          <a:p>
            <a:endParaRPr lang="fa-IR" altLang="en-US" smtClean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01663" y="4221163"/>
            <a:ext cx="7199312" cy="13843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STATE_T is (STATE0, STATE1, STATE2, STATE3, STATE4, STATE5, STATE6, STATE7);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STATE, NEXT_STATE : STATE_T;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fsm_encoding : string;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fsm_encoding of STATE : signal is “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johnson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";</a:t>
            </a:r>
          </a:p>
        </p:txBody>
      </p:sp>
      <p:sp>
        <p:nvSpPr>
          <p:cNvPr id="54277" name="Rectangle 2"/>
          <p:cNvSpPr>
            <a:spLocks noChangeArrowheads="1"/>
          </p:cNvSpPr>
          <p:nvPr/>
        </p:nvSpPr>
        <p:spPr bwMode="auto">
          <a:xfrm>
            <a:off x="611188" y="1116013"/>
            <a:ext cx="2359025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STATE0: 0000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STATE1: 1000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STATE2: 1100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STATE3: 1110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STATE4: 1111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STATE5: 0111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STATE6: 0011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STATE7: 0001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714375" y="1125538"/>
            <a:ext cx="8250238" cy="4946650"/>
          </a:xfrm>
        </p:spPr>
        <p:txBody>
          <a:bodyPr/>
          <a:lstStyle/>
          <a:p>
            <a:r>
              <a:rPr lang="fa-IR" altLang="en-US" sz="2800" smtClean="0"/>
              <a:t>کدام بهتر است؟</a:t>
            </a:r>
            <a:endParaRPr lang="en-US" altLang="en-US" sz="2800" smtClean="0"/>
          </a:p>
          <a:p>
            <a:pPr lvl="1"/>
            <a:r>
              <a:rPr lang="en-US" altLang="en-US" sz="2400" smtClean="0"/>
              <a:t>auto:</a:t>
            </a:r>
            <a:endParaRPr lang="fa-IR" altLang="en-US" sz="2400" smtClean="0"/>
          </a:p>
          <a:p>
            <a:pPr lvl="2"/>
            <a:r>
              <a:rPr lang="fa-IR" altLang="en-US" smtClean="0"/>
              <a:t>از یک ابزار به ابزار دیگر تغییر می‌کند</a:t>
            </a:r>
          </a:p>
          <a:p>
            <a:pPr lvl="2"/>
            <a:r>
              <a:rPr lang="fa-IR" altLang="en-US" smtClean="0"/>
              <a:t>از یک نسخه به نسخة دیگر تغییر می‌کند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 بعد از ماه‌ها کار که طرح کار می‌کرده، با تغییر ابزار کار نمی‌کند</a:t>
            </a:r>
          </a:p>
          <a:p>
            <a:pPr lvl="1"/>
            <a:r>
              <a:rPr lang="en-US" altLang="en-US" smtClean="0">
                <a:sym typeface="Wingdings" panose="05000000000000000000" pitchFamily="2" charset="2"/>
              </a:rPr>
              <a:t>sequential</a:t>
            </a:r>
            <a:r>
              <a:rPr lang="fa-IR" altLang="en-US" smtClean="0">
                <a:sym typeface="Wingdings" panose="05000000000000000000" pitchFamily="2" charset="2"/>
              </a:rPr>
              <a:t> و </a:t>
            </a:r>
            <a:r>
              <a:rPr lang="en-US" altLang="en-US" smtClean="0">
                <a:sym typeface="Wingdings" panose="05000000000000000000" pitchFamily="2" charset="2"/>
              </a:rPr>
              <a:t>gray</a:t>
            </a:r>
            <a:r>
              <a:rPr lang="fa-IR" altLang="en-US" smtClean="0">
                <a:sym typeface="Wingdings" panose="05000000000000000000" pitchFamily="2" charset="2"/>
              </a:rPr>
              <a:t>: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کمترین تعداد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endParaRPr lang="fa-IR" altLang="en-US" smtClean="0">
              <a:sym typeface="Wingdings" panose="05000000000000000000" pitchFamily="2" charset="2"/>
            </a:endParaRP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مدارهای ترکیبی بزرگ‌تر</a:t>
            </a:r>
          </a:p>
          <a:p>
            <a:pPr lvl="1"/>
            <a:r>
              <a:rPr lang="en-US" altLang="en-US" smtClean="0">
                <a:sym typeface="Wingdings" panose="05000000000000000000" pitchFamily="2" charset="2"/>
              </a:rPr>
              <a:t>one-hot</a:t>
            </a:r>
            <a:r>
              <a:rPr lang="fa-IR" altLang="en-US" smtClean="0">
                <a:sym typeface="Wingdings" panose="05000000000000000000" pitchFamily="2" charset="2"/>
              </a:rPr>
              <a:t>:</a:t>
            </a:r>
            <a:endParaRPr lang="en-US" altLang="en-US" smtClean="0">
              <a:sym typeface="Wingdings" panose="05000000000000000000" pitchFamily="2" charset="2"/>
            </a:endParaRP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تعداد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 زیاد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مدارهای ترکیبی بیشتر ولی بسیار کوچک‌تر</a:t>
            </a: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4932363" y="347663"/>
            <a:ext cx="3887787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3357563" y="928688"/>
            <a:ext cx="5607050" cy="1231900"/>
          </a:xfrm>
        </p:spPr>
        <p:txBody>
          <a:bodyPr/>
          <a:lstStyle/>
          <a:p>
            <a:pPr lvl="1"/>
            <a:r>
              <a:rPr lang="en-US" altLang="en-US" smtClean="0">
                <a:sym typeface="Wingdings" panose="05000000000000000000" pitchFamily="2" charset="2"/>
              </a:rPr>
              <a:t>sequential</a:t>
            </a:r>
            <a:r>
              <a:rPr lang="fa-IR" altLang="en-US" smtClean="0">
                <a:sym typeface="Wingdings" panose="05000000000000000000" pitchFamily="2" charset="2"/>
              </a:rPr>
              <a:t>: مثال</a:t>
            </a:r>
            <a:endParaRPr lang="en-US" altLang="en-US" smtClean="0">
              <a:sym typeface="Wingdings" panose="05000000000000000000" pitchFamily="2" charset="2"/>
            </a:endParaRP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604838" y="5310188"/>
            <a:ext cx="82153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= … + (S3’.S2’.S1.S0’).I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’ + … + (S3’.S2.S1.S0).I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+ … + (S3.S2.S1’.S0’).I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+ … + (S3.S2.S1.S0).I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’</a:t>
            </a:r>
            <a:endParaRPr lang="en-US" altLang="en-US" sz="210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604838" y="5645150"/>
            <a:ext cx="8143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= … + (S3’.S2’.S1.S0’).I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’ + … + (S3’.S2.S1.S0).I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’ + … + (S3.S2.S1’.S0’).I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+ … + (S3.S2.S1.S0).I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.I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’</a:t>
            </a:r>
            <a:endParaRPr lang="en-US" altLang="en-US" sz="210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604838" y="5929313"/>
            <a:ext cx="114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= …</a:t>
            </a:r>
            <a:endParaRPr lang="en-US" altLang="en-US" sz="80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sz="1400" baseline="-30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= …</a:t>
            </a:r>
            <a:endParaRPr lang="en-US" altLang="en-US" sz="210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6327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438" y="1811338"/>
            <a:ext cx="2225675" cy="269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044344"/>
              </p:ext>
            </p:extLst>
          </p:nvPr>
        </p:nvGraphicFramePr>
        <p:xfrm>
          <a:off x="538164" y="106363"/>
          <a:ext cx="4429124" cy="5134034"/>
        </p:xfrm>
        <a:graphic>
          <a:graphicData uri="http://schemas.openxmlformats.org/drawingml/2006/table">
            <a:tbl>
              <a:tblPr rtl="1"/>
              <a:tblGrid>
                <a:gridCol w="1684440">
                  <a:extLst>
                    <a:ext uri="{9D8B030D-6E8A-4147-A177-3AD203B41FA5}"/>
                  </a:extLst>
                </a:gridCol>
                <a:gridCol w="910282">
                  <a:extLst>
                    <a:ext uri="{9D8B030D-6E8A-4147-A177-3AD203B41FA5}"/>
                  </a:extLst>
                </a:gridCol>
                <a:gridCol w="1139775">
                  <a:extLst>
                    <a:ext uri="{9D8B030D-6E8A-4147-A177-3AD203B41FA5}"/>
                  </a:extLst>
                </a:gridCol>
                <a:gridCol w="694627">
                  <a:extLst>
                    <a:ext uri="{9D8B030D-6E8A-4147-A177-3AD203B41FA5}"/>
                  </a:extLst>
                </a:gridCol>
              </a:tblGrid>
              <a:tr h="58647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a-IR" sz="1200" b="1" dirty="0">
                          <a:latin typeface="Times New Roman"/>
                          <a:ea typeface="Calibri"/>
                          <a:cs typeface="B Nazanin"/>
                        </a:rPr>
                        <a:t>کد حالت </a:t>
                      </a:r>
                      <a:r>
                        <a:rPr lang="fa-IR" sz="1200" b="1" dirty="0" smtClean="0">
                          <a:latin typeface="Times New Roman"/>
                          <a:ea typeface="Calibri"/>
                          <a:cs typeface="B Nazanin"/>
                        </a:rPr>
                        <a:t>بعدی</a:t>
                      </a:r>
                      <a:endParaRPr lang="en-US" sz="1200" b="1" dirty="0" smtClean="0">
                        <a:latin typeface="Times New Roman"/>
                        <a:ea typeface="Calibri"/>
                        <a:cs typeface="B Nazanin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Calibri"/>
                          <a:cs typeface="B Nazanin"/>
                        </a:rPr>
                        <a:t>   S3 S2 S1 S0</a:t>
                      </a:r>
                      <a:endParaRPr kumimoji="0" lang="en-US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a-IR" sz="1200" b="1" dirty="0">
                          <a:latin typeface="Times New Roman"/>
                          <a:ea typeface="Calibri"/>
                          <a:cs typeface="B Nazanin"/>
                        </a:rPr>
                        <a:t>ورودی‌ها</a:t>
                      </a:r>
                      <a:endParaRPr lang="en-US" sz="11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b="1" dirty="0">
                          <a:latin typeface="Times New Roman"/>
                          <a:ea typeface="Calibri"/>
                          <a:cs typeface="B Nazanin"/>
                        </a:rPr>
                        <a:t>I0 I1 I2 I3 I4</a:t>
                      </a:r>
                      <a:endParaRPr lang="en-US" sz="10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a-IR" sz="1200" b="1" dirty="0">
                          <a:latin typeface="Times New Roman"/>
                          <a:ea typeface="Calibri"/>
                          <a:cs typeface="B Nazanin"/>
                        </a:rPr>
                        <a:t>کد حالت جاری</a:t>
                      </a:r>
                      <a:endParaRPr lang="en-US" sz="11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b="1" dirty="0" smtClean="0">
                          <a:latin typeface="Times New Roman"/>
                          <a:ea typeface="Calibri"/>
                          <a:cs typeface="B Nazanin"/>
                        </a:rPr>
                        <a:t>S3</a:t>
                      </a:r>
                      <a:r>
                        <a:rPr lang="en-US" sz="1000" b="1" baseline="0" dirty="0" smtClean="0">
                          <a:latin typeface="Times New Roman"/>
                          <a:ea typeface="Calibri"/>
                          <a:cs typeface="B Nazanin"/>
                        </a:rPr>
                        <a:t> S2 S1 S0</a:t>
                      </a:r>
                      <a:endParaRPr lang="en-US" sz="11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a-IR" sz="1200" b="1" dirty="0">
                          <a:latin typeface="Times New Roman"/>
                          <a:ea typeface="Calibri"/>
                          <a:cs typeface="B Nazanin"/>
                        </a:rPr>
                        <a:t>حالت جاری</a:t>
                      </a:r>
                      <a:endParaRPr lang="en-US" sz="11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0001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1100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xxx0x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0010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ST2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0011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ST3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0100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ST4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0101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ST5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0110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ST6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1100</a:t>
                      </a:r>
                      <a:endParaRPr lang="en-US" sz="1400" dirty="0"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xxxx1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Lotus"/>
                        </a:rPr>
                        <a:t>0111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ST7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1000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ST8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1001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ST9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1010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1011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ST11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1100</a:t>
                      </a:r>
                      <a:endParaRPr lang="en-US" sz="1400" dirty="0"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x1xxx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1100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ST12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1101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ST13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1110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ST14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1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1100</a:t>
                      </a:r>
                      <a:endParaRPr lang="en-US" sz="1400" dirty="0"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x10xx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1111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ST15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55" marB="36955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/>
      <p:bldP spid="73733" grpId="0"/>
      <p:bldP spid="7373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4427538" y="476250"/>
            <a:ext cx="474027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5148263" y="1125538"/>
            <a:ext cx="3816350" cy="1231900"/>
          </a:xfrm>
        </p:spPr>
        <p:txBody>
          <a:bodyPr/>
          <a:lstStyle/>
          <a:p>
            <a:pPr lvl="1"/>
            <a:r>
              <a:rPr lang="en-US" altLang="en-US" smtClean="0">
                <a:sym typeface="Wingdings" panose="05000000000000000000" pitchFamily="2" charset="2"/>
              </a:rPr>
              <a:t>One-hot</a:t>
            </a:r>
            <a:r>
              <a:rPr lang="fa-IR" altLang="en-US" smtClean="0">
                <a:sym typeface="Wingdings" panose="05000000000000000000" pitchFamily="2" charset="2"/>
              </a:rPr>
              <a:t>: مثال</a:t>
            </a:r>
            <a:endParaRPr lang="en-US" altLang="en-US" smtClean="0">
              <a:sym typeface="Wingdings" panose="05000000000000000000" pitchFamily="2" charset="2"/>
            </a:endParaRP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755650" y="5949950"/>
            <a:ext cx="35004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12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n-US" alt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1600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.I</a:t>
            </a:r>
            <a:r>
              <a:rPr lang="en-US" altLang="en-US" sz="1600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’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+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16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7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.I</a:t>
            </a:r>
            <a:r>
              <a:rPr lang="en-US" altLang="en-US" sz="16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16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12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.I</a:t>
            </a:r>
            <a:r>
              <a:rPr lang="en-US" altLang="en-US" sz="16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16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15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.I</a:t>
            </a:r>
            <a:r>
              <a:rPr lang="en-US" altLang="en-US" sz="16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.I</a:t>
            </a:r>
            <a:r>
              <a:rPr lang="en-US" altLang="en-US" sz="16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’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3851" y="549275"/>
          <a:ext cx="4429124" cy="5265744"/>
        </p:xfrm>
        <a:graphic>
          <a:graphicData uri="http://schemas.openxmlformats.org/drawingml/2006/table">
            <a:tbl>
              <a:tblPr rtl="1"/>
              <a:tblGrid>
                <a:gridCol w="1365495">
                  <a:extLst>
                    <a:ext uri="{9D8B030D-6E8A-4147-A177-3AD203B41FA5}"/>
                  </a:extLst>
                </a:gridCol>
                <a:gridCol w="825307">
                  <a:extLst>
                    <a:ext uri="{9D8B030D-6E8A-4147-A177-3AD203B41FA5}"/>
                  </a:extLst>
                </a:gridCol>
                <a:gridCol w="1543695">
                  <a:extLst>
                    <a:ext uri="{9D8B030D-6E8A-4147-A177-3AD203B41FA5}"/>
                  </a:extLst>
                </a:gridCol>
                <a:gridCol w="694627">
                  <a:extLst>
                    <a:ext uri="{9D8B030D-6E8A-4147-A177-3AD203B41FA5}"/>
                  </a:extLst>
                </a:gridCol>
              </a:tblGrid>
              <a:tr h="71784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a-IR" sz="1600" dirty="0">
                          <a:latin typeface="Times New Roman"/>
                          <a:ea typeface="Calibri"/>
                          <a:cs typeface="B Nazanin"/>
                        </a:rPr>
                        <a:t>کد حالت بعدی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a-IR" sz="1600" dirty="0">
                          <a:latin typeface="Times New Roman"/>
                          <a:ea typeface="Calibri"/>
                          <a:cs typeface="B Nazanin"/>
                        </a:rPr>
                        <a:t>ورودی‌ها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B Nazanin"/>
                        </a:rPr>
                        <a:t>I0 I1 I2 I3 I4</a:t>
                      </a:r>
                      <a:endParaRPr lang="en-US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a-IR" sz="1600">
                          <a:latin typeface="Times New Roman"/>
                          <a:ea typeface="Calibri"/>
                          <a:cs typeface="B Nazanin"/>
                        </a:rPr>
                        <a:t>کد حالت جاری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  <a:p>
                      <a:pPr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latin typeface="Times New Roman"/>
                          <a:ea typeface="Calibri"/>
                          <a:cs typeface="B Nazanin"/>
                        </a:rPr>
                        <a:t>S15 S14 …S0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a-IR" sz="1600">
                          <a:latin typeface="Times New Roman"/>
                          <a:ea typeface="Calibri"/>
                          <a:cs typeface="B Nazanin"/>
                        </a:rPr>
                        <a:t>حالت جاری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0000000000000001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0000000000000010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0001000000000000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xxx0x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0000000000000100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ST2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0000000000001000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ST3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0000000000010000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ST4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0000000000100000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ST5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0000000001000000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ST6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0001000000000000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xxxx1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0000000010000000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ST7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0000000100000000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ST8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0000001000000000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ST9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0000010000000000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0000100000000000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ST11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0001000000000000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x1xxx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0001000000000000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ST12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0010000000000000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ST13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0100000000000000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ST14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  <a:tr h="28424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0001000000000000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x10xx</a:t>
                      </a:r>
                      <a:endParaRPr lang="en-US" sz="1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1000000000000000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Lotus"/>
                        </a:rPr>
                        <a:t>ST15</a:t>
                      </a:r>
                      <a:endParaRPr lang="en-US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73950" marR="73950" marT="36966" marB="3696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pic>
        <p:nvPicPr>
          <p:cNvPr id="57441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438" y="1811338"/>
            <a:ext cx="2225675" cy="269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714375" y="1125538"/>
            <a:ext cx="8250238" cy="4946650"/>
          </a:xfrm>
        </p:spPr>
        <p:txBody>
          <a:bodyPr/>
          <a:lstStyle/>
          <a:p>
            <a:r>
              <a:rPr lang="fa-IR" altLang="en-US" sz="2800" smtClean="0"/>
              <a:t>کدام بهتر است؟</a:t>
            </a:r>
            <a:endParaRPr lang="en-US" altLang="en-US" sz="2800" smtClean="0"/>
          </a:p>
          <a:p>
            <a:pPr lvl="1"/>
            <a:r>
              <a:rPr lang="en-US" altLang="en-US" sz="2400" smtClean="0"/>
              <a:t>one-hot</a:t>
            </a:r>
            <a:r>
              <a:rPr lang="fa-IR" altLang="en-US" sz="2400" smtClean="0"/>
              <a:t>: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در </a:t>
            </a:r>
            <a:r>
              <a:rPr lang="en-US" altLang="en-US" smtClean="0">
                <a:sym typeface="Wingdings" panose="05000000000000000000" pitchFamily="2" charset="2"/>
              </a:rPr>
              <a:t>FPGA</a:t>
            </a:r>
            <a:r>
              <a:rPr lang="fa-IR" altLang="en-US" smtClean="0">
                <a:sym typeface="Wingdings" panose="05000000000000000000" pitchFamily="2" charset="2"/>
              </a:rPr>
              <a:t>، تعداد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ها زیاد، مدار ترکیبی به ازای هر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 کوچک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 </a:t>
            </a:r>
            <a:r>
              <a:rPr lang="en-US" altLang="en-US" smtClean="0">
                <a:sym typeface="Wingdings" panose="05000000000000000000" pitchFamily="2" charset="2"/>
              </a:rPr>
              <a:t>one-hot</a:t>
            </a:r>
            <a:r>
              <a:rPr lang="fa-IR" altLang="en-US" smtClean="0">
                <a:sym typeface="Wingdings" panose="05000000000000000000" pitchFamily="2" charset="2"/>
              </a:rPr>
              <a:t> برای </a:t>
            </a:r>
            <a:r>
              <a:rPr lang="en-US" altLang="en-US" smtClean="0">
                <a:sym typeface="Wingdings" panose="05000000000000000000" pitchFamily="2" charset="2"/>
              </a:rPr>
              <a:t>FPGA</a:t>
            </a:r>
            <a:r>
              <a:rPr lang="fa-IR" altLang="en-US" smtClean="0">
                <a:sym typeface="Wingdings" panose="05000000000000000000" pitchFamily="2" charset="2"/>
              </a:rPr>
              <a:t> مناسب‌تر</a:t>
            </a: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2928938"/>
            <a:ext cx="7110412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642938" y="1143000"/>
            <a:ext cx="8250237" cy="4946650"/>
          </a:xfrm>
        </p:spPr>
        <p:txBody>
          <a:bodyPr/>
          <a:lstStyle/>
          <a:p>
            <a:r>
              <a:rPr lang="fa-IR" altLang="en-US" sz="2800" smtClean="0"/>
              <a:t>کدام بهتر است؟</a:t>
            </a:r>
            <a:endParaRPr lang="en-US" altLang="en-US" sz="2800" smtClean="0"/>
          </a:p>
          <a:p>
            <a:pPr lvl="1"/>
            <a:r>
              <a:rPr lang="en-US" altLang="en-US" sz="2400" smtClean="0"/>
              <a:t>Sequential</a:t>
            </a:r>
            <a:r>
              <a:rPr lang="fa-IR" altLang="en-US" sz="2400" smtClean="0"/>
              <a:t> و </a:t>
            </a:r>
            <a:r>
              <a:rPr lang="en-US" altLang="en-US" sz="2400" smtClean="0"/>
              <a:t>gray</a:t>
            </a:r>
            <a:r>
              <a:rPr lang="fa-IR" altLang="en-US" sz="2400" smtClean="0"/>
              <a:t>: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در </a:t>
            </a:r>
            <a:r>
              <a:rPr lang="en-US" altLang="en-US" smtClean="0">
                <a:sym typeface="Wingdings" panose="05000000000000000000" pitchFamily="2" charset="2"/>
              </a:rPr>
              <a:t>CPLD</a:t>
            </a:r>
            <a:r>
              <a:rPr lang="fa-IR" altLang="en-US" smtClean="0">
                <a:sym typeface="Wingdings" panose="05000000000000000000" pitchFamily="2" charset="2"/>
              </a:rPr>
              <a:t>، تعداد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ها کم، مدار ترکیبی به ازای هر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 بزرگ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 </a:t>
            </a:r>
            <a:r>
              <a:rPr lang="en-US" altLang="en-US" smtClean="0">
                <a:sym typeface="Wingdings" panose="05000000000000000000" pitchFamily="2" charset="2"/>
              </a:rPr>
              <a:t>sequential</a:t>
            </a:r>
            <a:r>
              <a:rPr lang="fa-IR" altLang="en-US" smtClean="0">
                <a:sym typeface="Wingdings" panose="05000000000000000000" pitchFamily="2" charset="2"/>
              </a:rPr>
              <a:t> و </a:t>
            </a:r>
            <a:r>
              <a:rPr lang="en-US" altLang="en-US" smtClean="0">
                <a:sym typeface="Wingdings" panose="05000000000000000000" pitchFamily="2" charset="2"/>
              </a:rPr>
              <a:t>gray</a:t>
            </a:r>
            <a:r>
              <a:rPr lang="fa-IR" altLang="en-US" smtClean="0">
                <a:sym typeface="Wingdings" panose="05000000000000000000" pitchFamily="2" charset="2"/>
              </a:rPr>
              <a:t> برای </a:t>
            </a:r>
            <a:r>
              <a:rPr lang="en-US" altLang="en-US" smtClean="0">
                <a:sym typeface="Wingdings" panose="05000000000000000000" pitchFamily="2" charset="2"/>
              </a:rPr>
              <a:t>CPLD</a:t>
            </a:r>
            <a:r>
              <a:rPr lang="fa-IR" altLang="en-US" smtClean="0">
                <a:sym typeface="Wingdings" panose="05000000000000000000" pitchFamily="2" charset="2"/>
              </a:rPr>
              <a:t> مناسب‌تر</a:t>
            </a: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  <p:pic>
        <p:nvPicPr>
          <p:cNvPr id="5939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3143250"/>
            <a:ext cx="3500438" cy="324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642938" y="1143000"/>
            <a:ext cx="8250237" cy="4946650"/>
          </a:xfrm>
        </p:spPr>
        <p:txBody>
          <a:bodyPr/>
          <a:lstStyle/>
          <a:p>
            <a:r>
              <a:rPr lang="fa-IR" altLang="en-US" sz="2800" smtClean="0"/>
              <a:t>کدام بهتر است؟</a:t>
            </a:r>
            <a:endParaRPr lang="en-US" altLang="en-US" sz="2800" smtClean="0"/>
          </a:p>
          <a:p>
            <a:pPr lvl="1"/>
            <a:r>
              <a:rPr lang="en-US" altLang="en-US" sz="2400" smtClean="0"/>
              <a:t>one-hot</a:t>
            </a:r>
            <a:r>
              <a:rPr lang="fa-IR" altLang="en-US" sz="2400" smtClean="0"/>
              <a:t>: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مدارهای ترکیبی کوچک  تأخیر بین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ها: کم  فرکانس کلاک بالاتر</a:t>
            </a: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4572000" y="928688"/>
            <a:ext cx="4321175" cy="4946650"/>
          </a:xfrm>
        </p:spPr>
        <p:txBody>
          <a:bodyPr/>
          <a:lstStyle/>
          <a:p>
            <a:r>
              <a:rPr lang="fa-IR" altLang="en-US" sz="2800" smtClean="0"/>
              <a:t>کدام بهتر است؟</a:t>
            </a:r>
            <a:endParaRPr lang="en-US" altLang="en-US" sz="2800" smtClean="0"/>
          </a:p>
          <a:p>
            <a:pPr lvl="1"/>
            <a:r>
              <a:rPr lang="en-US" altLang="en-US" sz="2400" smtClean="0"/>
              <a:t>gray</a:t>
            </a:r>
            <a:r>
              <a:rPr lang="fa-IR" altLang="en-US" sz="2400" smtClean="0"/>
              <a:t> (در برابر </a:t>
            </a:r>
            <a:r>
              <a:rPr lang="en-US" altLang="en-US" sz="2400" smtClean="0"/>
              <a:t>sequential</a:t>
            </a:r>
            <a:r>
              <a:rPr lang="fa-IR" altLang="en-US" sz="2400" smtClean="0"/>
              <a:t>):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برای </a:t>
            </a:r>
            <a:r>
              <a:rPr lang="en-US" altLang="en-US" smtClean="0">
                <a:sym typeface="Wingdings" panose="05000000000000000000" pitchFamily="2" charset="2"/>
              </a:rPr>
              <a:t>FSM</a:t>
            </a:r>
            <a:r>
              <a:rPr lang="fa-IR" altLang="en-US" smtClean="0">
                <a:sym typeface="Wingdings" panose="05000000000000000000" pitchFamily="2" charset="2"/>
              </a:rPr>
              <a:t>های با ترتیب مشخص (مثل شمارنده)، انتخاب مناسب کد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 تغییر کمتر بیت‌ها 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 توان مصرفی کمتر</a:t>
            </a: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  <p:pic>
        <p:nvPicPr>
          <p:cNvPr id="61444" name="Picture 3" descr="fig7_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1760538"/>
            <a:ext cx="4441825" cy="434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4572000" y="928688"/>
            <a:ext cx="4321175" cy="4946650"/>
          </a:xfrm>
        </p:spPr>
        <p:txBody>
          <a:bodyPr/>
          <a:lstStyle/>
          <a:p>
            <a:r>
              <a:rPr lang="fa-IR" altLang="en-US" sz="2800" smtClean="0"/>
              <a:t>کدام بهتر است؟</a:t>
            </a:r>
            <a:endParaRPr lang="en-US" altLang="en-US" sz="2800" smtClean="0"/>
          </a:p>
          <a:p>
            <a:pPr lvl="1"/>
            <a:r>
              <a:rPr lang="en-US" altLang="en-US" sz="2400" smtClean="0"/>
              <a:t>johnson</a:t>
            </a:r>
            <a:r>
              <a:rPr lang="fa-IR" altLang="en-US" sz="2400" smtClean="0"/>
              <a:t>: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مانند </a:t>
            </a:r>
            <a:r>
              <a:rPr lang="en-US" altLang="en-US" smtClean="0">
                <a:sym typeface="Wingdings" panose="05000000000000000000" pitchFamily="2" charset="2"/>
              </a:rPr>
              <a:t>gray</a:t>
            </a:r>
            <a:r>
              <a:rPr lang="fa-IR" altLang="en-US" smtClean="0">
                <a:sym typeface="Wingdings" panose="05000000000000000000" pitchFamily="2" charset="2"/>
              </a:rPr>
              <a:t>، یک تغییر در هر بیت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تعداد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 بیشتر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مدار ترکیبی کوچک‌تر از </a:t>
            </a:r>
            <a:r>
              <a:rPr lang="en-US" altLang="en-US" smtClean="0">
                <a:sym typeface="Wingdings" panose="05000000000000000000" pitchFamily="2" charset="2"/>
              </a:rPr>
              <a:t>gray</a:t>
            </a:r>
            <a:endParaRPr lang="fa-IR" altLang="en-US" smtClean="0">
              <a:sym typeface="Wingdings" panose="05000000000000000000" pitchFamily="2" charset="2"/>
            </a:endParaRP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928688" y="928688"/>
            <a:ext cx="7964487" cy="4946650"/>
          </a:xfrm>
        </p:spPr>
        <p:txBody>
          <a:bodyPr/>
          <a:lstStyle/>
          <a:p>
            <a:r>
              <a:rPr lang="fa-IR" altLang="en-US" sz="2800" smtClean="0"/>
              <a:t>کدام بهتر است؟</a:t>
            </a:r>
            <a:endParaRPr lang="en-US" altLang="en-US" sz="2800" smtClean="0"/>
          </a:p>
          <a:p>
            <a:pPr lvl="1"/>
            <a:r>
              <a:rPr lang="en-US" altLang="en-US" sz="2400" smtClean="0"/>
              <a:t>one-hot</a:t>
            </a:r>
            <a:r>
              <a:rPr lang="fa-IR" altLang="en-US" sz="2400" smtClean="0"/>
              <a:t> در برابر </a:t>
            </a:r>
            <a:r>
              <a:rPr lang="en-US" altLang="en-US" sz="2400" smtClean="0"/>
              <a:t>sequential</a:t>
            </a:r>
            <a:r>
              <a:rPr lang="fa-IR" altLang="en-US" sz="2400" smtClean="0"/>
              <a:t> از نظر توان مصرفی:</a:t>
            </a:r>
          </a:p>
          <a:p>
            <a:pPr lvl="2"/>
            <a:r>
              <a:rPr lang="en-US" altLang="en-US" smtClean="0">
                <a:sym typeface="Wingdings" panose="05000000000000000000" pitchFamily="2" charset="2"/>
              </a:rPr>
              <a:t>one-hot</a:t>
            </a:r>
            <a:r>
              <a:rPr lang="fa-IR" altLang="en-US" smtClean="0">
                <a:sym typeface="Wingdings" panose="05000000000000000000" pitchFamily="2" charset="2"/>
              </a:rPr>
              <a:t> دو تغییر بیت در هر گونه تغییر حالت</a:t>
            </a:r>
          </a:p>
          <a:p>
            <a:pPr lvl="3"/>
            <a:r>
              <a:rPr lang="fa-IR" altLang="en-US" smtClean="0">
                <a:sym typeface="Wingdings" panose="05000000000000000000" pitchFamily="2" charset="2"/>
              </a:rPr>
              <a:t> توان کمتر از </a:t>
            </a:r>
            <a:r>
              <a:rPr lang="en-US" altLang="en-US" smtClean="0">
                <a:sym typeface="Wingdings" panose="05000000000000000000" pitchFamily="2" charset="2"/>
              </a:rPr>
              <a:t>sequential</a:t>
            </a:r>
            <a:endParaRPr lang="fa-IR" altLang="en-US" smtClean="0">
              <a:sym typeface="Wingdings" panose="05000000000000000000" pitchFamily="2" charset="2"/>
            </a:endParaRPr>
          </a:p>
          <a:p>
            <a:pPr lvl="2"/>
            <a:r>
              <a:rPr lang="en-US" altLang="en-US" smtClean="0">
                <a:sym typeface="Wingdings" panose="05000000000000000000" pitchFamily="2" charset="2"/>
              </a:rPr>
              <a:t>one-hot</a:t>
            </a:r>
            <a:r>
              <a:rPr lang="fa-IR" altLang="en-US" smtClean="0">
                <a:sym typeface="Wingdings" panose="05000000000000000000" pitchFamily="2" charset="2"/>
              </a:rPr>
              <a:t>: تعداد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 بیشتر و مدارهای ترکیبی بیشتر از </a:t>
            </a:r>
            <a:r>
              <a:rPr lang="en-US" altLang="en-US" smtClean="0">
                <a:sym typeface="Wingdings" panose="05000000000000000000" pitchFamily="2" charset="2"/>
              </a:rPr>
              <a:t>sequential</a:t>
            </a:r>
            <a:endParaRPr lang="fa-IR" altLang="en-US" smtClean="0">
              <a:sym typeface="Wingdings" panose="05000000000000000000" pitchFamily="2" charset="2"/>
            </a:endParaRPr>
          </a:p>
          <a:p>
            <a:pPr lvl="3"/>
            <a:r>
              <a:rPr lang="fa-IR" altLang="en-US" smtClean="0">
                <a:sym typeface="Wingdings" panose="05000000000000000000" pitchFamily="2" charset="2"/>
              </a:rPr>
              <a:t> توان بیشتر از </a:t>
            </a:r>
            <a:r>
              <a:rPr lang="en-US" altLang="en-US" smtClean="0">
                <a:sym typeface="Wingdings" panose="05000000000000000000" pitchFamily="2" charset="2"/>
              </a:rPr>
              <a:t>sequential</a:t>
            </a:r>
            <a:endParaRPr lang="fa-IR" altLang="en-US" smtClean="0">
              <a:sym typeface="Wingdings" panose="05000000000000000000" pitchFamily="2" charset="2"/>
            </a:endParaRP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 باید با ابزارهای تحلیل توان بررسی کرد</a:t>
            </a: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928688" y="928688"/>
            <a:ext cx="7964487" cy="4946650"/>
          </a:xfrm>
        </p:spPr>
        <p:txBody>
          <a:bodyPr/>
          <a:lstStyle/>
          <a:p>
            <a:r>
              <a:rPr lang="fa-IR" altLang="en-US" sz="2800" smtClean="0"/>
              <a:t>کدام بهتر است؟</a:t>
            </a:r>
            <a:endParaRPr lang="en-US" altLang="en-US" sz="2800" smtClean="0"/>
          </a:p>
          <a:p>
            <a:pPr lvl="1"/>
            <a:r>
              <a:rPr lang="en-US" altLang="en-US" sz="2400" smtClean="0"/>
              <a:t>one-hot</a:t>
            </a:r>
            <a:r>
              <a:rPr lang="fa-IR" altLang="en-US" sz="2400" smtClean="0"/>
              <a:t> در برابر </a:t>
            </a:r>
            <a:r>
              <a:rPr lang="en-US" altLang="en-US" sz="2400" smtClean="0"/>
              <a:t>gray</a:t>
            </a:r>
            <a:r>
              <a:rPr lang="fa-IR" altLang="en-US" sz="2400" smtClean="0"/>
              <a:t> از نظر توان مصرفی:</a:t>
            </a:r>
          </a:p>
          <a:p>
            <a:pPr lvl="2"/>
            <a:r>
              <a:rPr lang="en-US" altLang="en-US" smtClean="0">
                <a:sym typeface="Wingdings" panose="05000000000000000000" pitchFamily="2" charset="2"/>
              </a:rPr>
              <a:t>one-hot</a:t>
            </a:r>
            <a:r>
              <a:rPr lang="fa-IR" altLang="en-US" smtClean="0">
                <a:sym typeface="Wingdings" panose="05000000000000000000" pitchFamily="2" charset="2"/>
              </a:rPr>
              <a:t> دو تغییر بیت در هر گونه تغییر حالت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اما نیازی به ترتیب مشخص تغییر حالت‌ها ندارد</a:t>
            </a:r>
          </a:p>
          <a:p>
            <a:pPr lvl="2">
              <a:buFont typeface="Arial" panose="020B0604020202020204" pitchFamily="34" charset="0"/>
              <a:buNone/>
            </a:pPr>
            <a:endParaRPr lang="fa-IR" altLang="en-US" smtClean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611188" y="476250"/>
            <a:ext cx="7908925" cy="444500"/>
          </a:xfrm>
        </p:spPr>
        <p:txBody>
          <a:bodyPr/>
          <a:lstStyle/>
          <a:p>
            <a:pPr rtl="1"/>
            <a:r>
              <a:rPr lang="fa-IR" altLang="en-US" smtClean="0"/>
              <a:t>انتخاب نوع کدهای حالت</a:t>
            </a:r>
            <a:endParaRPr lang="en-US" altLang="en-US" smtClean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928688" y="928688"/>
            <a:ext cx="7964487" cy="4946650"/>
          </a:xfrm>
        </p:spPr>
        <p:txBody>
          <a:bodyPr/>
          <a:lstStyle/>
          <a:p>
            <a:r>
              <a:rPr lang="fa-IR" altLang="en-US" sz="2800" smtClean="0"/>
              <a:t>کدام بهتر است؟</a:t>
            </a:r>
            <a:endParaRPr lang="en-US" altLang="en-US" sz="2800" smtClean="0"/>
          </a:p>
          <a:p>
            <a:pPr lvl="1"/>
            <a:r>
              <a:rPr lang="fa-IR" altLang="en-US" smtClean="0">
                <a:sym typeface="Wingdings" panose="05000000000000000000" pitchFamily="2" charset="2"/>
              </a:rPr>
              <a:t>مقایسه از نظر خطاهای ناشی از تشعشعات:</a:t>
            </a:r>
          </a:p>
          <a:p>
            <a:pPr lvl="2"/>
            <a:r>
              <a:rPr lang="en-US" altLang="en-US" smtClean="0">
                <a:sym typeface="Wingdings" panose="05000000000000000000" pitchFamily="2" charset="2"/>
              </a:rPr>
              <a:t>Soft error</a:t>
            </a:r>
            <a:r>
              <a:rPr lang="fa-IR" altLang="en-US" smtClean="0">
                <a:sym typeface="Wingdings" panose="05000000000000000000" pitchFamily="2" charset="2"/>
              </a:rPr>
              <a:t>: باعث تغییر مقدار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ها می‌شود</a:t>
            </a:r>
          </a:p>
          <a:p>
            <a:pPr lvl="1"/>
            <a:r>
              <a:rPr lang="en-US" altLang="en-US" smtClean="0">
                <a:sym typeface="Wingdings" panose="05000000000000000000" pitchFamily="2" charset="2"/>
              </a:rPr>
              <a:t>one-hot</a:t>
            </a:r>
            <a:r>
              <a:rPr lang="fa-IR" altLang="en-US" smtClean="0">
                <a:sym typeface="Wingdings" panose="05000000000000000000" pitchFamily="2" charset="2"/>
              </a:rPr>
              <a:t>: 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تعداد </a:t>
            </a:r>
            <a:r>
              <a:rPr lang="en-US" altLang="en-US" smtClean="0">
                <a:sym typeface="Wingdings" panose="05000000000000000000" pitchFamily="2" charset="2"/>
              </a:rPr>
              <a:t>FF</a:t>
            </a:r>
            <a:r>
              <a:rPr lang="fa-IR" altLang="en-US" smtClean="0">
                <a:sym typeface="Wingdings" panose="05000000000000000000" pitchFamily="2" charset="2"/>
              </a:rPr>
              <a:t> بیشتر  احتمال خطای بیشتر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اما قابل تشخیص:</a:t>
            </a:r>
          </a:p>
          <a:p>
            <a:pPr lvl="3"/>
            <a:r>
              <a:rPr lang="en-US" altLang="en-US" smtClean="0">
                <a:sym typeface="Wingdings" panose="05000000000000000000" pitchFamily="2" charset="2"/>
              </a:rPr>
              <a:t>0010000000</a:t>
            </a:r>
            <a:r>
              <a:rPr lang="fa-IR" altLang="en-US" smtClean="0">
                <a:sym typeface="Wingdings" panose="05000000000000000000" pitchFamily="2" charset="2"/>
              </a:rPr>
              <a:t> به </a:t>
            </a:r>
            <a:r>
              <a:rPr lang="en-US" altLang="en-US" smtClean="0">
                <a:sym typeface="Wingdings" panose="05000000000000000000" pitchFamily="2" charset="2"/>
              </a:rPr>
              <a:t>0010001000</a:t>
            </a:r>
          </a:p>
          <a:p>
            <a:pPr lvl="3"/>
            <a:r>
              <a:rPr lang="fa-IR" altLang="en-US" smtClean="0">
                <a:sym typeface="Wingdings" panose="05000000000000000000" pitchFamily="2" charset="2"/>
              </a:rPr>
              <a:t>در کد </a:t>
            </a:r>
            <a:r>
              <a:rPr lang="en-US" altLang="en-US" smtClean="0">
                <a:sym typeface="Wingdings" panose="05000000000000000000" pitchFamily="2" charset="2"/>
              </a:rPr>
              <a:t>VHDL</a:t>
            </a:r>
            <a:r>
              <a:rPr lang="fa-IR" altLang="en-US" smtClean="0">
                <a:sym typeface="Wingdings" panose="05000000000000000000" pitchFamily="2" charset="2"/>
              </a:rPr>
              <a:t>: با </a:t>
            </a:r>
            <a:r>
              <a:rPr lang="en-US" altLang="en-US" smtClean="0">
                <a:sym typeface="Wingdings" panose="05000000000000000000" pitchFamily="2" charset="2"/>
              </a:rPr>
              <a:t>when others</a:t>
            </a:r>
            <a:endParaRPr lang="fa-IR" altLang="en-US" smtClean="0">
              <a:sym typeface="Wingdings" panose="05000000000000000000" pitchFamily="2" charset="2"/>
            </a:endParaRPr>
          </a:p>
          <a:p>
            <a:pPr lvl="2"/>
            <a:endParaRPr lang="fa-IR" altLang="en-US" smtClean="0"/>
          </a:p>
          <a:p>
            <a:pPr lvl="2"/>
            <a:endParaRPr lang="en-US" altLang="en-US" smtClean="0"/>
          </a:p>
          <a:p>
            <a:endParaRPr lang="fa-IR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24259</TotalTime>
  <Words>3632</Words>
  <Application>Microsoft Office PowerPoint</Application>
  <PresentationFormat>On-screen Show (4:3)</PresentationFormat>
  <Paragraphs>915</Paragraphs>
  <Slides>57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Arial</vt:lpstr>
      <vt:lpstr>B Mitra</vt:lpstr>
      <vt:lpstr>B Nazanin</vt:lpstr>
      <vt:lpstr>B Titr</vt:lpstr>
      <vt:lpstr>Calibri</vt:lpstr>
      <vt:lpstr>Courier New</vt:lpstr>
      <vt:lpstr>Lotus</vt:lpstr>
      <vt:lpstr>Times New Roman</vt:lpstr>
      <vt:lpstr>Wingdings</vt:lpstr>
      <vt:lpstr>1_presentation_template</vt:lpstr>
      <vt:lpstr>Custom Design</vt:lpstr>
      <vt:lpstr>توصیف VHDL قابل سنتز</vt:lpstr>
      <vt:lpstr>کد قابل سنتز</vt:lpstr>
      <vt:lpstr>کد قابل سنتز</vt:lpstr>
      <vt:lpstr>نیاز به کد رفتاری</vt:lpstr>
      <vt:lpstr>انواع داده</vt:lpstr>
      <vt:lpstr>انواع داده</vt:lpstr>
      <vt:lpstr>دستورها</vt:lpstr>
      <vt:lpstr>دستورها</vt:lpstr>
      <vt:lpstr>عملگرها</vt:lpstr>
      <vt:lpstr>عملگرها</vt:lpstr>
      <vt:lpstr>توصیف سنتزپذیر RTL</vt:lpstr>
      <vt:lpstr>توصیف مدارهای ترکیبی</vt:lpstr>
      <vt:lpstr>توصیف مدارهای ترکیبی</vt:lpstr>
      <vt:lpstr>توصیف مدارهای ترکیبی</vt:lpstr>
      <vt:lpstr>توصیف مدارهای ترتیبی</vt:lpstr>
      <vt:lpstr>توصیف مدارهای ترتیبی</vt:lpstr>
      <vt:lpstr>توصیف مدارهای ترتیبی</vt:lpstr>
      <vt:lpstr>توصیف مدارهای ترتیبی</vt:lpstr>
      <vt:lpstr>توصیف ماشین حالت متناهی</vt:lpstr>
      <vt:lpstr>توصیف ماشین حالت متناهی</vt:lpstr>
      <vt:lpstr>توصیف ماشین حالت متناهی</vt:lpstr>
      <vt:lpstr>توصیف ماشین حالت متناهی</vt:lpstr>
      <vt:lpstr>توصیف ماشین حالت متناهی</vt:lpstr>
      <vt:lpstr>توصیف ماشین حالت متناهی</vt:lpstr>
      <vt:lpstr>توصیف ماشین حالت متناهی</vt:lpstr>
      <vt:lpstr>مثال: ماشین فروش شکلات</vt:lpstr>
      <vt:lpstr>ماشین فروش شکلات</vt:lpstr>
      <vt:lpstr>ماشین فروش شکلات</vt:lpstr>
      <vt:lpstr>ماشین فروش شکلات</vt:lpstr>
      <vt:lpstr>ماشین فروش شکلات</vt:lpstr>
      <vt:lpstr>ماشین فروش شکلات</vt:lpstr>
      <vt:lpstr>ماشین فروش شکلات</vt:lpstr>
      <vt:lpstr>توصیف ماشین حالت متناهی</vt:lpstr>
      <vt:lpstr>توصیف ماشین حالت متناهی</vt:lpstr>
      <vt:lpstr>تفاوت انواع توصیف FSM</vt:lpstr>
      <vt:lpstr>کلاس جبرانی دوم</vt:lpstr>
      <vt:lpstr>PowerPoint Presentation</vt:lpstr>
      <vt:lpstr>انتساب کد حالات</vt:lpstr>
      <vt:lpstr>انتساب کد حالات</vt:lpstr>
      <vt:lpstr>انتساب کد حالات</vt:lpstr>
      <vt:lpstr>انتساب کد حالات</vt:lpstr>
      <vt:lpstr>انتساب کد حالات</vt:lpstr>
      <vt:lpstr>انواع کدهای حالت</vt:lpstr>
      <vt:lpstr>انواع کدهای حالت</vt:lpstr>
      <vt:lpstr>انواع کدهای حالت</vt:lpstr>
      <vt:lpstr>انواع کدهای حالت</vt:lpstr>
      <vt:lpstr>انتخاب نوع کدهای حالت</vt:lpstr>
      <vt:lpstr>انتخاب نوع کدهای حالت</vt:lpstr>
      <vt:lpstr>انتخاب نوع کدهای حالت</vt:lpstr>
      <vt:lpstr>انتخاب نوع کدهای حالت</vt:lpstr>
      <vt:lpstr>انتخاب نوع کدهای حالت</vt:lpstr>
      <vt:lpstr>انتخاب نوع کدهای حالت</vt:lpstr>
      <vt:lpstr>انتخاب نوع کدهای حالت</vt:lpstr>
      <vt:lpstr>انتخاب نوع کدهای حالت</vt:lpstr>
      <vt:lpstr>انتخاب نوع کدهای حالت</vt:lpstr>
      <vt:lpstr>انتخاب نوع کدهای حالت</vt:lpstr>
      <vt:lpstr>انتخاب نوع کدهای حالت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994</cp:revision>
  <dcterms:created xsi:type="dcterms:W3CDTF">1601-01-01T00:00:00Z</dcterms:created>
  <dcterms:modified xsi:type="dcterms:W3CDTF">2024-04-14T18:04:21Z</dcterms:modified>
</cp:coreProperties>
</file>