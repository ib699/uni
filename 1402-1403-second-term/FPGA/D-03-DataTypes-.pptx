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34"/>
  </p:notesMasterIdLst>
  <p:sldIdLst>
    <p:sldId id="256" r:id="rId3"/>
    <p:sldId id="376" r:id="rId4"/>
    <p:sldId id="414" r:id="rId5"/>
    <p:sldId id="415" r:id="rId6"/>
    <p:sldId id="416" r:id="rId7"/>
    <p:sldId id="417" r:id="rId8"/>
    <p:sldId id="413" r:id="rId9"/>
    <p:sldId id="420" r:id="rId10"/>
    <p:sldId id="419" r:id="rId11"/>
    <p:sldId id="421" r:id="rId12"/>
    <p:sldId id="422" r:id="rId13"/>
    <p:sldId id="423" r:id="rId14"/>
    <p:sldId id="424" r:id="rId15"/>
    <p:sldId id="426" r:id="rId16"/>
    <p:sldId id="425" r:id="rId17"/>
    <p:sldId id="427" r:id="rId18"/>
    <p:sldId id="418" r:id="rId19"/>
    <p:sldId id="446" r:id="rId20"/>
    <p:sldId id="429" r:id="rId21"/>
    <p:sldId id="443" r:id="rId22"/>
    <p:sldId id="444" r:id="rId23"/>
    <p:sldId id="447" r:id="rId24"/>
    <p:sldId id="430" r:id="rId25"/>
    <p:sldId id="431" r:id="rId26"/>
    <p:sldId id="445" r:id="rId27"/>
    <p:sldId id="432" r:id="rId28"/>
    <p:sldId id="433" r:id="rId29"/>
    <p:sldId id="434" r:id="rId30"/>
    <p:sldId id="436" r:id="rId31"/>
    <p:sldId id="438" r:id="rId32"/>
    <p:sldId id="439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33CC"/>
    <a:srgbClr val="CC6600"/>
    <a:srgbClr val="669900"/>
    <a:srgbClr val="CCFFCC"/>
    <a:srgbClr val="99000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53" autoAdjust="0"/>
    <p:restoredTop sz="93436" autoAdjust="0"/>
  </p:normalViewPr>
  <p:slideViewPr>
    <p:cSldViewPr showGuides="1">
      <p:cViewPr varScale="1">
        <p:scale>
          <a:sx n="61" d="100"/>
          <a:sy n="61" d="100"/>
        </p:scale>
        <p:origin x="401" y="29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-12703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EF244BB-532A-44D9-8926-8803339588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0766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C7E2F98-6EDA-4CC6-8605-E3C21E787853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561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65374BF-FD3E-4D78-8561-CB053DEFB7F9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986822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A3058F2-4E64-4CAB-BFE1-D6484B023548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148178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37C1C5F-E3B6-4774-956B-7E78D0249630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65473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0D5A30C-C272-4A3F-8C85-589F591A905B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486357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2CEF000-5CC5-4CE8-B9A7-2B1386EEFB87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740957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5956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ED2D7-39EB-488B-8D28-808D1F2FAD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54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30F83-AAB5-47DC-A088-FB5FD2D1DD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442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3922D-1532-4356-835A-EC9AAA1E84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590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DB8950-8F5F-483D-8B6B-471BEF597E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39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09435A-E43C-4E57-A583-6CAEEDEDA1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00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FE0B3-398B-4114-84AF-DD320FCA03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919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A226A-FE91-4459-896D-595380B2EE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881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65D7D-7219-4EA7-9404-1718FA80D5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4067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2F476-EE80-4B13-A002-A7F74C6876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06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C63D4-F4D9-4C34-9DD7-1074BA182E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01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A8C28-B88B-4F5C-91CA-74BCEBC5EF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6841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A5307-1A83-41BB-AB27-D0E19CC89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989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A809B-BAFE-4943-AC51-4AD345EEC7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126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EAE57-A945-4E69-88E3-41210309A7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9307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61CDC-5DE7-4DE9-B01F-BB9BE3F304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8795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132CD-DA8F-4140-81C7-D7652802CA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9816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EC5524-AB30-4634-981D-ED786FCDD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647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7BB96-FA12-4ABD-9948-D2293CD312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107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0638E-9EC6-4697-8670-073DF2E223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168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FA39E6-6D1B-4EE9-BC5E-0F71D6FAEE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33807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B3088-9C7D-4614-9404-1E7FDAE4D4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81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281CB67-200D-4CD1-845E-EF1EDD7B6C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4" r:id="rId1"/>
    <p:sldLayoutId id="2147485103" r:id="rId2"/>
    <p:sldLayoutId id="2147485104" r:id="rId3"/>
    <p:sldLayoutId id="2147485105" r:id="rId4"/>
    <p:sldLayoutId id="2147485106" r:id="rId5"/>
    <p:sldLayoutId id="2147485107" r:id="rId6"/>
    <p:sldLayoutId id="2147485108" r:id="rId7"/>
    <p:sldLayoutId id="2147485109" r:id="rId8"/>
    <p:sldLayoutId id="2147485110" r:id="rId9"/>
    <p:sldLayoutId id="2147485111" r:id="rId10"/>
    <p:sldLayoutId id="2147485112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DC350FE-D722-4233-8C7C-5BCAD9D708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13" r:id="rId1"/>
    <p:sldLayoutId id="2147485114" r:id="rId2"/>
    <p:sldLayoutId id="2147485115" r:id="rId3"/>
    <p:sldLayoutId id="2147485116" r:id="rId4"/>
    <p:sldLayoutId id="2147485117" r:id="rId5"/>
    <p:sldLayoutId id="2147485118" r:id="rId6"/>
    <p:sldLayoutId id="2147485119" r:id="rId7"/>
    <p:sldLayoutId id="2147485120" r:id="rId8"/>
    <p:sldLayoutId id="2147485121" r:id="rId9"/>
    <p:sldLayoutId id="2147485122" r:id="rId10"/>
    <p:sldLayoutId id="214748512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dirty="0" smtClean="0"/>
              <a:t>انواع داده</a:t>
            </a:r>
            <a:endParaRPr lang="en-US" altLang="en-US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dirty="0" smtClean="0"/>
              <a:t>Data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539750" y="1000125"/>
            <a:ext cx="8032750" cy="5214938"/>
          </a:xfrm>
        </p:spPr>
        <p:txBody>
          <a:bodyPr/>
          <a:lstStyle/>
          <a:p>
            <a:pPr>
              <a:defRPr/>
            </a:pPr>
            <a:r>
              <a:rPr lang="fa-IR" altLang="en-US" dirty="0"/>
              <a:t>انواع داده در پکیج </a:t>
            </a:r>
            <a:r>
              <a:rPr lang="en-US" altLang="en-US" dirty="0"/>
              <a:t>standard:</a:t>
            </a:r>
            <a:r>
              <a:rPr lang="fa-IR" altLang="en-US" dirty="0" smtClean="0"/>
              <a:t>:</a:t>
            </a:r>
          </a:p>
          <a:p>
            <a:pPr lvl="1">
              <a:defRPr/>
            </a:pPr>
            <a:r>
              <a:rPr lang="en-US" altLang="en-US" dirty="0" smtClean="0"/>
              <a:t>bit</a:t>
            </a:r>
            <a:r>
              <a:rPr lang="fa-IR" altLang="en-US" dirty="0" smtClean="0"/>
              <a:t> و </a:t>
            </a:r>
            <a:r>
              <a:rPr lang="en-US" altLang="en-US" dirty="0" err="1" smtClean="0"/>
              <a:t>bit_vector</a:t>
            </a:r>
            <a:r>
              <a:rPr lang="fa-IR" altLang="en-US" dirty="0" smtClean="0"/>
              <a:t>:</a:t>
            </a:r>
            <a:endParaRPr lang="en-US" altLang="en-US" dirty="0" smtClean="0"/>
          </a:p>
          <a:p>
            <a:pPr lvl="1">
              <a:defRPr/>
            </a:pPr>
            <a:r>
              <a:rPr lang="en-US" altLang="en-US" dirty="0" smtClean="0"/>
              <a:t>integer</a:t>
            </a:r>
            <a:r>
              <a:rPr lang="fa-IR" altLang="en-US" dirty="0" smtClean="0"/>
              <a:t>:</a:t>
            </a:r>
          </a:p>
          <a:p>
            <a:pPr lvl="2">
              <a:defRPr/>
            </a:pPr>
            <a:r>
              <a:rPr lang="fa-IR" altLang="en-US" dirty="0" smtClean="0"/>
              <a:t> برای کارهای محاسباتی صحیح</a:t>
            </a:r>
          </a:p>
          <a:p>
            <a:pPr lvl="1">
              <a:defRPr/>
            </a:pPr>
            <a:endParaRPr lang="en-US" altLang="en-US" dirty="0" smtClean="0"/>
          </a:p>
          <a:p>
            <a:pPr lvl="1">
              <a:defRPr/>
            </a:pPr>
            <a:r>
              <a:rPr lang="en-US" altLang="en-US" dirty="0" err="1" smtClean="0"/>
              <a:t>boolean</a:t>
            </a:r>
            <a:r>
              <a:rPr lang="fa-IR" altLang="en-US" dirty="0" smtClean="0"/>
              <a:t>:</a:t>
            </a:r>
          </a:p>
          <a:p>
            <a:pPr lvl="2">
              <a:defRPr/>
            </a:pPr>
            <a:r>
              <a:rPr lang="fa-IR" altLang="en-US" dirty="0"/>
              <a:t> </a:t>
            </a:r>
            <a:r>
              <a:rPr lang="fa-IR" altLang="en-US" dirty="0" smtClean="0"/>
              <a:t>برای کارهای منطقی و شرط‌ها (مانند گزاره‌های منطقی، مقایسه)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a-IR" altLang="en-US" dirty="0" smtClean="0"/>
          </a:p>
          <a:p>
            <a:pPr lvl="3">
              <a:defRPr/>
            </a:pPr>
            <a:endParaRPr lang="fa-IR" altLang="en-US" dirty="0" smtClean="0"/>
          </a:p>
          <a:p>
            <a:pPr lvl="2">
              <a:defRPr/>
            </a:pPr>
            <a:endParaRPr lang="en-US" altLang="en-US" dirty="0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7516AE8-BACA-43DE-98C6-9C92C83841E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197" name="Rectangle 2"/>
          <p:cNvSpPr>
            <a:spLocks noChangeArrowheads="1"/>
          </p:cNvSpPr>
          <p:nvPr/>
        </p:nvSpPr>
        <p:spPr bwMode="auto">
          <a:xfrm>
            <a:off x="468313" y="3141663"/>
            <a:ext cx="6551612" cy="3381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integer is range -2147483647 to 2147483647;</a:t>
            </a:r>
          </a:p>
        </p:txBody>
      </p:sp>
      <p:sp>
        <p:nvSpPr>
          <p:cNvPr id="8198" name="Rectangle 2"/>
          <p:cNvSpPr>
            <a:spLocks noChangeArrowheads="1"/>
          </p:cNvSpPr>
          <p:nvPr/>
        </p:nvSpPr>
        <p:spPr bwMode="auto">
          <a:xfrm>
            <a:off x="468313" y="5178425"/>
            <a:ext cx="4032250" cy="3381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(false, true);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39750" y="1000125"/>
            <a:ext cx="8032750" cy="5214938"/>
          </a:xfrm>
        </p:spPr>
        <p:txBody>
          <a:bodyPr/>
          <a:lstStyle/>
          <a:p>
            <a:pPr lvl="1"/>
            <a:r>
              <a:rPr lang="en-US" altLang="en-US" smtClean="0"/>
              <a:t>character</a:t>
            </a:r>
            <a:r>
              <a:rPr lang="fa-IR" altLang="en-US" smtClean="0"/>
              <a:t>:</a:t>
            </a:r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r>
              <a:rPr lang="en-US" altLang="en-US" smtClean="0"/>
              <a:t>string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endParaRPr lang="en-US" altLang="en-US" smtClean="0"/>
          </a:p>
          <a:p>
            <a:pPr lvl="2"/>
            <a:r>
              <a:rPr lang="fa-IR" altLang="en-US" smtClean="0"/>
              <a:t>در میان دو گیومه:     </a:t>
            </a:r>
            <a:r>
              <a:rPr lang="en-US" altLang="en-US" smtClean="0"/>
              <a:t>“myFile.txt”</a:t>
            </a:r>
            <a:endParaRPr lang="fa-IR" altLang="en-US" smtClean="0"/>
          </a:p>
          <a:p>
            <a:pPr lvl="1"/>
            <a:endParaRPr lang="en-US" altLang="en-US" smtClean="0"/>
          </a:p>
          <a:p>
            <a:pPr lvl="1"/>
            <a:r>
              <a:rPr lang="en-US" altLang="en-US" smtClean="0"/>
              <a:t>real</a:t>
            </a:r>
            <a:r>
              <a:rPr lang="fa-IR" altLang="en-US" smtClean="0"/>
              <a:t>:</a:t>
            </a:r>
          </a:p>
          <a:p>
            <a:pPr lvl="2"/>
            <a:r>
              <a:rPr lang="fa-IR" altLang="en-US" smtClean="0"/>
              <a:t> برای کارهای محاسباتی با اعداد حقیقی</a:t>
            </a:r>
          </a:p>
          <a:p>
            <a:pPr lvl="1"/>
            <a:endParaRPr lang="fa-IR" altLang="en-US" smtClean="0"/>
          </a:p>
          <a:p>
            <a:pPr lvl="2"/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644A3F8-0305-4553-98B0-599B508484B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245" name="Rectangle 2"/>
          <p:cNvSpPr>
            <a:spLocks noChangeArrowheads="1"/>
          </p:cNvSpPr>
          <p:nvPr/>
        </p:nvSpPr>
        <p:spPr bwMode="auto">
          <a:xfrm>
            <a:off x="431800" y="1528763"/>
            <a:ext cx="6553200" cy="13239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CHARACTER is (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NUL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..., CR, ..., ESC,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 ', '!', '"', '#', '$', '%', '&amp;', ...,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'0', '1', '2', ...,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'A', 'B', 'C', );</a:t>
            </a:r>
          </a:p>
        </p:txBody>
      </p:sp>
      <p:sp>
        <p:nvSpPr>
          <p:cNvPr id="10246" name="Rectangle 2"/>
          <p:cNvSpPr>
            <a:spLocks noChangeArrowheads="1"/>
          </p:cNvSpPr>
          <p:nvPr/>
        </p:nvSpPr>
        <p:spPr bwMode="auto">
          <a:xfrm>
            <a:off x="395288" y="3667125"/>
            <a:ext cx="7416800" cy="3381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STRING is array (POSITIVE range &lt;&gt;) of CHARACTER;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539750" y="692150"/>
            <a:ext cx="8032750" cy="5214938"/>
          </a:xfrm>
        </p:spPr>
        <p:txBody>
          <a:bodyPr/>
          <a:lstStyle/>
          <a:p>
            <a:pPr lvl="1">
              <a:defRPr/>
            </a:pPr>
            <a:r>
              <a:rPr lang="en-US" altLang="en-US" dirty="0" smtClean="0"/>
              <a:t>time</a:t>
            </a:r>
            <a:r>
              <a:rPr lang="fa-IR" altLang="en-US" dirty="0" smtClean="0"/>
              <a:t>:</a:t>
            </a:r>
          </a:p>
          <a:p>
            <a:pPr lvl="2">
              <a:defRPr/>
            </a:pPr>
            <a:r>
              <a:rPr lang="fa-IR" altLang="en-US" dirty="0"/>
              <a:t> </a:t>
            </a:r>
            <a:r>
              <a:rPr lang="fa-IR" altLang="en-US" dirty="0" smtClean="0"/>
              <a:t>برای توصیف تأخیر اجزای مدار، تولید شکل موج</a:t>
            </a:r>
            <a:endParaRPr lang="en-US" altLang="en-US" dirty="0" smtClean="0"/>
          </a:p>
          <a:p>
            <a:pPr lvl="2">
              <a:defRPr/>
            </a:pPr>
            <a:r>
              <a:rPr lang="fa-IR" altLang="en-US" dirty="0" smtClean="0"/>
              <a:t>دقت شبیه‌سازی: </a:t>
            </a:r>
            <a:r>
              <a:rPr lang="en-US" altLang="en-US" dirty="0" smtClean="0"/>
              <a:t>fs</a:t>
            </a:r>
            <a:r>
              <a:rPr lang="fa-IR" altLang="en-US" dirty="0" smtClean="0"/>
              <a:t> </a:t>
            </a:r>
            <a:endParaRPr lang="en-US" altLang="en-US" dirty="0" smtClean="0"/>
          </a:p>
          <a:p>
            <a:pPr lvl="2">
              <a:defRPr/>
            </a:pPr>
            <a:r>
              <a:rPr lang="fa-IR" altLang="en-US" dirty="0" smtClean="0"/>
              <a:t>تقسیم دو </a:t>
            </a:r>
            <a:r>
              <a:rPr lang="en-US" altLang="en-US" dirty="0" smtClean="0"/>
              <a:t>time</a:t>
            </a:r>
          </a:p>
          <a:p>
            <a:pPr lvl="2">
              <a:defRPr/>
            </a:pPr>
            <a:r>
              <a:rPr lang="fa-IR" altLang="en-US" dirty="0" smtClean="0"/>
              <a:t>جمع و تفریق دو </a:t>
            </a:r>
            <a:r>
              <a:rPr lang="en-US" altLang="en-US" dirty="0" smtClean="0"/>
              <a:t>time</a:t>
            </a:r>
            <a:endParaRPr lang="fa-IR" altLang="en-US" dirty="0" smtClean="0"/>
          </a:p>
          <a:p>
            <a:pPr lvl="2">
              <a:defRPr/>
            </a:pPr>
            <a:r>
              <a:rPr lang="fa-IR" altLang="en-US" dirty="0" smtClean="0"/>
              <a:t>ضرب یک عدد در </a:t>
            </a:r>
            <a:r>
              <a:rPr lang="en-US" altLang="en-US" dirty="0" smtClean="0"/>
              <a:t>time</a:t>
            </a:r>
            <a:endParaRPr lang="fa-IR" altLang="en-US" dirty="0" smtClean="0"/>
          </a:p>
          <a:p>
            <a:pPr lvl="2">
              <a:defRPr/>
            </a:pPr>
            <a:r>
              <a:rPr lang="fa-IR" altLang="en-US" dirty="0" smtClean="0"/>
              <a:t>ضرب دو </a:t>
            </a:r>
            <a:r>
              <a:rPr lang="en-US" altLang="en-US" dirty="0" smtClean="0"/>
              <a:t>time</a:t>
            </a:r>
            <a:r>
              <a:rPr lang="fa-IR" altLang="en-US" dirty="0" smtClean="0"/>
              <a:t>؟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a-IR" altLang="en-US" dirty="0" smtClean="0"/>
          </a:p>
          <a:p>
            <a:pPr lvl="3">
              <a:defRPr/>
            </a:pPr>
            <a:endParaRPr lang="fa-IR" altLang="en-US" dirty="0" smtClean="0"/>
          </a:p>
          <a:p>
            <a:pPr lvl="2">
              <a:defRPr/>
            </a:pPr>
            <a:endParaRPr lang="en-US" altLang="en-US" dirty="0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BA07FA5-1F23-4DA9-B332-C85BC818D69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611188" y="1844675"/>
            <a:ext cx="4032250" cy="30464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TIME is range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-2147483647 to 2147483647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units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fs; -- femtosecond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ps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1000 fs; -- picosecond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ns = 1000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ps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 -- nanosecond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 = 1000 ns; -- microsecond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ms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1000 us; -- millisecond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sec = 1000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ms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 -- second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min = 60 sec; -- minute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60 min; -- hour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units;</a:t>
            </a:r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4716463" y="4437063"/>
            <a:ext cx="4081462" cy="18161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T1, T2: time := 10 ns;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wait for T1;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wait for T1 * 1.2;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T2/T1 &gt; 2 then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1116013" y="981075"/>
            <a:ext cx="7527925" cy="5214938"/>
          </a:xfrm>
        </p:spPr>
        <p:txBody>
          <a:bodyPr/>
          <a:lstStyle/>
          <a:p>
            <a:pPr lvl="1">
              <a:defRPr/>
            </a:pPr>
            <a:r>
              <a:rPr lang="fa-IR" altLang="en-US" dirty="0" smtClean="0"/>
              <a:t>بررسی نوع (</a:t>
            </a:r>
            <a:r>
              <a:rPr lang="en-US" altLang="en-US" dirty="0" smtClean="0"/>
              <a:t>type checking</a:t>
            </a:r>
            <a:r>
              <a:rPr lang="fa-IR" altLang="en-US" dirty="0" smtClean="0"/>
              <a:t>):</a:t>
            </a:r>
          </a:p>
          <a:p>
            <a:pPr lvl="2">
              <a:defRPr/>
            </a:pPr>
            <a:r>
              <a:rPr lang="fa-IR" altLang="en-US" dirty="0"/>
              <a:t> </a:t>
            </a:r>
            <a:r>
              <a:rPr lang="fa-IR" altLang="en-US" dirty="0" smtClean="0"/>
              <a:t>زبان</a:t>
            </a:r>
            <a:r>
              <a:rPr lang="fa-IR" altLang="en-US" dirty="0"/>
              <a:t> </a:t>
            </a:r>
            <a:r>
              <a:rPr lang="en-US" altLang="en-US" dirty="0" smtClean="0"/>
              <a:t>VHDL</a:t>
            </a:r>
            <a:r>
              <a:rPr lang="fa-IR" altLang="en-US" dirty="0" smtClean="0"/>
              <a:t>: بررسی دقیق هماهنگی نوع داده‌ها</a:t>
            </a:r>
          </a:p>
          <a:p>
            <a:pPr lvl="3">
              <a:defRPr/>
            </a:pPr>
            <a:r>
              <a:rPr lang="fa-IR" altLang="en-US" dirty="0" smtClean="0">
                <a:sym typeface="Wingdings" panose="05000000000000000000" pitchFamily="2" charset="2"/>
              </a:rPr>
              <a:t> پیغام خطا</a:t>
            </a:r>
            <a:endParaRPr lang="en-US" altLang="en-US" dirty="0" smtClean="0">
              <a:sym typeface="Wingdings" panose="05000000000000000000" pitchFamily="2" charset="2"/>
            </a:endParaRPr>
          </a:p>
          <a:p>
            <a:pPr lvl="3">
              <a:defRPr/>
            </a:pPr>
            <a:r>
              <a:rPr lang="fa-IR" altLang="en-US" dirty="0" smtClean="0">
                <a:sym typeface="Wingdings" panose="05000000000000000000" pitchFamily="2" charset="2"/>
              </a:rPr>
              <a:t>تبدیل نوع (</a:t>
            </a:r>
            <a:r>
              <a:rPr lang="en-US" altLang="en-US" dirty="0" smtClean="0">
                <a:sym typeface="Wingdings" panose="05000000000000000000" pitchFamily="2" charset="2"/>
              </a:rPr>
              <a:t>casting</a:t>
            </a:r>
            <a:r>
              <a:rPr lang="fa-IR" altLang="en-US" dirty="0" smtClean="0">
                <a:sym typeface="Wingdings" panose="05000000000000000000" pitchFamily="2" charset="2"/>
              </a:rPr>
              <a:t>) برای انواع با رابطة نزدیک (</a:t>
            </a:r>
            <a:r>
              <a:rPr lang="en-US" altLang="en-US" dirty="0" smtClean="0">
                <a:sym typeface="Wingdings" panose="05000000000000000000" pitchFamily="2" charset="2"/>
              </a:rPr>
              <a:t>closely-related</a:t>
            </a:r>
            <a:r>
              <a:rPr lang="fa-IR" altLang="en-US" dirty="0" smtClean="0">
                <a:sym typeface="Wingdings" panose="05000000000000000000" pitchFamily="2" charset="2"/>
              </a:rPr>
              <a:t>)</a:t>
            </a:r>
          </a:p>
          <a:p>
            <a:pPr lvl="3">
              <a:defRPr/>
            </a:pPr>
            <a:endParaRPr lang="fa-IR" altLang="en-US" dirty="0">
              <a:sym typeface="Wingdings" panose="05000000000000000000" pitchFamily="2" charset="2"/>
            </a:endParaRPr>
          </a:p>
          <a:p>
            <a:pPr lvl="3">
              <a:defRPr/>
            </a:pPr>
            <a:endParaRPr lang="fa-IR" altLang="en-US" dirty="0" smtClean="0">
              <a:sym typeface="Wingdings" panose="05000000000000000000" pitchFamily="2" charset="2"/>
            </a:endParaRPr>
          </a:p>
          <a:p>
            <a:pPr lvl="3">
              <a:defRPr/>
            </a:pPr>
            <a:endParaRPr lang="fa-IR" altLang="en-US" dirty="0">
              <a:sym typeface="Wingdings" panose="05000000000000000000" pitchFamily="2" charset="2"/>
            </a:endParaRPr>
          </a:p>
          <a:p>
            <a:pPr lvl="3">
              <a:defRPr/>
            </a:pPr>
            <a:endParaRPr lang="fa-IR" altLang="en-US" dirty="0" smtClean="0">
              <a:sym typeface="Wingdings" panose="05000000000000000000" pitchFamily="2" charset="2"/>
            </a:endParaRPr>
          </a:p>
          <a:p>
            <a:pPr lvl="3">
              <a:defRPr/>
            </a:pPr>
            <a:r>
              <a:rPr lang="en-US" altLang="en-US" dirty="0" smtClean="0">
                <a:sym typeface="Wingdings" panose="05000000000000000000" pitchFamily="2" charset="2"/>
              </a:rPr>
              <a:t>real</a:t>
            </a:r>
            <a:r>
              <a:rPr lang="fa-IR" altLang="en-US" dirty="0" smtClean="0">
                <a:sym typeface="Wingdings" panose="05000000000000000000" pitchFamily="2" charset="2"/>
              </a:rPr>
              <a:t> و </a:t>
            </a:r>
            <a:r>
              <a:rPr lang="en-US" altLang="en-US" dirty="0" smtClean="0">
                <a:sym typeface="Wingdings" panose="05000000000000000000" pitchFamily="2" charset="2"/>
              </a:rPr>
              <a:t>integer</a:t>
            </a:r>
          </a:p>
          <a:p>
            <a:pPr lvl="3">
              <a:defRPr/>
            </a:pPr>
            <a:r>
              <a:rPr lang="fa-IR" dirty="0" smtClean="0"/>
              <a:t>دو </a:t>
            </a:r>
            <a:r>
              <a:rPr lang="fa-IR" dirty="0"/>
              <a:t>نوع آرایه که محتوای آن‌ها از یک </a:t>
            </a:r>
            <a:r>
              <a:rPr lang="fa-IR" dirty="0" smtClean="0"/>
              <a:t>نوع است </a:t>
            </a:r>
            <a:r>
              <a:rPr lang="fa-IR" dirty="0"/>
              <a:t>و تعداد عناصر و </a:t>
            </a:r>
            <a:r>
              <a:rPr lang="fa-IR" dirty="0" smtClean="0"/>
              <a:t>محدود‌ة ‌اندیس </a:t>
            </a:r>
            <a:r>
              <a:rPr lang="fa-IR" dirty="0"/>
              <a:t>آن‌ها یکسان است</a:t>
            </a:r>
            <a:r>
              <a:rPr lang="fa-IR" dirty="0" smtClean="0"/>
              <a:t>.</a:t>
            </a:r>
          </a:p>
          <a:p>
            <a:pPr lvl="2">
              <a:defRPr/>
            </a:pPr>
            <a:endParaRPr lang="fa-IR" altLang="en-US" dirty="0" smtClean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a-IR" altLang="en-US" dirty="0" smtClean="0"/>
          </a:p>
          <a:p>
            <a:pPr lvl="3">
              <a:defRPr/>
            </a:pPr>
            <a:endParaRPr lang="fa-IR" altLang="en-US" dirty="0" smtClean="0"/>
          </a:p>
          <a:p>
            <a:pPr lvl="1">
              <a:defRPr/>
            </a:pPr>
            <a:endParaRPr lang="en-US" altLang="en-US" dirty="0" smtClean="0"/>
          </a:p>
          <a:p>
            <a:pPr lvl="2">
              <a:defRPr/>
            </a:pPr>
            <a:endParaRPr lang="en-US" altLang="en-US" dirty="0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D1E69DE-7990-4C04-974B-258A606EDFE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4341" name="Rectangle 2"/>
          <p:cNvSpPr>
            <a:spLocks noChangeArrowheads="1"/>
          </p:cNvSpPr>
          <p:nvPr/>
        </p:nvSpPr>
        <p:spPr bwMode="auto">
          <a:xfrm>
            <a:off x="611188" y="2828925"/>
            <a:ext cx="4032250" cy="10779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S1: integer;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v1: real;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v1 := (real) s1;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116013" y="981075"/>
            <a:ext cx="7527925" cy="5214938"/>
          </a:xfrm>
        </p:spPr>
        <p:txBody>
          <a:bodyPr/>
          <a:lstStyle/>
          <a:p>
            <a:pPr lvl="1"/>
            <a:r>
              <a:rPr lang="fa-IR" altLang="en-US" dirty="0" smtClean="0"/>
              <a:t>انواع تعریف شده توسط کاربر:</a:t>
            </a:r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r>
              <a:rPr lang="fa-IR" altLang="en-US" dirty="0" smtClean="0"/>
              <a:t>تعریف زیرنوع (</a:t>
            </a:r>
            <a:r>
              <a:rPr lang="en-US" altLang="en-US" dirty="0" smtClean="0"/>
              <a:t>subtype</a:t>
            </a:r>
            <a:r>
              <a:rPr lang="fa-IR" altLang="en-US" dirty="0" smtClean="0"/>
              <a:t>):</a:t>
            </a:r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2"/>
            <a:r>
              <a:rPr lang="fa-IR" altLang="en-US" dirty="0" smtClean="0"/>
              <a:t>سازگار با نوع پایه‌شان</a:t>
            </a:r>
          </a:p>
          <a:p>
            <a:pPr lvl="2"/>
            <a:endParaRPr lang="en-US" altLang="en-US" dirty="0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366D17E-D26B-4995-9930-02670DDC999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611188" y="4724400"/>
            <a:ext cx="6985000" cy="5857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subtype MY_WORD is bit_vector (31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subtype positive is integer range 0 to integer’high;</a:t>
            </a:r>
          </a:p>
        </p:txBody>
      </p:sp>
      <p:sp>
        <p:nvSpPr>
          <p:cNvPr id="16390" name="Rectangle 2"/>
          <p:cNvSpPr>
            <a:spLocks noChangeArrowheads="1"/>
          </p:cNvSpPr>
          <p:nvPr/>
        </p:nvSpPr>
        <p:spPr bwMode="auto">
          <a:xfrm>
            <a:off x="611188" y="2238375"/>
            <a:ext cx="7921625" cy="8302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OPCODE is (STA,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LDA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ADD, SUB, AND,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NOP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JMP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JSR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subtype 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MODE is integer range 0 to 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subtype 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ADDRESS is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(10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نوع دادة </a:t>
            </a:r>
            <a:r>
              <a:rPr lang="en-US" altLang="en-US" smtClean="0"/>
              <a:t>std_ulogic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952750"/>
          </a:xfrm>
        </p:spPr>
        <p:txBody>
          <a:bodyPr/>
          <a:lstStyle/>
          <a:p>
            <a:r>
              <a:rPr lang="en-US" altLang="en-US" smtClean="0"/>
              <a:t>bit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2 مقدار</a:t>
            </a:r>
          </a:p>
          <a:p>
            <a:r>
              <a:rPr lang="en-US" altLang="en-US" smtClean="0"/>
              <a:t>std_ulogic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9 مقدار</a:t>
            </a:r>
            <a:endParaRPr lang="en-US" altLang="en-US" smtClean="0"/>
          </a:p>
          <a:p>
            <a:pPr lvl="1"/>
            <a:r>
              <a:rPr lang="fa-IR" altLang="en-US" smtClean="0"/>
              <a:t>در پکیج </a:t>
            </a:r>
            <a:r>
              <a:rPr lang="en-US" altLang="en-US" smtClean="0"/>
              <a:t>std_logic_1164</a:t>
            </a:r>
            <a:endParaRPr lang="fa-IR" altLang="en-US" smtClean="0"/>
          </a:p>
          <a:p>
            <a:pPr lvl="2"/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DF93D14-570C-47A9-A761-DDA3FF5E627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611188" y="3740150"/>
            <a:ext cx="6985000" cy="25542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 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std_ulogic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 is (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’U’,     -- uninitialized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’X’,     -- Forcing  Unknown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’0’,     -- Forcing  0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’1’,     -- Forcing  1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’Z’,     -- High Impedance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’W’,    -- Weak Unknown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’L’,     -- Weak 0 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’H’,     -- Weak 1</a:t>
            </a:r>
            <a:b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      ’-’,      -- don’t care);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نوع دادة </a:t>
            </a:r>
            <a:r>
              <a:rPr lang="en-US" altLang="en-US" smtClean="0"/>
              <a:t>std_ulogic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952750"/>
          </a:xfrm>
        </p:spPr>
        <p:txBody>
          <a:bodyPr/>
          <a:lstStyle/>
          <a:p>
            <a:r>
              <a:rPr lang="fa-IR" altLang="en-US" smtClean="0"/>
              <a:t>دو درایور همزمان برای یک سیگنال:</a:t>
            </a:r>
          </a:p>
          <a:p>
            <a:pPr lvl="1"/>
            <a:r>
              <a:rPr lang="fa-IR" altLang="en-US" smtClean="0"/>
              <a:t>غیرمجاز در حالت معمول</a:t>
            </a:r>
          </a:p>
          <a:p>
            <a:pPr lvl="2"/>
            <a:r>
              <a:rPr lang="fa-IR" altLang="en-US" smtClean="0"/>
              <a:t>در یک بدنة همروند</a:t>
            </a:r>
          </a:p>
          <a:p>
            <a:pPr lvl="2"/>
            <a:endParaRPr lang="en-US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8C7F07C-413E-4F49-9632-DB180A1E20A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611188" y="2997200"/>
            <a:ext cx="6985000" cy="23082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ARCH1 ⋯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 : std_ulogic;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S1 &lt;= ’0’;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S1 &lt;= ’1’; --Wrong! More than one driver for S1!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ARCH1;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نوع دادة </a:t>
            </a:r>
            <a:r>
              <a:rPr lang="en-US" altLang="en-US" smtClean="0"/>
              <a:t>std_ulogic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952750"/>
          </a:xfrm>
        </p:spPr>
        <p:txBody>
          <a:bodyPr/>
          <a:lstStyle/>
          <a:p>
            <a:r>
              <a:rPr lang="fa-IR" altLang="en-US" smtClean="0"/>
              <a:t>دو درایور همزمان برای یک سیگنال:</a:t>
            </a:r>
          </a:p>
          <a:p>
            <a:pPr lvl="1"/>
            <a:r>
              <a:rPr lang="fa-IR" altLang="en-US" smtClean="0"/>
              <a:t>غیرمجاز در حالت معمول</a:t>
            </a:r>
          </a:p>
          <a:p>
            <a:pPr lvl="2"/>
            <a:r>
              <a:rPr lang="fa-IR" altLang="en-US" smtClean="0"/>
              <a:t>در دو </a:t>
            </a:r>
            <a:r>
              <a:rPr lang="en-US" altLang="en-US" sz="2000" smtClean="0"/>
              <a:t>instance</a:t>
            </a:r>
            <a:r>
              <a:rPr lang="fa-IR" altLang="en-US" sz="2000" smtClean="0"/>
              <a:t> </a:t>
            </a:r>
            <a:r>
              <a:rPr lang="fa-IR" altLang="en-US" smtClean="0"/>
              <a:t>همروند</a:t>
            </a:r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E359AAD-0253-41A0-ABA5-820E50EC14F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611188" y="2746375"/>
            <a:ext cx="6985000" cy="25542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ARCH2 ⋯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 : std_ulogic;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AND1: ANDGATE port map(A1,B1,S1); 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AND2: ANDGATE port map(A2,B2,S1); 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ARCH2;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نوع دادة </a:t>
            </a:r>
            <a:r>
              <a:rPr lang="en-US" altLang="en-US" smtClean="0"/>
              <a:t>std_ulogic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952750"/>
          </a:xfrm>
        </p:spPr>
        <p:txBody>
          <a:bodyPr/>
          <a:lstStyle/>
          <a:p>
            <a:r>
              <a:rPr lang="fa-IR" altLang="en-US" smtClean="0"/>
              <a:t>دو درایور همزمان برای یک سیگنال:</a:t>
            </a:r>
          </a:p>
          <a:p>
            <a:pPr lvl="1"/>
            <a:r>
              <a:rPr lang="fa-IR" altLang="en-US" smtClean="0"/>
              <a:t>غیرمجاز در حالت معمول</a:t>
            </a:r>
          </a:p>
          <a:p>
            <a:pPr lvl="2"/>
            <a:r>
              <a:rPr lang="fa-IR" altLang="en-US" smtClean="0"/>
              <a:t>در دو بدنه که به صورت همروند اجرا می شوند</a:t>
            </a:r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3826740-C2BC-46FE-81CD-FDA562ECCB7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611188" y="2420938"/>
            <a:ext cx="6985000" cy="40322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ARCH2 ⋯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 : std_ulogic;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process (...) 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S1 &lt;= A;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process (...) 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S1 &lt;=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ARCH2;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نوع دادة </a:t>
            </a:r>
            <a:r>
              <a:rPr lang="en-US" altLang="en-US" smtClean="0"/>
              <a:t>std_logic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952750"/>
          </a:xfrm>
        </p:spPr>
        <p:txBody>
          <a:bodyPr/>
          <a:lstStyle/>
          <a:p>
            <a:r>
              <a:rPr lang="fa-IR" altLang="en-US" dirty="0" smtClean="0"/>
              <a:t>دو درایور همزمان برای یک سیگنال:</a:t>
            </a:r>
          </a:p>
          <a:p>
            <a:pPr lvl="1"/>
            <a:r>
              <a:rPr lang="fa-IR" altLang="en-US" dirty="0" smtClean="0"/>
              <a:t>گاهی لازم است:</a:t>
            </a:r>
          </a:p>
          <a:p>
            <a:pPr lvl="2"/>
            <a:r>
              <a:rPr lang="fa-IR" altLang="en-US" dirty="0" smtClean="0"/>
              <a:t> گذرگاه مشترک</a:t>
            </a:r>
          </a:p>
          <a:p>
            <a:pPr lvl="2"/>
            <a:r>
              <a:rPr lang="fa-IR" altLang="en-US" dirty="0" smtClean="0"/>
              <a:t> دو پودمان که در هر لحظه یکی حتماً </a:t>
            </a:r>
            <a:r>
              <a:rPr lang="en-US" altLang="en-US" dirty="0" smtClean="0"/>
              <a:t>Hi-Z</a:t>
            </a:r>
            <a:r>
              <a:rPr lang="fa-IR" altLang="en-US" dirty="0" smtClean="0"/>
              <a:t> است</a:t>
            </a:r>
          </a:p>
          <a:p>
            <a:pPr lvl="2"/>
            <a:r>
              <a:rPr lang="fa-IR" altLang="en-US" dirty="0" smtClean="0"/>
              <a:t> مدارهای </a:t>
            </a:r>
            <a:r>
              <a:rPr lang="en-US" altLang="en-US" dirty="0" smtClean="0"/>
              <a:t>open-drain</a:t>
            </a:r>
          </a:p>
          <a:p>
            <a:pPr lvl="3"/>
            <a:r>
              <a:rPr lang="en-US" altLang="en-US" dirty="0" smtClean="0"/>
              <a:t>wired-AND</a:t>
            </a:r>
            <a:r>
              <a:rPr lang="fa-IR" altLang="en-US" dirty="0" smtClean="0"/>
              <a:t> یا </a:t>
            </a:r>
            <a:r>
              <a:rPr lang="en-US" altLang="en-US" dirty="0" smtClean="0"/>
              <a:t>wired-OR</a:t>
            </a:r>
          </a:p>
          <a:p>
            <a:pPr lvl="1"/>
            <a:r>
              <a:rPr lang="en-US" altLang="en-US" dirty="0" smtClean="0"/>
              <a:t>Resolved data types</a:t>
            </a:r>
          </a:p>
          <a:p>
            <a:r>
              <a:rPr lang="en-US" altLang="en-US" dirty="0" err="1" smtClean="0"/>
              <a:t>std_logic</a:t>
            </a:r>
            <a:r>
              <a:rPr lang="fa-IR" altLang="en-US" dirty="0" smtClean="0"/>
              <a:t>:</a:t>
            </a:r>
          </a:p>
          <a:p>
            <a:pPr lvl="1"/>
            <a:r>
              <a:rPr lang="en-US" altLang="en-US" dirty="0" smtClean="0"/>
              <a:t>Subtype</a:t>
            </a:r>
            <a:r>
              <a:rPr lang="fa-IR" altLang="en-US" dirty="0" smtClean="0"/>
              <a:t>ی از </a:t>
            </a:r>
            <a:r>
              <a:rPr lang="en-US" altLang="en-US" dirty="0" err="1" smtClean="0"/>
              <a:t>std_ulogic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همان 9 مقدار</a:t>
            </a:r>
          </a:p>
          <a:p>
            <a:pPr lvl="1"/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31C9A8D-BD73-4057-845C-ECD47013E90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نوع دادة </a:t>
            </a:r>
            <a:r>
              <a:rPr lang="en-US" altLang="en-US" smtClean="0"/>
              <a:t>std_logic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685800" y="981075"/>
            <a:ext cx="7772400" cy="2952750"/>
          </a:xfrm>
        </p:spPr>
        <p:txBody>
          <a:bodyPr/>
          <a:lstStyle/>
          <a:p>
            <a:r>
              <a:rPr lang="fa-IR" altLang="en-US" smtClean="0"/>
              <a:t>نحوة </a:t>
            </a:r>
            <a:r>
              <a:rPr lang="en-US" altLang="en-US" smtClean="0"/>
              <a:t>resolve</a:t>
            </a:r>
            <a:r>
              <a:rPr lang="fa-IR" altLang="en-US" smtClean="0"/>
              <a:t>کردن:</a:t>
            </a:r>
          </a:p>
          <a:p>
            <a:pPr lvl="1"/>
            <a:r>
              <a:rPr lang="fa-IR" altLang="en-US" smtClean="0"/>
              <a:t>متقارن </a:t>
            </a:r>
            <a:r>
              <a:rPr lang="fa-IR" altLang="en-US" smtClean="0">
                <a:sym typeface="Wingdings" panose="05000000000000000000" pitchFamily="2" charset="2"/>
              </a:rPr>
              <a:t> خاصیت جابجایی</a:t>
            </a:r>
            <a:endParaRPr lang="fa-IR" altLang="en-US" smtClean="0"/>
          </a:p>
          <a:p>
            <a:pPr lvl="1"/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9F45336-CEF3-4294-A03B-26ECBC4BCC2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970700"/>
              </p:ext>
            </p:extLst>
          </p:nvPr>
        </p:nvGraphicFramePr>
        <p:xfrm>
          <a:off x="971550" y="2217738"/>
          <a:ext cx="7270750" cy="272415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  <a:gridCol w="727075">
                  <a:extLst>
                    <a:ext uri="{9D8B030D-6E8A-4147-A177-3AD203B41FA5}"/>
                  </a:extLst>
                </a:gridCol>
              </a:tblGrid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U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Z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W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U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U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Z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Z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W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7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6" name="Rounded Rectangle 5"/>
          <p:cNvSpPr>
            <a:spLocks noChangeArrowheads="1"/>
          </p:cNvSpPr>
          <p:nvPr/>
        </p:nvSpPr>
        <p:spPr bwMode="auto">
          <a:xfrm>
            <a:off x="4572000" y="2217738"/>
            <a:ext cx="792163" cy="27955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3132138" y="3284538"/>
            <a:ext cx="792162" cy="288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ounded Rectangle 7"/>
          <p:cNvSpPr>
            <a:spLocks noChangeArrowheads="1"/>
          </p:cNvSpPr>
          <p:nvPr/>
        </p:nvSpPr>
        <p:spPr bwMode="auto">
          <a:xfrm>
            <a:off x="1692275" y="2506663"/>
            <a:ext cx="719138" cy="24352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>
            <a:spLocks noChangeArrowheads="1"/>
          </p:cNvSpPr>
          <p:nvPr/>
        </p:nvSpPr>
        <p:spPr bwMode="auto">
          <a:xfrm>
            <a:off x="2411413" y="2492375"/>
            <a:ext cx="720725" cy="24352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7524750" y="2492375"/>
            <a:ext cx="719138" cy="24352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3685" name="Rectangle 2"/>
          <p:cNvSpPr>
            <a:spLocks noChangeArrowheads="1"/>
          </p:cNvSpPr>
          <p:nvPr/>
        </p:nvSpPr>
        <p:spPr bwMode="auto">
          <a:xfrm>
            <a:off x="611188" y="5373688"/>
            <a:ext cx="4465637" cy="584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library IEEE;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use IEEE.std_logic_1164.all;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نوع دادة </a:t>
            </a:r>
            <a:r>
              <a:rPr lang="en-US" altLang="en-US" dirty="0" err="1" smtClean="0"/>
              <a:t>std_logic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685800" y="1268413"/>
            <a:ext cx="7772400" cy="2952750"/>
          </a:xfrm>
        </p:spPr>
        <p:txBody>
          <a:bodyPr/>
          <a:lstStyle/>
          <a:p>
            <a:r>
              <a:rPr lang="en-US" altLang="en-US" dirty="0" err="1" smtClean="0"/>
              <a:t>std_logic_vector</a:t>
            </a:r>
            <a:r>
              <a:rPr lang="fa-IR" altLang="en-US" dirty="0" smtClean="0"/>
              <a:t> و </a:t>
            </a:r>
            <a:r>
              <a:rPr lang="en-US" altLang="en-US" dirty="0" err="1" smtClean="0"/>
              <a:t>std_ulogic_vector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همة عملگرهای </a:t>
            </a:r>
            <a:r>
              <a:rPr lang="en-US" altLang="en-US" dirty="0" err="1" smtClean="0"/>
              <a:t>bit_vector</a:t>
            </a:r>
            <a:r>
              <a:rPr lang="fa-IR" altLang="en-US" dirty="0" smtClean="0"/>
              <a:t> در پکیج تعریف شده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توابع تبدیل </a:t>
            </a:r>
            <a:r>
              <a:rPr lang="en-US" altLang="en-US" dirty="0" smtClean="0"/>
              <a:t>bit</a:t>
            </a:r>
            <a:r>
              <a:rPr lang="fa-IR" altLang="en-US" dirty="0" smtClean="0"/>
              <a:t> به </a:t>
            </a:r>
            <a:r>
              <a:rPr lang="en-US" altLang="en-US" dirty="0" err="1" smtClean="0"/>
              <a:t>std</a:t>
            </a:r>
            <a:r>
              <a:rPr lang="en-US" altLang="en-US" dirty="0" smtClean="0"/>
              <a:t>_(u)logic</a:t>
            </a:r>
            <a:r>
              <a:rPr lang="fa-IR" altLang="en-US" dirty="0" smtClean="0"/>
              <a:t> و بالعکس</a:t>
            </a:r>
          </a:p>
          <a:p>
            <a:pPr lvl="1"/>
            <a:r>
              <a:rPr lang="fa-IR" altLang="en-US" dirty="0" smtClean="0"/>
              <a:t>توابع تبدیل بردارهای آنها </a:t>
            </a:r>
            <a:r>
              <a:rPr lang="fa-IR" altLang="en-US" smtClean="0"/>
              <a:t>به هم</a:t>
            </a:r>
            <a:endParaRPr lang="fa-IR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6590E80-A07C-4886-974E-DF10BBB8FEBD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941168"/>
            <a:ext cx="8388424" cy="13259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5" y="3487828"/>
            <a:ext cx="7314373" cy="133233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نوع دادة </a:t>
            </a:r>
            <a:r>
              <a:rPr lang="en-US" altLang="en-US" dirty="0" err="1" smtClean="0"/>
              <a:t>std_logic</a:t>
            </a:r>
            <a:endParaRPr lang="en-US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685800" y="1268413"/>
            <a:ext cx="7772400" cy="2952750"/>
          </a:xfrm>
        </p:spPr>
        <p:txBody>
          <a:bodyPr/>
          <a:lstStyle/>
          <a:p>
            <a:r>
              <a:rPr lang="fa-IR" altLang="en-US" smtClean="0"/>
              <a:t>عملگر </a:t>
            </a:r>
            <a:r>
              <a:rPr lang="en-US" altLang="en-US" smtClean="0"/>
              <a:t>AND</a:t>
            </a:r>
          </a:p>
          <a:p>
            <a:pPr lvl="1"/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4B81F67-0142-4D51-ADFF-19B17B87177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596356"/>
              </p:ext>
            </p:extLst>
          </p:nvPr>
        </p:nvGraphicFramePr>
        <p:xfrm>
          <a:off x="1379538" y="2060575"/>
          <a:ext cx="7224710" cy="248285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  <a:gridCol w="722471">
                  <a:extLst>
                    <a:ext uri="{9D8B030D-6E8A-4147-A177-3AD203B41FA5}"/>
                  </a:extLst>
                </a:gridCol>
              </a:tblGrid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AND</a:t>
                      </a: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Z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U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'U'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'1'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'1'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Z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'1'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'1'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  <a:tr h="2482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'U'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'0'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'X'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'X'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2" marR="68582" marT="0" marB="0" anchor="ctr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3563938" y="2001838"/>
            <a:ext cx="720725" cy="25415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ounded Rectangle 7"/>
          <p:cNvSpPr>
            <a:spLocks noChangeArrowheads="1"/>
          </p:cNvSpPr>
          <p:nvPr/>
        </p:nvSpPr>
        <p:spPr bwMode="auto">
          <a:xfrm>
            <a:off x="4284663" y="1989138"/>
            <a:ext cx="719137" cy="25415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>
            <a:spLocks noChangeArrowheads="1"/>
          </p:cNvSpPr>
          <p:nvPr/>
        </p:nvSpPr>
        <p:spPr bwMode="auto">
          <a:xfrm>
            <a:off x="4284663" y="3284538"/>
            <a:ext cx="719137" cy="12461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5731" name="Rectangle 2"/>
          <p:cNvSpPr>
            <a:spLocks noChangeArrowheads="1"/>
          </p:cNvSpPr>
          <p:nvPr/>
        </p:nvSpPr>
        <p:spPr bwMode="auto">
          <a:xfrm>
            <a:off x="611188" y="1382713"/>
            <a:ext cx="4465637" cy="3397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PORTO &lt;= A and B;</a:t>
            </a: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2124671" y="2060848"/>
            <a:ext cx="719137" cy="25415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نوع دادة </a:t>
            </a:r>
            <a:r>
              <a:rPr lang="en-US" altLang="en-US" smtClean="0"/>
              <a:t>std_logic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00213"/>
            <a:ext cx="7772400" cy="2952750"/>
          </a:xfrm>
        </p:spPr>
        <p:txBody>
          <a:bodyPr/>
          <a:lstStyle/>
          <a:p>
            <a:pPr>
              <a:defRPr/>
            </a:pPr>
            <a:r>
              <a:rPr lang="en-US" dirty="0" err="1" smtClean="0"/>
              <a:t>std_ulogic</a:t>
            </a:r>
            <a:r>
              <a:rPr lang="fa-IR" dirty="0" smtClean="0"/>
              <a:t> و </a:t>
            </a:r>
            <a:r>
              <a:rPr lang="en-US" dirty="0" err="1" smtClean="0"/>
              <a:t>std_logic</a:t>
            </a:r>
            <a:endParaRPr lang="en-US" dirty="0" smtClean="0"/>
          </a:p>
          <a:p>
            <a:pPr lvl="1">
              <a:defRPr/>
            </a:pPr>
            <a:r>
              <a:rPr lang="fa-IR" dirty="0" smtClean="0"/>
              <a:t>ترجیح </a:t>
            </a:r>
            <a:r>
              <a:rPr lang="en-US" dirty="0" err="1" smtClean="0"/>
              <a:t>std_logic</a:t>
            </a:r>
            <a:r>
              <a:rPr lang="fa-IR" dirty="0"/>
              <a:t> </a:t>
            </a:r>
            <a:r>
              <a:rPr lang="fa-IR" dirty="0" smtClean="0"/>
              <a:t>مگر آنکه:</a:t>
            </a:r>
          </a:p>
          <a:p>
            <a:pPr lvl="3">
              <a:defRPr/>
            </a:pPr>
            <a:r>
              <a:rPr lang="fa-IR" sz="2400" dirty="0" smtClean="0"/>
              <a:t>سرعت شبیه‌سازی مهم باشد</a:t>
            </a:r>
          </a:p>
          <a:p>
            <a:pPr lvl="3">
              <a:defRPr/>
            </a:pPr>
            <a:r>
              <a:rPr lang="fa-IR" sz="2400" dirty="0" smtClean="0"/>
              <a:t>بخواهیم عمداً چنددرایوری را گزارش دهد.</a:t>
            </a:r>
          </a:p>
          <a:p>
            <a:pPr lvl="3">
              <a:defRPr/>
            </a:pPr>
            <a:endParaRPr lang="en-US" dirty="0" smtClean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a-IR" dirty="0" smtClean="0"/>
          </a:p>
          <a:p>
            <a:pPr lvl="1">
              <a:defRPr/>
            </a:pPr>
            <a:endParaRPr lang="en-US" dirty="0" smtClean="0"/>
          </a:p>
          <a:p>
            <a:pPr lvl="2">
              <a:defRPr/>
            </a:pPr>
            <a:endParaRPr 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32A3150-449E-4245-B5BE-F7DA92EF4CB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412174"/>
            <a:ext cx="6264696" cy="3763292"/>
          </a:xfrm>
          <a:prstGeom prst="rect">
            <a:avLst/>
          </a:prstGeom>
        </p:spPr>
      </p:pic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نوع دادة </a:t>
            </a:r>
            <a:r>
              <a:rPr lang="en-US" altLang="en-US" smtClean="0"/>
              <a:t>std_logic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016521"/>
            <a:ext cx="7772400" cy="2952750"/>
          </a:xfrm>
        </p:spPr>
        <p:txBody>
          <a:bodyPr/>
          <a:lstStyle/>
          <a:p>
            <a:pPr>
              <a:defRPr/>
            </a:pPr>
            <a:r>
              <a:rPr lang="fa-IR" sz="2800" dirty="0" smtClean="0"/>
              <a:t>زیرنوع‌های </a:t>
            </a:r>
            <a:r>
              <a:rPr lang="en-US" sz="2800" dirty="0" err="1" smtClean="0"/>
              <a:t>std_logic</a:t>
            </a:r>
            <a:endParaRPr lang="en-US" sz="2800" dirty="0" smtClean="0"/>
          </a:p>
          <a:p>
            <a:pPr lvl="1">
              <a:defRPr/>
            </a:pPr>
            <a:r>
              <a:rPr lang="en-US" sz="2400" dirty="0" smtClean="0"/>
              <a:t>X01</a:t>
            </a:r>
          </a:p>
          <a:p>
            <a:pPr lvl="1">
              <a:defRPr/>
            </a:pPr>
            <a:r>
              <a:rPr lang="en-US" sz="2400" dirty="0" smtClean="0"/>
              <a:t>X01Z</a:t>
            </a:r>
          </a:p>
          <a:p>
            <a:pPr lvl="1">
              <a:defRPr/>
            </a:pPr>
            <a:r>
              <a:rPr lang="en-US" sz="2400" dirty="0" smtClean="0"/>
              <a:t>UX01</a:t>
            </a:r>
          </a:p>
          <a:p>
            <a:pPr lvl="1">
              <a:defRPr/>
            </a:pPr>
            <a:r>
              <a:rPr lang="en-US" sz="2400" dirty="0" smtClean="0"/>
              <a:t>UX01Z</a:t>
            </a:r>
            <a:endParaRPr lang="fa-IR" sz="2400" dirty="0" smtClean="0"/>
          </a:p>
          <a:p>
            <a:pPr lvl="3">
              <a:defRPr/>
            </a:pPr>
            <a:endParaRPr lang="en-US" dirty="0" smtClean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a-IR" dirty="0" smtClean="0"/>
          </a:p>
          <a:p>
            <a:pPr lvl="1">
              <a:defRPr/>
            </a:pPr>
            <a:endParaRPr lang="en-US" dirty="0" smtClean="0"/>
          </a:p>
          <a:p>
            <a:pPr lvl="2">
              <a:defRPr/>
            </a:pPr>
            <a:endParaRPr lang="en-US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84D2F51-D591-45DC-B6F5-3FB674FD0C0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signed</a:t>
            </a:r>
            <a:r>
              <a:rPr lang="fa-IR" altLang="en-US" smtClean="0"/>
              <a:t>  و </a:t>
            </a:r>
            <a:r>
              <a:rPr lang="en-US" altLang="en-US" smtClean="0"/>
              <a:t>unsigned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85800" y="1157288"/>
            <a:ext cx="7772400" cy="4648200"/>
          </a:xfrm>
        </p:spPr>
        <p:txBody>
          <a:bodyPr/>
          <a:lstStyle/>
          <a:p>
            <a:r>
              <a:rPr lang="fa-IR" altLang="en-US" sz="2800" smtClean="0"/>
              <a:t>کارهای محاسباتی (جمع، مقایسه)</a:t>
            </a:r>
            <a:endParaRPr lang="en-US" altLang="en-US" sz="2800" smtClean="0"/>
          </a:p>
          <a:p>
            <a:pPr lvl="1"/>
            <a:r>
              <a:rPr lang="fa-IR" altLang="en-US" sz="2400" smtClean="0"/>
              <a:t>با </a:t>
            </a:r>
            <a:r>
              <a:rPr lang="en-US" altLang="en-US" sz="2400" smtClean="0"/>
              <a:t>bit_vector</a:t>
            </a:r>
            <a:r>
              <a:rPr lang="fa-IR" altLang="en-US" sz="2400" smtClean="0"/>
              <a:t> و </a:t>
            </a:r>
            <a:r>
              <a:rPr lang="en-US" altLang="en-US" sz="2400" smtClean="0"/>
              <a:t>std_logic_vector</a:t>
            </a:r>
            <a:r>
              <a:rPr lang="fa-IR" altLang="en-US" sz="2400" smtClean="0"/>
              <a:t> غیرمجاز</a:t>
            </a:r>
          </a:p>
          <a:p>
            <a:r>
              <a:rPr lang="fa-IR" altLang="en-US" sz="2800" smtClean="0"/>
              <a:t>کارهای رشته‌بیتی (شیفت، </a:t>
            </a:r>
            <a:r>
              <a:rPr lang="en-US" altLang="en-US" sz="2800" smtClean="0"/>
              <a:t>AND</a:t>
            </a:r>
            <a:r>
              <a:rPr lang="fa-IR" altLang="en-US" sz="2800" smtClean="0"/>
              <a:t>)</a:t>
            </a:r>
          </a:p>
          <a:p>
            <a:pPr lvl="1"/>
            <a:r>
              <a:rPr lang="fa-IR" altLang="en-US" sz="2400" smtClean="0"/>
              <a:t>با </a:t>
            </a:r>
            <a:r>
              <a:rPr lang="en-US" altLang="en-US" sz="2400" smtClean="0"/>
              <a:t>integer</a:t>
            </a:r>
            <a:r>
              <a:rPr lang="fa-IR" altLang="en-US" sz="2400" smtClean="0"/>
              <a:t> غیرمجاز</a:t>
            </a:r>
          </a:p>
          <a:p>
            <a:r>
              <a:rPr lang="en-US" altLang="en-US" sz="2800" smtClean="0"/>
              <a:t>signed</a:t>
            </a:r>
            <a:r>
              <a:rPr lang="fa-IR" altLang="en-US" sz="2800" smtClean="0"/>
              <a:t> و </a:t>
            </a:r>
            <a:r>
              <a:rPr lang="en-US" altLang="en-US" sz="2800" smtClean="0"/>
              <a:t>unsigned</a:t>
            </a:r>
          </a:p>
          <a:p>
            <a:pPr lvl="1"/>
            <a:r>
              <a:rPr lang="fa-IR" altLang="en-US" sz="2400" smtClean="0"/>
              <a:t>پکیج </a:t>
            </a:r>
            <a:r>
              <a:rPr lang="en-US" altLang="en-US" sz="2400" smtClean="0"/>
              <a:t>numeric_bit</a:t>
            </a:r>
          </a:p>
          <a:p>
            <a:pPr lvl="1"/>
            <a:r>
              <a:rPr lang="fa-IR" altLang="en-US" sz="2400" smtClean="0"/>
              <a:t>پکیج </a:t>
            </a:r>
            <a:r>
              <a:rPr lang="en-US" altLang="en-US" sz="2400" smtClean="0"/>
              <a:t>numeric_std</a:t>
            </a:r>
          </a:p>
          <a:p>
            <a:pPr lvl="1"/>
            <a:endParaRPr lang="fa-IR" altLang="en-US" sz="2400" smtClean="0"/>
          </a:p>
          <a:p>
            <a:pPr lvl="1"/>
            <a:endParaRPr lang="en-US" altLang="en-US" sz="2400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0365A07-524F-464A-8060-3AA0503ED76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signed</a:t>
            </a:r>
            <a:r>
              <a:rPr lang="fa-IR" altLang="en-US" smtClean="0"/>
              <a:t>  و </a:t>
            </a:r>
            <a:r>
              <a:rPr lang="en-US" altLang="en-US" smtClean="0"/>
              <a:t>unsigned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85800" y="1157288"/>
            <a:ext cx="7772400" cy="4648200"/>
          </a:xfrm>
        </p:spPr>
        <p:txBody>
          <a:bodyPr/>
          <a:lstStyle/>
          <a:p>
            <a:r>
              <a:rPr lang="fa-IR" altLang="en-US" sz="2800" smtClean="0"/>
              <a:t>توابع تبدیل:</a:t>
            </a:r>
          </a:p>
          <a:p>
            <a:pPr lvl="1"/>
            <a:r>
              <a:rPr lang="en-US" altLang="en-US" sz="2400" smtClean="0"/>
              <a:t>to_integer</a:t>
            </a:r>
          </a:p>
          <a:p>
            <a:pPr lvl="1"/>
            <a:r>
              <a:rPr lang="en-US" altLang="en-US" sz="2400" smtClean="0"/>
              <a:t>to_signed</a:t>
            </a:r>
            <a:r>
              <a:rPr lang="fa-IR" altLang="en-US" sz="2400" smtClean="0"/>
              <a:t> و </a:t>
            </a:r>
            <a:r>
              <a:rPr lang="en-US" altLang="en-US" sz="2400" smtClean="0"/>
              <a:t>to_unsigned</a:t>
            </a:r>
          </a:p>
          <a:p>
            <a:pPr lvl="1"/>
            <a:endParaRPr lang="fa-IR" altLang="en-US" sz="2400" smtClean="0"/>
          </a:p>
          <a:p>
            <a:pPr lvl="1"/>
            <a:endParaRPr lang="en-US" altLang="en-US" sz="2400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0365A07-524F-464A-8060-3AA0503ED76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2688009"/>
            <a:ext cx="7992888" cy="36933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function TO_INTEGER (ARG: </a:t>
            </a:r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UNSIGNED)</a:t>
            </a:r>
          </a:p>
          <a:p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NATURAL</a:t>
            </a:r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TO_INTEGER (ARG: </a:t>
            </a:r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SIGNED)</a:t>
            </a:r>
          </a:p>
          <a:p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INTEGER;</a:t>
            </a:r>
          </a:p>
          <a:p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TO_UNSIGNED (ARG, SIZE: </a:t>
            </a:r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NATURAL)</a:t>
            </a:r>
          </a:p>
          <a:p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UNSIGNED;</a:t>
            </a:r>
          </a:p>
          <a:p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 Result subtype: UNSIGNED(SIZE-1 downto 0</a:t>
            </a:r>
            <a:r>
              <a:rPr lang="en-US" sz="1800" b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800" b="1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function TO_SIGNED (ARG: INTEGER; SIZE: NATURAL)</a:t>
            </a:r>
          </a:p>
          <a:p>
            <a:r>
              <a:rPr lang="en-US" sz="18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SIGNED;</a:t>
            </a:r>
          </a:p>
          <a:p>
            <a:r>
              <a:rPr lang="en-US" sz="1800" b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 </a:t>
            </a: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 subtype: SIGNED(SIZE-1 downto 0</a:t>
            </a:r>
            <a:r>
              <a:rPr lang="en-US" sz="1800" b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800" b="1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22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signed</a:t>
            </a:r>
            <a:r>
              <a:rPr lang="fa-IR" altLang="en-US" smtClean="0"/>
              <a:t>  و </a:t>
            </a:r>
            <a:r>
              <a:rPr lang="en-US" altLang="en-US" smtClean="0"/>
              <a:t>unsigned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00EAB18-D908-480C-8A92-F2D9866FFEE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611188" y="1905000"/>
            <a:ext cx="6985000" cy="30464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library IEEE;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use IEEE.std_logic_1164.all;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use IEEE.numeric_std.all;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S1, S2, S3: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signed (7 downto 0)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   S3 &lt;=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+ S2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   if (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&lt; S2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then ⋯ 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   S3 &lt;= S1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rol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5;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 	⋮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signed</a:t>
            </a:r>
            <a:r>
              <a:rPr lang="fa-IR" altLang="en-US" smtClean="0"/>
              <a:t>  و </a:t>
            </a:r>
            <a:r>
              <a:rPr lang="en-US" altLang="en-US" smtClean="0"/>
              <a:t>unsigned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00EAB18-D908-480C-8A92-F2D9866FFEE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611188" y="2027823"/>
            <a:ext cx="6985000" cy="280076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I : 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integer;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SGN : 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signed(7 </a:t>
            </a:r>
            <a:r>
              <a:rPr lang="en-US" altLang="en-US" sz="16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USGN : 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unsigned(7 </a:t>
            </a:r>
            <a:r>
              <a:rPr lang="en-US" altLang="en-US" sz="16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 FROM integer TO signed/unsigned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SGN &lt;= to_signed(I,8);</a:t>
            </a: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USGN &lt;= to_unsigned(I,8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 FROM signed/unsigned TO integer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 &lt;= to_integer(SGN);</a:t>
            </a: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 &lt;= to_integer(USGN);</a:t>
            </a:r>
            <a:endParaRPr lang="en-US" altLang="en-US" sz="1600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66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signed</a:t>
            </a:r>
            <a:r>
              <a:rPr lang="fa-IR" altLang="en-US" smtClean="0"/>
              <a:t>  و </a:t>
            </a:r>
            <a:r>
              <a:rPr lang="en-US" altLang="en-US" smtClean="0"/>
              <a:t>unsigned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00EAB18-D908-480C-8A92-F2D9866FFEE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611188" y="2027823"/>
            <a:ext cx="6985000" cy="280076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SLV 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lang="en-US" altLang="en-US" sz="16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(7 </a:t>
            </a:r>
            <a:r>
              <a:rPr lang="en-US" altLang="en-US" sz="16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 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signed(7 </a:t>
            </a:r>
            <a:r>
              <a:rPr lang="en-US" altLang="en-US" sz="16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US : 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unsigned(7 </a:t>
            </a:r>
            <a:r>
              <a:rPr lang="en-US" altLang="en-US" sz="16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 FROM </a:t>
            </a:r>
            <a:r>
              <a:rPr lang="en-US" altLang="en-US" sz="1600" dirty="0" err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6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TO signed/unsigned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SGN &lt;= signed(SLV);</a:t>
            </a: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USGN &lt;= unsigned(SLV);</a:t>
            </a: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 FROM signed/unsigned TO </a:t>
            </a:r>
            <a:r>
              <a:rPr lang="en-US" altLang="en-US" sz="1600" dirty="0" err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endParaRPr lang="en-US" altLang="en-US" sz="1600" dirty="0" smtClean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SVL &lt;= std_logic_vector(SGN);</a:t>
            </a:r>
            <a:endParaRPr lang="en-US" altLang="en-US" sz="1600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SVL &lt;= std_logic_vector(USGN);</a:t>
            </a:r>
            <a:endParaRPr lang="en-US" altLang="en-US" sz="1600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31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Common Usage</a:t>
            </a:r>
            <a:endParaRPr lang="en-US" alt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00EAB18-D908-480C-8A92-F2D9866FFEE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692150" y="1247854"/>
            <a:ext cx="6985000" cy="4278094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port(‎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A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in std_logic_vector(7 downto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 </a:t>
            </a: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in std_logic_vector(7 downto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Z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out std_logic_vector(8 downto 0) -- output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‎   );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‎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adder;‎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</a:t>
            </a: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BArch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of 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Z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std_logic_vector(signed(A) +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signed(B</a:t>
            </a: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...</a:t>
            </a: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</a:t>
            </a: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BArch;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‎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27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std_logic_(un)signed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685800" y="1196975"/>
            <a:ext cx="7772400" cy="4648200"/>
          </a:xfrm>
        </p:spPr>
        <p:txBody>
          <a:bodyPr/>
          <a:lstStyle/>
          <a:p>
            <a:r>
              <a:rPr lang="fa-IR" altLang="en-US" smtClean="0"/>
              <a:t>دو پکیج </a:t>
            </a:r>
            <a:r>
              <a:rPr lang="fa-IR" altLang="en-US" smtClean="0"/>
              <a:t>دیگر (از شرکت </a:t>
            </a:r>
            <a:r>
              <a:rPr lang="en-US" altLang="en-US" sz="2800" smtClean="0"/>
              <a:t>Synopsys</a:t>
            </a:r>
            <a:r>
              <a:rPr lang="fa-IR" altLang="en-US" smtClean="0"/>
              <a:t>)</a:t>
            </a:r>
            <a:endParaRPr lang="fa-IR" altLang="en-US" smtClean="0"/>
          </a:p>
          <a:p>
            <a:pPr lvl="1"/>
            <a:r>
              <a:rPr lang="en-US" altLang="en-US" smtClean="0"/>
              <a:t>std_logic_signed</a:t>
            </a:r>
            <a:endParaRPr lang="fa-IR" altLang="en-US" smtClean="0"/>
          </a:p>
          <a:p>
            <a:pPr lvl="1"/>
            <a:r>
              <a:rPr lang="en-US" altLang="en-US" smtClean="0"/>
              <a:t>std_logic_unsigned</a:t>
            </a:r>
            <a:endParaRPr lang="fa-IR" altLang="en-US" smtClean="0"/>
          </a:p>
          <a:p>
            <a:pPr lvl="1"/>
            <a:endParaRPr lang="fa-IR" altLang="en-US" smtClean="0"/>
          </a:p>
          <a:p>
            <a:pPr lvl="2"/>
            <a:r>
              <a:rPr lang="fa-IR" altLang="en-US" smtClean="0"/>
              <a:t>عملگرهای ریاضی روی </a:t>
            </a:r>
            <a:r>
              <a:rPr lang="en-US" altLang="en-US" smtClean="0"/>
              <a:t>std_logic_vector</a:t>
            </a:r>
            <a:r>
              <a:rPr lang="fa-IR" altLang="en-US" smtClean="0"/>
              <a:t> تعریف شده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7D1A828-3BDE-47D0-BDD7-93A2E368658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0725" name="Rectangle 2"/>
          <p:cNvSpPr>
            <a:spLocks noChangeArrowheads="1"/>
          </p:cNvSpPr>
          <p:nvPr/>
        </p:nvSpPr>
        <p:spPr bwMode="auto">
          <a:xfrm>
            <a:off x="611188" y="3848100"/>
            <a:ext cx="6985000" cy="23082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library IEEE;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use IEEE.std_logic_1164.all;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use IEEE.std_logic_signed.all;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S1, S2, S3: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(31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   S3 &lt;=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+ S2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692150" y="536575"/>
            <a:ext cx="7773988" cy="444500"/>
          </a:xfrm>
        </p:spPr>
        <p:txBody>
          <a:bodyPr/>
          <a:lstStyle/>
          <a:p>
            <a:pPr rtl="1"/>
            <a:r>
              <a:rPr lang="fa-IR" altLang="en-US" smtClean="0"/>
              <a:t>آرایه‌ها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85800" y="1071563"/>
            <a:ext cx="7772400" cy="762000"/>
          </a:xfrm>
        </p:spPr>
        <p:txBody>
          <a:bodyPr/>
          <a:lstStyle/>
          <a:p>
            <a:r>
              <a:rPr lang="fa-IR" altLang="en-US" smtClean="0"/>
              <a:t>تعریف نوع آرایه:</a:t>
            </a:r>
          </a:p>
          <a:p>
            <a:pPr lvl="1"/>
            <a:endParaRPr lang="fa-IR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62688"/>
            <a:ext cx="554037" cy="33496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DB86176-2781-4959-B817-50EF45D6B81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611188" y="1833563"/>
            <a:ext cx="6985000" cy="8302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ARR_T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array (31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 of integer;</a:t>
            </a:r>
            <a:endParaRPr lang="fa-IR" altLang="en-US" sz="1600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signal SA :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ARR_T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84213" y="2828925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kern="0" dirty="0" smtClean="0"/>
              <a:t>اندیس غیر صحیح (شمارشی)</a:t>
            </a:r>
          </a:p>
          <a:p>
            <a:pPr lvl="1">
              <a:defRPr/>
            </a:pPr>
            <a:endParaRPr lang="fa-IR" kern="0" dirty="0" smtClean="0"/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611188" y="3352800"/>
            <a:ext cx="6985000" cy="30464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BCD_COUNT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(thousand, hundred, ten, one);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BCD_ARR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array(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BCD_COUNT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of integer range 0 to 9;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S_BCD_A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BCD_ARR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:= (7,5,4,2);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S_BCD_A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(thousand) &lt;= 9;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S_BCD_A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(hundred to one) &lt;= (2,3,8);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⋯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692150" y="536575"/>
            <a:ext cx="7773988" cy="444500"/>
          </a:xfrm>
        </p:spPr>
        <p:txBody>
          <a:bodyPr/>
          <a:lstStyle/>
          <a:p>
            <a:pPr rtl="1"/>
            <a:r>
              <a:rPr lang="fa-IR" altLang="en-US" smtClean="0"/>
              <a:t>آرایه‌ها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685800" y="1071563"/>
            <a:ext cx="7772400" cy="762000"/>
          </a:xfrm>
        </p:spPr>
        <p:txBody>
          <a:bodyPr/>
          <a:lstStyle/>
          <a:p>
            <a:r>
              <a:rPr lang="en-US" altLang="en-US" smtClean="0"/>
              <a:t>Array aggregation</a:t>
            </a:r>
            <a:r>
              <a:rPr lang="fa-IR" altLang="en-US" smtClean="0"/>
              <a:t>:</a:t>
            </a:r>
          </a:p>
          <a:p>
            <a:pPr lvl="1"/>
            <a:endParaRPr lang="fa-IR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62688"/>
            <a:ext cx="554037" cy="33496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125B419-84E5-4E8D-BF2A-BD372A5BAC26}" type="slidenum">
              <a:rPr lang="en-US" altLang="en-US" sz="1300" b="0" smtClean="0">
                <a:solidFill>
                  <a:srgbClr val="000000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300" b="0" smtClean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5845" name="Rectangle 2"/>
          <p:cNvSpPr>
            <a:spLocks noChangeArrowheads="1"/>
          </p:cNvSpPr>
          <p:nvPr/>
        </p:nvSpPr>
        <p:spPr bwMode="auto">
          <a:xfrm>
            <a:off x="755650" y="4941888"/>
            <a:ext cx="5256213" cy="3381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S_ARR1 &lt;= (others =&gt; ‘0’);</a:t>
            </a:r>
          </a:p>
        </p:txBody>
      </p:sp>
      <p:sp>
        <p:nvSpPr>
          <p:cNvPr id="35846" name="Rectangle 2"/>
          <p:cNvSpPr>
            <a:spLocks noChangeArrowheads="1"/>
          </p:cNvSpPr>
          <p:nvPr/>
        </p:nvSpPr>
        <p:spPr bwMode="auto">
          <a:xfrm>
            <a:off x="763588" y="1984375"/>
            <a:ext cx="7993062" cy="25542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S1, S2, S3, S4 : bit;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S_ARR1 : bit_vector(3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(S1, S2, S3, S4) &lt;= S_ARR1;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S_ARR1 &lt;= (S1, S2, S3, S4);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(S1, S2, S3, S4) &lt;= ”1001”;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S_ARR1 &lt;= (3 =&gt; ‘1’, 2 downto 1 =&gt; ‘0’, others =&gt; ‘1’);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⋯ ;</a:t>
            </a:r>
          </a:p>
        </p:txBody>
      </p:sp>
    </p:spTree>
    <p:extLst>
      <p:ext uri="{BB962C8B-B14F-4D97-AF65-F5344CB8AC3E}">
        <p14:creationId xmlns:p14="http://schemas.microsoft.com/office/powerpoint/2010/main" val="245284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692150" y="536575"/>
            <a:ext cx="7773988" cy="444500"/>
          </a:xfrm>
        </p:spPr>
        <p:txBody>
          <a:bodyPr/>
          <a:lstStyle/>
          <a:p>
            <a:pPr rtl="1"/>
            <a:r>
              <a:rPr lang="fa-IR" altLang="en-US" smtClean="0"/>
              <a:t>آرایه‌ها</a:t>
            </a:r>
            <a:endParaRPr lang="en-US" altLang="en-US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685800" y="1071563"/>
            <a:ext cx="7772400" cy="762000"/>
          </a:xfrm>
        </p:spPr>
        <p:txBody>
          <a:bodyPr/>
          <a:lstStyle/>
          <a:p>
            <a:r>
              <a:rPr lang="fa-IR" altLang="en-US" smtClean="0"/>
              <a:t>آرایه چندبعدی:</a:t>
            </a:r>
          </a:p>
          <a:p>
            <a:pPr lvl="1"/>
            <a:r>
              <a:rPr lang="fa-IR" altLang="en-US" smtClean="0"/>
              <a:t>راه اول</a:t>
            </a:r>
          </a:p>
          <a:p>
            <a:pPr lvl="1"/>
            <a:endParaRPr lang="fa-IR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62688"/>
            <a:ext cx="554037" cy="33496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99FAF9F-15B5-4D9D-AF0F-CFFDEE5B767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611188" y="2093913"/>
            <a:ext cx="6985000" cy="8302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ROW_BYTE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array (7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 of bit;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RAM100</a:t>
            </a: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 array (1 to 100) of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ROW_BYTE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RAM_SIG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RAM100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32774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1" t="24802" r="29750" b="8960"/>
          <a:stretch>
            <a:fillRect/>
          </a:stretch>
        </p:blipFill>
        <p:spPr bwMode="auto">
          <a:xfrm>
            <a:off x="2470150" y="2997200"/>
            <a:ext cx="3757613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692150" y="536575"/>
            <a:ext cx="7773988" cy="444500"/>
          </a:xfrm>
        </p:spPr>
        <p:txBody>
          <a:bodyPr/>
          <a:lstStyle/>
          <a:p>
            <a:pPr rtl="1"/>
            <a:r>
              <a:rPr lang="fa-IR" altLang="en-US" smtClean="0"/>
              <a:t>آرایه‌ها</a:t>
            </a:r>
            <a:endParaRPr lang="en-US" altLang="en-US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85800" y="1071563"/>
            <a:ext cx="7772400" cy="762000"/>
          </a:xfrm>
        </p:spPr>
        <p:txBody>
          <a:bodyPr/>
          <a:lstStyle/>
          <a:p>
            <a:r>
              <a:rPr lang="fa-IR" altLang="en-US" smtClean="0"/>
              <a:t>آرایه چندبعدی:</a:t>
            </a:r>
          </a:p>
          <a:p>
            <a:pPr lvl="1"/>
            <a:r>
              <a:rPr lang="fa-IR" altLang="en-US" smtClean="0"/>
              <a:t>راه دوم</a:t>
            </a:r>
          </a:p>
          <a:p>
            <a:pPr lvl="1"/>
            <a:endParaRPr lang="fa-IR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62688"/>
            <a:ext cx="554037" cy="33496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C9EDE25-4E63-4642-8E97-8263A00C13E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3797" name="Rectangle 2"/>
          <p:cNvSpPr>
            <a:spLocks noChangeArrowheads="1"/>
          </p:cNvSpPr>
          <p:nvPr/>
        </p:nvSpPr>
        <p:spPr bwMode="auto">
          <a:xfrm>
            <a:off x="682625" y="2195513"/>
            <a:ext cx="6985000" cy="5857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RAM100_2D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array (1 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 </a:t>
            </a: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100, 7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 of bit;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RAM_SIG2D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RAM100_2D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3379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1" t="14000" r="27501" b="9682"/>
          <a:stretch>
            <a:fillRect/>
          </a:stretch>
        </p:blipFill>
        <p:spPr bwMode="auto">
          <a:xfrm>
            <a:off x="2063750" y="2924175"/>
            <a:ext cx="33718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692150" y="536575"/>
            <a:ext cx="7773988" cy="444500"/>
          </a:xfrm>
        </p:spPr>
        <p:txBody>
          <a:bodyPr/>
          <a:lstStyle/>
          <a:p>
            <a:pPr rtl="1"/>
            <a:r>
              <a:rPr lang="fa-IR" altLang="en-US" smtClean="0"/>
              <a:t>آرایه‌ها</a:t>
            </a:r>
            <a:endParaRPr lang="en-US" altLang="en-US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685800" y="1071563"/>
            <a:ext cx="7772400" cy="762000"/>
          </a:xfrm>
        </p:spPr>
        <p:txBody>
          <a:bodyPr/>
          <a:lstStyle/>
          <a:p>
            <a:r>
              <a:rPr lang="fa-IR" altLang="en-US" smtClean="0"/>
              <a:t>آرایه چندبعدی:</a:t>
            </a:r>
          </a:p>
          <a:p>
            <a:pPr lvl="1"/>
            <a:r>
              <a:rPr lang="fa-IR" altLang="en-US" smtClean="0"/>
              <a:t>دسترسی به یک سطر و عنصر در حالت اول</a:t>
            </a:r>
          </a:p>
          <a:p>
            <a:pPr lvl="1"/>
            <a:endParaRPr lang="fa-IR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62688"/>
            <a:ext cx="554037" cy="33496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C8B4060-4825-4AD5-83E3-A2E584B7274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4821" name="Rectangle 2"/>
          <p:cNvSpPr>
            <a:spLocks noChangeArrowheads="1"/>
          </p:cNvSpPr>
          <p:nvPr/>
        </p:nvSpPr>
        <p:spPr bwMode="auto">
          <a:xfrm>
            <a:off x="611188" y="2217738"/>
            <a:ext cx="6985000" cy="584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RAM_SIG(2) &lt;= (’1’, ’1’, ’0’, ’1’, ’0’, ’0’, ’1’, ’1’);</a:t>
            </a:r>
            <a:endParaRPr lang="fa-IR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RAM_SIG(2)(5) &lt;= ’0’;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4213" y="3027363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kern="0" dirty="0" smtClean="0"/>
              <a:t>دسترسی به یک سطر و عنصر در حالت دوم</a:t>
            </a:r>
          </a:p>
        </p:txBody>
      </p:sp>
      <p:sp>
        <p:nvSpPr>
          <p:cNvPr id="34823" name="Rectangle 2"/>
          <p:cNvSpPr>
            <a:spLocks noChangeArrowheads="1"/>
          </p:cNvSpPr>
          <p:nvPr/>
        </p:nvSpPr>
        <p:spPr bwMode="auto">
          <a:xfrm>
            <a:off x="611188" y="4241800"/>
            <a:ext cx="7921625" cy="5857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RAM_SIG2D(2) &lt;= (’1’, ’1’, ’0’, ’1’, ’0’, ’0’, ’1’, ’1’);</a:t>
            </a:r>
            <a:endParaRPr lang="fa-IR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RAM_SIG2D(2,5) &lt;= ’0’;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4213" y="5259388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fa-IR" kern="0" dirty="0" smtClean="0"/>
              <a:t>سنتزکننده:</a:t>
            </a:r>
          </a:p>
          <a:p>
            <a:pPr lvl="1">
              <a:defRPr/>
            </a:pPr>
            <a:r>
              <a:rPr lang="fa-IR" kern="0" dirty="0" smtClean="0"/>
              <a:t>معمولاً تا دو بعدی را می‌پذیرند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92150" y="536575"/>
            <a:ext cx="7773988" cy="444500"/>
          </a:xfrm>
        </p:spPr>
        <p:txBody>
          <a:bodyPr/>
          <a:lstStyle/>
          <a:p>
            <a:pPr rtl="1"/>
            <a:r>
              <a:rPr lang="fa-IR" altLang="en-US" smtClean="0"/>
              <a:t>رکوردها</a:t>
            </a:r>
            <a:endParaRPr lang="en-US" altLang="en-US" smtClean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760413" y="981075"/>
            <a:ext cx="7772400" cy="762000"/>
          </a:xfrm>
        </p:spPr>
        <p:txBody>
          <a:bodyPr/>
          <a:lstStyle/>
          <a:p>
            <a:r>
              <a:rPr lang="fa-IR" altLang="en-US" smtClean="0"/>
              <a:t>تعریف و استفاده از نوع رکورد:</a:t>
            </a:r>
          </a:p>
          <a:p>
            <a:pPr lvl="1"/>
            <a:endParaRPr lang="fa-IR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62688"/>
            <a:ext cx="554037" cy="33496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D5747FE-823F-4EBB-BE49-73CC8E9C0A3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6869" name="Rectangle 2"/>
          <p:cNvSpPr>
            <a:spLocks noChangeArrowheads="1"/>
          </p:cNvSpPr>
          <p:nvPr/>
        </p:nvSpPr>
        <p:spPr bwMode="auto">
          <a:xfrm>
            <a:off x="539552" y="1538288"/>
            <a:ext cx="7993062" cy="47704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OP_CODE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(LOAD, STORE, ADD, CONVERT, SUBTRACT, JUMP);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subtype 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REGISTER is integer range 0 to 7;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subtype 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ADDRESS is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(6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INSTRUCTION is record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OC :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OP_CODE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REG1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REGISTER;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REG2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REGISTER;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ADDRESS;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record;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INST_ARR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array (0 to 1023) of INSTRUCTION;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INSTR_MEMORY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INST_ARR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INSTR_MEMORY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(1).OC &lt;= ADD;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INSTR_MEMORY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(1).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REG1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&lt;= 0 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INSTR_MEMORY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(1).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REG2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&lt;= 1 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INSTR_MEMORY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(1).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&lt;= “1100000”;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692150" y="536575"/>
            <a:ext cx="7773988" cy="444500"/>
          </a:xfrm>
        </p:spPr>
        <p:txBody>
          <a:bodyPr/>
          <a:lstStyle/>
          <a:p>
            <a:pPr rtl="1"/>
            <a:r>
              <a:rPr lang="fa-IR" altLang="en-US" smtClean="0"/>
              <a:t>رکوردها</a:t>
            </a:r>
            <a:endParaRPr lang="en-US" altLang="en-US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684213" y="1071563"/>
            <a:ext cx="7772400" cy="762000"/>
          </a:xfrm>
        </p:spPr>
        <p:txBody>
          <a:bodyPr/>
          <a:lstStyle/>
          <a:p>
            <a:r>
              <a:rPr lang="fa-IR" altLang="en-US" smtClean="0"/>
              <a:t>تعریف نوع رکورد:</a:t>
            </a:r>
          </a:p>
          <a:p>
            <a:pPr lvl="1"/>
            <a:endParaRPr lang="fa-IR" alt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62688"/>
            <a:ext cx="554037" cy="33496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0677CE5-2B0D-4A7B-A82C-203A1976DE6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789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0" t="19760" r="11301" b="10400"/>
          <a:stretch>
            <a:fillRect/>
          </a:stretch>
        </p:blipFill>
        <p:spPr bwMode="auto">
          <a:xfrm>
            <a:off x="2268538" y="1658938"/>
            <a:ext cx="5975350" cy="452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692150" y="536575"/>
            <a:ext cx="7773988" cy="444500"/>
          </a:xfrm>
        </p:spPr>
        <p:txBody>
          <a:bodyPr/>
          <a:lstStyle/>
          <a:p>
            <a:pPr rtl="1"/>
            <a:r>
              <a:rPr lang="fa-IR" altLang="en-US" smtClean="0"/>
              <a:t>رکوردها</a:t>
            </a:r>
            <a:endParaRPr lang="en-US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760413" y="1298575"/>
            <a:ext cx="7772400" cy="762000"/>
          </a:xfrm>
        </p:spPr>
        <p:txBody>
          <a:bodyPr/>
          <a:lstStyle/>
          <a:p>
            <a:r>
              <a:rPr lang="en-US" altLang="en-US" smtClean="0"/>
              <a:t>Record aggregation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en-US" altLang="en-US" smtClean="0"/>
              <a:t>Positional association</a:t>
            </a:r>
          </a:p>
          <a:p>
            <a:pPr lvl="1"/>
            <a:r>
              <a:rPr lang="en-US" altLang="en-US" smtClean="0"/>
              <a:t>Named association</a:t>
            </a:r>
            <a:endParaRPr lang="fa-IR" altLang="en-US" smtClean="0"/>
          </a:p>
          <a:p>
            <a:pPr lvl="1"/>
            <a:endParaRPr lang="fa-IR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62688"/>
            <a:ext cx="554037" cy="334962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4C48AA1-F9AB-4D76-BCA0-97953FFC70C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8917" name="Rectangle 2"/>
          <p:cNvSpPr>
            <a:spLocks noChangeArrowheads="1"/>
          </p:cNvSpPr>
          <p:nvPr/>
        </p:nvSpPr>
        <p:spPr bwMode="auto">
          <a:xfrm>
            <a:off x="763588" y="3386138"/>
            <a:ext cx="7993062" cy="1076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INST_MEMORY(1) &lt;= (ADD, 0, 1, “1100000”);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INST_MEMORY(1) &lt;= (REG1 =&gt; 0, REG2 =&gt; 1, ADDR =&gt; ((6 downto 5) =&gt; ‘1’, others =&gt; ‘0’), OC =&gt; ADD);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25469</TotalTime>
  <Words>1901</Words>
  <Application>Microsoft Office PowerPoint</Application>
  <PresentationFormat>On-screen Show (4:3)</PresentationFormat>
  <Paragraphs>593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B Mitra</vt:lpstr>
      <vt:lpstr>B Titr</vt:lpstr>
      <vt:lpstr>Calibri</vt:lpstr>
      <vt:lpstr>Courier New</vt:lpstr>
      <vt:lpstr>Times New Roman</vt:lpstr>
      <vt:lpstr>Wingdings</vt:lpstr>
      <vt:lpstr>1_presentation_template</vt:lpstr>
      <vt:lpstr>Custom Design</vt:lpstr>
      <vt:lpstr>انواع داده</vt:lpstr>
      <vt:lpstr>انواع داده</vt:lpstr>
      <vt:lpstr>انواع داده</vt:lpstr>
      <vt:lpstr>انواع داده</vt:lpstr>
      <vt:lpstr>انواع داده</vt:lpstr>
      <vt:lpstr>انواع داده</vt:lpstr>
      <vt:lpstr>نوع دادة std_ulogic</vt:lpstr>
      <vt:lpstr>نوع دادة std_ulogic</vt:lpstr>
      <vt:lpstr>نوع دادة std_ulogic</vt:lpstr>
      <vt:lpstr>نوع دادة std_ulogic</vt:lpstr>
      <vt:lpstr>نوع دادة std_logic</vt:lpstr>
      <vt:lpstr>نوع دادة std_logic</vt:lpstr>
      <vt:lpstr>نوع دادة std_logic</vt:lpstr>
      <vt:lpstr>نوع دادة std_logic</vt:lpstr>
      <vt:lpstr>نوع دادة std_logic</vt:lpstr>
      <vt:lpstr>نوع دادة std_logic</vt:lpstr>
      <vt:lpstr>signed  و unsigned</vt:lpstr>
      <vt:lpstr>signed  و unsigned</vt:lpstr>
      <vt:lpstr>signed  و unsigned</vt:lpstr>
      <vt:lpstr>signed  و unsigned</vt:lpstr>
      <vt:lpstr>signed  و unsigned</vt:lpstr>
      <vt:lpstr>Common Usage</vt:lpstr>
      <vt:lpstr>std_logic_(un)signed</vt:lpstr>
      <vt:lpstr>آرایه‌ها</vt:lpstr>
      <vt:lpstr>آرایه‌ها</vt:lpstr>
      <vt:lpstr>آرایه‌ها</vt:lpstr>
      <vt:lpstr>آرایه‌ها</vt:lpstr>
      <vt:lpstr>آرایه‌ها</vt:lpstr>
      <vt:lpstr>رکوردها</vt:lpstr>
      <vt:lpstr>رکوردها</vt:lpstr>
      <vt:lpstr>رکوردها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792</cp:revision>
  <dcterms:created xsi:type="dcterms:W3CDTF">1601-01-01T00:00:00Z</dcterms:created>
  <dcterms:modified xsi:type="dcterms:W3CDTF">2024-03-10T06:14:56Z</dcterms:modified>
</cp:coreProperties>
</file>