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4" r:id="rId2"/>
  </p:sldMasterIdLst>
  <p:notesMasterIdLst>
    <p:notesMasterId r:id="rId13"/>
  </p:notesMasterIdLst>
  <p:sldIdLst>
    <p:sldId id="256" r:id="rId3"/>
    <p:sldId id="440" r:id="rId4"/>
    <p:sldId id="441" r:id="rId5"/>
    <p:sldId id="444" r:id="rId6"/>
    <p:sldId id="445" r:id="rId7"/>
    <p:sldId id="450" r:id="rId8"/>
    <p:sldId id="446" r:id="rId9"/>
    <p:sldId id="451" r:id="rId10"/>
    <p:sldId id="448" r:id="rId11"/>
    <p:sldId id="449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  <a:srgbClr val="0033CC"/>
    <a:srgbClr val="CC6600"/>
    <a:srgbClr val="669900"/>
    <a:srgbClr val="CCFFCC"/>
    <a:srgbClr val="990000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5620" autoAdjust="0"/>
    <p:restoredTop sz="90493" autoAdjust="0"/>
  </p:normalViewPr>
  <p:slideViewPr>
    <p:cSldViewPr>
      <p:cViewPr varScale="1">
        <p:scale>
          <a:sx n="75" d="100"/>
          <a:sy n="75" d="100"/>
        </p:scale>
        <p:origin x="91" y="27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76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C12D4AD-7E6D-4F1E-9CCC-2901BDC83B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96325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A4972F7-2B9F-4493-89C3-56BD94B7605B}" type="slidenum">
              <a:rPr lang="en-US" altLang="en-US" sz="1200" smtClean="0"/>
              <a:pPr/>
              <a:t>1</a:t>
            </a:fld>
            <a:endParaRPr lang="en-US" altLang="en-US" sz="1200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81619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C32D922-8033-4904-B607-DE62EF44144C}" type="slidenum">
              <a:rPr lang="en-US" altLang="en-US" sz="1200" smtClean="0"/>
              <a:pPr/>
              <a:t>2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942628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F47698B-7F5D-4F4D-B0C7-1BC37268D699}" type="slidenum">
              <a:rPr lang="en-US" altLang="en-US" sz="1200" smtClean="0"/>
              <a:pPr/>
              <a:t>3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565261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5979AD7-F5FC-44D2-AA16-5BCAC47B83C6}" type="slidenum">
              <a:rPr lang="en-US" altLang="en-US" sz="1200" smtClean="0"/>
              <a:pPr/>
              <a:t>4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471916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C415CB6-25B4-496E-9827-347C1B0BB538}" type="slidenum">
              <a:rPr lang="en-US" altLang="en-US" sz="1200" smtClean="0"/>
              <a:pPr/>
              <a:t>5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302778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5B273EFA-08E2-46FB-AF70-3A45B121EAAA}" type="slidenum">
              <a:rPr lang="en-US" altLang="en-US" sz="1200" smtClean="0"/>
              <a:pPr/>
              <a:t>6</a:t>
            </a:fld>
            <a:endParaRPr lang="en-US" altLang="en-US" sz="1200" smtClean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55774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7A80EA6-A794-42B0-AEFD-832C200DA141}" type="slidenum">
              <a:rPr lang="en-US" altLang="en-US" sz="1200" smtClean="0"/>
              <a:pPr/>
              <a:t>7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656050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7A80EA6-A794-42B0-AEFD-832C200DA141}" type="slidenum">
              <a:rPr lang="en-US" altLang="en-US" sz="1200" smtClean="0"/>
              <a:pPr/>
              <a:t>8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67148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8B942F6-F94D-4EB7-B699-7D2C080A08C2}" type="slidenum">
              <a:rPr lang="en-US" altLang="en-US" sz="1200" smtClean="0"/>
              <a:pPr/>
              <a:t>9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285420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906BB48-26EF-460F-B602-4ACFE6ADA4AB}" type="slidenum">
              <a:rPr lang="en-US" altLang="en-US" sz="1200" smtClean="0"/>
              <a:pPr/>
              <a:t>10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51201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 smtClean="0"/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692150" y="2286000"/>
            <a:ext cx="7759700" cy="1143000"/>
          </a:xfrm>
          <a:ln w="12700"/>
        </p:spPr>
        <p:txBody>
          <a:bodyPr wrap="none" lIns="82030" tIns="41015" rIns="82030" bIns="4101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33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85888" y="3898900"/>
            <a:ext cx="6372225" cy="1749425"/>
          </a:xfrm>
          <a:ln w="12700"/>
        </p:spPr>
        <p:txBody>
          <a:bodyPr wrap="none" lIns="82030" tIns="41015" rIns="82030" bIns="41015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63939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r" rtl="1">
              <a:defRPr sz="3200"/>
            </a:lvl1pPr>
            <a:lvl2pPr marL="990600" indent="-533400" algn="r" rtl="1">
              <a:buFont typeface="Wingdings" pitchFamily="2" charset="2"/>
              <a:buChar char="q"/>
              <a:defRPr sz="2800"/>
            </a:lvl2pPr>
            <a:lvl3pPr algn="r" rtl="1">
              <a:defRPr sz="2400"/>
            </a:lvl3pPr>
            <a:lvl4pPr algn="r" rtl="1">
              <a:defRPr sz="2000"/>
            </a:lvl4pPr>
            <a:lvl5pPr algn="r" rtl="1"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F23411-A632-4FA9-85B2-4E02E8C828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573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6862C1-5332-455D-B881-FCDDC12C67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9999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D03D0B-F248-465D-BCE1-A8E53BE5AB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7373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925633-A07B-4072-8CC4-0BA2D5FC86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485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4CDD43-AB42-497A-BF11-93444EF840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6454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55D951-68BB-4665-8394-44A340D732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1643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FD4070-2C28-4025-8A11-A2158860F9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9548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15C69A-7C47-4F82-8F1E-D1408318CC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3734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1E802D-B33A-4F78-8B0D-D10928AD49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769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403225"/>
            <a:ext cx="1944688" cy="54641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03225"/>
            <a:ext cx="5683250" cy="5464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AA9911-1E5F-4767-ACA0-E37325570F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0135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EA8BDC-9C11-44D8-857B-D6820D2D9D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6638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C01E3B-74DC-481A-9292-6ACA4A4D7F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0568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5489C-B29B-4BA7-8E8A-1E95D55B24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4242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FACBB6-841F-4474-BC80-7D1A098144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3902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154051-F53E-4571-AF70-B9CADDCCED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6961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F72352-4448-4E45-B023-4BED101DCB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05242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5186A4-C4E2-4934-9ECC-FCCE335C07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79765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FFE75-4FA5-43EE-AAD0-6C597C7F27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74636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18C47E-E74F-471D-B1D2-86BF4F2D20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80103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63A7A-C6C0-4DE3-B3C8-DE97B22E9F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21686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DC35AD-A020-4A9A-9820-439A18FF66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342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  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92150" y="403225"/>
            <a:ext cx="777398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18228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43888" y="6388100"/>
            <a:ext cx="554037" cy="334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82030" tIns="41015" rIns="82030" bIns="41015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93AEBD9-FCDA-42CE-A336-262064358E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94" r:id="rId1"/>
    <p:sldLayoutId id="2147484873" r:id="rId2"/>
    <p:sldLayoutId id="2147484874" r:id="rId3"/>
    <p:sldLayoutId id="2147484875" r:id="rId4"/>
    <p:sldLayoutId id="2147484876" r:id="rId5"/>
    <p:sldLayoutId id="2147484877" r:id="rId6"/>
    <p:sldLayoutId id="2147484878" r:id="rId7"/>
    <p:sldLayoutId id="2147484879" r:id="rId8"/>
    <p:sldLayoutId id="2147484880" r:id="rId9"/>
    <p:sldLayoutId id="2147484881" r:id="rId10"/>
    <p:sldLayoutId id="2147484882" r:id="rId11"/>
  </p:sldLayoutIdLst>
  <p:hf hdr="0" ftr="0" dt="0"/>
  <p:txStyles>
    <p:titleStyle>
      <a:lvl1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+mj-lt"/>
          <a:ea typeface="+mj-ea"/>
          <a:cs typeface="B Titr" pitchFamily="2" charset="-78"/>
        </a:defRPr>
      </a:lvl1pPr>
      <a:lvl2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2pPr>
      <a:lvl3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3pPr>
      <a:lvl4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4pPr>
      <a:lvl5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5pPr>
      <a:lvl6pPr marL="4572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6pPr>
      <a:lvl7pPr marL="9144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7pPr>
      <a:lvl8pPr marL="13716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8pPr>
      <a:lvl9pPr marL="18288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FF5050"/>
          </a:solidFill>
          <a:latin typeface="+mn-lt"/>
          <a:ea typeface="+mn-ea"/>
          <a:cs typeface="B Mitra" pitchFamily="2" charset="-78"/>
        </a:defRPr>
      </a:lvl1pPr>
      <a:lvl2pPr marL="895350" indent="-4381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sz="2200">
          <a:solidFill>
            <a:srgbClr val="0000FF"/>
          </a:solidFill>
          <a:latin typeface="+mn-lt"/>
          <a:cs typeface="B Mitra" pitchFamily="2" charset="-78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2400">
          <a:solidFill>
            <a:schemeClr val="tx1"/>
          </a:solidFill>
          <a:latin typeface="+mn-lt"/>
          <a:cs typeface="B Mitra" pitchFamily="2" charset="-78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600">
          <a:solidFill>
            <a:schemeClr val="tx1"/>
          </a:solidFill>
          <a:latin typeface="+mn-lt"/>
          <a:cs typeface="B Mitra" pitchFamily="2" charset="-78"/>
        </a:defRPr>
      </a:lvl4pPr>
      <a:lvl5pPr marL="2057400" indent="-231775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200">
          <a:solidFill>
            <a:schemeClr val="tx1"/>
          </a:solidFill>
          <a:latin typeface="+mn-lt"/>
          <a:cs typeface="B Mitra" pitchFamily="2" charset="-78"/>
        </a:defRPr>
      </a:lvl5pPr>
      <a:lvl6pPr marL="25146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6pPr>
      <a:lvl7pPr marL="29718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7pPr>
      <a:lvl8pPr marL="34290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8pPr>
      <a:lvl9pPr marL="38862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150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F113785E-4ACA-4D37-916E-15DE62F9A7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83" r:id="rId1"/>
    <p:sldLayoutId id="2147484884" r:id="rId2"/>
    <p:sldLayoutId id="2147484885" r:id="rId3"/>
    <p:sldLayoutId id="2147484886" r:id="rId4"/>
    <p:sldLayoutId id="2147484887" r:id="rId5"/>
    <p:sldLayoutId id="2147484888" r:id="rId6"/>
    <p:sldLayoutId id="2147484889" r:id="rId7"/>
    <p:sldLayoutId id="2147484890" r:id="rId8"/>
    <p:sldLayoutId id="2147484891" r:id="rId9"/>
    <p:sldLayoutId id="2147484892" r:id="rId10"/>
    <p:sldLayoutId id="214748489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ln w="9525"/>
        </p:spPr>
        <p:txBody>
          <a:bodyPr/>
          <a:lstStyle/>
          <a:p>
            <a:pPr rtl="1" eaLnBrk="1" hangingPunct="1"/>
            <a:r>
              <a:rPr lang="fa-IR" altLang="en-US" smtClean="0"/>
              <a:t>عملگرها</a:t>
            </a:r>
            <a:endParaRPr lang="en-US" altLang="en-US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ln w="9525"/>
        </p:spPr>
        <p:txBody>
          <a:bodyPr/>
          <a:lstStyle/>
          <a:p>
            <a:pPr eaLnBrk="1" hangingPunct="1"/>
            <a:r>
              <a:rPr lang="en-US" altLang="en-US" smtClean="0"/>
              <a:t>Operators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عملگرها در </a:t>
            </a:r>
            <a:r>
              <a:rPr lang="en-US" altLang="en-US" smtClean="0"/>
              <a:t>VHDL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476375" y="1790700"/>
          <a:ext cx="6640513" cy="3438526"/>
        </p:xfrm>
        <a:graphic>
          <a:graphicData uri="http://schemas.openxmlformats.org/drawingml/2006/table">
            <a:tbl>
              <a:tblPr/>
              <a:tblGrid>
                <a:gridCol w="863752">
                  <a:extLst>
                    <a:ext uri="{9D8B030D-6E8A-4147-A177-3AD203B41FA5}"/>
                  </a:extLst>
                </a:gridCol>
                <a:gridCol w="863752">
                  <a:extLst>
                    <a:ext uri="{9D8B030D-6E8A-4147-A177-3AD203B41FA5}"/>
                  </a:extLst>
                </a:gridCol>
                <a:gridCol w="863752">
                  <a:extLst>
                    <a:ext uri="{9D8B030D-6E8A-4147-A177-3AD203B41FA5}"/>
                  </a:extLst>
                </a:gridCol>
                <a:gridCol w="863752">
                  <a:extLst>
                    <a:ext uri="{9D8B030D-6E8A-4147-A177-3AD203B41FA5}"/>
                  </a:extLst>
                </a:gridCol>
                <a:gridCol w="863752">
                  <a:extLst>
                    <a:ext uri="{9D8B030D-6E8A-4147-A177-3AD203B41FA5}"/>
                  </a:extLst>
                </a:gridCol>
                <a:gridCol w="863752">
                  <a:extLst>
                    <a:ext uri="{9D8B030D-6E8A-4147-A177-3AD203B41FA5}"/>
                  </a:extLst>
                </a:gridCol>
                <a:gridCol w="1458001">
                  <a:extLst>
                    <a:ext uri="{9D8B030D-6E8A-4147-A177-3AD203B41FA5}"/>
                  </a:extLst>
                </a:gridCol>
              </a:tblGrid>
              <a:tr h="4912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xnor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xor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nor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nand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or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and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B Nazanin"/>
                        </a:rPr>
                        <a:t>عملگرهای منطقی</a:t>
                      </a:r>
                      <a:endParaRPr lang="en-US" sz="12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/>
                </a:extLst>
              </a:tr>
              <a:tr h="4912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&gt;=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&gt;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&lt;=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&lt;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/=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=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B Nazanin"/>
                        </a:rPr>
                        <a:t>عملگرهای رابطه ای</a:t>
                      </a:r>
                      <a:endParaRPr lang="en-US" sz="12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/>
                </a:extLst>
              </a:tr>
              <a:tr h="4912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ror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rol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sra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sla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srl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sll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B Nazanin"/>
                        </a:rPr>
                        <a:t>عملگرهای شیفت</a:t>
                      </a:r>
                      <a:endParaRPr lang="en-US" sz="12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/>
                </a:extLst>
              </a:tr>
              <a:tr h="4912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600" b="1" dirty="0">
                        <a:latin typeface="Calibri"/>
                        <a:ea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600" b="1" dirty="0">
                        <a:latin typeface="Calibri"/>
                        <a:ea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600" b="1" dirty="0">
                        <a:latin typeface="Calibri"/>
                        <a:ea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&amp;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-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+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B Nazanin"/>
                        </a:rPr>
                        <a:t>عملگرهای جمعی</a:t>
                      </a:r>
                      <a:endParaRPr lang="en-US" sz="12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/>
                </a:extLst>
              </a:tr>
              <a:tr h="4912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600" b="1" dirty="0">
                        <a:latin typeface="Calibri"/>
                        <a:ea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600" b="1" dirty="0">
                        <a:latin typeface="Calibri"/>
                        <a:ea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600" b="1" dirty="0">
                        <a:latin typeface="Calibri"/>
                        <a:ea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600" b="1" dirty="0">
                        <a:latin typeface="Calibri"/>
                        <a:ea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-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+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B Nazanin"/>
                        </a:rPr>
                        <a:t>علامت</a:t>
                      </a:r>
                      <a:endParaRPr lang="en-US" sz="12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/>
                </a:extLst>
              </a:tr>
              <a:tr h="4912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600" b="1" dirty="0">
                        <a:latin typeface="Calibri"/>
                        <a:ea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600" b="1" dirty="0">
                        <a:latin typeface="Calibri"/>
                        <a:ea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rem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mod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/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*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B Nazanin"/>
                        </a:rPr>
                        <a:t> عملگرهای ضربی</a:t>
                      </a:r>
                      <a:endParaRPr lang="en-US" sz="12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/>
                </a:extLst>
              </a:tr>
              <a:tr h="4912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600" b="1" dirty="0">
                        <a:latin typeface="Calibri"/>
                        <a:ea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600" b="1" dirty="0">
                        <a:latin typeface="Calibri"/>
                        <a:ea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600" b="1" dirty="0">
                        <a:latin typeface="Calibri"/>
                        <a:ea typeface="Times New Roman"/>
                      </a:endParaRPr>
                    </a:p>
                  </a:txBody>
                  <a:tcPr marL="68579" marR="68579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not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abs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Consolas"/>
                          <a:ea typeface="Times New Roman"/>
                          <a:cs typeface="Times New Roman"/>
                        </a:rPr>
                        <a:t>**</a:t>
                      </a:r>
                      <a:endParaRPr lang="en-US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4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B Nazanin"/>
                        </a:rPr>
                        <a:t> عملگرهای متفرقه</a:t>
                      </a:r>
                      <a:endParaRPr lang="en-US" sz="12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723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86BF92A2-0F8F-46E9-8DBC-084214B66209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7240" name="Straight Arrow Connector 6"/>
          <p:cNvCxnSpPr>
            <a:cxnSpLocks noChangeShapeType="1"/>
          </p:cNvCxnSpPr>
          <p:nvPr/>
        </p:nvCxnSpPr>
        <p:spPr bwMode="auto">
          <a:xfrm>
            <a:off x="1042988" y="2133600"/>
            <a:ext cx="0" cy="27352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241" name="TextBox 7"/>
          <p:cNvSpPr txBox="1">
            <a:spLocks noChangeArrowheads="1"/>
          </p:cNvSpPr>
          <p:nvPr/>
        </p:nvSpPr>
        <p:spPr bwMode="auto">
          <a:xfrm rot="-5400000">
            <a:off x="26988" y="3076575"/>
            <a:ext cx="15843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fa-IR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افزایش اولویت</a:t>
            </a: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عملگرهای منطقی</a:t>
            </a:r>
            <a:endParaRPr lang="en-US" altLang="en-US" smtClean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685800" y="868363"/>
            <a:ext cx="7772400" cy="4648200"/>
          </a:xfrm>
        </p:spPr>
        <p:txBody>
          <a:bodyPr/>
          <a:lstStyle/>
          <a:p>
            <a:r>
              <a:rPr lang="fa-IR" altLang="en-US" smtClean="0"/>
              <a:t>عملگرهای منطقی:</a:t>
            </a:r>
          </a:p>
          <a:p>
            <a:pPr lvl="1"/>
            <a:r>
              <a:rPr lang="fa-IR" altLang="en-US" smtClean="0"/>
              <a:t>روی اشیا از نوع </a:t>
            </a:r>
            <a:r>
              <a:rPr lang="en-US" altLang="en-US" smtClean="0"/>
              <a:t>bit </a:t>
            </a:r>
            <a:r>
              <a:rPr lang="fa-IR" altLang="en-US" smtClean="0"/>
              <a:t>، </a:t>
            </a:r>
            <a:r>
              <a:rPr lang="en-US" altLang="en-US" smtClean="0"/>
              <a:t>bit_vector</a:t>
            </a:r>
            <a:r>
              <a:rPr lang="fa-IR" altLang="en-US" smtClean="0"/>
              <a:t>، </a:t>
            </a:r>
            <a:r>
              <a:rPr lang="en-US" altLang="en-US" smtClean="0"/>
              <a:t>boolean </a:t>
            </a:r>
          </a:p>
          <a:p>
            <a:pPr lvl="1"/>
            <a:r>
              <a:rPr lang="fa-IR" altLang="en-US" smtClean="0"/>
              <a:t>برای </a:t>
            </a:r>
            <a:r>
              <a:rPr lang="en-US" altLang="en-US" smtClean="0"/>
              <a:t>std_logic</a:t>
            </a:r>
            <a:r>
              <a:rPr lang="fa-IR" altLang="en-US" smtClean="0"/>
              <a:t> ، </a:t>
            </a:r>
            <a:r>
              <a:rPr lang="en-US" altLang="en-US" smtClean="0"/>
              <a:t>std_logic_vector</a:t>
            </a:r>
            <a:r>
              <a:rPr lang="fa-IR" altLang="en-US" smtClean="0"/>
              <a:t> ،</a:t>
            </a:r>
            <a:r>
              <a:rPr lang="en-US" altLang="en-US" smtClean="0"/>
              <a:t> signed</a:t>
            </a:r>
            <a:r>
              <a:rPr lang="fa-IR" altLang="en-US" smtClean="0"/>
              <a:t> و </a:t>
            </a:r>
            <a:r>
              <a:rPr lang="en-US" altLang="en-US" smtClean="0"/>
              <a:t>unsigned</a:t>
            </a:r>
            <a:r>
              <a:rPr lang="fa-IR" altLang="en-US" smtClean="0"/>
              <a:t> گرانبار شده‌اند</a:t>
            </a:r>
            <a:endParaRPr lang="en-US" altLang="en-US" smtClean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D34173D4-2E2B-448F-AFEF-61FEE49020BA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221" name="Rectangle 2"/>
          <p:cNvSpPr>
            <a:spLocks noChangeArrowheads="1"/>
          </p:cNvSpPr>
          <p:nvPr/>
        </p:nvSpPr>
        <p:spPr bwMode="auto">
          <a:xfrm>
            <a:off x="468313" y="3117850"/>
            <a:ext cx="7920037" cy="30480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OPR_EX_E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port( X,Y : in bit;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    Z   : out bit);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entity OPR_EX_E;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OPR_EX_A of OPR_EX_E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DATA_BUS1, DATA_BUS2, DATA_BUS3 : std_logic_vector(7 downto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Z &lt;= X and Y;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DATA_BUS3 &lt;= DATA_BUS1 xor DATA_BUS2;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OPR_EX_A;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عملگرهای رابطه‌ای</a:t>
            </a:r>
            <a:endParaRPr lang="en-US" altLang="en-US" smtClean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685800" y="868363"/>
            <a:ext cx="7772400" cy="4648200"/>
          </a:xfrm>
        </p:spPr>
        <p:txBody>
          <a:bodyPr/>
          <a:lstStyle/>
          <a:p>
            <a:r>
              <a:rPr lang="fa-IR" altLang="en-US" smtClean="0"/>
              <a:t>عملگرهای رابطه‌ای:</a:t>
            </a:r>
          </a:p>
          <a:p>
            <a:pPr lvl="1"/>
            <a:r>
              <a:rPr lang="fa-IR" altLang="en-US" smtClean="0"/>
              <a:t>برای کلیه انواع دادة استاندارد</a:t>
            </a:r>
          </a:p>
          <a:p>
            <a:pPr lvl="1"/>
            <a:r>
              <a:rPr lang="fa-IR" altLang="en-US" smtClean="0"/>
              <a:t>نتیجه: </a:t>
            </a:r>
            <a:r>
              <a:rPr lang="en-US" altLang="en-US" smtClean="0"/>
              <a:t>boolean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977C5B35-70E8-4CD6-A27F-4A553AE7185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1269" name="Rectangle 2"/>
          <p:cNvSpPr>
            <a:spLocks noChangeArrowheads="1"/>
          </p:cNvSpPr>
          <p:nvPr/>
        </p:nvSpPr>
        <p:spPr bwMode="auto">
          <a:xfrm>
            <a:off x="468313" y="4337050"/>
            <a:ext cx="7920037" cy="132397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variable A : bit_vector(2 downto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variable B : bit_vector(0 to 2);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if(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A(2) &gt; B(0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or 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(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(A(2) = B(0))and(A(1) &gt; B(1))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)or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(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(A(2) = B(0))and(A(1) = B(1))and(A(0) &gt; B(2))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))then ⋯ ;</a:t>
            </a:r>
          </a:p>
        </p:txBody>
      </p:sp>
      <p:sp>
        <p:nvSpPr>
          <p:cNvPr id="11270" name="Rectangle 2"/>
          <p:cNvSpPr>
            <a:spLocks noChangeArrowheads="1"/>
          </p:cNvSpPr>
          <p:nvPr/>
        </p:nvSpPr>
        <p:spPr bwMode="auto">
          <a:xfrm>
            <a:off x="468313" y="3057525"/>
            <a:ext cx="7920037" cy="83026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variable A : bit_vector(2 downto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variable B : bit_vector(0 to 2);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if(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 &gt; B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)then ⋯ 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عملگرهای رابطه‌ای</a:t>
            </a:r>
            <a:endParaRPr lang="en-US" altLang="en-US" smtClean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685800" y="908050"/>
            <a:ext cx="7772400" cy="2055813"/>
          </a:xfrm>
        </p:spPr>
        <p:txBody>
          <a:bodyPr/>
          <a:lstStyle/>
          <a:p>
            <a:r>
              <a:rPr lang="fa-IR" altLang="en-US" smtClean="0"/>
              <a:t>عملگرهای رابطه‌ای:</a:t>
            </a:r>
          </a:p>
          <a:p>
            <a:pPr lvl="1"/>
            <a:r>
              <a:rPr lang="fa-IR" altLang="en-US" smtClean="0"/>
              <a:t>مقایسة بردارهای با اندازة متفاوت </a:t>
            </a:r>
            <a:r>
              <a:rPr lang="fa-IR" altLang="en-US" smtClean="0">
                <a:sym typeface="Wingdings" panose="05000000000000000000" pitchFamily="2" charset="2"/>
              </a:rPr>
              <a:t> مقایسه از سمت چپ</a:t>
            </a:r>
          </a:p>
          <a:p>
            <a:pPr lvl="1"/>
            <a:r>
              <a:rPr lang="fa-IR" altLang="en-US" smtClean="0">
                <a:sym typeface="Wingdings" panose="05000000000000000000" pitchFamily="2" charset="2"/>
              </a:rPr>
              <a:t>با صفر پر کنید.</a:t>
            </a:r>
            <a:endParaRPr lang="en-US" altLang="en-US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E489DF31-BC0E-443C-A051-38969EA3624A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3317" name="Rectangle 2"/>
          <p:cNvSpPr>
            <a:spLocks noChangeArrowheads="1"/>
          </p:cNvSpPr>
          <p:nvPr/>
        </p:nvSpPr>
        <p:spPr bwMode="auto">
          <a:xfrm>
            <a:off x="468313" y="2781300"/>
            <a:ext cx="7920037" cy="10763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X : bit_vector(7 downto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Y : bit_vector(3 downto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if(X &gt;= 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”0000” &amp; Y</a:t>
            </a: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generate ⋯ ;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685800" y="4005263"/>
            <a:ext cx="7772400" cy="205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828" tIns="50914" rIns="101828" bIns="50914"/>
          <a:lstStyle/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fa-IR" sz="2800" kern="0" dirty="0">
                <a:solidFill>
                  <a:srgbClr val="0000FF"/>
                </a:solidFill>
                <a:latin typeface="+mn-lt"/>
                <a:cs typeface="B Mitra" pitchFamily="2" charset="-78"/>
              </a:rPr>
              <a:t>مقایسة داده‌های شمارشی: </a:t>
            </a:r>
            <a:r>
              <a:rPr lang="fa-IR" sz="2800" kern="0" dirty="0">
                <a:solidFill>
                  <a:srgbClr val="0000FF"/>
                </a:solidFill>
                <a:latin typeface="+mn-lt"/>
                <a:cs typeface="B Mitra" pitchFamily="2" charset="-78"/>
                <a:sym typeface="Wingdings" pitchFamily="2" charset="2"/>
              </a:rPr>
              <a:t>سمت چپ کوچک‌تر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68313" y="5189538"/>
            <a:ext cx="7920037" cy="58578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boolean is (false,true);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type std_ulogic is (‘U’, ..., ‘0’, ‘1’, ...);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5562600" y="6248400"/>
            <a:ext cx="2895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endParaRPr lang="en-US" altLang="en-US" sz="14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76200" y="6248400"/>
            <a:ext cx="457200" cy="6096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5E5D35BF-6733-4F6B-B3DF-E0BE66F8E5E5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a-IR" altLang="en-US" smtClean="0"/>
              <a:t>عملگرهای شیفت</a:t>
            </a:r>
            <a:endParaRPr lang="en-US" altLang="en-US" smtClean="0"/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1377950" y="1628775"/>
            <a:ext cx="6858000" cy="838200"/>
            <a:chOff x="192" y="2016"/>
            <a:chExt cx="4320" cy="528"/>
          </a:xfrm>
        </p:grpSpPr>
        <p:pic>
          <p:nvPicPr>
            <p:cNvPr id="15376" name="Picture 10" descr="t_8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3" y="2208"/>
              <a:ext cx="1829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5377" name="Group 18"/>
            <p:cNvGrpSpPr>
              <a:grpSpLocks/>
            </p:cNvGrpSpPr>
            <p:nvPr/>
          </p:nvGrpSpPr>
          <p:grpSpPr bwMode="auto">
            <a:xfrm>
              <a:off x="192" y="2016"/>
              <a:ext cx="2057" cy="528"/>
              <a:chOff x="192" y="2016"/>
              <a:chExt cx="2057" cy="528"/>
            </a:xfrm>
          </p:grpSpPr>
          <p:pic>
            <p:nvPicPr>
              <p:cNvPr id="15378" name="Picture 9" descr="t_84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" y="2220"/>
                <a:ext cx="2009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379" name="Text Box 15"/>
              <p:cNvSpPr txBox="1">
                <a:spLocks noChangeArrowheads="1"/>
              </p:cNvSpPr>
              <p:nvPr/>
            </p:nvSpPr>
            <p:spPr bwMode="auto">
              <a:xfrm>
                <a:off x="192" y="2016"/>
                <a:ext cx="182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457200" indent="-457200" algn="r" rtl="1">
                  <a:spcBef>
                    <a:spcPct val="20000"/>
                  </a:spcBef>
                  <a:buChar char="•"/>
                  <a:defRPr sz="2400" b="1">
                    <a:solidFill>
                      <a:srgbClr val="FF5050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1pPr>
                <a:lvl2pPr marL="742950" indent="-285750" algn="r" rtl="1">
                  <a:spcBef>
                    <a:spcPct val="20000"/>
                  </a:spcBef>
                  <a:buFont typeface="Wingdings" panose="05000000000000000000" pitchFamily="2" charset="2"/>
                  <a:buChar char="q"/>
                  <a:defRPr sz="2200">
                    <a:solidFill>
                      <a:srgbClr val="0000FF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2pPr>
                <a:lvl3pPr marL="1143000" indent="-228600" algn="r" rtl="1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3pPr>
                <a:lvl4pPr marL="1600200" indent="-228600" algn="r" rtl="1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4pPr>
                <a:lvl5pPr marL="2057400" indent="-228600" algn="r" rtl="1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9pPr>
              </a:lstStyle>
              <a:p>
                <a:pPr algn="l" rtl="0">
                  <a:spcBef>
                    <a:spcPct val="0"/>
                  </a:spcBef>
                </a:pPr>
                <a:r>
                  <a:rPr lang="en-US" altLang="en-US" sz="2000" b="0">
                    <a:solidFill>
                      <a:srgbClr val="000000"/>
                    </a:solidFill>
                    <a:latin typeface="Helvetica" panose="020B0604020202020204" pitchFamily="34" charset="0"/>
                    <a:cs typeface="Arial" panose="020B0604020202020204" pitchFamily="34" charset="0"/>
                  </a:rPr>
                  <a:t>Logical Shift</a:t>
                </a:r>
              </a:p>
            </p:txBody>
          </p:sp>
        </p:grp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1377950" y="2543175"/>
            <a:ext cx="6934200" cy="990600"/>
            <a:chOff x="192" y="2592"/>
            <a:chExt cx="4368" cy="624"/>
          </a:xfrm>
        </p:grpSpPr>
        <p:pic>
          <p:nvPicPr>
            <p:cNvPr id="15372" name="Picture 12" descr="t_8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8" y="2844"/>
              <a:ext cx="1872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5373" name="Group 19"/>
            <p:cNvGrpSpPr>
              <a:grpSpLocks/>
            </p:cNvGrpSpPr>
            <p:nvPr/>
          </p:nvGrpSpPr>
          <p:grpSpPr bwMode="auto">
            <a:xfrm>
              <a:off x="192" y="2592"/>
              <a:ext cx="2016" cy="624"/>
              <a:chOff x="192" y="2592"/>
              <a:chExt cx="2016" cy="624"/>
            </a:xfrm>
          </p:grpSpPr>
          <p:pic>
            <p:nvPicPr>
              <p:cNvPr id="15374" name="Picture 11" descr="t_86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2791"/>
                <a:ext cx="201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375" name="Text Box 16"/>
              <p:cNvSpPr txBox="1">
                <a:spLocks noChangeArrowheads="1"/>
              </p:cNvSpPr>
              <p:nvPr/>
            </p:nvSpPr>
            <p:spPr bwMode="auto">
              <a:xfrm>
                <a:off x="192" y="2592"/>
                <a:ext cx="182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457200" indent="-457200" algn="r" rtl="1">
                  <a:spcBef>
                    <a:spcPct val="20000"/>
                  </a:spcBef>
                  <a:buChar char="•"/>
                  <a:defRPr sz="2400" b="1">
                    <a:solidFill>
                      <a:srgbClr val="FF5050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1pPr>
                <a:lvl2pPr marL="742950" indent="-285750" algn="r" rtl="1">
                  <a:spcBef>
                    <a:spcPct val="20000"/>
                  </a:spcBef>
                  <a:buFont typeface="Wingdings" panose="05000000000000000000" pitchFamily="2" charset="2"/>
                  <a:buChar char="q"/>
                  <a:defRPr sz="2200">
                    <a:solidFill>
                      <a:srgbClr val="0000FF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2pPr>
                <a:lvl3pPr marL="1143000" indent="-228600" algn="r" rtl="1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3pPr>
                <a:lvl4pPr marL="1600200" indent="-228600" algn="r" rtl="1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4pPr>
                <a:lvl5pPr marL="2057400" indent="-228600" algn="r" rtl="1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9pPr>
              </a:lstStyle>
              <a:p>
                <a:pPr algn="l" rtl="0">
                  <a:spcBef>
                    <a:spcPct val="0"/>
                  </a:spcBef>
                </a:pPr>
                <a:r>
                  <a:rPr lang="en-US" altLang="en-US" sz="2000" b="0">
                    <a:solidFill>
                      <a:srgbClr val="000000"/>
                    </a:solidFill>
                    <a:latin typeface="Helvetica" panose="020B0604020202020204" pitchFamily="34" charset="0"/>
                    <a:cs typeface="Arial" panose="020B0604020202020204" pitchFamily="34" charset="0"/>
                  </a:rPr>
                  <a:t>Arithmetic Shift</a:t>
                </a:r>
              </a:p>
            </p:txBody>
          </p:sp>
        </p:grp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1377950" y="3517900"/>
            <a:ext cx="7010400" cy="1223963"/>
            <a:chOff x="192" y="3206"/>
            <a:chExt cx="4416" cy="771"/>
          </a:xfrm>
        </p:grpSpPr>
        <p:pic>
          <p:nvPicPr>
            <p:cNvPr id="15368" name="Picture 14" descr="t_89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2" y="3504"/>
              <a:ext cx="1966" cy="4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5369" name="Group 20"/>
            <p:cNvGrpSpPr>
              <a:grpSpLocks/>
            </p:cNvGrpSpPr>
            <p:nvPr/>
          </p:nvGrpSpPr>
          <p:grpSpPr bwMode="auto">
            <a:xfrm>
              <a:off x="192" y="3206"/>
              <a:ext cx="2038" cy="771"/>
              <a:chOff x="192" y="3206"/>
              <a:chExt cx="2038" cy="771"/>
            </a:xfrm>
          </p:grpSpPr>
          <p:pic>
            <p:nvPicPr>
              <p:cNvPr id="15370" name="Picture 13" descr="t_88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3552"/>
                <a:ext cx="2038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371" name="Text Box 17"/>
              <p:cNvSpPr txBox="1">
                <a:spLocks noChangeArrowheads="1"/>
              </p:cNvSpPr>
              <p:nvPr/>
            </p:nvSpPr>
            <p:spPr bwMode="auto">
              <a:xfrm>
                <a:off x="192" y="3206"/>
                <a:ext cx="182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457200" indent="-457200" algn="r" rtl="1">
                  <a:spcBef>
                    <a:spcPct val="20000"/>
                  </a:spcBef>
                  <a:buChar char="•"/>
                  <a:defRPr sz="2400" b="1">
                    <a:solidFill>
                      <a:srgbClr val="FF5050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1pPr>
                <a:lvl2pPr marL="742950" indent="-285750" algn="r" rtl="1">
                  <a:spcBef>
                    <a:spcPct val="20000"/>
                  </a:spcBef>
                  <a:buFont typeface="Wingdings" panose="05000000000000000000" pitchFamily="2" charset="2"/>
                  <a:buChar char="q"/>
                  <a:defRPr sz="2200">
                    <a:solidFill>
                      <a:srgbClr val="0000FF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2pPr>
                <a:lvl3pPr marL="1143000" indent="-228600" algn="r" rtl="1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3pPr>
                <a:lvl4pPr marL="1600200" indent="-228600" algn="r" rtl="1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4pPr>
                <a:lvl5pPr marL="2057400" indent="-228600" algn="r" rtl="1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B Mitra" panose="00000400000000000000" pitchFamily="2" charset="-78"/>
                  </a:defRPr>
                </a:lvl9pPr>
              </a:lstStyle>
              <a:p>
                <a:pPr algn="l" rtl="0">
                  <a:spcBef>
                    <a:spcPct val="0"/>
                  </a:spcBef>
                </a:pPr>
                <a:r>
                  <a:rPr lang="en-US" altLang="en-US" sz="2000" b="0">
                    <a:solidFill>
                      <a:srgbClr val="000000"/>
                    </a:solidFill>
                    <a:latin typeface="Helvetica" panose="020B0604020202020204" pitchFamily="34" charset="0"/>
                    <a:cs typeface="Arial" panose="020B0604020202020204" pitchFamily="34" charset="0"/>
                  </a:rPr>
                  <a:t>Rotation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عملگرهای شیفت</a:t>
            </a:r>
            <a:endParaRPr lang="en-US" altLang="en-US" smtClean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685800" y="908050"/>
            <a:ext cx="7772400" cy="2055813"/>
          </a:xfrm>
        </p:spPr>
        <p:txBody>
          <a:bodyPr/>
          <a:lstStyle/>
          <a:p>
            <a:r>
              <a:rPr lang="fa-IR" altLang="en-US" smtClean="0"/>
              <a:t>عملگرهای شیفت به راست:</a:t>
            </a:r>
          </a:p>
          <a:p>
            <a:pPr lvl="1"/>
            <a:r>
              <a:rPr lang="fa-IR" altLang="en-US" smtClean="0"/>
              <a:t>منطقی</a:t>
            </a:r>
            <a:endParaRPr lang="en-US" altLang="en-US" smtClean="0"/>
          </a:p>
          <a:p>
            <a:pPr lvl="2"/>
            <a:r>
              <a:rPr lang="fa-IR" altLang="en-US" smtClean="0"/>
              <a:t>عنصر سمت چپ: </a:t>
            </a:r>
            <a:r>
              <a:rPr lang="en-US" altLang="en-US" smtClean="0"/>
              <a:t>‘0’</a:t>
            </a:r>
            <a:r>
              <a:rPr lang="fa-IR" altLang="en-US" smtClean="0"/>
              <a:t> (در حالت کلی: عنصر سمت چپ نوع دادة شمارشی)</a:t>
            </a:r>
          </a:p>
          <a:p>
            <a:pPr lvl="1"/>
            <a:r>
              <a:rPr lang="fa-IR" altLang="en-US" smtClean="0"/>
              <a:t>ریاضی</a:t>
            </a:r>
          </a:p>
          <a:p>
            <a:pPr lvl="2"/>
            <a:r>
              <a:rPr lang="fa-IR" altLang="en-US" smtClean="0"/>
              <a:t>عنصر سمت چپ: عنصر سمت چپ (تقسیم بر 2، 4، 8، ...)</a:t>
            </a:r>
          </a:p>
          <a:p>
            <a:pPr lvl="1"/>
            <a:r>
              <a:rPr lang="fa-IR" altLang="en-US" smtClean="0"/>
              <a:t>گردشی</a:t>
            </a:r>
          </a:p>
          <a:p>
            <a:pPr lvl="2"/>
            <a:r>
              <a:rPr lang="fa-IR" altLang="en-US" smtClean="0"/>
              <a:t>عنصر سمت چپ: عنصر سمت راست</a:t>
            </a:r>
            <a:endParaRPr lang="en-US" altLang="en-US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6BD39D9-62A9-4831-9650-9FADD6256FF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7413" name="Rectangle 2"/>
          <p:cNvSpPr>
            <a:spLocks noChangeArrowheads="1"/>
          </p:cNvSpPr>
          <p:nvPr/>
        </p:nvSpPr>
        <p:spPr bwMode="auto">
          <a:xfrm>
            <a:off x="468313" y="4625975"/>
            <a:ext cx="5327650" cy="132397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S1,S2 : bit_vector(7 downto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S2 &lt;= S1 ror 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S2 &lt;= S1 sra 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S2 &lt;= S1 srl 1;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عملگرهای شیفت</a:t>
            </a:r>
            <a:endParaRPr lang="en-US" altLang="en-US" smtClean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685800" y="880682"/>
            <a:ext cx="7772400" cy="2055813"/>
          </a:xfrm>
        </p:spPr>
        <p:txBody>
          <a:bodyPr/>
          <a:lstStyle/>
          <a:p>
            <a:r>
              <a:rPr lang="fa-IR" altLang="en-US" dirty="0" smtClean="0"/>
              <a:t>عملگرهای </a:t>
            </a:r>
            <a:r>
              <a:rPr lang="fa-IR" altLang="en-US" dirty="0" smtClean="0"/>
              <a:t>شیفت:</a:t>
            </a:r>
            <a:endParaRPr lang="fa-IR" altLang="en-US" dirty="0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6BD39D9-62A9-4831-9650-9FADD6256FF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772816"/>
            <a:ext cx="8314396" cy="430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254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عملگرهای جمعی</a:t>
            </a:r>
            <a:endParaRPr lang="en-US" altLang="en-US" smtClean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685800" y="908050"/>
            <a:ext cx="7772400" cy="2055813"/>
          </a:xfrm>
        </p:spPr>
        <p:txBody>
          <a:bodyPr/>
          <a:lstStyle/>
          <a:p>
            <a:r>
              <a:rPr lang="fa-IR" altLang="en-US" smtClean="0"/>
              <a:t>عملگرهای جمعی:</a:t>
            </a:r>
          </a:p>
          <a:p>
            <a:pPr lvl="1"/>
            <a:r>
              <a:rPr lang="fa-IR" altLang="en-US" smtClean="0"/>
              <a:t>+ و –</a:t>
            </a:r>
            <a:endParaRPr lang="en-US" altLang="en-US" smtClean="0"/>
          </a:p>
          <a:p>
            <a:pPr lvl="1"/>
            <a:r>
              <a:rPr lang="fa-IR" altLang="en-US" smtClean="0"/>
              <a:t>الحاق (</a:t>
            </a:r>
            <a:r>
              <a:rPr lang="en-US" altLang="en-US" smtClean="0"/>
              <a:t>concatenation</a:t>
            </a:r>
            <a:r>
              <a:rPr lang="fa-IR" altLang="en-US" smtClean="0"/>
              <a:t>)</a:t>
            </a:r>
          </a:p>
          <a:p>
            <a:pPr lvl="2"/>
            <a:r>
              <a:rPr lang="fa-IR" altLang="en-US" smtClean="0"/>
              <a:t>فقط سمت راست انتساب</a:t>
            </a:r>
            <a:endParaRPr lang="en-US" altLang="en-US" smtClean="0"/>
          </a:p>
          <a:p>
            <a:pPr lvl="2"/>
            <a:r>
              <a:rPr lang="fa-IR" altLang="en-US" smtClean="0"/>
              <a:t>جملة دوم: با </a:t>
            </a:r>
            <a:r>
              <a:rPr lang="en-US" altLang="en-US" smtClean="0"/>
              <a:t>array aggregation</a:t>
            </a:r>
            <a:r>
              <a:rPr lang="fa-IR" altLang="en-US" smtClean="0"/>
              <a:t> هم امکان‌پذیر است</a:t>
            </a:r>
          </a:p>
          <a:p>
            <a:pPr lvl="1"/>
            <a:endParaRPr lang="fa-IR" altLang="en-US" smtClean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5C4E8CB9-4474-4FCD-8B06-B4C7ADB7A12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9461" name="Rectangle 2"/>
          <p:cNvSpPr>
            <a:spLocks noChangeArrowheads="1"/>
          </p:cNvSpPr>
          <p:nvPr/>
        </p:nvSpPr>
        <p:spPr bwMode="auto">
          <a:xfrm>
            <a:off x="827088" y="4005263"/>
            <a:ext cx="6481762" cy="23082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S_A1, S_A2 : bit_vector (3 downto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S_A3 : bit_vector (7 downto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S1, S2, S3 : bit;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⋮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S_A3 &lt;= S_A1 &amp; S_A2;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S_A1 &lt;= S1 &amp; S2 &amp; ‘0’ &amp; S3;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S_A3 &lt;= S_A1 &amp; S1 &amp; ‘1’ &amp; S2 &amp; S3;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S_A3 &lt;= S_A1 &amp; “0000”;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عملگرهای ضربی</a:t>
            </a:r>
            <a:endParaRPr lang="en-US" altLang="en-US" smtClean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685800" y="908050"/>
            <a:ext cx="7772400" cy="2055813"/>
          </a:xfrm>
        </p:spPr>
        <p:txBody>
          <a:bodyPr/>
          <a:lstStyle/>
          <a:p>
            <a:r>
              <a:rPr lang="fa-IR" altLang="en-US" smtClean="0"/>
              <a:t>عملگرهای ضربی:</a:t>
            </a:r>
          </a:p>
          <a:p>
            <a:pPr lvl="1"/>
            <a:r>
              <a:rPr lang="en-US" altLang="en-US" smtClean="0"/>
              <a:t>*</a:t>
            </a:r>
            <a:r>
              <a:rPr lang="fa-IR" altLang="en-US" smtClean="0"/>
              <a:t> و </a:t>
            </a:r>
            <a:r>
              <a:rPr lang="en-US" altLang="en-US" smtClean="0"/>
              <a:t>/</a:t>
            </a:r>
          </a:p>
          <a:p>
            <a:pPr lvl="1"/>
            <a:r>
              <a:rPr lang="fa-IR" altLang="en-US" smtClean="0"/>
              <a:t>توان (</a:t>
            </a:r>
            <a:r>
              <a:rPr lang="en-US" altLang="en-US" smtClean="0"/>
              <a:t>**</a:t>
            </a:r>
            <a:r>
              <a:rPr lang="fa-IR" altLang="en-US" smtClean="0"/>
              <a:t>)</a:t>
            </a:r>
          </a:p>
          <a:p>
            <a:pPr lvl="1"/>
            <a:r>
              <a:rPr lang="en-US" altLang="en-US" smtClean="0"/>
              <a:t>rem</a:t>
            </a:r>
            <a:r>
              <a:rPr lang="fa-IR" altLang="en-US" smtClean="0"/>
              <a:t> و </a:t>
            </a:r>
            <a:r>
              <a:rPr lang="en-US" altLang="en-US" smtClean="0"/>
              <a:t>mod</a:t>
            </a:r>
            <a:r>
              <a:rPr lang="fa-IR" altLang="en-US" smtClean="0"/>
              <a:t>: باقیمانده</a:t>
            </a:r>
          </a:p>
          <a:p>
            <a:pPr lvl="1"/>
            <a:r>
              <a:rPr lang="fa-IR" altLang="en-US" smtClean="0"/>
              <a:t>فقط برای عملوندهای صحیح</a:t>
            </a:r>
          </a:p>
          <a:p>
            <a:pPr lvl="2"/>
            <a:r>
              <a:rPr lang="fa-IR" altLang="en-US" smtClean="0"/>
              <a:t>متفاوت وقتی که </a:t>
            </a:r>
            <a:r>
              <a:rPr lang="en-US" altLang="en-US" smtClean="0"/>
              <a:t>A&lt;0</a:t>
            </a:r>
            <a:r>
              <a:rPr lang="fa-IR" altLang="en-US" smtClean="0"/>
              <a:t> یا </a:t>
            </a:r>
            <a:r>
              <a:rPr lang="en-US" altLang="en-US" smtClean="0"/>
              <a:t>B&lt;0</a:t>
            </a:r>
          </a:p>
          <a:p>
            <a:pPr lvl="3"/>
            <a:r>
              <a:rPr lang="en-US" altLang="en-US" smtClean="0"/>
              <a:t>sign(A rem B) = sign(A)</a:t>
            </a:r>
          </a:p>
          <a:p>
            <a:pPr lvl="3"/>
            <a:r>
              <a:rPr lang="en-US" altLang="en-US" smtClean="0"/>
              <a:t>sign(A mod B) = sign(B)</a:t>
            </a:r>
            <a:endParaRPr lang="fa-IR" altLang="en-US" smtClean="0"/>
          </a:p>
          <a:p>
            <a:pPr lvl="1"/>
            <a:endParaRPr lang="fa-IR" alt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3BC6AC5B-BED1-4B8A-A40D-20DC8204C1FA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presentation_template">
  <a:themeElements>
    <a:clrScheme name="1_presentation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entation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1_presentation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19963</TotalTime>
  <Words>502</Words>
  <Application>Microsoft Office PowerPoint</Application>
  <PresentationFormat>On-screen Show (4:3)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Arial</vt:lpstr>
      <vt:lpstr>B Mitra</vt:lpstr>
      <vt:lpstr>B Nazanin</vt:lpstr>
      <vt:lpstr>B Titr</vt:lpstr>
      <vt:lpstr>Calibri</vt:lpstr>
      <vt:lpstr>Consolas</vt:lpstr>
      <vt:lpstr>Courier New</vt:lpstr>
      <vt:lpstr>Helvetica</vt:lpstr>
      <vt:lpstr>Times New Roman</vt:lpstr>
      <vt:lpstr>Wingdings</vt:lpstr>
      <vt:lpstr>1_presentation_template</vt:lpstr>
      <vt:lpstr>Custom Design</vt:lpstr>
      <vt:lpstr>عملگرها</vt:lpstr>
      <vt:lpstr>عملگرها در VHDL</vt:lpstr>
      <vt:lpstr>عملگرهای منطقی</vt:lpstr>
      <vt:lpstr>عملگرهای رابطه‌ای</vt:lpstr>
      <vt:lpstr>عملگرهای رابطه‌ای</vt:lpstr>
      <vt:lpstr>عملگرهای شیفت</vt:lpstr>
      <vt:lpstr>عملگرهای شیفت</vt:lpstr>
      <vt:lpstr>عملگرهای شیفت</vt:lpstr>
      <vt:lpstr>عملگرهای جمعی</vt:lpstr>
      <vt:lpstr>عملگرهای ضربی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szamani</dc:creator>
  <cp:lastModifiedBy>M msz</cp:lastModifiedBy>
  <cp:revision>765</cp:revision>
  <dcterms:created xsi:type="dcterms:W3CDTF">1601-01-01T00:00:00Z</dcterms:created>
  <dcterms:modified xsi:type="dcterms:W3CDTF">2021-05-12T08:35:04Z</dcterms:modified>
</cp:coreProperties>
</file>