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18"/>
  </p:notesMasterIdLst>
  <p:sldIdLst>
    <p:sldId id="256" r:id="rId3"/>
    <p:sldId id="376" r:id="rId4"/>
    <p:sldId id="401" r:id="rId5"/>
    <p:sldId id="402" r:id="rId6"/>
    <p:sldId id="403" r:id="rId7"/>
    <p:sldId id="391" r:id="rId8"/>
    <p:sldId id="405" r:id="rId9"/>
    <p:sldId id="413" r:id="rId10"/>
    <p:sldId id="406" r:id="rId11"/>
    <p:sldId id="407" r:id="rId12"/>
    <p:sldId id="409" r:id="rId13"/>
    <p:sldId id="410" r:id="rId14"/>
    <p:sldId id="411" r:id="rId15"/>
    <p:sldId id="414" r:id="rId16"/>
    <p:sldId id="412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33CC"/>
    <a:srgbClr val="CC6600"/>
    <a:srgbClr val="669900"/>
    <a:srgbClr val="CCFFCC"/>
    <a:srgbClr val="990000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064" autoAdjust="0"/>
    <p:restoredTop sz="90493" autoAdjust="0"/>
  </p:normalViewPr>
  <p:slideViewPr>
    <p:cSldViewPr showGuides="1">
      <p:cViewPr varScale="1">
        <p:scale>
          <a:sx n="52" d="100"/>
          <a:sy n="52" d="100"/>
        </p:scale>
        <p:origin x="38" y="326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6288722-1483-438B-9D69-9AC87D14CF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649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50B337A-21FA-4097-B6F1-3730081FBA3C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67479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A7EB2D0-316B-490C-AD88-C492A45CB47B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221083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0BC861E-B9FE-4D67-9213-8990BC2A55CA}" type="slidenum">
              <a:rPr lang="en-US" altLang="en-US" sz="1200" smtClean="0"/>
              <a:pPr/>
              <a:t>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044387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A940448-56C4-47A8-80C2-4A759C4C7A05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132885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06DA976-0ACF-460D-ABF6-00BDBC6C2921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359517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9D89D70-CDBF-4CB8-A3F7-F3741DBBBB4D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502819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96E3E7D-0DAC-408A-AF7D-0FAEAA18B9EC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149829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C34BF75-3609-4AD5-BBB7-802CFF808510}" type="slidenum">
              <a:rPr lang="en-US" altLang="en-US" sz="1200" smtClean="0"/>
              <a:pPr/>
              <a:t>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629761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500A611-A47F-4D1F-BCFE-17A47E6FAED1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430955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4C7284A-F40E-4B13-A405-F540133ADA26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222264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B200F63-316D-4307-8377-7CA368C7693B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838723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69E636F-6138-4669-9C8A-6D673FC7D211}" type="slidenum">
              <a:rPr lang="en-US" altLang="en-US" sz="1200" smtClean="0"/>
              <a:pPr/>
              <a:t>12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579624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FC591D9-147B-400F-B0EA-A5C666675A31}" type="slidenum">
              <a:rPr lang="en-US" altLang="en-US" sz="1200" smtClean="0"/>
              <a:pPr/>
              <a:t>13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957498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FC591D9-147B-400F-B0EA-A5C666675A31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900498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B87F032-1F54-4415-A156-5356AC6C4B5A}" type="slidenum">
              <a:rPr lang="en-US" altLang="en-US" sz="1200" smtClean="0"/>
              <a:pPr/>
              <a:t>15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576048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20397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3200"/>
            </a:lvl3pPr>
            <a:lvl4pPr algn="r" rtl="1">
              <a:defRPr sz="2000"/>
            </a:lvl4pPr>
            <a:lvl5pPr algn="r" rtl="1"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26BAB1-B61A-42CC-AB4B-3E3725F501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9021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68D7B-C3FB-4FB1-81D3-92B1A916D7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877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24B8E-5808-4A00-A694-7B9B5688AF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4806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19C461-C450-41BB-B252-DA15182106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415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F86171-49FC-436B-B84B-5D790888FB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999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00BEF-BEB0-4BB2-8E3F-70B0049BBC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87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B5594-78B5-4932-9A53-3ABEEAD35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569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1D92A8-A9D0-458B-AC27-36ACD0C81F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400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27C06-1703-467D-B948-38180B2761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777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5E1A0-695D-4B95-97F6-403AF1C35E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838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03413-D6EB-4AA9-A276-FBC5A10077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2467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3989E-7730-4013-9161-E91EEC88EC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372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4F84A8-8B23-4FB1-9A0A-1CB364BFFE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763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504C7D-F6B2-419B-AD31-CF55B6BAAF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032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23529-4473-41B7-BA19-8AC186DE4C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4840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0CC9D-42CC-4861-BC35-D4B730B5D3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122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4ED30-8FA1-4E53-A7E9-384AA39E06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2897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2B09F-00D6-467F-BC3E-93294D58D9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3387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A2754-1621-4945-BEF4-AFD24A05C0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5426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456F8-B56F-411D-BCBE-C93A139ED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7692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67732-7711-480B-AA00-BE436E0705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21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F483AFB-B5E6-41AD-A218-376B996FDD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64" r:id="rId1"/>
    <p:sldLayoutId id="2147484643" r:id="rId2"/>
    <p:sldLayoutId id="2147484644" r:id="rId3"/>
    <p:sldLayoutId id="2147484645" r:id="rId4"/>
    <p:sldLayoutId id="2147484646" r:id="rId5"/>
    <p:sldLayoutId id="2147484647" r:id="rId6"/>
    <p:sldLayoutId id="2147484648" r:id="rId7"/>
    <p:sldLayoutId id="2147484649" r:id="rId8"/>
    <p:sldLayoutId id="2147484650" r:id="rId9"/>
    <p:sldLayoutId id="2147484651" r:id="rId10"/>
    <p:sldLayoutId id="2147484652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E3E5F53-EB01-4A64-94AD-CF53ED1D44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3" r:id="rId1"/>
    <p:sldLayoutId id="2147484654" r:id="rId2"/>
    <p:sldLayoutId id="2147484655" r:id="rId3"/>
    <p:sldLayoutId id="2147484656" r:id="rId4"/>
    <p:sldLayoutId id="2147484657" r:id="rId5"/>
    <p:sldLayoutId id="2147484658" r:id="rId6"/>
    <p:sldLayoutId id="2147484659" r:id="rId7"/>
    <p:sldLayoutId id="2147484660" r:id="rId8"/>
    <p:sldLayoutId id="2147484661" r:id="rId9"/>
    <p:sldLayoutId id="2147484662" r:id="rId10"/>
    <p:sldLayoutId id="214748466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smtClean="0"/>
              <a:t>زبان توصیف سخت‌افزار</a:t>
            </a:r>
            <a:endParaRPr lang="en-US" altLang="en-US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smtClean="0"/>
              <a:t>Hardware Description Language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عملکرد همروند و عملکرد ترتیبی</a:t>
            </a:r>
            <a:endParaRPr lang="en-US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539750" y="1000125"/>
            <a:ext cx="8032750" cy="5214938"/>
          </a:xfrm>
        </p:spPr>
        <p:txBody>
          <a:bodyPr/>
          <a:lstStyle/>
          <a:p>
            <a:pPr lvl="1"/>
            <a:r>
              <a:rPr lang="fa-IR" altLang="en-US" dirty="0" smtClean="0"/>
              <a:t>عملکرد ترتیبی: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 اجرا به ترتیب از بالا به پایین</a:t>
            </a:r>
          </a:p>
          <a:p>
            <a:pPr lvl="2"/>
            <a:r>
              <a:rPr lang="fa-IR" altLang="en-US" dirty="0" smtClean="0"/>
              <a:t> مانند اکثر زبان‌های نرم‌افزاری</a:t>
            </a:r>
          </a:p>
          <a:p>
            <a:pPr lvl="2"/>
            <a:r>
              <a:rPr lang="fa-IR" altLang="en-US" dirty="0" smtClean="0"/>
              <a:t> برای عملکرد ترتیبی، در بدنه‌های ترتیبی</a:t>
            </a:r>
          </a:p>
          <a:p>
            <a:pPr lvl="3"/>
            <a:r>
              <a:rPr lang="en-US" altLang="en-US" dirty="0" smtClean="0"/>
              <a:t>process</a:t>
            </a:r>
          </a:p>
          <a:p>
            <a:pPr lvl="3"/>
            <a:r>
              <a:rPr lang="en-US" altLang="en-US" dirty="0" smtClean="0"/>
              <a:t>procedure</a:t>
            </a:r>
          </a:p>
          <a:p>
            <a:pPr lvl="3"/>
            <a:r>
              <a:rPr lang="en-US" altLang="en-US" dirty="0" smtClean="0"/>
              <a:t>function</a:t>
            </a:r>
            <a:endParaRPr lang="fa-IR" altLang="en-US" dirty="0" smtClean="0"/>
          </a:p>
          <a:p>
            <a:pPr lvl="1"/>
            <a:r>
              <a:rPr lang="fa-IR" altLang="en-US" dirty="0" smtClean="0"/>
              <a:t>عملکرد همروند:</a:t>
            </a:r>
          </a:p>
          <a:p>
            <a:pPr lvl="2"/>
            <a:r>
              <a:rPr lang="fa-IR" altLang="en-US" dirty="0" smtClean="0"/>
              <a:t> عملکرد واقعی سخت‌افزار</a:t>
            </a:r>
          </a:p>
          <a:p>
            <a:pPr lvl="2"/>
            <a:r>
              <a:rPr lang="fa-IR" altLang="en-US" dirty="0" smtClean="0"/>
              <a:t> عملکرد پیش‌فرض در </a:t>
            </a:r>
            <a:r>
              <a:rPr lang="en-US" altLang="en-US" sz="2800" dirty="0" smtClean="0"/>
              <a:t>architecture</a:t>
            </a:r>
            <a:endParaRPr lang="en-US" alt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4261066-6D1B-411F-8696-11F0486C2FCD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عملکرد همروند و عملکرد ترتیبی</a:t>
            </a:r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39750" y="1000125"/>
            <a:ext cx="8032750" cy="5214938"/>
          </a:xfrm>
        </p:spPr>
        <p:txBody>
          <a:bodyPr/>
          <a:lstStyle/>
          <a:p>
            <a:pPr lvl="1"/>
            <a:r>
              <a:rPr lang="fa-IR" altLang="en-US" dirty="0" smtClean="0"/>
              <a:t>دستورهای همروند: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 فقط در بدنة همروند</a:t>
            </a:r>
          </a:p>
          <a:p>
            <a:pPr lvl="3"/>
            <a:r>
              <a:rPr lang="fa-IR" altLang="en-US" sz="2400" dirty="0" smtClean="0"/>
              <a:t>ایجاد یک پودمان</a:t>
            </a:r>
            <a:r>
              <a:rPr lang="fa-IR" altLang="en-US" dirty="0" smtClean="0"/>
              <a:t> (</a:t>
            </a:r>
            <a:r>
              <a:rPr lang="en-US" altLang="en-US" dirty="0" smtClean="0"/>
              <a:t>module instantiation</a:t>
            </a:r>
            <a:r>
              <a:rPr lang="fa-IR" altLang="en-US" dirty="0" smtClean="0"/>
              <a:t>)</a:t>
            </a:r>
          </a:p>
          <a:p>
            <a:pPr lvl="3"/>
            <a:r>
              <a:rPr lang="fa-IR" altLang="en-US" sz="2400" dirty="0" smtClean="0"/>
              <a:t>انتساب به سیگنال</a:t>
            </a:r>
          </a:p>
          <a:p>
            <a:pPr lvl="3"/>
            <a:r>
              <a:rPr lang="fa-IR" altLang="en-US" sz="2400" dirty="0" smtClean="0"/>
              <a:t>فرایند</a:t>
            </a:r>
            <a:r>
              <a:rPr lang="fa-IR" altLang="en-US" dirty="0" smtClean="0"/>
              <a:t> (</a:t>
            </a:r>
            <a:r>
              <a:rPr lang="en-US" altLang="en-US" dirty="0" smtClean="0"/>
              <a:t>process</a:t>
            </a:r>
            <a:r>
              <a:rPr lang="fa-IR" altLang="en-US" dirty="0" smtClean="0"/>
              <a:t>)</a:t>
            </a:r>
          </a:p>
          <a:p>
            <a:pPr lvl="3"/>
            <a:r>
              <a:rPr lang="en-US" altLang="en-US" dirty="0" smtClean="0"/>
              <a:t>if/for generate</a:t>
            </a:r>
          </a:p>
          <a:p>
            <a:pPr lvl="3"/>
            <a:r>
              <a:rPr lang="en-US" altLang="en-US" dirty="0" smtClean="0"/>
              <a:t>when-else</a:t>
            </a:r>
          </a:p>
          <a:p>
            <a:pPr lvl="3"/>
            <a:r>
              <a:rPr lang="en-US" altLang="en-US" dirty="0" smtClean="0"/>
              <a:t>with-select-when</a:t>
            </a:r>
          </a:p>
          <a:p>
            <a:pPr lvl="3"/>
            <a:r>
              <a:rPr lang="fa-IR" altLang="en-US" sz="2400" dirty="0" smtClean="0"/>
              <a:t>فراخوانی روال</a:t>
            </a:r>
          </a:p>
          <a:p>
            <a:pPr lvl="3"/>
            <a:r>
              <a:rPr lang="fa-IR" altLang="en-US" sz="2400" dirty="0" smtClean="0"/>
              <a:t>فراخوانی تابع</a:t>
            </a:r>
            <a:endParaRPr lang="fa-IR" altLang="en-US" dirty="0" smtClean="0"/>
          </a:p>
          <a:p>
            <a:pPr lvl="1"/>
            <a:endParaRPr lang="fa-IR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B77C6B0-B7A4-4247-99F2-5120F1632F0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عملکرد همروند و عملکرد ترتیبی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39750" y="1000125"/>
            <a:ext cx="8032750" cy="5214938"/>
          </a:xfrm>
        </p:spPr>
        <p:txBody>
          <a:bodyPr/>
          <a:lstStyle/>
          <a:p>
            <a:pPr lvl="1"/>
            <a:r>
              <a:rPr lang="fa-IR" altLang="en-US" dirty="0" smtClean="0"/>
              <a:t>دستورهای ترتیبی:</a:t>
            </a:r>
          </a:p>
          <a:p>
            <a:pPr lvl="2"/>
            <a:r>
              <a:rPr lang="fa-IR" altLang="en-US" dirty="0" smtClean="0"/>
              <a:t>فقط در بدنة ترتیبی</a:t>
            </a:r>
          </a:p>
          <a:p>
            <a:pPr lvl="3"/>
            <a:r>
              <a:rPr lang="en-US" altLang="en-US" dirty="0" smtClean="0"/>
              <a:t>if-then-else</a:t>
            </a:r>
            <a:r>
              <a:rPr lang="fa-IR" altLang="en-US" dirty="0" smtClean="0"/>
              <a:t> </a:t>
            </a:r>
          </a:p>
          <a:p>
            <a:pPr lvl="3"/>
            <a:r>
              <a:rPr lang="fa-IR" altLang="en-US" sz="2400" dirty="0" smtClean="0"/>
              <a:t>حلقة </a:t>
            </a:r>
            <a:r>
              <a:rPr lang="en-US" altLang="en-US" dirty="0" smtClean="0"/>
              <a:t>for</a:t>
            </a:r>
          </a:p>
          <a:p>
            <a:pPr lvl="3"/>
            <a:r>
              <a:rPr lang="fa-IR" altLang="en-US" sz="2400" dirty="0" smtClean="0"/>
              <a:t>حلقة </a:t>
            </a:r>
            <a:r>
              <a:rPr lang="en-US" altLang="en-US" dirty="0" smtClean="0"/>
              <a:t>while</a:t>
            </a:r>
          </a:p>
          <a:p>
            <a:pPr lvl="3"/>
            <a:r>
              <a:rPr lang="en-US" altLang="en-US" dirty="0" smtClean="0"/>
              <a:t>case-when</a:t>
            </a:r>
            <a:endParaRPr lang="fa-IR" altLang="en-US" dirty="0" smtClean="0"/>
          </a:p>
          <a:p>
            <a:pPr lvl="3"/>
            <a:r>
              <a:rPr lang="fa-IR" altLang="en-US" sz="2400" dirty="0"/>
              <a:t>انتساب به سیگنال</a:t>
            </a:r>
          </a:p>
          <a:p>
            <a:pPr lvl="3"/>
            <a:r>
              <a:rPr lang="fa-IR" altLang="en-US" sz="2400" dirty="0" smtClean="0"/>
              <a:t>فراخوانی روال</a:t>
            </a:r>
          </a:p>
          <a:p>
            <a:pPr lvl="3"/>
            <a:r>
              <a:rPr lang="fa-IR" altLang="en-US" sz="2400" dirty="0" smtClean="0"/>
              <a:t>فراخوانی تابع</a:t>
            </a:r>
          </a:p>
          <a:p>
            <a:pPr lvl="3"/>
            <a:endParaRPr lang="fa-IR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A55C3B4-BCE5-4E36-B352-4870189D2C56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ساختارهای منظم</a:t>
            </a:r>
            <a:endParaRPr lang="en-US" altLang="en-US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211638" y="836613"/>
            <a:ext cx="4360862" cy="1512887"/>
          </a:xfrm>
        </p:spPr>
        <p:txBody>
          <a:bodyPr/>
          <a:lstStyle/>
          <a:p>
            <a:r>
              <a:rPr lang="en-US" altLang="en-US" smtClean="0"/>
              <a:t>for-generate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r>
              <a:rPr lang="fa-IR" altLang="en-US" smtClean="0"/>
              <a:t>برای توصیف طرح‌های منظم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D961D17-196E-4131-9220-B3A190914A2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468313" y="2024063"/>
            <a:ext cx="8207375" cy="44021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FOUR_BIT_ADDER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 (A , B : in bit_vector (3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CIN : in bit;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S : out bit_vector (3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COUT : out bit);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FOUR_BIT_ADDER;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STRUCT_FA of FOUR_BIT_ADDER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component FULL_ADDER port (X , Y , CI : in bit ; Z , CO : out bit);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component;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C : bit_vector (3 downto 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FA0: FULL_ADDER port map (A(0), B(0), CIN, S(0), C(1));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FA1: FULL_ADDER port map (A(1), B(1), C(1), S(1), C(2));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FA2: FULL_ADDER port map (A(2), B(2), C(2), S(2), C(3));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FA3: FULL_ADDER port map (A(3), B(3), C(3), S(3), COUT);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STRUCT_FA;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3318" name="Rounded Rectangle 10"/>
          <p:cNvSpPr>
            <a:spLocks noChangeArrowheads="1"/>
          </p:cNvSpPr>
          <p:nvPr/>
        </p:nvSpPr>
        <p:spPr bwMode="auto">
          <a:xfrm>
            <a:off x="684213" y="4005263"/>
            <a:ext cx="7488237" cy="4318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319" name="Rounded Rectangle 11"/>
          <p:cNvSpPr>
            <a:spLocks noChangeArrowheads="1"/>
          </p:cNvSpPr>
          <p:nvPr/>
        </p:nvSpPr>
        <p:spPr bwMode="auto">
          <a:xfrm>
            <a:off x="755650" y="5084763"/>
            <a:ext cx="7488238" cy="865187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33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6" t="61429" r="20236" b="15714"/>
          <a:stretch>
            <a:fillRect/>
          </a:stretch>
        </p:blipFill>
        <p:spPr bwMode="auto">
          <a:xfrm>
            <a:off x="493713" y="836613"/>
            <a:ext cx="4149725" cy="139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Rectangle 1"/>
          <p:cNvSpPr>
            <a:spLocks noChangeArrowheads="1"/>
          </p:cNvSpPr>
          <p:nvPr/>
        </p:nvSpPr>
        <p:spPr bwMode="auto">
          <a:xfrm>
            <a:off x="468313" y="1196975"/>
            <a:ext cx="3800475" cy="677863"/>
          </a:xfrm>
          <a:prstGeom prst="rect">
            <a:avLst/>
          </a:prstGeom>
          <a:noFill/>
          <a:ln w="38100" algn="ctr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322" name="TextBox 1"/>
          <p:cNvSpPr txBox="1">
            <a:spLocks noChangeArrowheads="1"/>
          </p:cNvSpPr>
          <p:nvPr/>
        </p:nvSpPr>
        <p:spPr bwMode="auto">
          <a:xfrm>
            <a:off x="4284663" y="1428750"/>
            <a:ext cx="441325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CIN</a:t>
            </a:r>
          </a:p>
        </p:txBody>
      </p:sp>
      <p:sp>
        <p:nvSpPr>
          <p:cNvPr id="13323" name="TextBox 10"/>
          <p:cNvSpPr txBox="1">
            <a:spLocks noChangeArrowheads="1"/>
          </p:cNvSpPr>
          <p:nvPr/>
        </p:nvSpPr>
        <p:spPr bwMode="auto">
          <a:xfrm>
            <a:off x="384175" y="2062163"/>
            <a:ext cx="442913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ساختارهای منظم</a:t>
            </a:r>
            <a:endParaRPr lang="en-US" altLang="en-US" smtClean="0"/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3CE40F7-A50D-43B4-A9A4-D59DB960C08B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468313" y="2563813"/>
            <a:ext cx="8207375" cy="33226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FOUR_BIT_ADDER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FOUR_BIT_ADDER;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STRUCT_FA of FOUR_BIT_ADDER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FA0: FULL_ADDER port map (A(0), B(0), CIN, S(0), C(1));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FA3: FULL_ADDER port map (A(3), B(3), C(3), S(3), COUT);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F: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 I in 2 downto 1 generate</a:t>
            </a:r>
            <a:b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FAS: FULL_ADDER port map(A(I), B(I), C(I), S(I), C(I+1));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generate 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STRUCT_FA;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2051050" y="1125538"/>
            <a:ext cx="6624638" cy="9540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FA0: FULL_ADDER port map (A(0), B(0), CIN, S(0), C(1));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FA1: FULL_ADDER port map (A(1), B(1), C(1), S(1), C(2));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FA2: FULL_ADDER port map (A(2), B(2), C(2), S(2), C(3));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FA3: FULL_ADDER port map (A(3), B(3), C(3), S(3), COUT);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6" t="61429" r="20236" b="15714"/>
          <a:stretch>
            <a:fillRect/>
          </a:stretch>
        </p:blipFill>
        <p:spPr bwMode="auto">
          <a:xfrm>
            <a:off x="4545465" y="2204864"/>
            <a:ext cx="4149725" cy="139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478159" y="2532025"/>
            <a:ext cx="3800475" cy="677863"/>
          </a:xfrm>
          <a:prstGeom prst="rect">
            <a:avLst/>
          </a:prstGeom>
          <a:noFill/>
          <a:ln w="38100" algn="ctr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ساختارهای منظم</a:t>
            </a:r>
            <a:endParaRPr lang="en-US" altLang="en-US" smtClean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87F8EF9-2F9F-46EF-9643-640DCFBD56A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755650" y="2024063"/>
            <a:ext cx="7632700" cy="44021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FOUR_BIT_ADDER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FOUR_BIT_ADDER;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STRUCT_FOR of FOUR_BIT_ADDER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C :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(3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F: for I in 3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 generate</a:t>
            </a:r>
            <a:b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F_IF0: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I=0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generate</a:t>
            </a:r>
            <a:b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L0:FULL_ADDER port map(A(0), B(0), CIN, S(0), C(1));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generate F_IF0;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F_IF3 :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I=3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generate</a:t>
            </a:r>
            <a:b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L3:FULL_ADDER port map(A(3), B(3), C(3), S(3), COUT);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generate F_IF3;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F_IF_1_2 :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I/=3 and I/=0 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generate</a:t>
            </a:r>
            <a:b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L_1_2:FULL_ADDER port map(A(I), B(I), C(I), S(I), C(I+1));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generate F_IF_1_2;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generate 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STRUCT_FOR;</a:t>
            </a: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2051050" y="1125538"/>
            <a:ext cx="6624638" cy="9540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FA0: FULL_ADDER port map (A(0), B(0), CIN, S(0), C(1));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FA1: FULL_ADDER port map (A(1), B(1), C(1), S(1), C(2));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FA2: FULL_ADDER port map (A(2), B(2), C(2), S(2), C(3));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FA3: FULL_ADDER port map (A(3), B(3), C(3), S(3), COUT);</a:t>
            </a:r>
          </a:p>
        </p:txBody>
      </p:sp>
      <p:sp>
        <p:nvSpPr>
          <p:cNvPr id="19462" name="Content Placeholder 2"/>
          <p:cNvSpPr>
            <a:spLocks noGrp="1"/>
          </p:cNvSpPr>
          <p:nvPr>
            <p:ph idx="1"/>
          </p:nvPr>
        </p:nvSpPr>
        <p:spPr>
          <a:xfrm>
            <a:off x="4211638" y="692150"/>
            <a:ext cx="4360862" cy="1512888"/>
          </a:xfrm>
        </p:spPr>
        <p:txBody>
          <a:bodyPr/>
          <a:lstStyle/>
          <a:p>
            <a:r>
              <a:rPr lang="en-US" altLang="en-US" smtClean="0"/>
              <a:t>if-generate</a:t>
            </a:r>
            <a:r>
              <a:rPr lang="fa-IR" altLang="en-US" smtClean="0"/>
              <a:t>:</a:t>
            </a:r>
            <a:endParaRPr lang="en-US" altLang="en-US" smtClean="0"/>
          </a:p>
        </p:txBody>
      </p:sp>
      <p:sp>
        <p:nvSpPr>
          <p:cNvPr id="19463" name="Rounded Rectangle 7"/>
          <p:cNvSpPr>
            <a:spLocks noChangeArrowheads="1"/>
          </p:cNvSpPr>
          <p:nvPr/>
        </p:nvSpPr>
        <p:spPr bwMode="auto">
          <a:xfrm>
            <a:off x="1331913" y="4005263"/>
            <a:ext cx="6480175" cy="6477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9464" name="Rounded Rectangle 10"/>
          <p:cNvSpPr>
            <a:spLocks noChangeArrowheads="1"/>
          </p:cNvSpPr>
          <p:nvPr/>
        </p:nvSpPr>
        <p:spPr bwMode="auto">
          <a:xfrm>
            <a:off x="1331913" y="4652963"/>
            <a:ext cx="6480175" cy="6477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9465" name="Rounded Rectangle 11"/>
          <p:cNvSpPr>
            <a:spLocks noChangeArrowheads="1"/>
          </p:cNvSpPr>
          <p:nvPr/>
        </p:nvSpPr>
        <p:spPr bwMode="auto">
          <a:xfrm>
            <a:off x="1331913" y="5300663"/>
            <a:ext cx="6769100" cy="649287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9466" name="Rounded Rectangle 13"/>
          <p:cNvSpPr>
            <a:spLocks noChangeArrowheads="1"/>
          </p:cNvSpPr>
          <p:nvPr/>
        </p:nvSpPr>
        <p:spPr bwMode="auto">
          <a:xfrm>
            <a:off x="1042988" y="3789363"/>
            <a:ext cx="7129462" cy="2376487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ساختارهای منظم</a:t>
            </a:r>
            <a:endParaRPr lang="en-US" altLang="en-US" smtClean="0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B31E7BA-A37A-43A4-8D90-5557A65F9EC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468313" y="2670175"/>
            <a:ext cx="8207375" cy="31099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FOUR_BIT_ADDER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FOUR_BIT_ADDER;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STRUCT_FOR of FOUR_BIT_ADDER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C : bit_vector (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4 downto 0</a:t>
            </a: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F: for I in 3 downto 0 generate</a:t>
            </a:r>
            <a:b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FAS: FULL_ADDER port map(A(I), B(I), C(I), S(I), C(I+1));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generate 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COUT &lt;= C(4);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C(0) &lt;= CIN;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STRUCT_FOR;</a:t>
            </a:r>
          </a:p>
        </p:txBody>
      </p:sp>
      <p:sp>
        <p:nvSpPr>
          <p:cNvPr id="17413" name="Rectangle 2"/>
          <p:cNvSpPr>
            <a:spLocks noChangeArrowheads="1"/>
          </p:cNvSpPr>
          <p:nvPr/>
        </p:nvSpPr>
        <p:spPr bwMode="auto">
          <a:xfrm>
            <a:off x="2051050" y="1125538"/>
            <a:ext cx="6624638" cy="9540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FA0: FULL_ADDER port map (A(0), B(0), CIN, S(0), C(1));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FA1: FULL_ADDER port map (A(1), B(1), C(1), S(1), C(2));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FA2: FULL_ADDER port map (A(2), B(2), C(2), S(2), C(3));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FA3: FULL_ADDER port map (A(3), B(3), C(3), S(3), COUT);</a:t>
            </a:r>
          </a:p>
        </p:txBody>
      </p:sp>
      <p:pic>
        <p:nvPicPr>
          <p:cNvPr id="174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6" t="61429" r="20236" b="15714"/>
          <a:stretch>
            <a:fillRect/>
          </a:stretch>
        </p:blipFill>
        <p:spPr bwMode="auto">
          <a:xfrm>
            <a:off x="4103688" y="4941888"/>
            <a:ext cx="4151312" cy="139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5" name="Rectangle 1"/>
          <p:cNvSpPr>
            <a:spLocks noChangeArrowheads="1"/>
          </p:cNvSpPr>
          <p:nvPr/>
        </p:nvSpPr>
        <p:spPr bwMode="auto">
          <a:xfrm>
            <a:off x="4078288" y="5300663"/>
            <a:ext cx="3802062" cy="679450"/>
          </a:xfrm>
          <a:prstGeom prst="rect">
            <a:avLst/>
          </a:prstGeom>
          <a:noFill/>
          <a:ln w="38100" algn="ctr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416" name="TextBox 7"/>
          <p:cNvSpPr txBox="1">
            <a:spLocks noChangeArrowheads="1"/>
          </p:cNvSpPr>
          <p:nvPr/>
        </p:nvSpPr>
        <p:spPr bwMode="auto">
          <a:xfrm>
            <a:off x="7894638" y="5532438"/>
            <a:ext cx="442912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CIN</a:t>
            </a:r>
          </a:p>
        </p:txBody>
      </p:sp>
      <p:sp>
        <p:nvSpPr>
          <p:cNvPr id="17417" name="TextBox 8"/>
          <p:cNvSpPr txBox="1">
            <a:spLocks noChangeArrowheads="1"/>
          </p:cNvSpPr>
          <p:nvPr/>
        </p:nvSpPr>
        <p:spPr bwMode="auto">
          <a:xfrm>
            <a:off x="3995738" y="6165850"/>
            <a:ext cx="442912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CO</a:t>
            </a:r>
          </a:p>
        </p:txBody>
      </p:sp>
    </p:spTree>
    <p:extLst>
      <p:ext uri="{BB962C8B-B14F-4D97-AF65-F5344CB8AC3E}">
        <p14:creationId xmlns:p14="http://schemas.microsoft.com/office/powerpoint/2010/main" val="320396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طراحی به صورت کلی</a:t>
            </a:r>
            <a:endParaRPr lang="en-US" alt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dirty="0" smtClean="0"/>
              <a:t>طراحی کلی:</a:t>
            </a:r>
          </a:p>
          <a:p>
            <a:pPr lvl="1"/>
            <a:r>
              <a:rPr lang="fa-IR" altLang="en-US" dirty="0" smtClean="0"/>
              <a:t>محدود نبودن به حالت خاص</a:t>
            </a:r>
          </a:p>
          <a:p>
            <a:pPr lvl="2"/>
            <a:r>
              <a:rPr lang="fa-IR" altLang="en-US" dirty="0" smtClean="0"/>
              <a:t> شمارنده صفر تا </a:t>
            </a:r>
            <a:r>
              <a:rPr lang="en-US" altLang="en-US" sz="2400" dirty="0" smtClean="0"/>
              <a:t>n-1</a:t>
            </a:r>
            <a:endParaRPr lang="fa-IR" altLang="en-US" dirty="0" smtClean="0"/>
          </a:p>
          <a:p>
            <a:pPr lvl="2"/>
            <a:r>
              <a:rPr lang="fa-IR" altLang="en-US" dirty="0" smtClean="0"/>
              <a:t> جمع‌کنندة </a:t>
            </a:r>
            <a:r>
              <a:rPr lang="en-US" altLang="en-US" sz="2400" dirty="0" smtClean="0"/>
              <a:t>n</a:t>
            </a:r>
            <a:r>
              <a:rPr lang="fa-IR" altLang="en-US" dirty="0" smtClean="0"/>
              <a:t>-بیتی</a:t>
            </a:r>
          </a:p>
          <a:p>
            <a:pPr lvl="2"/>
            <a:r>
              <a:rPr lang="fa-IR" altLang="en-US" dirty="0" smtClean="0"/>
              <a:t> مقایسه‌کنندة </a:t>
            </a:r>
            <a:r>
              <a:rPr lang="en-US" altLang="en-US" sz="2400" dirty="0" smtClean="0"/>
              <a:t>n</a:t>
            </a:r>
            <a:r>
              <a:rPr lang="fa-IR" altLang="en-US" dirty="0" smtClean="0"/>
              <a:t>-بیتی</a:t>
            </a:r>
          </a:p>
          <a:p>
            <a:pPr lvl="2"/>
            <a:endParaRPr lang="fa-IR" altLang="en-US" dirty="0" smtClean="0"/>
          </a:p>
          <a:p>
            <a:pPr lvl="1"/>
            <a:endParaRPr lang="en-US" altLang="en-US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6D17956-6A02-4288-ABF0-EAAB665A736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طراحی به صورت کلی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5148263" y="836613"/>
            <a:ext cx="3309937" cy="1489075"/>
          </a:xfrm>
        </p:spPr>
        <p:txBody>
          <a:bodyPr/>
          <a:lstStyle/>
          <a:p>
            <a:r>
              <a:rPr lang="fa-IR" altLang="en-US" dirty="0" smtClean="0"/>
              <a:t>جمع‌کنندة </a:t>
            </a:r>
            <a:r>
              <a:rPr lang="en-US" altLang="en-US" dirty="0" smtClean="0"/>
              <a:t>n</a:t>
            </a:r>
            <a:r>
              <a:rPr lang="fa-IR" altLang="en-US" dirty="0" smtClean="0"/>
              <a:t>-بیتی: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با ثابت‌ها: </a:t>
            </a:r>
          </a:p>
          <a:p>
            <a:pPr lvl="1"/>
            <a:endParaRPr lang="en-US" altLang="en-US" dirty="0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A450B8E-7DB6-4BA8-9482-5DFAAC7BE76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557" name="Rectangle 2"/>
          <p:cNvSpPr>
            <a:spLocks noChangeArrowheads="1"/>
          </p:cNvSpPr>
          <p:nvPr/>
        </p:nvSpPr>
        <p:spPr bwMode="auto">
          <a:xfrm>
            <a:off x="395288" y="1988354"/>
            <a:ext cx="8208962" cy="397031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N_BIT_ADDER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port( A , B : in </a:t>
            </a:r>
            <a:r>
              <a:rPr lang="en-US" altLang="en-US" sz="14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n-US" alt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CIN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in bit;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 : out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(N-1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COUT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out bit);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N_BIT_ADDER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STRUCT_FOR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of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N_BIT_ADDER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component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FULL_ADDER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(X , Y , CI : in bit ; Z , CO : out bit);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component;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C :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FULL_ADDER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 (A(0), B(0),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CIN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S(0), C(1));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FA_N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FULL_ADDER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 (A(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,B(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,C(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,S(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,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COUT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L: for I in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N-2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1 generate</a:t>
            </a:r>
            <a:b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FAS: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FULL_ADDER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map(A(I) ,B(I) ,C(I) ,S(I) ,C(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I+1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generate 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STRUCT_FOR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0296" y="1465039"/>
            <a:ext cx="28696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constant N 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integer :=4;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طراحی به صورت کلی</a:t>
            </a:r>
            <a:endParaRPr lang="en-US" altLang="en-US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1258888" y="1268413"/>
            <a:ext cx="7199312" cy="3097212"/>
          </a:xfrm>
        </p:spPr>
        <p:txBody>
          <a:bodyPr/>
          <a:lstStyle/>
          <a:p>
            <a:r>
              <a:rPr lang="fa-IR" altLang="en-US" dirty="0" smtClean="0"/>
              <a:t>جمع‌کنندة </a:t>
            </a:r>
            <a:r>
              <a:rPr lang="en-US" altLang="en-US" sz="2800" dirty="0" smtClean="0"/>
              <a:t>n</a:t>
            </a:r>
            <a:r>
              <a:rPr lang="fa-IR" altLang="en-US" dirty="0" smtClean="0"/>
              <a:t>-بیتی:</a:t>
            </a:r>
            <a:endParaRPr lang="en-US" altLang="en-US" dirty="0" smtClean="0"/>
          </a:p>
          <a:p>
            <a:pPr lvl="1"/>
            <a:r>
              <a:rPr lang="fa-IR" altLang="en-US" sz="3600" dirty="0" smtClean="0"/>
              <a:t>با ثابت‌ها</a:t>
            </a:r>
          </a:p>
          <a:p>
            <a:pPr lvl="2"/>
            <a:r>
              <a:rPr lang="fa-IR" altLang="en-US" dirty="0" smtClean="0"/>
              <a:t> اشکال:</a:t>
            </a:r>
          </a:p>
          <a:p>
            <a:pPr lvl="3"/>
            <a:r>
              <a:rPr lang="fa-IR" altLang="en-US" sz="2800" dirty="0" smtClean="0"/>
              <a:t> برای هر مورد، نیاز به کامپایل مجدد</a:t>
            </a:r>
          </a:p>
          <a:p>
            <a:pPr lvl="3"/>
            <a:r>
              <a:rPr lang="fa-IR" altLang="en-US" sz="2800" dirty="0" smtClean="0"/>
              <a:t> برای چند مورد، نیاز به کپی کد</a:t>
            </a:r>
          </a:p>
          <a:p>
            <a:pPr lvl="2"/>
            <a:endParaRPr lang="en-US" altLang="en-US" dirty="0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4C06F8E-9FD4-4F66-AF57-4D5FDC029DB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طراحی به صورت کلی</a:t>
            </a:r>
            <a:endParaRPr lang="en-US" altLang="en-US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00884" y="1052909"/>
            <a:ext cx="4319588" cy="1223963"/>
          </a:xfrm>
        </p:spPr>
        <p:txBody>
          <a:bodyPr/>
          <a:lstStyle/>
          <a:p>
            <a:pPr lvl="1"/>
            <a:r>
              <a:rPr lang="fa-IR" altLang="en-US" dirty="0" smtClean="0"/>
              <a:t>با پارامتر </a:t>
            </a:r>
            <a:r>
              <a:rPr lang="en-US" altLang="en-US" sz="2400" dirty="0" smtClean="0"/>
              <a:t>generic</a:t>
            </a:r>
            <a:endParaRPr lang="fa-IR" altLang="en-US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8C0CE1F-E20C-45F4-B03B-70E68B32C07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7653" name="Rectangle 2"/>
          <p:cNvSpPr>
            <a:spLocks noChangeArrowheads="1"/>
          </p:cNvSpPr>
          <p:nvPr/>
        </p:nvSpPr>
        <p:spPr bwMode="auto">
          <a:xfrm>
            <a:off x="539750" y="971431"/>
            <a:ext cx="8208963" cy="4185761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N_BIT_ADDER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generic (N 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integer 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:= 4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fa-IR" altLang="en-US" sz="1400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port(A ,B : in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CIN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in bit;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 : out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COUT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out bit);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N_BIT_ADDER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STRUCT_FOR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of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N_BIT_ADDER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component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FULL_ADDER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(X , Y , CI : in bit ; Z , CO : out bit);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component;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C :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FULL_ADDER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 (A(0), B(0),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CIN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S(0), C(1));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FA_N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FULL_ADDER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 (A(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,B(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,C(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,S(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,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COUT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L: for I in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N-2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1 generate</a:t>
            </a:r>
            <a:b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FAS: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FULL_ADDER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map(A(I) ,B(I) ,C(I) ,S(I) ,C(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I+1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generate 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</a:t>
            </a:r>
            <a:r>
              <a:rPr lang="en-US" altLang="en-US" sz="14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STRUCT_FOR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7654" name="Rectangle 2"/>
          <p:cNvSpPr>
            <a:spLocks noChangeArrowheads="1"/>
          </p:cNvSpPr>
          <p:nvPr/>
        </p:nvSpPr>
        <p:spPr bwMode="auto">
          <a:xfrm>
            <a:off x="527050" y="5157788"/>
            <a:ext cx="8208963" cy="1168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INST1:N_BIT_ADDER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generic map (8) </a:t>
            </a: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port map (...);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INST2:N_BIT_ADDER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generic map (64) </a:t>
            </a: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port map (...);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STRUCT_FOR;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طراحی به صورت کلی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851275" y="836613"/>
            <a:ext cx="5257800" cy="1223962"/>
          </a:xfrm>
        </p:spPr>
        <p:txBody>
          <a:bodyPr/>
          <a:lstStyle/>
          <a:p>
            <a:pPr lvl="1"/>
            <a:r>
              <a:rPr lang="fa-IR" altLang="en-US" smtClean="0"/>
              <a:t>بدون مشخص کردن بازه درگاه‌ها (با </a:t>
            </a:r>
            <a:r>
              <a:rPr lang="en-US" altLang="en-US" sz="2400" smtClean="0"/>
              <a:t>attribute</a:t>
            </a:r>
            <a:r>
              <a:rPr lang="fa-IR" altLang="en-US" smtClean="0"/>
              <a:t>)</a:t>
            </a:r>
          </a:p>
          <a:p>
            <a:pPr lvl="2"/>
            <a:r>
              <a:rPr lang="fa-IR" altLang="en-US" sz="2400" smtClean="0"/>
              <a:t> برای سیگنال‌ها نمی‌توان نامشخص گذاشت.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6AFBDBC-5F6E-4CEC-9D90-4F581134D50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323528" y="2303288"/>
            <a:ext cx="8568952" cy="397031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GENERAL_ADDER IS</a:t>
            </a:r>
          </a:p>
          <a:p>
            <a:pPr>
              <a:defRPr/>
            </a:pPr>
            <a:r>
              <a:rPr lang="fa-IR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port(A ,B : in 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1400" b="1" strike="sngStrike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 </a:t>
            </a:r>
            <a:r>
              <a:rPr lang="en-US" altLang="en-US" sz="1400" b="1" strike="sngStrike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b="1" strike="sngStrike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fa-IR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CIN : in bit; </a:t>
            </a:r>
          </a:p>
          <a:p>
            <a:pPr>
              <a:defRPr/>
            </a:pPr>
            <a:r>
              <a:rPr lang="fa-IR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 : out 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b="1" strike="sngStrike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(N-1 </a:t>
            </a:r>
            <a:r>
              <a:rPr lang="en-US" altLang="en-US" sz="1400" b="1" strike="sngStrike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b="1" strike="sngStrike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COUT : out bit);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GENERAL_ADDER;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ARCH1 of GENERAL_ADDER is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component FULL_ADDER port (X , Y , CI : in bit ; Z , CO : out bit);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component;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C : 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FA1: FULL_ADDER port map (A(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B(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CIN, S(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C(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FA_N: FULL_ADDER port map (A(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B(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C(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S(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COUT 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L: for I in 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 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???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generate</a:t>
            </a:r>
            <a:b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FAS: FULL_ADDER port map(A(I), B(I), C(I), S(I), C(I+1));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generate L;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ARCH1;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50825" y="908050"/>
            <a:ext cx="5472113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32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3">
              <a:defRPr/>
            </a:pPr>
            <a:r>
              <a:rPr lang="fa-IR" altLang="en-US" kern="0" dirty="0" smtClean="0"/>
              <a:t>چگونه اندیس حلقة </a:t>
            </a:r>
            <a:r>
              <a:rPr lang="en-US" altLang="en-US" kern="0" dirty="0" smtClean="0"/>
              <a:t>for-generate</a:t>
            </a:r>
            <a:r>
              <a:rPr lang="fa-IR" altLang="en-US" kern="0" dirty="0" smtClean="0"/>
              <a:t> را بدهیم؟</a:t>
            </a:r>
          </a:p>
          <a:p>
            <a:pPr lvl="3">
              <a:defRPr/>
            </a:pPr>
            <a:r>
              <a:rPr lang="fa-IR" altLang="en-US" kern="0" dirty="0"/>
              <a:t> </a:t>
            </a:r>
            <a:r>
              <a:rPr lang="fa-IR" altLang="en-US" kern="0" dirty="0" smtClean="0"/>
              <a:t>چگونه در </a:t>
            </a:r>
            <a:r>
              <a:rPr lang="en-US" altLang="en-US" kern="0" dirty="0" smtClean="0"/>
              <a:t>instantiation</a:t>
            </a:r>
            <a:r>
              <a:rPr lang="fa-IR" altLang="en-US" kern="0" dirty="0" smtClean="0"/>
              <a:t> مشخص کنیم کدام است؟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3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3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36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36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36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36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طراحی به صورت کلی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851275" y="836613"/>
            <a:ext cx="5257800" cy="1223962"/>
          </a:xfrm>
        </p:spPr>
        <p:txBody>
          <a:bodyPr/>
          <a:lstStyle/>
          <a:p>
            <a:pPr lvl="1"/>
            <a:r>
              <a:rPr lang="fa-IR" altLang="en-US" smtClean="0"/>
              <a:t>بدون مشخص کردن بازه درگاه‌ها (با </a:t>
            </a:r>
            <a:r>
              <a:rPr lang="en-US" altLang="en-US" sz="2400" smtClean="0"/>
              <a:t>attribute</a:t>
            </a:r>
            <a:r>
              <a:rPr lang="fa-IR" altLang="en-US" smtClean="0"/>
              <a:t>)</a:t>
            </a:r>
          </a:p>
          <a:p>
            <a:pPr lvl="2"/>
            <a:r>
              <a:rPr lang="fa-IR" altLang="en-US" sz="2400" smtClean="0"/>
              <a:t> برای سیگنال‌ها نمی‌توان نامشخص گذاشت.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6AFBDBC-5F6E-4CEC-9D90-4F581134D50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323528" y="2195567"/>
            <a:ext cx="8568952" cy="4185761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GENERAL_ADDER IS</a:t>
            </a:r>
          </a:p>
          <a:p>
            <a:pPr>
              <a:defRPr/>
            </a:pPr>
            <a:r>
              <a:rPr lang="fa-IR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port(A ,B : in 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n-US" altLang="en-US" sz="1400" b="1" strike="sngStrike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N-1 </a:t>
            </a:r>
            <a:r>
              <a:rPr lang="en-US" altLang="en-US" sz="1400" b="1" strike="sngStrike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b="1" strike="sngStrike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fa-IR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CIN : in bit; </a:t>
            </a:r>
          </a:p>
          <a:p>
            <a:pPr>
              <a:defRPr/>
            </a:pPr>
            <a:r>
              <a:rPr lang="fa-IR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 : out 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b="1" strike="sngStrike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(N-1 </a:t>
            </a:r>
            <a:r>
              <a:rPr lang="en-US" altLang="en-US" sz="1400" b="1" strike="sngStrike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b="1" strike="sngStrike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COUT : out bit);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GENERAL_ADDER;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</a:p>
          <a:p>
            <a:pPr>
              <a:defRPr/>
            </a:pPr>
            <a:r>
              <a:rPr lang="en-US" altLang="en-US" sz="1400" b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ARCH1 of GENERAL_ADDER is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component FULL_ADDER port (X , Y , CI : in bit ; Z , CO : out bit);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component;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C : 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A’range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FA1: FULL_ADDER port map (A(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A’low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B(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A’low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CIN, S(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A’low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C(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A’low+1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FA_N: FULL_ADDER port map (A(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A’high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B(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A’high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C(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A’high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S(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A’high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 COUT 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L: for I in </a:t>
            </a:r>
            <a:r>
              <a:rPr lang="en-US" altLang="en-US" sz="1400" b="1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A’high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-1 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A’low+1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generate</a:t>
            </a:r>
            <a:b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FAS: FULL_ADDER port map(A(I), B(I), C(I), S(I), C(I+1));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generate L;</a:t>
            </a:r>
          </a:p>
          <a:p>
            <a:pPr>
              <a:defRPr/>
            </a:pP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ARCH1;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50825" y="908050"/>
            <a:ext cx="5472113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32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3">
              <a:defRPr/>
            </a:pPr>
            <a:r>
              <a:rPr lang="fa-IR" altLang="en-US" kern="0" dirty="0" smtClean="0"/>
              <a:t>چگونه اندیس حلقة </a:t>
            </a:r>
            <a:r>
              <a:rPr lang="en-US" altLang="en-US" kern="0" dirty="0" smtClean="0"/>
              <a:t>for-generate</a:t>
            </a:r>
            <a:r>
              <a:rPr lang="fa-IR" altLang="en-US" kern="0" dirty="0" smtClean="0"/>
              <a:t> را بدهیم؟</a:t>
            </a:r>
          </a:p>
          <a:p>
            <a:pPr lvl="3">
              <a:defRPr/>
            </a:pPr>
            <a:r>
              <a:rPr lang="fa-IR" altLang="en-US" kern="0" dirty="0"/>
              <a:t> </a:t>
            </a:r>
            <a:r>
              <a:rPr lang="fa-IR" altLang="en-US" kern="0" dirty="0" smtClean="0"/>
              <a:t>چگونه در </a:t>
            </a:r>
            <a:r>
              <a:rPr lang="en-US" altLang="en-US" kern="0" dirty="0" smtClean="0"/>
              <a:t>instantiation</a:t>
            </a:r>
            <a:r>
              <a:rPr lang="fa-IR" altLang="en-US" kern="0" dirty="0" smtClean="0"/>
              <a:t> مشخص کنیم کدام است؟</a:t>
            </a:r>
          </a:p>
        </p:txBody>
      </p:sp>
    </p:spTree>
    <p:extLst>
      <p:ext uri="{BB962C8B-B14F-4D97-AF65-F5344CB8AC3E}">
        <p14:creationId xmlns:p14="http://schemas.microsoft.com/office/powerpoint/2010/main" val="219655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طراحی به صورت کلی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789488" y="981075"/>
            <a:ext cx="4319587" cy="1223963"/>
          </a:xfrm>
        </p:spPr>
        <p:txBody>
          <a:bodyPr/>
          <a:lstStyle/>
          <a:p>
            <a:pPr lvl="1"/>
            <a:r>
              <a:rPr lang="fa-IR" altLang="en-US" smtClean="0"/>
              <a:t>بدون مشخص کردن بازه درگاه‌ها (با </a:t>
            </a:r>
            <a:r>
              <a:rPr lang="en-US" altLang="en-US" sz="2400" smtClean="0"/>
              <a:t>attribute</a:t>
            </a:r>
            <a:r>
              <a:rPr lang="fa-IR" altLang="en-US" smtClean="0"/>
              <a:t>)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E687973-BF83-43F9-8E99-AE758787C91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395288" y="2111375"/>
            <a:ext cx="8208962" cy="20320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S1, S2, S3</a:t>
            </a: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bit_vector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(7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S4, S5, S6</a:t>
            </a: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bit_vector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(3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CIN1, CIN2, COUT1, COUT2: bit;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EIGHTBIT:GENERAL_ADDER port map (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S1, S2</a:t>
            </a: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CIN1,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S3</a:t>
            </a: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COUT1);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FOURBIT:GENERAL_ADDER port map (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S4, S5</a:t>
            </a: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CIN2,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S6</a:t>
            </a: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COUT2);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STRUCT_FOR;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042988" y="4725988"/>
            <a:ext cx="79930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32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اگر درگاه‌ها به درگاه‌های سطح بالاتر وصل </a:t>
            </a:r>
            <a:r>
              <a:rPr lang="fa-IR" altLang="en-US" kern="0" smtClean="0"/>
              <a:t>بود چطور</a:t>
            </a:r>
            <a:r>
              <a:rPr lang="fa-IR" altLang="en-US" kern="0" dirty="0" smtClean="0"/>
              <a:t>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20263</TotalTime>
  <Words>1097</Words>
  <Application>Microsoft Office PowerPoint</Application>
  <PresentationFormat>On-screen Show (4:3)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 Mitra</vt:lpstr>
      <vt:lpstr>B Titr</vt:lpstr>
      <vt:lpstr>Calibri</vt:lpstr>
      <vt:lpstr>Courier New</vt:lpstr>
      <vt:lpstr>Times New Roman</vt:lpstr>
      <vt:lpstr>Wingdings</vt:lpstr>
      <vt:lpstr>1_presentation_template</vt:lpstr>
      <vt:lpstr>Custom Design</vt:lpstr>
      <vt:lpstr>زبان توصیف سخت‌افزار</vt:lpstr>
      <vt:lpstr>عملکرد همروند و عملکرد ترتیبی</vt:lpstr>
      <vt:lpstr>عملکرد همروند و عملکرد ترتیبی</vt:lpstr>
      <vt:lpstr>عملکرد همروند و عملکرد ترتیبی</vt:lpstr>
      <vt:lpstr>ساختارهای منظم</vt:lpstr>
      <vt:lpstr>ساختارهای منظم</vt:lpstr>
      <vt:lpstr>ساختارهای منظم</vt:lpstr>
      <vt:lpstr>ساختارهای منظم</vt:lpstr>
      <vt:lpstr>طراحی به صورت کلی</vt:lpstr>
      <vt:lpstr>طراحی به صورت کلی</vt:lpstr>
      <vt:lpstr>طراحی به صورت کلی</vt:lpstr>
      <vt:lpstr>طراحی به صورت کلی</vt:lpstr>
      <vt:lpstr>طراحی به صورت کلی</vt:lpstr>
      <vt:lpstr>طراحی به صورت کلی</vt:lpstr>
      <vt:lpstr>طراحی به صورت کلی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722</cp:revision>
  <dcterms:created xsi:type="dcterms:W3CDTF">1601-01-01T00:00:00Z</dcterms:created>
  <dcterms:modified xsi:type="dcterms:W3CDTF">2024-03-04T16:00:11Z</dcterms:modified>
</cp:coreProperties>
</file>