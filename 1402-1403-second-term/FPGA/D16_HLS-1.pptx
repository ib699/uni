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2" r:id="rId1"/>
    <p:sldMasterId id="2147483654" r:id="rId2"/>
  </p:sldMasterIdLst>
  <p:notesMasterIdLst>
    <p:notesMasterId r:id="rId42"/>
  </p:notesMasterIdLst>
  <p:sldIdLst>
    <p:sldId id="675" r:id="rId3"/>
    <p:sldId id="858" r:id="rId4"/>
    <p:sldId id="798" r:id="rId5"/>
    <p:sldId id="799" r:id="rId6"/>
    <p:sldId id="800" r:id="rId7"/>
    <p:sldId id="801" r:id="rId8"/>
    <p:sldId id="844" r:id="rId9"/>
    <p:sldId id="846" r:id="rId10"/>
    <p:sldId id="845" r:id="rId11"/>
    <p:sldId id="848" r:id="rId12"/>
    <p:sldId id="843" r:id="rId13"/>
    <p:sldId id="802" r:id="rId14"/>
    <p:sldId id="803" r:id="rId15"/>
    <p:sldId id="804" r:id="rId16"/>
    <p:sldId id="805" r:id="rId17"/>
    <p:sldId id="853" r:id="rId18"/>
    <p:sldId id="807" r:id="rId19"/>
    <p:sldId id="808" r:id="rId20"/>
    <p:sldId id="809" r:id="rId21"/>
    <p:sldId id="810" r:id="rId22"/>
    <p:sldId id="811" r:id="rId23"/>
    <p:sldId id="812" r:id="rId24"/>
    <p:sldId id="813" r:id="rId25"/>
    <p:sldId id="814" r:id="rId26"/>
    <p:sldId id="815" r:id="rId27"/>
    <p:sldId id="816" r:id="rId28"/>
    <p:sldId id="817" r:id="rId29"/>
    <p:sldId id="818" r:id="rId30"/>
    <p:sldId id="855" r:id="rId31"/>
    <p:sldId id="819" r:id="rId32"/>
    <p:sldId id="856" r:id="rId33"/>
    <p:sldId id="857" r:id="rId34"/>
    <p:sldId id="820" r:id="rId35"/>
    <p:sldId id="840" r:id="rId36"/>
    <p:sldId id="841" r:id="rId37"/>
    <p:sldId id="842" r:id="rId38"/>
    <p:sldId id="821" r:id="rId39"/>
    <p:sldId id="822" r:id="rId40"/>
    <p:sldId id="854" r:id="rId41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1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1pPr>
    <a:lvl2pPr marL="457200" algn="l" rtl="0" eaLnBrk="0" fontAlgn="base" hangingPunct="0">
      <a:spcBef>
        <a:spcPct val="0"/>
      </a:spcBef>
      <a:spcAft>
        <a:spcPct val="0"/>
      </a:spcAft>
      <a:defRPr sz="21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2pPr>
    <a:lvl3pPr marL="914400" algn="l" rtl="0" eaLnBrk="0" fontAlgn="base" hangingPunct="0">
      <a:spcBef>
        <a:spcPct val="0"/>
      </a:spcBef>
      <a:spcAft>
        <a:spcPct val="0"/>
      </a:spcAft>
      <a:defRPr sz="21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3pPr>
    <a:lvl4pPr marL="1371600" algn="l" rtl="0" eaLnBrk="0" fontAlgn="base" hangingPunct="0">
      <a:spcBef>
        <a:spcPct val="0"/>
      </a:spcBef>
      <a:spcAft>
        <a:spcPct val="0"/>
      </a:spcAft>
      <a:defRPr sz="21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4pPr>
    <a:lvl5pPr marL="1828800" algn="l" rtl="0" eaLnBrk="0" fontAlgn="base" hangingPunct="0">
      <a:spcBef>
        <a:spcPct val="0"/>
      </a:spcBef>
      <a:spcAft>
        <a:spcPct val="0"/>
      </a:spcAft>
      <a:defRPr sz="21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21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6pPr>
    <a:lvl7pPr marL="2743200" algn="l" defTabSz="914400" rtl="0" eaLnBrk="1" latinLnBrk="0" hangingPunct="1">
      <a:defRPr sz="21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7pPr>
    <a:lvl8pPr marL="3200400" algn="l" defTabSz="914400" rtl="0" eaLnBrk="1" latinLnBrk="0" hangingPunct="1">
      <a:defRPr sz="21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8pPr>
    <a:lvl9pPr marL="3657600" algn="l" defTabSz="914400" rtl="0" eaLnBrk="1" latinLnBrk="0" hangingPunct="1">
      <a:defRPr sz="2100" kern="1200">
        <a:solidFill>
          <a:schemeClr val="tx1"/>
        </a:solidFill>
        <a:latin typeface="Times New Roman" panose="02020603050405020304" pitchFamily="18" charset="0"/>
        <a:ea typeface="+mn-ea"/>
        <a:cs typeface="Arial" panose="020B0604020202020204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205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  <a:srgbClr val="669900"/>
    <a:srgbClr val="0033CC"/>
    <a:srgbClr val="6699FF"/>
    <a:srgbClr val="47FFD1"/>
    <a:srgbClr val="0000FF"/>
    <a:srgbClr val="CC6600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19" autoAdjust="0"/>
    <p:restoredTop sz="96283" autoAdjust="0"/>
  </p:normalViewPr>
  <p:slideViewPr>
    <p:cSldViewPr>
      <p:cViewPr varScale="1">
        <p:scale>
          <a:sx n="112" d="100"/>
          <a:sy n="112" d="100"/>
        </p:scale>
        <p:origin x="1332" y="96"/>
      </p:cViewPr>
      <p:guideLst>
        <p:guide orient="horz" pos="2205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90" d="100"/>
        <a:sy n="90" d="100"/>
      </p:scale>
      <p:origin x="0" y="28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cs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cs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00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cs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61D15426-1D08-4C5A-895B-59DBAD2FD43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0855463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pitchFamily="34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pitchFamily="34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pitchFamily="34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pitchFamily="34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Arial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1D15426-1D08-4C5A-895B-59DBAD2FD43D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886610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560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fld id="{7E4728CB-98FF-4654-A884-627C32064073}" type="slidenum">
              <a:rPr lang="en-US" altLang="en-US" sz="1200" smtClean="0"/>
              <a:pPr/>
              <a:t>3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24567817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560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fld id="{7E4728CB-98FF-4654-A884-627C32064073}" type="slidenum">
              <a:rPr lang="en-US" altLang="en-US" sz="1200" smtClean="0"/>
              <a:pPr/>
              <a:t>4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37559918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560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fld id="{7E4728CB-98FF-4654-A884-627C32064073}" type="slidenum">
              <a:rPr lang="en-US" altLang="en-US" sz="1200" smtClean="0"/>
              <a:pPr/>
              <a:t>5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31470719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560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fld id="{7E4728CB-98FF-4654-A884-627C32064073}" type="slidenum">
              <a:rPr lang="en-US" altLang="en-US" sz="1200" smtClean="0"/>
              <a:pPr/>
              <a:t>6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220406149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560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fld id="{7E4728CB-98FF-4654-A884-627C32064073}" type="slidenum">
              <a:rPr lang="en-US" altLang="en-US" sz="1200" smtClean="0"/>
              <a:pPr/>
              <a:t>7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17726393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560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fld id="{7E4728CB-98FF-4654-A884-627C32064073}" type="slidenum">
              <a:rPr lang="en-US" altLang="en-US" sz="1200" smtClean="0"/>
              <a:pPr/>
              <a:t>8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79261288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560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fld id="{7E4728CB-98FF-4654-A884-627C32064073}" type="slidenum">
              <a:rPr lang="en-US" altLang="en-US" sz="1200" smtClean="0"/>
              <a:pPr/>
              <a:t>9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42592000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560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fld id="{7E4728CB-98FF-4654-A884-627C32064073}" type="slidenum">
              <a:rPr lang="en-US" altLang="en-US" sz="1200" smtClean="0"/>
              <a:pPr/>
              <a:t>10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202209670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25603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  <p:sp>
        <p:nvSpPr>
          <p:cNvPr id="2560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fld id="{7E4728CB-98FF-4654-A884-627C32064073}" type="slidenum">
              <a:rPr lang="en-US" altLang="en-US" sz="1200" smtClean="0"/>
              <a:pPr/>
              <a:t>11</a:t>
            </a:fld>
            <a:endParaRPr lang="en-US" altLang="en-US" sz="1200"/>
          </a:p>
        </p:txBody>
      </p:sp>
    </p:spTree>
    <p:extLst>
      <p:ext uri="{BB962C8B-B14F-4D97-AF65-F5344CB8AC3E}">
        <p14:creationId xmlns:p14="http://schemas.microsoft.com/office/powerpoint/2010/main" val="25101995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The design does not start operation until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ap_start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 is set to logic 1.</a:t>
            </a:r>
            <a:endParaRPr lang="fa-IR" sz="1200" b="0" i="0" u="none" strike="noStrike" kern="1200" baseline="0" dirty="0">
              <a:solidFill>
                <a:schemeClr val="tx1"/>
              </a:solidFill>
              <a:latin typeface="Times New Roman" pitchFamily="18" charset="0"/>
              <a:ea typeface="+mn-ea"/>
              <a:cs typeface="Arial" pitchFamily="34" charset="0"/>
            </a:endParaRPr>
          </a:p>
          <a:p>
            <a:r>
              <a:rPr lang="en-US" sz="1200" b="0" i="0" u="none" strike="noStrike" kern="1200" baseline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The 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design indicates it is no longer idle by setting port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ap_idle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 low.</a:t>
            </a:r>
            <a:endParaRPr lang="fa-IR" sz="1200" b="0" i="0" u="none" strike="noStrike" kern="1200" baseline="0" dirty="0">
              <a:solidFill>
                <a:schemeClr val="tx1"/>
              </a:solidFill>
              <a:latin typeface="Times New Roman" pitchFamily="18" charset="0"/>
              <a:ea typeface="+mn-ea"/>
              <a:cs typeface="Arial" pitchFamily="34" charset="0"/>
            </a:endParaRP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Five transactions are </a:t>
            </a:r>
            <a:r>
              <a:rPr lang="en-US" sz="1200" b="0" i="0" u="none" strike="noStrike" kern="1200" baseline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shown. (one transaction: one execution of the C function)</a:t>
            </a:r>
            <a:endParaRPr lang="fa-IR" sz="1200" b="0" i="0" u="none" strike="noStrike" kern="1200" baseline="0" dirty="0">
              <a:solidFill>
                <a:schemeClr val="tx1"/>
              </a:solidFill>
              <a:latin typeface="Times New Roman" pitchFamily="18" charset="0"/>
              <a:ea typeface="+mn-ea"/>
              <a:cs typeface="Arial" pitchFamily="34" charset="0"/>
            </a:endParaRP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Output signal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ap_ready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 goes high to indicate the design is ready for new inputs on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the next clock.</a:t>
            </a:r>
            <a:endParaRPr lang="fa-IR" sz="1200" b="0" i="0" u="none" strike="noStrike" kern="1200" baseline="0" dirty="0">
              <a:solidFill>
                <a:schemeClr val="tx1"/>
              </a:solidFill>
              <a:latin typeface="Times New Roman" pitchFamily="18" charset="0"/>
              <a:ea typeface="+mn-ea"/>
              <a:cs typeface="Arial" pitchFamily="34" charset="0"/>
            </a:endParaRP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Output signal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ap_done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 indicates when the design is finished and that the value on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output port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ap_return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 is valid (the first output value, 60, is the sum of all three</a:t>
            </a: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inputs).</a:t>
            </a:r>
            <a:endParaRPr lang="fa-IR" sz="1200" b="0" i="0" u="none" strike="noStrike" kern="1200" baseline="0" dirty="0">
              <a:solidFill>
                <a:schemeClr val="tx1"/>
              </a:solidFill>
              <a:latin typeface="Times New Roman" pitchFamily="18" charset="0"/>
              <a:ea typeface="+mn-ea"/>
              <a:cs typeface="Arial" pitchFamily="34" charset="0"/>
            </a:endParaRPr>
          </a:p>
          <a:p>
            <a:r>
              <a:rPr lang="en-US" sz="1200" b="0" i="0" u="none" strike="noStrike" kern="1200" baseline="0" dirty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Because </a:t>
            </a:r>
            <a:r>
              <a:rPr lang="en-US" sz="1200" b="0" i="0" u="none" strike="noStrike" kern="1200" baseline="0" dirty="0" err="1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ap_start</a:t>
            </a:r>
            <a:r>
              <a:rPr lang="en-US" sz="1200" b="0" i="0" u="none" strike="noStrike" kern="1200" baseline="0" dirty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 is held high, the next transaction starts on the next clock cycle.</a:t>
            </a:r>
            <a:endParaRPr lang="fa-IR" sz="1200" b="0" i="0" u="none" strike="noStrike" kern="1200" baseline="0" dirty="0">
              <a:solidFill>
                <a:schemeClr val="tx1"/>
              </a:solidFill>
              <a:latin typeface="Times New Roman" pitchFamily="18" charset="0"/>
              <a:ea typeface="+mn-ea"/>
              <a:cs typeface="Arial" pitchFamily="34" charset="0"/>
            </a:endParaRPr>
          </a:p>
          <a:p>
            <a:r>
              <a:rPr lang="en-US" sz="1200" b="0" i="0" u="none" strike="noStrike" kern="1200" baseline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ap_start should be held at logic 1 until the associated output handshake ap_ready is</a:t>
            </a:r>
          </a:p>
          <a:p>
            <a:r>
              <a:rPr lang="en-US" sz="1200" b="0" i="0" u="none" strike="noStrike" kern="1200" baseline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asserted. When ap_ready goes high, the decision can be made on whether to keep</a:t>
            </a:r>
          </a:p>
          <a:p>
            <a:r>
              <a:rPr lang="en-US" sz="1200" b="0" i="0" u="none" strike="noStrike" kern="1200" baseline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ap_start asserted and perform another transaction or set ap_start to logic 0 and</a:t>
            </a:r>
          </a:p>
          <a:p>
            <a:r>
              <a:rPr lang="en-US" sz="1200" b="0" i="0" u="none" strike="noStrike" kern="1200" baseline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allow the design to halt at the end of the current transaction.</a:t>
            </a:r>
          </a:p>
          <a:p>
            <a:r>
              <a:rPr lang="en-US" sz="1200" b="1" i="1" u="none" strike="noStrike" kern="1200" baseline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Note: </a:t>
            </a:r>
            <a:r>
              <a:rPr lang="en-US" sz="1200" b="0" i="0" u="none" strike="noStrike" kern="1200" baseline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In RTL CoSimulation, all design and port input control signals are always enabled. For</a:t>
            </a:r>
          </a:p>
          <a:p>
            <a:r>
              <a:rPr lang="en-US" sz="1200" b="0" i="0" u="none" strike="noStrike" kern="1200" baseline="0">
                <a:solidFill>
                  <a:schemeClr val="tx1"/>
                </a:solidFill>
                <a:latin typeface="Times New Roman" pitchFamily="18" charset="0"/>
                <a:ea typeface="+mn-ea"/>
                <a:cs typeface="Arial" pitchFamily="34" charset="0"/>
              </a:rPr>
              <a:t>example, in Figure 4-5 signal ap_start is always high.</a:t>
            </a:r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61D15426-1D08-4C5A-895B-59DBAD2FD43D}" type="slidenum">
              <a:rPr lang="en-US" altLang="en-US" smtClean="0"/>
              <a:pPr>
                <a:defRPr/>
              </a:pPr>
              <a:t>36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810448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2"/>
          <p:cNvSpPr>
            <a:spLocks noChangeArrowheads="1"/>
          </p:cNvSpPr>
          <p:nvPr/>
        </p:nvSpPr>
        <p:spPr bwMode="auto">
          <a:xfrm>
            <a:off x="304800" y="304800"/>
            <a:ext cx="8534400" cy="6096000"/>
          </a:xfrm>
          <a:prstGeom prst="roundRect">
            <a:avLst>
              <a:gd name="adj" fmla="val 9644"/>
            </a:avLst>
          </a:prstGeom>
          <a:noFill/>
          <a:ln w="19050">
            <a:solidFill>
              <a:srgbClr val="0000FF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/>
          </a:p>
        </p:txBody>
      </p:sp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838200" y="6400800"/>
            <a:ext cx="3657600" cy="306388"/>
          </a:xfrm>
          <a:prstGeom prst="rect">
            <a:avLst/>
          </a:prstGeom>
          <a:noFill/>
          <a:ln>
            <a:noFill/>
          </a:ln>
        </p:spPr>
        <p:txBody>
          <a:bodyPr lIns="101828" tIns="50914" rIns="101828" bIns="50914"/>
          <a:lstStyle>
            <a:lvl1pPr defTabSz="1019175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 defTabSz="1019175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 defTabSz="1019175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 defTabSz="1019175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 defTabSz="1019175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defTabSz="1019175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defTabSz="1019175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defTabSz="1019175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defTabSz="1019175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>
              <a:defRPr/>
            </a:pPr>
            <a:endParaRPr lang="en-US" altLang="en-US" sz="1300">
              <a:latin typeface="Arial" panose="020B0604020202020204" pitchFamily="34" charset="0"/>
            </a:endParaRPr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685800" y="1219200"/>
            <a:ext cx="7772400" cy="4648200"/>
          </a:xfrm>
          <a:prstGeom prst="rect">
            <a:avLst/>
          </a:prstGeom>
          <a:noFill/>
          <a:ln>
            <a:noFill/>
          </a:ln>
        </p:spPr>
        <p:txBody>
          <a:bodyPr lIns="101828" tIns="50914" rIns="101828" bIns="50914"/>
          <a:lstStyle>
            <a:lvl1pPr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 sz="2400"/>
          </a:p>
        </p:txBody>
      </p:sp>
      <p:sp>
        <p:nvSpPr>
          <p:cNvPr id="183302" name="Rectangle 6"/>
          <p:cNvSpPr>
            <a:spLocks noGrp="1" noChangeArrowheads="1"/>
          </p:cNvSpPr>
          <p:nvPr>
            <p:ph type="ctrTitle" sz="quarter"/>
          </p:nvPr>
        </p:nvSpPr>
        <p:spPr>
          <a:xfrm>
            <a:off x="692150" y="2286000"/>
            <a:ext cx="7759700" cy="1143000"/>
          </a:xfrm>
          <a:ln w="12700"/>
        </p:spPr>
        <p:txBody>
          <a:bodyPr wrap="none" lIns="82030" tIns="41015" rIns="82030" bIns="41015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83303" name="Rectangle 7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1385888" y="3898900"/>
            <a:ext cx="6372225" cy="1749425"/>
          </a:xfrm>
          <a:ln w="12700"/>
        </p:spPr>
        <p:txBody>
          <a:bodyPr wrap="none" lIns="82030" tIns="41015" rIns="82030" bIns="41015" anchor="ctr"/>
          <a:lstStyle>
            <a:lvl1pPr marL="0" indent="0" algn="ctr">
              <a:buFontTx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735809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r" rtl="1">
              <a:defRPr sz="3200"/>
            </a:lvl1pPr>
            <a:lvl2pPr marL="990600" indent="-533400" algn="r" rtl="1">
              <a:buFont typeface="Wingdings" pitchFamily="2" charset="2"/>
              <a:buChar char="q"/>
              <a:defRPr sz="2800"/>
            </a:lvl2pPr>
            <a:lvl3pPr algn="r" rtl="1">
              <a:defRPr sz="2400"/>
            </a:lvl3pPr>
            <a:lvl4pPr algn="r" rtl="1">
              <a:defRPr sz="2000"/>
            </a:lvl4pPr>
            <a:lvl5pPr algn="r" rtl="1"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A899B80-BBC6-4923-BFC8-1F9F33FB645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47747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9353937-9BB9-40F9-91CC-AA18D07A997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23125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219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19200"/>
            <a:ext cx="3810000" cy="4648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DA62F42-27CD-4FAE-980F-036FB842720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1324093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8AA8987-0481-4125-8D8E-5349E5ED43B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0189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22DF614-C5FC-4C55-9C5E-2FC3F43DAA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802556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CB1604E-36EC-4446-8875-EAC9227CF53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553957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EBE4B2D-55AB-4F40-AA53-BC8A8F37BC2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94097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6CAD4C-35F9-4F58-AFCD-D4C0B8B4BB2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362490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9563B20-E380-4E93-A7BB-980790A99E0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2476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21450" y="403225"/>
            <a:ext cx="1944688" cy="54641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403225"/>
            <a:ext cx="5683250" cy="54641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9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8543088-D7AB-4EC4-AFD5-0E79AD7638F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091000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6D2B04-88AB-4572-8A48-C451A15A4C7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139293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37FE17-9FF0-4344-98C9-C258329B37C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550668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51501FB-C33C-416C-9087-52877609B5DA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44978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43F894B-8592-4A81-863E-40FF279CCF86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976699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322EB22C-7899-4AA3-B9A8-BE7E8BEE45B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2744001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66C5043-F201-4D7D-8DEE-930C75C57CE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67366182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736BF38-7166-4666-B54B-988E7A795E8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998283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727D6FA-B15D-40C7-92F3-DE7932113B4C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244598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609695F-721F-46BB-A853-313BEC2E107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807255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CF43922-55A8-4F3C-BFC4-3495BCD0F5E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94699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23475EA8-9727-44CA-84B9-A2EBAFE9912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2815072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219200"/>
            <a:ext cx="7772400" cy="4648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01828" tIns="50914" rIns="101828" bIns="5091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  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92150" y="403225"/>
            <a:ext cx="7773988" cy="44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01828" tIns="50914" rIns="101828" bIns="50914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8" name="AutoShape 4"/>
          <p:cNvSpPr>
            <a:spLocks noChangeArrowheads="1"/>
          </p:cNvSpPr>
          <p:nvPr/>
        </p:nvSpPr>
        <p:spPr bwMode="auto">
          <a:xfrm>
            <a:off x="304800" y="304800"/>
            <a:ext cx="8534400" cy="6096000"/>
          </a:xfrm>
          <a:prstGeom prst="roundRect">
            <a:avLst>
              <a:gd name="adj" fmla="val 9644"/>
            </a:avLst>
          </a:prstGeom>
          <a:noFill/>
          <a:ln w="19050">
            <a:solidFill>
              <a:srgbClr val="0000FF"/>
            </a:solidFill>
            <a:round/>
            <a:headEnd/>
            <a:tailEnd/>
          </a:ln>
        </p:spPr>
        <p:txBody>
          <a:bodyPr wrap="none" anchor="ctr"/>
          <a:lstStyle>
            <a:lvl1pPr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 eaLnBrk="1" hangingPunct="1">
              <a:defRPr/>
            </a:pPr>
            <a:endParaRPr lang="en-US" altLang="en-US"/>
          </a:p>
        </p:txBody>
      </p:sp>
      <p:sp>
        <p:nvSpPr>
          <p:cNvPr id="1029" name="Rectangle 5"/>
          <p:cNvSpPr>
            <a:spLocks noChangeArrowheads="1"/>
          </p:cNvSpPr>
          <p:nvPr/>
        </p:nvSpPr>
        <p:spPr bwMode="auto">
          <a:xfrm>
            <a:off x="838200" y="6400800"/>
            <a:ext cx="3657600" cy="306388"/>
          </a:xfrm>
          <a:prstGeom prst="rect">
            <a:avLst/>
          </a:prstGeom>
          <a:noFill/>
          <a:ln>
            <a:noFill/>
          </a:ln>
        </p:spPr>
        <p:txBody>
          <a:bodyPr lIns="101828" tIns="50914" rIns="101828" bIns="50914"/>
          <a:lstStyle>
            <a:lvl1pPr defTabSz="1019175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1pPr>
            <a:lvl2pPr marL="742950" indent="-285750" defTabSz="1019175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2pPr>
            <a:lvl3pPr marL="1143000" indent="-228600" defTabSz="1019175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3pPr>
            <a:lvl4pPr marL="1600200" indent="-228600" defTabSz="1019175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4pPr>
            <a:lvl5pPr marL="2057400" indent="-228600" defTabSz="1019175"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5pPr>
            <a:lvl6pPr marL="2514600" indent="-228600" defTabSz="1019175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6pPr>
            <a:lvl7pPr marL="2971800" indent="-228600" defTabSz="1019175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7pPr>
            <a:lvl8pPr marL="3429000" indent="-228600" defTabSz="1019175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8pPr>
            <a:lvl9pPr marL="3886200" indent="-228600" defTabSz="1019175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defRPr>
            </a:lvl9pPr>
          </a:lstStyle>
          <a:p>
            <a:pPr>
              <a:defRPr/>
            </a:pPr>
            <a:endParaRPr lang="en-US" altLang="en-US" sz="1300">
              <a:latin typeface="Arial" panose="020B0604020202020204" pitchFamily="34" charset="0"/>
            </a:endParaRPr>
          </a:p>
        </p:txBody>
      </p:sp>
      <p:sp>
        <p:nvSpPr>
          <p:cNvPr id="182281" name="Rectangle 9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243888" y="6388100"/>
            <a:ext cx="554037" cy="334963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vert="horz" wrap="none" lIns="82030" tIns="41015" rIns="82030" bIns="41015" numCol="1" anchor="ctr" anchorCtr="0" compatLnSpc="1">
            <a:prstTxWarp prst="textNoShape">
              <a:avLst/>
            </a:prstTxWarp>
          </a:bodyPr>
          <a:lstStyle>
            <a:lvl1pPr algn="r">
              <a:defRPr sz="1300" smtClean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14047426-8241-409A-A9BB-79DBDCCBA7CD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492" r:id="rId1"/>
    <p:sldLayoutId id="2147485471" r:id="rId2"/>
    <p:sldLayoutId id="2147485472" r:id="rId3"/>
    <p:sldLayoutId id="2147485473" r:id="rId4"/>
    <p:sldLayoutId id="2147485474" r:id="rId5"/>
    <p:sldLayoutId id="2147485475" r:id="rId6"/>
    <p:sldLayoutId id="2147485476" r:id="rId7"/>
    <p:sldLayoutId id="2147485477" r:id="rId8"/>
    <p:sldLayoutId id="2147485478" r:id="rId9"/>
    <p:sldLayoutId id="2147485479" r:id="rId10"/>
    <p:sldLayoutId id="2147485480" r:id="rId11"/>
  </p:sldLayoutIdLst>
  <p:hf hdr="0" ftr="0" dt="0"/>
  <p:txStyles>
    <p:titleStyle>
      <a:lvl1pPr algn="ctr" defTabSz="1019175" rtl="0" eaLnBrk="0" fontAlgn="base" hangingPunct="0">
        <a:spcBef>
          <a:spcPct val="0"/>
        </a:spcBef>
        <a:spcAft>
          <a:spcPct val="0"/>
        </a:spcAft>
        <a:defRPr sz="3100" b="1">
          <a:solidFill>
            <a:srgbClr val="E44EE4"/>
          </a:solidFill>
          <a:latin typeface="+mj-lt"/>
          <a:ea typeface="+mj-ea"/>
          <a:cs typeface="B Titr" pitchFamily="2" charset="-78"/>
        </a:defRPr>
      </a:lvl1pPr>
      <a:lvl2pPr algn="ctr" defTabSz="1019175" rtl="0" eaLnBrk="0" fontAlgn="base" hangingPunct="0">
        <a:spcBef>
          <a:spcPct val="0"/>
        </a:spcBef>
        <a:spcAft>
          <a:spcPct val="0"/>
        </a:spcAft>
        <a:defRPr sz="3100" b="1">
          <a:solidFill>
            <a:srgbClr val="E44EE4"/>
          </a:solidFill>
          <a:latin typeface="Arial" pitchFamily="34" charset="0"/>
          <a:cs typeface="B Titr" pitchFamily="2" charset="-78"/>
        </a:defRPr>
      </a:lvl2pPr>
      <a:lvl3pPr algn="ctr" defTabSz="1019175" rtl="0" eaLnBrk="0" fontAlgn="base" hangingPunct="0">
        <a:spcBef>
          <a:spcPct val="0"/>
        </a:spcBef>
        <a:spcAft>
          <a:spcPct val="0"/>
        </a:spcAft>
        <a:defRPr sz="3100" b="1">
          <a:solidFill>
            <a:srgbClr val="E44EE4"/>
          </a:solidFill>
          <a:latin typeface="Arial" pitchFamily="34" charset="0"/>
          <a:cs typeface="B Titr" pitchFamily="2" charset="-78"/>
        </a:defRPr>
      </a:lvl3pPr>
      <a:lvl4pPr algn="ctr" defTabSz="1019175" rtl="0" eaLnBrk="0" fontAlgn="base" hangingPunct="0">
        <a:spcBef>
          <a:spcPct val="0"/>
        </a:spcBef>
        <a:spcAft>
          <a:spcPct val="0"/>
        </a:spcAft>
        <a:defRPr sz="3100" b="1">
          <a:solidFill>
            <a:srgbClr val="E44EE4"/>
          </a:solidFill>
          <a:latin typeface="Arial" pitchFamily="34" charset="0"/>
          <a:cs typeface="B Titr" pitchFamily="2" charset="-78"/>
        </a:defRPr>
      </a:lvl4pPr>
      <a:lvl5pPr algn="ctr" defTabSz="1019175" rtl="0" eaLnBrk="0" fontAlgn="base" hangingPunct="0">
        <a:spcBef>
          <a:spcPct val="0"/>
        </a:spcBef>
        <a:spcAft>
          <a:spcPct val="0"/>
        </a:spcAft>
        <a:defRPr sz="3100" b="1">
          <a:solidFill>
            <a:srgbClr val="E44EE4"/>
          </a:solidFill>
          <a:latin typeface="Arial" pitchFamily="34" charset="0"/>
          <a:cs typeface="B Titr" pitchFamily="2" charset="-78"/>
        </a:defRPr>
      </a:lvl5pPr>
      <a:lvl6pPr marL="457200" algn="ctr" defTabSz="1019175" rtl="0" fontAlgn="base">
        <a:spcBef>
          <a:spcPct val="0"/>
        </a:spcBef>
        <a:spcAft>
          <a:spcPct val="0"/>
        </a:spcAft>
        <a:defRPr sz="3100" b="1">
          <a:solidFill>
            <a:srgbClr val="E44EE4"/>
          </a:solidFill>
          <a:latin typeface="Arial" pitchFamily="34" charset="0"/>
          <a:cs typeface="Arial" pitchFamily="34" charset="0"/>
        </a:defRPr>
      </a:lvl6pPr>
      <a:lvl7pPr marL="914400" algn="ctr" defTabSz="1019175" rtl="0" fontAlgn="base">
        <a:spcBef>
          <a:spcPct val="0"/>
        </a:spcBef>
        <a:spcAft>
          <a:spcPct val="0"/>
        </a:spcAft>
        <a:defRPr sz="3100" b="1">
          <a:solidFill>
            <a:srgbClr val="E44EE4"/>
          </a:solidFill>
          <a:latin typeface="Arial" pitchFamily="34" charset="0"/>
          <a:cs typeface="Arial" pitchFamily="34" charset="0"/>
        </a:defRPr>
      </a:lvl7pPr>
      <a:lvl8pPr marL="1371600" algn="ctr" defTabSz="1019175" rtl="0" fontAlgn="base">
        <a:spcBef>
          <a:spcPct val="0"/>
        </a:spcBef>
        <a:spcAft>
          <a:spcPct val="0"/>
        </a:spcAft>
        <a:defRPr sz="3100" b="1">
          <a:solidFill>
            <a:srgbClr val="E44EE4"/>
          </a:solidFill>
          <a:latin typeface="Arial" pitchFamily="34" charset="0"/>
          <a:cs typeface="Arial" pitchFamily="34" charset="0"/>
        </a:defRPr>
      </a:lvl8pPr>
      <a:lvl9pPr marL="1828800" algn="ctr" defTabSz="1019175" rtl="0" fontAlgn="base">
        <a:spcBef>
          <a:spcPct val="0"/>
        </a:spcBef>
        <a:spcAft>
          <a:spcPct val="0"/>
        </a:spcAft>
        <a:defRPr sz="3100" b="1">
          <a:solidFill>
            <a:srgbClr val="E44EE4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r" rtl="1" eaLnBrk="0" fontAlgn="base" hangingPunct="0">
        <a:spcBef>
          <a:spcPct val="20000"/>
        </a:spcBef>
        <a:spcAft>
          <a:spcPct val="0"/>
        </a:spcAft>
        <a:buChar char="•"/>
        <a:defRPr sz="2400" b="1">
          <a:solidFill>
            <a:srgbClr val="FF5050"/>
          </a:solidFill>
          <a:latin typeface="+mn-lt"/>
          <a:ea typeface="+mn-ea"/>
          <a:cs typeface="B Mitra" pitchFamily="2" charset="-78"/>
        </a:defRPr>
      </a:lvl1pPr>
      <a:lvl2pPr marL="895350" indent="-438150" algn="r" rtl="1" eaLnBrk="0" fontAlgn="base" hangingPunct="0">
        <a:spcBef>
          <a:spcPct val="20000"/>
        </a:spcBef>
        <a:spcAft>
          <a:spcPct val="0"/>
        </a:spcAft>
        <a:buFont typeface="Wingdings" panose="05000000000000000000" pitchFamily="2" charset="2"/>
        <a:buChar char="q"/>
        <a:defRPr sz="2200">
          <a:solidFill>
            <a:srgbClr val="0000FF"/>
          </a:solidFill>
          <a:latin typeface="+mn-lt"/>
          <a:cs typeface="B Mitra" pitchFamily="2" charset="-78"/>
        </a:defRPr>
      </a:lvl2pPr>
      <a:lvl3pPr marL="1143000" indent="-228600" algn="r" rtl="1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−"/>
        <a:defRPr sz="2400">
          <a:solidFill>
            <a:schemeClr val="tx1"/>
          </a:solidFill>
          <a:latin typeface="+mn-lt"/>
          <a:cs typeface="B Mitra" pitchFamily="2" charset="-78"/>
        </a:defRPr>
      </a:lvl3pPr>
      <a:lvl4pPr marL="1600200" indent="-228600" algn="r" rtl="1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−"/>
        <a:defRPr sz="1600">
          <a:solidFill>
            <a:schemeClr val="tx1"/>
          </a:solidFill>
          <a:latin typeface="+mn-lt"/>
          <a:cs typeface="B Mitra" pitchFamily="2" charset="-78"/>
        </a:defRPr>
      </a:lvl4pPr>
      <a:lvl5pPr marL="2057400" indent="-231775" algn="r" rtl="1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−"/>
        <a:defRPr sz="1200">
          <a:solidFill>
            <a:schemeClr val="tx1"/>
          </a:solidFill>
          <a:latin typeface="+mn-lt"/>
          <a:cs typeface="B Mitra" pitchFamily="2" charset="-78"/>
        </a:defRPr>
      </a:lvl5pPr>
      <a:lvl6pPr marL="2514600" indent="-231775" algn="l" rtl="0" fontAlgn="base">
        <a:spcBef>
          <a:spcPct val="20000"/>
        </a:spcBef>
        <a:spcAft>
          <a:spcPct val="0"/>
        </a:spcAft>
        <a:buFont typeface="Arial" pitchFamily="34" charset="0"/>
        <a:buChar char="−"/>
        <a:defRPr sz="1200">
          <a:solidFill>
            <a:schemeClr val="tx1"/>
          </a:solidFill>
          <a:latin typeface="+mn-lt"/>
          <a:cs typeface="+mn-cs"/>
        </a:defRPr>
      </a:lvl6pPr>
      <a:lvl7pPr marL="2971800" indent="-231775" algn="l" rtl="0" fontAlgn="base">
        <a:spcBef>
          <a:spcPct val="20000"/>
        </a:spcBef>
        <a:spcAft>
          <a:spcPct val="0"/>
        </a:spcAft>
        <a:buFont typeface="Arial" pitchFamily="34" charset="0"/>
        <a:buChar char="−"/>
        <a:defRPr sz="1200">
          <a:solidFill>
            <a:schemeClr val="tx1"/>
          </a:solidFill>
          <a:latin typeface="+mn-lt"/>
          <a:cs typeface="+mn-cs"/>
        </a:defRPr>
      </a:lvl7pPr>
      <a:lvl8pPr marL="3429000" indent="-231775" algn="l" rtl="0" fontAlgn="base">
        <a:spcBef>
          <a:spcPct val="20000"/>
        </a:spcBef>
        <a:spcAft>
          <a:spcPct val="0"/>
        </a:spcAft>
        <a:buFont typeface="Arial" pitchFamily="34" charset="0"/>
        <a:buChar char="−"/>
        <a:defRPr sz="1200">
          <a:solidFill>
            <a:schemeClr val="tx1"/>
          </a:solidFill>
          <a:latin typeface="+mn-lt"/>
          <a:cs typeface="+mn-cs"/>
        </a:defRPr>
      </a:lvl8pPr>
      <a:lvl9pPr marL="3886200" indent="-231775" algn="l" rtl="0" fontAlgn="base">
        <a:spcBef>
          <a:spcPct val="20000"/>
        </a:spcBef>
        <a:spcAft>
          <a:spcPct val="0"/>
        </a:spcAft>
        <a:buFont typeface="Arial" pitchFamily="34" charset="0"/>
        <a:buChar char="−"/>
        <a:defRPr sz="12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15044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400">
                <a:cs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5045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cs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5046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 smtClean="0"/>
            </a:lvl1pPr>
          </a:lstStyle>
          <a:p>
            <a:pPr>
              <a:defRPr/>
            </a:pPr>
            <a:fld id="{2CEF38EC-C54E-4148-AB98-7F69B794F6F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481" r:id="rId1"/>
    <p:sldLayoutId id="2147485482" r:id="rId2"/>
    <p:sldLayoutId id="2147485483" r:id="rId3"/>
    <p:sldLayoutId id="2147485484" r:id="rId4"/>
    <p:sldLayoutId id="2147485485" r:id="rId5"/>
    <p:sldLayoutId id="2147485486" r:id="rId6"/>
    <p:sldLayoutId id="2147485487" r:id="rId7"/>
    <p:sldLayoutId id="2147485488" r:id="rId8"/>
    <p:sldLayoutId id="2147485489" r:id="rId9"/>
    <p:sldLayoutId id="2147485490" r:id="rId10"/>
    <p:sldLayoutId id="2147485491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Arial" pitchFamily="34" charset="0"/>
          <a:cs typeface="Arial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emf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emf"/><Relationship Id="rId4" Type="http://schemas.openxmlformats.org/officeDocument/2006/relationships/oleObject" Target="../embeddings/oleObject4.bin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2" Type="http://schemas.openxmlformats.org/officeDocument/2006/relationships/oleObject" Target="../embeddings/oleObject5.bin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emf"/><Relationship Id="rId4" Type="http://schemas.openxmlformats.org/officeDocument/2006/relationships/oleObject" Target="../embeddings/oleObject7.bin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emf"/><Relationship Id="rId2" Type="http://schemas.openxmlformats.org/officeDocument/2006/relationships/oleObject" Target="../embeddings/oleObject8.bin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pPr rtl="1"/>
            <a:r>
              <a:rPr lang="fa-IR" dirty="0"/>
              <a:t>طراحی سطح بالا</a:t>
            </a:r>
            <a:endParaRPr lang="en-US" dirty="0"/>
          </a:p>
        </p:txBody>
      </p:sp>
      <p:sp>
        <p:nvSpPr>
          <p:cNvPr id="6" name="Subtitle 5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8589963" y="6388100"/>
            <a:ext cx="554037" cy="334963"/>
          </a:xfrm>
        </p:spPr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01269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a-IR" sz="4000"/>
              <a:t>بازدید از صمیم رایانه</a:t>
            </a:r>
          </a:p>
          <a:p>
            <a:pPr lvl="1"/>
            <a:r>
              <a:rPr lang="fa-IR" sz="3600"/>
              <a:t>احتمالا چهارشنبه هفته آینده صبح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424259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altLang="en-US"/>
              <a:t>سطوح تجرید (</a:t>
            </a:r>
            <a:r>
              <a:rPr lang="en-US" altLang="en-US"/>
              <a:t>Levels of Abstraction</a:t>
            </a:r>
            <a:r>
              <a:rPr lang="fa-IR" altLang="en-US"/>
              <a:t>)</a:t>
            </a:r>
            <a:endParaRPr lang="en-US" altLang="en-US"/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>
          <a:xfrm>
            <a:off x="3995738" y="1000125"/>
            <a:ext cx="4937125" cy="5214938"/>
          </a:xfrm>
        </p:spPr>
        <p:txBody>
          <a:bodyPr/>
          <a:lstStyle/>
          <a:p>
            <a:r>
              <a:rPr lang="fa-IR" altLang="en-US" dirty="0"/>
              <a:t>رفتاری:</a:t>
            </a:r>
            <a:endParaRPr lang="en-US" altLang="en-US" dirty="0"/>
          </a:p>
          <a:p>
            <a:pPr lvl="2"/>
            <a:r>
              <a:rPr lang="fa-IR" altLang="en-US" dirty="0"/>
              <a:t> توصیف عملکرد مطلوب (الگوریتمی)</a:t>
            </a:r>
          </a:p>
          <a:p>
            <a:pPr lvl="2"/>
            <a:r>
              <a:rPr lang="fa-IR" altLang="en-US" dirty="0"/>
              <a:t> بدون پرداختن به مدار</a:t>
            </a:r>
          </a:p>
          <a:p>
            <a:pPr lvl="2"/>
            <a:r>
              <a:rPr lang="fa-IR" altLang="en-US" dirty="0"/>
              <a:t> همة امکانات </a:t>
            </a:r>
            <a:r>
              <a:rPr lang="en-US" altLang="en-US" sz="2800" dirty="0"/>
              <a:t>VHDL</a:t>
            </a:r>
            <a:endParaRPr lang="fa-IR" altLang="en-US" dirty="0"/>
          </a:p>
          <a:p>
            <a:pPr lvl="2"/>
            <a:r>
              <a:rPr lang="fa-IR" altLang="en-US" dirty="0"/>
              <a:t> ترجیح طراحان: </a:t>
            </a:r>
            <a:r>
              <a:rPr lang="en-US" altLang="en-US" dirty="0"/>
              <a:t>C/C++</a:t>
            </a:r>
          </a:p>
          <a:p>
            <a:pPr lvl="2"/>
            <a:endParaRPr lang="en-US" altLang="en-US" dirty="0"/>
          </a:p>
        </p:txBody>
      </p:sp>
      <p:sp>
        <p:nvSpPr>
          <p:cNvPr id="24580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r" rtl="1">
              <a:spcBef>
                <a:spcPct val="20000"/>
              </a:spcBef>
              <a:buChar char="•"/>
              <a:defRPr sz="2400" b="1">
                <a:solidFill>
                  <a:srgbClr val="FF5050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1pPr>
            <a:lvl2pPr marL="742950" indent="-285750" algn="r" rtl="1">
              <a:spcBef>
                <a:spcPct val="20000"/>
              </a:spcBef>
              <a:buFont typeface="Wingdings" panose="05000000000000000000" pitchFamily="2" charset="2"/>
              <a:buChar char="q"/>
              <a:defRPr sz="2200">
                <a:solidFill>
                  <a:srgbClr val="0000FF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2pPr>
            <a:lvl3pPr marL="11430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24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3pPr>
            <a:lvl4pPr marL="16002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6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4pPr>
            <a:lvl5pPr marL="20574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5pPr>
            <a:lvl6pPr marL="25146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6pPr>
            <a:lvl7pPr marL="29718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7pPr>
            <a:lvl8pPr marL="34290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8pPr>
            <a:lvl9pPr marL="38862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9pPr>
          </a:lstStyle>
          <a:p>
            <a:pPr rtl="0">
              <a:spcBef>
                <a:spcPct val="0"/>
              </a:spcBef>
              <a:buFontTx/>
              <a:buNone/>
            </a:pPr>
            <a:fld id="{C3D1162F-1DE6-49D1-87D2-778FE27EFE0C}" type="slidenum">
              <a:rPr lang="en-US" altLang="en-US" sz="1300" b="0" smtClean="0">
                <a:solidFill>
                  <a:schemeClr val="tx1"/>
                </a:solidFill>
                <a:cs typeface="Arial" panose="020B0604020202020204" pitchFamily="34" charset="0"/>
              </a:rPr>
              <a:pPr rtl="0">
                <a:spcBef>
                  <a:spcPct val="0"/>
                </a:spcBef>
                <a:buFontTx/>
                <a:buNone/>
              </a:pPr>
              <a:t>3</a:t>
            </a:fld>
            <a:endParaRPr lang="en-US" altLang="en-US" sz="1300" b="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pic>
        <p:nvPicPr>
          <p:cNvPr id="24581" name="Picture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60475" y="549275"/>
            <a:ext cx="7178675" cy="4783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6556476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altLang="en-US" dirty="0"/>
              <a:t>سنتز سطح بالا</a:t>
            </a:r>
            <a:endParaRPr lang="en-US" altLang="en-US" dirty="0"/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>
          <a:xfrm>
            <a:off x="3275856" y="836712"/>
            <a:ext cx="5657007" cy="5214938"/>
          </a:xfrm>
        </p:spPr>
        <p:txBody>
          <a:bodyPr/>
          <a:lstStyle/>
          <a:p>
            <a:r>
              <a:rPr lang="fa-IR" altLang="en-US" dirty="0"/>
              <a:t>سنتز:</a:t>
            </a:r>
          </a:p>
          <a:p>
            <a:pPr lvl="1"/>
            <a:r>
              <a:rPr lang="fa-IR" altLang="en-US" dirty="0"/>
              <a:t>سنتز رفتاری (</a:t>
            </a:r>
            <a:r>
              <a:rPr lang="en-US" altLang="en-US" sz="2400" dirty="0"/>
              <a:t>Behavioral Synthesis</a:t>
            </a:r>
            <a:r>
              <a:rPr lang="fa-IR" altLang="en-US" dirty="0"/>
              <a:t>) یا سنتز سطح بالا (</a:t>
            </a:r>
            <a:r>
              <a:rPr lang="en-US" altLang="en-US" sz="2400" dirty="0"/>
              <a:t>HLS</a:t>
            </a:r>
            <a:r>
              <a:rPr lang="fa-IR" altLang="en-US" dirty="0"/>
              <a:t>)</a:t>
            </a:r>
            <a:r>
              <a:rPr lang="en-US" altLang="en-US" dirty="0"/>
              <a:t>:</a:t>
            </a:r>
          </a:p>
          <a:p>
            <a:pPr lvl="2"/>
            <a:endParaRPr lang="en-US" altLang="en-US" dirty="0"/>
          </a:p>
        </p:txBody>
      </p:sp>
      <p:sp>
        <p:nvSpPr>
          <p:cNvPr id="24580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r" rtl="1">
              <a:spcBef>
                <a:spcPct val="20000"/>
              </a:spcBef>
              <a:buChar char="•"/>
              <a:defRPr sz="2400" b="1">
                <a:solidFill>
                  <a:srgbClr val="FF5050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1pPr>
            <a:lvl2pPr marL="742950" indent="-285750" algn="r" rtl="1">
              <a:spcBef>
                <a:spcPct val="20000"/>
              </a:spcBef>
              <a:buFont typeface="Wingdings" panose="05000000000000000000" pitchFamily="2" charset="2"/>
              <a:buChar char="q"/>
              <a:defRPr sz="2200">
                <a:solidFill>
                  <a:srgbClr val="0000FF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2pPr>
            <a:lvl3pPr marL="11430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24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3pPr>
            <a:lvl4pPr marL="16002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6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4pPr>
            <a:lvl5pPr marL="20574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5pPr>
            <a:lvl6pPr marL="25146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6pPr>
            <a:lvl7pPr marL="29718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7pPr>
            <a:lvl8pPr marL="34290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8pPr>
            <a:lvl9pPr marL="38862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9pPr>
          </a:lstStyle>
          <a:p>
            <a:pPr rtl="0">
              <a:spcBef>
                <a:spcPct val="0"/>
              </a:spcBef>
              <a:buFontTx/>
              <a:buNone/>
            </a:pPr>
            <a:fld id="{C3D1162F-1DE6-49D1-87D2-778FE27EFE0C}" type="slidenum">
              <a:rPr lang="en-US" altLang="en-US" sz="1300" b="0" smtClean="0">
                <a:solidFill>
                  <a:schemeClr val="tx1"/>
                </a:solidFill>
                <a:cs typeface="Arial" panose="020B0604020202020204" pitchFamily="34" charset="0"/>
              </a:rPr>
              <a:pPr rtl="0">
                <a:spcBef>
                  <a:spcPct val="0"/>
                </a:spcBef>
                <a:buFontTx/>
                <a:buNone/>
              </a:pPr>
              <a:t>4</a:t>
            </a:fld>
            <a:endParaRPr lang="en-US" altLang="en-US" sz="1300" b="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pic>
        <p:nvPicPr>
          <p:cNvPr id="7" name="Picture 2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908720" y="549275"/>
            <a:ext cx="7178675" cy="4783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1"/>
          <p:cNvSpPr txBox="1">
            <a:spLocks noChangeArrowheads="1"/>
          </p:cNvSpPr>
          <p:nvPr/>
        </p:nvSpPr>
        <p:spPr bwMode="auto">
          <a:xfrm>
            <a:off x="1836193" y="2565400"/>
            <a:ext cx="2232025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r" rtl="1">
              <a:spcBef>
                <a:spcPct val="20000"/>
              </a:spcBef>
              <a:buChar char="•"/>
              <a:defRPr sz="2400" b="1">
                <a:solidFill>
                  <a:srgbClr val="FF5050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1pPr>
            <a:lvl2pPr marL="742950" indent="-285750" algn="r" rtl="1">
              <a:spcBef>
                <a:spcPct val="20000"/>
              </a:spcBef>
              <a:buFont typeface="Wingdings" panose="05000000000000000000" pitchFamily="2" charset="2"/>
              <a:buChar char="q"/>
              <a:defRPr sz="2200">
                <a:solidFill>
                  <a:srgbClr val="0000FF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2pPr>
            <a:lvl3pPr marL="11430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24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3pPr>
            <a:lvl4pPr marL="16002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6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4pPr>
            <a:lvl5pPr marL="20574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5pPr>
            <a:lvl6pPr marL="25146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6pPr>
            <a:lvl7pPr marL="29718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7pPr>
            <a:lvl8pPr marL="34290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8pPr>
            <a:lvl9pPr marL="38862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9pPr>
          </a:lstStyle>
          <a:p>
            <a:pPr algn="l" rtl="0">
              <a:spcBef>
                <a:spcPct val="0"/>
              </a:spcBef>
              <a:buFontTx/>
              <a:buNone/>
            </a:pPr>
            <a:r>
              <a:rPr lang="en-US" altLang="en-US" sz="1600" b="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rPr>
              <a:t>High-Level Synthesis</a:t>
            </a:r>
          </a:p>
        </p:txBody>
      </p:sp>
      <p:sp>
        <p:nvSpPr>
          <p:cNvPr id="9" name="TextBox 6"/>
          <p:cNvSpPr txBox="1">
            <a:spLocks noChangeArrowheads="1"/>
          </p:cNvSpPr>
          <p:nvPr/>
        </p:nvSpPr>
        <p:spPr bwMode="auto">
          <a:xfrm>
            <a:off x="1799680" y="4365625"/>
            <a:ext cx="3060700" cy="338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r" rtl="1">
              <a:spcBef>
                <a:spcPct val="20000"/>
              </a:spcBef>
              <a:buChar char="•"/>
              <a:defRPr sz="2400" b="1">
                <a:solidFill>
                  <a:srgbClr val="FF5050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1pPr>
            <a:lvl2pPr marL="742950" indent="-285750" algn="r" rtl="1">
              <a:spcBef>
                <a:spcPct val="20000"/>
              </a:spcBef>
              <a:buFont typeface="Wingdings" panose="05000000000000000000" pitchFamily="2" charset="2"/>
              <a:buChar char="q"/>
              <a:defRPr sz="2200">
                <a:solidFill>
                  <a:srgbClr val="0000FF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2pPr>
            <a:lvl3pPr marL="11430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24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3pPr>
            <a:lvl4pPr marL="16002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6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4pPr>
            <a:lvl5pPr marL="20574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5pPr>
            <a:lvl6pPr marL="25146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6pPr>
            <a:lvl7pPr marL="29718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7pPr>
            <a:lvl8pPr marL="34290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8pPr>
            <a:lvl9pPr marL="38862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9pPr>
          </a:lstStyle>
          <a:p>
            <a:pPr algn="l" rtl="0">
              <a:spcBef>
                <a:spcPct val="0"/>
              </a:spcBef>
              <a:buFontTx/>
              <a:buNone/>
            </a:pPr>
            <a:r>
              <a:rPr lang="en-US" altLang="en-US" sz="1600" b="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rPr>
              <a:t>Place &amp; Route (Layout Synthesis)</a:t>
            </a:r>
          </a:p>
        </p:txBody>
      </p:sp>
      <p:sp>
        <p:nvSpPr>
          <p:cNvPr id="10" name="TextBox 7"/>
          <p:cNvSpPr txBox="1">
            <a:spLocks noChangeArrowheads="1"/>
          </p:cNvSpPr>
          <p:nvPr/>
        </p:nvSpPr>
        <p:spPr bwMode="auto">
          <a:xfrm>
            <a:off x="1772693" y="3500438"/>
            <a:ext cx="1646237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algn="r" rtl="1">
              <a:spcBef>
                <a:spcPct val="20000"/>
              </a:spcBef>
              <a:buChar char="•"/>
              <a:defRPr sz="2400" b="1">
                <a:solidFill>
                  <a:srgbClr val="FF5050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1pPr>
            <a:lvl2pPr marL="742950" indent="-285750" algn="r" rtl="1">
              <a:spcBef>
                <a:spcPct val="20000"/>
              </a:spcBef>
              <a:buFont typeface="Wingdings" panose="05000000000000000000" pitchFamily="2" charset="2"/>
              <a:buChar char="q"/>
              <a:defRPr sz="2200">
                <a:solidFill>
                  <a:srgbClr val="0000FF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2pPr>
            <a:lvl3pPr marL="11430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24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3pPr>
            <a:lvl4pPr marL="16002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6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4pPr>
            <a:lvl5pPr marL="20574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5pPr>
            <a:lvl6pPr marL="25146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6pPr>
            <a:lvl7pPr marL="29718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7pPr>
            <a:lvl8pPr marL="34290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8pPr>
            <a:lvl9pPr marL="38862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9pPr>
          </a:lstStyle>
          <a:p>
            <a:pPr algn="l" rtl="0">
              <a:spcBef>
                <a:spcPct val="0"/>
              </a:spcBef>
              <a:buFontTx/>
              <a:buNone/>
            </a:pPr>
            <a:r>
              <a:rPr lang="en-US" altLang="en-US" sz="1600" b="0">
                <a:solidFill>
                  <a:schemeClr val="tx1"/>
                </a:solidFill>
                <a:latin typeface="Times New Roman" panose="02020603050405020304" pitchFamily="18" charset="0"/>
                <a:cs typeface="Arial" panose="020B0604020202020204" pitchFamily="34" charset="0"/>
              </a:rPr>
              <a:t>Logic Synthesis</a:t>
            </a:r>
          </a:p>
        </p:txBody>
      </p:sp>
      <p:sp>
        <p:nvSpPr>
          <p:cNvPr id="2" name="Rounded Rectangle 1"/>
          <p:cNvSpPr/>
          <p:nvPr/>
        </p:nvSpPr>
        <p:spPr bwMode="auto">
          <a:xfrm>
            <a:off x="467544" y="1844824"/>
            <a:ext cx="3384376" cy="1655614"/>
          </a:xfrm>
          <a:prstGeom prst="round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1019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>
              <a:ln w="19050">
                <a:solidFill>
                  <a:schemeClr val="tx1"/>
                </a:solidFill>
              </a:ln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482349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altLang="en-US" dirty="0"/>
              <a:t>توصیف رفتاری و </a:t>
            </a:r>
            <a:r>
              <a:rPr lang="en-US" altLang="en-US" dirty="0"/>
              <a:t>RTL</a:t>
            </a:r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>
          <a:xfrm>
            <a:off x="539552" y="1000125"/>
            <a:ext cx="8393311" cy="5214938"/>
          </a:xfrm>
        </p:spPr>
        <p:txBody>
          <a:bodyPr/>
          <a:lstStyle/>
          <a:p>
            <a:r>
              <a:rPr lang="fa-IR" altLang="en-US" dirty="0"/>
              <a:t>توصیف سطح بالا:</a:t>
            </a:r>
            <a:endParaRPr lang="en-US" altLang="en-US" dirty="0"/>
          </a:p>
          <a:p>
            <a:pPr lvl="1"/>
            <a:r>
              <a:rPr lang="fa-IR" altLang="en-US" dirty="0"/>
              <a:t>تنها عملکرد سیستم، در قالب ترتیب انجام عملیات</a:t>
            </a:r>
          </a:p>
          <a:p>
            <a:r>
              <a:rPr lang="fa-IR" altLang="en-US" dirty="0"/>
              <a:t>توصیف انتقال ثبات:</a:t>
            </a:r>
          </a:p>
          <a:p>
            <a:pPr lvl="1"/>
            <a:r>
              <a:rPr lang="fa-IR" altLang="en-US" dirty="0"/>
              <a:t>زمانبندی دقیق عملیات در هر کلاک</a:t>
            </a:r>
          </a:p>
          <a:p>
            <a:pPr lvl="1"/>
            <a:r>
              <a:rPr lang="fa-IR" altLang="en-US" dirty="0"/>
              <a:t>نحوة کنترل عملیات محاسباتی و منطقی</a:t>
            </a:r>
          </a:p>
          <a:p>
            <a:pPr lvl="1"/>
            <a:r>
              <a:rPr lang="fa-IR" altLang="en-US" dirty="0"/>
              <a:t>نحوة کنترل قرارگرفتن نتایج آنها در ثبات‌ها در هر گام کنترلی </a:t>
            </a:r>
            <a:endParaRPr lang="en-US" altLang="en-US" dirty="0"/>
          </a:p>
        </p:txBody>
      </p:sp>
      <p:sp>
        <p:nvSpPr>
          <p:cNvPr id="24580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r" rtl="1">
              <a:spcBef>
                <a:spcPct val="20000"/>
              </a:spcBef>
              <a:buChar char="•"/>
              <a:defRPr sz="2400" b="1">
                <a:solidFill>
                  <a:srgbClr val="FF5050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1pPr>
            <a:lvl2pPr marL="742950" indent="-285750" algn="r" rtl="1">
              <a:spcBef>
                <a:spcPct val="20000"/>
              </a:spcBef>
              <a:buFont typeface="Wingdings" panose="05000000000000000000" pitchFamily="2" charset="2"/>
              <a:buChar char="q"/>
              <a:defRPr sz="2200">
                <a:solidFill>
                  <a:srgbClr val="0000FF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2pPr>
            <a:lvl3pPr marL="11430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24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3pPr>
            <a:lvl4pPr marL="16002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6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4pPr>
            <a:lvl5pPr marL="20574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5pPr>
            <a:lvl6pPr marL="25146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6pPr>
            <a:lvl7pPr marL="29718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7pPr>
            <a:lvl8pPr marL="34290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8pPr>
            <a:lvl9pPr marL="38862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9pPr>
          </a:lstStyle>
          <a:p>
            <a:pPr rtl="0">
              <a:spcBef>
                <a:spcPct val="0"/>
              </a:spcBef>
              <a:buFontTx/>
              <a:buNone/>
            </a:pPr>
            <a:fld id="{C3D1162F-1DE6-49D1-87D2-778FE27EFE0C}" type="slidenum">
              <a:rPr lang="en-US" altLang="en-US" sz="1300" b="0" smtClean="0">
                <a:solidFill>
                  <a:schemeClr val="tx1"/>
                </a:solidFill>
                <a:cs typeface="Arial" panose="020B0604020202020204" pitchFamily="34" charset="0"/>
              </a:rPr>
              <a:pPr rtl="0">
                <a:spcBef>
                  <a:spcPct val="0"/>
                </a:spcBef>
                <a:buFontTx/>
                <a:buNone/>
              </a:pPr>
              <a:t>5</a:t>
            </a:fld>
            <a:endParaRPr lang="en-US" altLang="en-US" sz="1300" b="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7785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altLang="en-US" dirty="0"/>
              <a:t>تاریخچه</a:t>
            </a:r>
            <a:endParaRPr lang="en-US" altLang="en-US" dirty="0"/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>
          <a:xfrm>
            <a:off x="539552" y="1000125"/>
            <a:ext cx="8393311" cy="5214938"/>
          </a:xfrm>
        </p:spPr>
        <p:txBody>
          <a:bodyPr/>
          <a:lstStyle/>
          <a:p>
            <a:r>
              <a:rPr lang="fa-IR" altLang="en-US" dirty="0"/>
              <a:t>کندی پردازنده‌ها</a:t>
            </a:r>
          </a:p>
          <a:p>
            <a:pPr lvl="1"/>
            <a:r>
              <a:rPr lang="fa-IR" altLang="en-US" dirty="0"/>
              <a:t>عدم جوابگویی به نیازهای بسیاری از کاربردها</a:t>
            </a:r>
          </a:p>
          <a:p>
            <a:pPr lvl="1"/>
            <a:r>
              <a:rPr lang="fa-IR" altLang="en-US" dirty="0">
                <a:sym typeface="Wingdings" panose="05000000000000000000" pitchFamily="2" charset="2"/>
              </a:rPr>
              <a:t> </a:t>
            </a:r>
            <a:r>
              <a:rPr lang="fa-IR" altLang="en-US" dirty="0"/>
              <a:t>نیاز به شتاب‌دهی الگوریتم</a:t>
            </a:r>
            <a:endParaRPr lang="en-US" altLang="en-US" dirty="0"/>
          </a:p>
          <a:p>
            <a:pPr lvl="1"/>
            <a:r>
              <a:rPr lang="fa-IR" altLang="en-US" dirty="0"/>
              <a:t>گزینه‌‌ها:</a:t>
            </a:r>
          </a:p>
          <a:p>
            <a:pPr lvl="2"/>
            <a:r>
              <a:rPr lang="en-US" altLang="en-US" dirty="0"/>
              <a:t>Multicores</a:t>
            </a:r>
          </a:p>
          <a:p>
            <a:pPr lvl="2"/>
            <a:r>
              <a:rPr lang="en-US" altLang="en-US" dirty="0" err="1"/>
              <a:t>Manycores</a:t>
            </a:r>
            <a:r>
              <a:rPr lang="en-US" altLang="en-US" dirty="0"/>
              <a:t> (GPU)</a:t>
            </a:r>
          </a:p>
          <a:p>
            <a:pPr lvl="2"/>
            <a:r>
              <a:rPr lang="en-US" altLang="en-US" dirty="0"/>
              <a:t>FPGA</a:t>
            </a:r>
          </a:p>
          <a:p>
            <a:pPr lvl="2"/>
            <a:endParaRPr lang="fa-IR" altLang="en-US" dirty="0"/>
          </a:p>
        </p:txBody>
      </p:sp>
      <p:sp>
        <p:nvSpPr>
          <p:cNvPr id="24580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r" rtl="1">
              <a:spcBef>
                <a:spcPct val="20000"/>
              </a:spcBef>
              <a:buChar char="•"/>
              <a:defRPr sz="2400" b="1">
                <a:solidFill>
                  <a:srgbClr val="FF5050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1pPr>
            <a:lvl2pPr marL="742950" indent="-285750" algn="r" rtl="1">
              <a:spcBef>
                <a:spcPct val="20000"/>
              </a:spcBef>
              <a:buFont typeface="Wingdings" panose="05000000000000000000" pitchFamily="2" charset="2"/>
              <a:buChar char="q"/>
              <a:defRPr sz="2200">
                <a:solidFill>
                  <a:srgbClr val="0000FF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2pPr>
            <a:lvl3pPr marL="11430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24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3pPr>
            <a:lvl4pPr marL="16002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6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4pPr>
            <a:lvl5pPr marL="20574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5pPr>
            <a:lvl6pPr marL="25146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6pPr>
            <a:lvl7pPr marL="29718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7pPr>
            <a:lvl8pPr marL="34290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8pPr>
            <a:lvl9pPr marL="38862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9pPr>
          </a:lstStyle>
          <a:p>
            <a:pPr rtl="0">
              <a:spcBef>
                <a:spcPct val="0"/>
              </a:spcBef>
              <a:buFontTx/>
              <a:buNone/>
            </a:pPr>
            <a:fld id="{C3D1162F-1DE6-49D1-87D2-778FE27EFE0C}" type="slidenum">
              <a:rPr lang="en-US" altLang="en-US" sz="1300" b="0" smtClean="0">
                <a:solidFill>
                  <a:schemeClr val="tx1"/>
                </a:solidFill>
                <a:cs typeface="Arial" panose="020B0604020202020204" pitchFamily="34" charset="0"/>
              </a:rPr>
              <a:pPr rtl="0">
                <a:spcBef>
                  <a:spcPct val="0"/>
                </a:spcBef>
                <a:buFontTx/>
                <a:buNone/>
              </a:pPr>
              <a:t>6</a:t>
            </a:fld>
            <a:endParaRPr lang="en-US" altLang="en-US" sz="1300" b="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5321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altLang="en-US" dirty="0"/>
              <a:t>تاریخچه</a:t>
            </a:r>
            <a:endParaRPr lang="en-US" altLang="en-US" dirty="0"/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>
          <a:xfrm>
            <a:off x="107504" y="1000125"/>
            <a:ext cx="8825359" cy="5214938"/>
          </a:xfrm>
        </p:spPr>
        <p:txBody>
          <a:bodyPr/>
          <a:lstStyle/>
          <a:p>
            <a:r>
              <a:rPr lang="en-US" altLang="en-US" dirty="0"/>
              <a:t>Multicore</a:t>
            </a:r>
            <a:r>
              <a:rPr lang="fa-IR" altLang="en-US" dirty="0"/>
              <a:t> و </a:t>
            </a:r>
            <a:r>
              <a:rPr lang="en-US" altLang="en-US" dirty="0"/>
              <a:t>GPU</a:t>
            </a:r>
            <a:r>
              <a:rPr lang="fa-IR" altLang="en-US" dirty="0"/>
              <a:t>:</a:t>
            </a:r>
          </a:p>
          <a:p>
            <a:endParaRPr lang="fa-IR" altLang="en-US" sz="3600" dirty="0"/>
          </a:p>
          <a:p>
            <a:pPr lvl="1"/>
            <a:r>
              <a:rPr lang="fa-IR" altLang="en-US" sz="3200" dirty="0"/>
              <a:t>جوابگو نبودن افزایش فرکانس پردازنده‌ها</a:t>
            </a:r>
          </a:p>
          <a:p>
            <a:pPr lvl="1"/>
            <a:r>
              <a:rPr lang="fa-IR" altLang="en-US" sz="3200" dirty="0"/>
              <a:t>نیاز طراحان نرم‌افزار به طراحی ساختار موازی الگوریتم‌ها برای چندپردازنده‌ها </a:t>
            </a:r>
            <a:r>
              <a:rPr lang="fa-IR" altLang="en-US" sz="3200" b="1" dirty="0"/>
              <a:t>به صورت کارامد</a:t>
            </a:r>
          </a:p>
          <a:p>
            <a:pPr lvl="1"/>
            <a:r>
              <a:rPr lang="fa-IR" altLang="en-US" sz="3200" dirty="0"/>
              <a:t>تکنیک‌های طراحی الگوریتم‌های موازی مشابه مبانی طراحی با </a:t>
            </a:r>
            <a:r>
              <a:rPr lang="en-US" altLang="en-US" dirty="0"/>
              <a:t>FPGA</a:t>
            </a:r>
            <a:endParaRPr lang="fa-IR" altLang="en-US" sz="3200" dirty="0"/>
          </a:p>
          <a:p>
            <a:pPr lvl="2"/>
            <a:r>
              <a:rPr lang="fa-IR" altLang="en-US" sz="2800" dirty="0"/>
              <a:t> تفاوت: مدل برنامه‌نویسی/توصیف: </a:t>
            </a:r>
            <a:r>
              <a:rPr lang="en-US" altLang="en-US" sz="2800" dirty="0"/>
              <a:t>RTL</a:t>
            </a:r>
            <a:r>
              <a:rPr lang="fa-IR" altLang="en-US" sz="2800" dirty="0"/>
              <a:t> در برابر </a:t>
            </a:r>
            <a:r>
              <a:rPr lang="en-US" altLang="en-US" sz="2800" dirty="0"/>
              <a:t>C/C++</a:t>
            </a:r>
            <a:endParaRPr lang="fa-IR" altLang="en-US" dirty="0"/>
          </a:p>
          <a:p>
            <a:pPr lvl="1"/>
            <a:endParaRPr lang="fa-IR" altLang="en-US" dirty="0"/>
          </a:p>
        </p:txBody>
      </p:sp>
      <p:sp>
        <p:nvSpPr>
          <p:cNvPr id="24580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r" rtl="1">
              <a:spcBef>
                <a:spcPct val="20000"/>
              </a:spcBef>
              <a:buChar char="•"/>
              <a:defRPr sz="2400" b="1">
                <a:solidFill>
                  <a:srgbClr val="FF5050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1pPr>
            <a:lvl2pPr marL="742950" indent="-285750" algn="r" rtl="1">
              <a:spcBef>
                <a:spcPct val="20000"/>
              </a:spcBef>
              <a:buFont typeface="Wingdings" panose="05000000000000000000" pitchFamily="2" charset="2"/>
              <a:buChar char="q"/>
              <a:defRPr sz="2200">
                <a:solidFill>
                  <a:srgbClr val="0000FF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2pPr>
            <a:lvl3pPr marL="11430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24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3pPr>
            <a:lvl4pPr marL="16002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6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4pPr>
            <a:lvl5pPr marL="20574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5pPr>
            <a:lvl6pPr marL="25146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6pPr>
            <a:lvl7pPr marL="29718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7pPr>
            <a:lvl8pPr marL="34290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8pPr>
            <a:lvl9pPr marL="38862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9pPr>
          </a:lstStyle>
          <a:p>
            <a:pPr rtl="0">
              <a:spcBef>
                <a:spcPct val="0"/>
              </a:spcBef>
              <a:buFontTx/>
              <a:buNone/>
            </a:pPr>
            <a:fld id="{C3D1162F-1DE6-49D1-87D2-778FE27EFE0C}" type="slidenum">
              <a:rPr lang="en-US" altLang="en-US" sz="1300" b="0" smtClean="0">
                <a:solidFill>
                  <a:schemeClr val="tx1"/>
                </a:solidFill>
                <a:cs typeface="Arial" panose="020B0604020202020204" pitchFamily="34" charset="0"/>
              </a:rPr>
              <a:pPr rtl="0">
                <a:spcBef>
                  <a:spcPct val="0"/>
                </a:spcBef>
                <a:buFontTx/>
                <a:buNone/>
              </a:pPr>
              <a:t>7</a:t>
            </a:fld>
            <a:endParaRPr lang="en-US" altLang="en-US" sz="1300" b="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1333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altLang="en-US" dirty="0"/>
              <a:t>مدل برنامه‌نویسی/توصیف</a:t>
            </a:r>
            <a:endParaRPr lang="en-US" altLang="en-US" dirty="0"/>
          </a:p>
        </p:txBody>
      </p:sp>
      <p:sp>
        <p:nvSpPr>
          <p:cNvPr id="24580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r" rtl="1">
              <a:spcBef>
                <a:spcPct val="20000"/>
              </a:spcBef>
              <a:buChar char="•"/>
              <a:defRPr sz="2400" b="1">
                <a:solidFill>
                  <a:srgbClr val="FF5050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1pPr>
            <a:lvl2pPr marL="742950" indent="-285750" algn="r" rtl="1">
              <a:spcBef>
                <a:spcPct val="20000"/>
              </a:spcBef>
              <a:buFont typeface="Wingdings" panose="05000000000000000000" pitchFamily="2" charset="2"/>
              <a:buChar char="q"/>
              <a:defRPr sz="2200">
                <a:solidFill>
                  <a:srgbClr val="0000FF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2pPr>
            <a:lvl3pPr marL="11430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24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3pPr>
            <a:lvl4pPr marL="16002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6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4pPr>
            <a:lvl5pPr marL="20574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5pPr>
            <a:lvl6pPr marL="25146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6pPr>
            <a:lvl7pPr marL="29718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7pPr>
            <a:lvl8pPr marL="34290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8pPr>
            <a:lvl9pPr marL="38862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9pPr>
          </a:lstStyle>
          <a:p>
            <a:pPr rtl="0">
              <a:spcBef>
                <a:spcPct val="0"/>
              </a:spcBef>
              <a:buFontTx/>
              <a:buNone/>
            </a:pPr>
            <a:fld id="{C3D1162F-1DE6-49D1-87D2-778FE27EFE0C}" type="slidenum">
              <a:rPr lang="en-US" altLang="en-US" sz="1300" b="0" smtClean="0">
                <a:solidFill>
                  <a:schemeClr val="tx1"/>
                </a:solidFill>
                <a:cs typeface="Arial" panose="020B0604020202020204" pitchFamily="34" charset="0"/>
              </a:rPr>
              <a:pPr rtl="0">
                <a:spcBef>
                  <a:spcPct val="0"/>
                </a:spcBef>
                <a:buFontTx/>
                <a:buNone/>
              </a:pPr>
              <a:t>8</a:t>
            </a:fld>
            <a:endParaRPr lang="en-US" altLang="en-US" sz="1300" b="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35496" y="980728"/>
            <a:ext cx="9361040" cy="936104"/>
          </a:xfrm>
        </p:spPr>
        <p:txBody>
          <a:bodyPr/>
          <a:lstStyle/>
          <a:p>
            <a:pPr lvl="1"/>
            <a:r>
              <a:rPr lang="fa-IR" dirty="0"/>
              <a:t>تأثیر مدل برنامه‌نویسی در مدت طراحی و کارایی</a:t>
            </a:r>
          </a:p>
          <a:p>
            <a:pPr lvl="2"/>
            <a:r>
              <a:rPr lang="fa-IR" dirty="0">
                <a:sym typeface="Wingdings" panose="05000000000000000000" pitchFamily="2" charset="2"/>
              </a:rPr>
              <a:t> طراحی برای </a:t>
            </a:r>
            <a:r>
              <a:rPr lang="en-US" dirty="0">
                <a:sym typeface="Wingdings" panose="05000000000000000000" pitchFamily="2" charset="2"/>
              </a:rPr>
              <a:t>FPGA</a:t>
            </a:r>
            <a:r>
              <a:rPr lang="fa-IR" dirty="0">
                <a:sym typeface="Wingdings" panose="05000000000000000000" pitchFamily="2" charset="2"/>
              </a:rPr>
              <a:t> برای کاربردهایی که سایر سیستم‌ها جوابگوی سرعت نیستند</a:t>
            </a:r>
            <a:endParaRPr lang="fa-IR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8" y="2204864"/>
            <a:ext cx="6558434" cy="4091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9229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altLang="en-US" dirty="0"/>
              <a:t>مدل برنامه‌نویسی/توصیف</a:t>
            </a:r>
            <a:endParaRPr lang="en-US" altLang="en-US" dirty="0"/>
          </a:p>
        </p:txBody>
      </p:sp>
      <p:sp>
        <p:nvSpPr>
          <p:cNvPr id="24580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r" rtl="1">
              <a:spcBef>
                <a:spcPct val="20000"/>
              </a:spcBef>
              <a:buChar char="•"/>
              <a:defRPr sz="2400" b="1">
                <a:solidFill>
                  <a:srgbClr val="FF5050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1pPr>
            <a:lvl2pPr marL="742950" indent="-285750" algn="r" rtl="1">
              <a:spcBef>
                <a:spcPct val="20000"/>
              </a:spcBef>
              <a:buFont typeface="Wingdings" panose="05000000000000000000" pitchFamily="2" charset="2"/>
              <a:buChar char="q"/>
              <a:defRPr sz="2200">
                <a:solidFill>
                  <a:srgbClr val="0000FF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2pPr>
            <a:lvl3pPr marL="11430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24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3pPr>
            <a:lvl4pPr marL="16002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6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4pPr>
            <a:lvl5pPr marL="20574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5pPr>
            <a:lvl6pPr marL="25146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6pPr>
            <a:lvl7pPr marL="29718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7pPr>
            <a:lvl8pPr marL="34290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8pPr>
            <a:lvl9pPr marL="38862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9pPr>
          </a:lstStyle>
          <a:p>
            <a:pPr rtl="0">
              <a:spcBef>
                <a:spcPct val="0"/>
              </a:spcBef>
              <a:buFontTx/>
              <a:buNone/>
            </a:pPr>
            <a:fld id="{C3D1162F-1DE6-49D1-87D2-778FE27EFE0C}" type="slidenum">
              <a:rPr lang="en-US" altLang="en-US" sz="1300" b="0" smtClean="0">
                <a:solidFill>
                  <a:schemeClr val="tx1"/>
                </a:solidFill>
                <a:cs typeface="Arial" panose="020B0604020202020204" pitchFamily="34" charset="0"/>
              </a:rPr>
              <a:pPr rtl="0">
                <a:spcBef>
                  <a:spcPct val="0"/>
                </a:spcBef>
                <a:buFontTx/>
                <a:buNone/>
              </a:pPr>
              <a:t>9</a:t>
            </a:fld>
            <a:endParaRPr lang="en-US" altLang="en-US" sz="1300" b="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a-IR" dirty="0"/>
              <a:t>سنتز سطح بالا:</a:t>
            </a:r>
          </a:p>
          <a:p>
            <a:pPr lvl="1"/>
            <a:r>
              <a:rPr lang="fa-IR" dirty="0"/>
              <a:t>پیشرفت‌های اخیر: استفاده از مدل برنامه‌نویسی مشابه طراحی نرم‌افزار (</a:t>
            </a:r>
            <a:r>
              <a:rPr lang="en-US" dirty="0"/>
              <a:t>C/C++</a:t>
            </a:r>
            <a:r>
              <a:rPr lang="fa-IR" dirty="0"/>
              <a:t>)</a:t>
            </a:r>
          </a:p>
          <a:p>
            <a:pPr lvl="1"/>
            <a:r>
              <a:rPr lang="fa-IR" dirty="0"/>
              <a:t>نیاز به آشنایی با پلتفرم سخت‌افزاری </a:t>
            </a:r>
            <a:r>
              <a:rPr lang="en-US" dirty="0"/>
              <a:t>FPGA</a:t>
            </a:r>
            <a:r>
              <a:rPr lang="fa-IR" dirty="0"/>
              <a:t> برای رسیدن به هدف کارایی (سرعت)</a:t>
            </a:r>
          </a:p>
        </p:txBody>
      </p:sp>
    </p:spTree>
    <p:extLst>
      <p:ext uri="{BB962C8B-B14F-4D97-AF65-F5344CB8AC3E}">
        <p14:creationId xmlns:p14="http://schemas.microsoft.com/office/powerpoint/2010/main" val="14596320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altLang="en-US" dirty="0"/>
              <a:t>مدل برنامه‌نویسی/توصیف</a:t>
            </a:r>
            <a:endParaRPr lang="en-US" altLang="en-US" dirty="0"/>
          </a:p>
        </p:txBody>
      </p:sp>
      <p:sp>
        <p:nvSpPr>
          <p:cNvPr id="24580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r" rtl="1">
              <a:spcBef>
                <a:spcPct val="20000"/>
              </a:spcBef>
              <a:buChar char="•"/>
              <a:defRPr sz="2400" b="1">
                <a:solidFill>
                  <a:srgbClr val="FF5050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1pPr>
            <a:lvl2pPr marL="742950" indent="-285750" algn="r" rtl="1">
              <a:spcBef>
                <a:spcPct val="20000"/>
              </a:spcBef>
              <a:buFont typeface="Wingdings" panose="05000000000000000000" pitchFamily="2" charset="2"/>
              <a:buChar char="q"/>
              <a:defRPr sz="2200">
                <a:solidFill>
                  <a:srgbClr val="0000FF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2pPr>
            <a:lvl3pPr marL="11430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24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3pPr>
            <a:lvl4pPr marL="16002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6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4pPr>
            <a:lvl5pPr marL="20574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5pPr>
            <a:lvl6pPr marL="25146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6pPr>
            <a:lvl7pPr marL="29718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7pPr>
            <a:lvl8pPr marL="34290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8pPr>
            <a:lvl9pPr marL="38862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9pPr>
          </a:lstStyle>
          <a:p>
            <a:pPr rtl="0">
              <a:spcBef>
                <a:spcPct val="0"/>
              </a:spcBef>
              <a:buFontTx/>
              <a:buNone/>
            </a:pPr>
            <a:fld id="{C3D1162F-1DE6-49D1-87D2-778FE27EFE0C}" type="slidenum">
              <a:rPr lang="en-US" altLang="en-US" sz="1300" b="0" smtClean="0">
                <a:solidFill>
                  <a:schemeClr val="tx1"/>
                </a:solidFill>
                <a:cs typeface="Arial" panose="020B0604020202020204" pitchFamily="34" charset="0"/>
              </a:rPr>
              <a:pPr rtl="0">
                <a:spcBef>
                  <a:spcPct val="0"/>
                </a:spcBef>
                <a:buFontTx/>
                <a:buNone/>
              </a:pPr>
              <a:t>10</a:t>
            </a:fld>
            <a:endParaRPr lang="en-US" altLang="en-US" sz="1300" b="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685800" y="1219200"/>
            <a:ext cx="7772400" cy="625624"/>
          </a:xfrm>
        </p:spPr>
        <p:txBody>
          <a:bodyPr/>
          <a:lstStyle/>
          <a:p>
            <a:r>
              <a:rPr lang="fa-IR" dirty="0"/>
              <a:t>سنتز سطح بالا: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52" y="2017063"/>
            <a:ext cx="6670222" cy="4198798"/>
          </a:xfrm>
          <a:prstGeom prst="rect">
            <a:avLst/>
          </a:prstGeom>
        </p:spPr>
      </p:pic>
      <p:cxnSp>
        <p:nvCxnSpPr>
          <p:cNvPr id="7" name="Straight Arrow Connector 6"/>
          <p:cNvCxnSpPr/>
          <p:nvPr/>
        </p:nvCxnSpPr>
        <p:spPr bwMode="auto">
          <a:xfrm flipH="1">
            <a:off x="2987824" y="2017063"/>
            <a:ext cx="2736304" cy="547841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Straight Arrow Connector 10"/>
          <p:cNvCxnSpPr/>
          <p:nvPr/>
        </p:nvCxnSpPr>
        <p:spPr bwMode="auto">
          <a:xfrm flipH="1">
            <a:off x="1691680" y="3889271"/>
            <a:ext cx="3528392" cy="763865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accent1"/>
            </a:solidFill>
            <a:prstDash val="solid"/>
            <a:round/>
            <a:headEnd type="none" w="med" len="med"/>
            <a:tailEnd type="triangle"/>
          </a:ln>
          <a:effectLst/>
        </p:spPr>
      </p:cxnSp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104" y="1819750"/>
            <a:ext cx="858588" cy="63714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76513" y="3261334"/>
            <a:ext cx="863181" cy="694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18419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altLang="en-US" dirty="0"/>
              <a:t>تاریخچه</a:t>
            </a:r>
            <a:endParaRPr lang="en-US" altLang="en-US" dirty="0"/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>
          <a:xfrm>
            <a:off x="539552" y="1000125"/>
            <a:ext cx="8393311" cy="5214938"/>
          </a:xfrm>
        </p:spPr>
        <p:txBody>
          <a:bodyPr/>
          <a:lstStyle/>
          <a:p>
            <a:r>
              <a:rPr lang="fa-IR" altLang="en-US" dirty="0"/>
              <a:t>از دهة 1970:</a:t>
            </a:r>
            <a:endParaRPr lang="en-US" altLang="en-US" dirty="0"/>
          </a:p>
          <a:p>
            <a:pPr lvl="1"/>
            <a:r>
              <a:rPr lang="fa-IR" altLang="en-US" dirty="0"/>
              <a:t>آغاز پژوهش</a:t>
            </a:r>
          </a:p>
          <a:p>
            <a:pPr lvl="1"/>
            <a:r>
              <a:rPr lang="fa-IR" altLang="en-US" dirty="0"/>
              <a:t>ناکارامد</a:t>
            </a:r>
          </a:p>
          <a:p>
            <a:pPr lvl="2"/>
            <a:r>
              <a:rPr lang="fa-IR" altLang="en-US" dirty="0">
                <a:sym typeface="Wingdings" panose="05000000000000000000" pitchFamily="2" charset="2"/>
              </a:rPr>
              <a:t> عدم ورود به ابزارهای صنعتی</a:t>
            </a:r>
            <a:endParaRPr lang="fa-IR" altLang="en-US" dirty="0"/>
          </a:p>
          <a:p>
            <a:r>
              <a:rPr lang="fa-IR" altLang="en-US" dirty="0"/>
              <a:t>تحولات اخیر:</a:t>
            </a:r>
          </a:p>
          <a:p>
            <a:pPr lvl="1"/>
            <a:r>
              <a:rPr lang="fa-IR" altLang="en-US" dirty="0"/>
              <a:t>پیشرفت ابزارهای سنتز</a:t>
            </a:r>
          </a:p>
          <a:p>
            <a:pPr lvl="1"/>
            <a:r>
              <a:rPr lang="fa-IR" altLang="en-US" dirty="0"/>
              <a:t>نیاز </a:t>
            </a:r>
            <a:r>
              <a:rPr lang="fa-IR" altLang="en-US"/>
              <a:t>شدید توسعه‌دهندگان برنامه‌های </a:t>
            </a:r>
            <a:r>
              <a:rPr lang="fa-IR" altLang="en-US" dirty="0"/>
              <a:t>کاربردی </a:t>
            </a:r>
            <a:r>
              <a:rPr lang="fa-IR" altLang="en-US"/>
              <a:t>به پیاده‌سازی سخت‌افزاری (شتاب‌دهی)</a:t>
            </a:r>
          </a:p>
          <a:p>
            <a:pPr lvl="1"/>
            <a:r>
              <a:rPr lang="fa-IR" altLang="en-US"/>
              <a:t>پیچیدگی زیاد الگوریتم‌های نیازمند به شتاب‌دهی</a:t>
            </a:r>
            <a:endParaRPr lang="fa-IR" altLang="en-US" dirty="0"/>
          </a:p>
          <a:p>
            <a:pPr lvl="1"/>
            <a:endParaRPr lang="en-US" altLang="en-US" dirty="0"/>
          </a:p>
        </p:txBody>
      </p:sp>
      <p:sp>
        <p:nvSpPr>
          <p:cNvPr id="24580" name="Slide Number Placeholder 3"/>
          <p:cNvSpPr>
            <a:spLocks noGrp="1"/>
          </p:cNvSpPr>
          <p:nvPr>
            <p:ph type="sldNum" sz="quarter" idx="10"/>
          </p:nvPr>
        </p:nvSpPr>
        <p:spPr>
          <a:noFill/>
          <a:ln w="9525"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algn="r" rtl="1">
              <a:spcBef>
                <a:spcPct val="20000"/>
              </a:spcBef>
              <a:buChar char="•"/>
              <a:defRPr sz="2400" b="1">
                <a:solidFill>
                  <a:srgbClr val="FF5050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1pPr>
            <a:lvl2pPr marL="742950" indent="-285750" algn="r" rtl="1">
              <a:spcBef>
                <a:spcPct val="20000"/>
              </a:spcBef>
              <a:buFont typeface="Wingdings" panose="05000000000000000000" pitchFamily="2" charset="2"/>
              <a:buChar char="q"/>
              <a:defRPr sz="2200">
                <a:solidFill>
                  <a:srgbClr val="0000FF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2pPr>
            <a:lvl3pPr marL="11430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24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3pPr>
            <a:lvl4pPr marL="16002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6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4pPr>
            <a:lvl5pPr marL="2057400" indent="-228600" algn="r" rtl="1">
              <a:spcBef>
                <a:spcPct val="20000"/>
              </a:spcBef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5pPr>
            <a:lvl6pPr marL="25146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6pPr>
            <a:lvl7pPr marL="29718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7pPr>
            <a:lvl8pPr marL="34290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8pPr>
            <a:lvl9pPr marL="3886200" indent="-228600" algn="r" rtl="1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−"/>
              <a:defRPr sz="1200">
                <a:solidFill>
                  <a:schemeClr val="tx1"/>
                </a:solidFill>
                <a:latin typeface="Arial" panose="020B0604020202020204" pitchFamily="34" charset="0"/>
                <a:cs typeface="B Mitra" panose="00000400000000000000" pitchFamily="2" charset="-78"/>
              </a:defRPr>
            </a:lvl9pPr>
          </a:lstStyle>
          <a:p>
            <a:pPr rtl="0">
              <a:spcBef>
                <a:spcPct val="0"/>
              </a:spcBef>
              <a:buFontTx/>
              <a:buNone/>
            </a:pPr>
            <a:fld id="{C3D1162F-1DE6-49D1-87D2-778FE27EFE0C}" type="slidenum">
              <a:rPr lang="en-US" altLang="en-US" sz="1300" b="0" smtClean="0">
                <a:solidFill>
                  <a:schemeClr val="tx1"/>
                </a:solidFill>
                <a:cs typeface="Arial" panose="020B0604020202020204" pitchFamily="34" charset="0"/>
              </a:rPr>
              <a:pPr rtl="0">
                <a:spcBef>
                  <a:spcPct val="0"/>
                </a:spcBef>
                <a:buFontTx/>
                <a:buNone/>
              </a:pPr>
              <a:t>11</a:t>
            </a:fld>
            <a:endParaRPr lang="en-US" altLang="en-US" sz="1300" b="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31428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انواع توصیف سطح بالا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980728"/>
            <a:ext cx="7772400" cy="4648200"/>
          </a:xfrm>
        </p:spPr>
        <p:txBody>
          <a:bodyPr/>
          <a:lstStyle/>
          <a:p>
            <a:r>
              <a:rPr lang="fa-IR" dirty="0"/>
              <a:t>توصیف های سطح بالا:</a:t>
            </a:r>
          </a:p>
          <a:p>
            <a:pPr lvl="1"/>
            <a:r>
              <a:rPr lang="en-US" dirty="0"/>
              <a:t>C/C++</a:t>
            </a:r>
          </a:p>
          <a:p>
            <a:pPr lvl="2"/>
            <a:r>
              <a:rPr lang="fa-IR" dirty="0"/>
              <a:t>محدودیت های توصیف سخت افزار (همروندی)</a:t>
            </a:r>
          </a:p>
          <a:p>
            <a:pPr lvl="2"/>
            <a:r>
              <a:rPr lang="fa-IR" dirty="0"/>
              <a:t>سنتزناپذیری برخی از ساختارها</a:t>
            </a:r>
            <a:endParaRPr lang="en-US" dirty="0"/>
          </a:p>
          <a:p>
            <a:pPr lvl="1"/>
            <a:r>
              <a:rPr lang="en-US" dirty="0" err="1"/>
              <a:t>SystemC</a:t>
            </a:r>
            <a:endParaRPr lang="fa-IR" dirty="0"/>
          </a:p>
          <a:p>
            <a:pPr lvl="2"/>
            <a:r>
              <a:rPr lang="fa-IR" dirty="0"/>
              <a:t>مبتنی بر </a:t>
            </a:r>
            <a:r>
              <a:rPr lang="en-US" dirty="0"/>
              <a:t>C</a:t>
            </a:r>
            <a:endParaRPr lang="fa-IR" dirty="0"/>
          </a:p>
          <a:p>
            <a:pPr lvl="2"/>
            <a:r>
              <a:rPr lang="fa-IR" dirty="0"/>
              <a:t>امکان توصیف همروندی</a:t>
            </a:r>
            <a:endParaRPr lang="en-US" dirty="0"/>
          </a:p>
          <a:p>
            <a:pPr lvl="1"/>
            <a:r>
              <a:rPr lang="en-US" dirty="0" err="1"/>
              <a:t>OpenCL</a:t>
            </a:r>
            <a:endParaRPr lang="fa-IR" dirty="0"/>
          </a:p>
          <a:p>
            <a:pPr lvl="2"/>
            <a:r>
              <a:rPr lang="fa-IR" dirty="0"/>
              <a:t>ابتدا برای </a:t>
            </a:r>
            <a:r>
              <a:rPr lang="en-US" dirty="0"/>
              <a:t>GPU</a:t>
            </a:r>
            <a:r>
              <a:rPr lang="fa-IR" dirty="0"/>
              <a:t>، اخیرا در ابزارهای </a:t>
            </a:r>
            <a:r>
              <a:rPr lang="en-US" dirty="0"/>
              <a:t>FPGA</a:t>
            </a:r>
          </a:p>
          <a:p>
            <a:pPr lvl="1"/>
            <a:r>
              <a:rPr lang="en-US" dirty="0"/>
              <a:t>Simulink</a:t>
            </a:r>
            <a:r>
              <a:rPr lang="fa-IR" dirty="0"/>
              <a:t> و </a:t>
            </a:r>
            <a:r>
              <a:rPr lang="en-US" dirty="0"/>
              <a:t>MATLAB</a:t>
            </a:r>
          </a:p>
          <a:p>
            <a:pPr lvl="2"/>
            <a:r>
              <a:rPr lang="fa-IR" dirty="0"/>
              <a:t>برای پردازش سیگنال دیجیتال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196446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مزایا و معایب طراحی و سنتز سطح بالا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980728"/>
            <a:ext cx="7772400" cy="4648200"/>
          </a:xfrm>
        </p:spPr>
        <p:txBody>
          <a:bodyPr/>
          <a:lstStyle/>
          <a:p>
            <a:r>
              <a:rPr lang="fa-IR" dirty="0"/>
              <a:t>مزایا:</a:t>
            </a:r>
          </a:p>
          <a:p>
            <a:pPr lvl="1"/>
            <a:r>
              <a:rPr lang="fa-IR" dirty="0"/>
              <a:t>سهولت </a:t>
            </a:r>
            <a:r>
              <a:rPr lang="fa-IR"/>
              <a:t>طراحی سیستم‌های </a:t>
            </a:r>
            <a:r>
              <a:rPr lang="fa-IR" dirty="0"/>
              <a:t>پیچیده</a:t>
            </a:r>
          </a:p>
          <a:p>
            <a:pPr lvl="2"/>
            <a:r>
              <a:rPr lang="fa-IR"/>
              <a:t> توصیف </a:t>
            </a:r>
            <a:r>
              <a:rPr lang="fa-IR" dirty="0"/>
              <a:t>عملیات در سطح بالا و تمرکز بیشتر بر نوآوری سطح بالا</a:t>
            </a:r>
          </a:p>
          <a:p>
            <a:pPr lvl="2"/>
            <a:endParaRPr lang="fa-IR" dirty="0"/>
          </a:p>
          <a:p>
            <a:pPr lvl="1"/>
            <a:r>
              <a:rPr lang="fa-IR"/>
              <a:t>سهولت درستی‌سنجی و اشکال‌زدایی</a:t>
            </a:r>
            <a:endParaRPr lang="fa-IR" dirty="0"/>
          </a:p>
          <a:p>
            <a:pPr lvl="2"/>
            <a:r>
              <a:rPr lang="fa-IR"/>
              <a:t> جزئیات </a:t>
            </a:r>
            <a:r>
              <a:rPr lang="fa-IR" dirty="0"/>
              <a:t>بسیار کمتر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74762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مزایا و معایب طراحی و سنتز سطح بالا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980728"/>
            <a:ext cx="7772400" cy="4648200"/>
          </a:xfrm>
        </p:spPr>
        <p:txBody>
          <a:bodyPr/>
          <a:lstStyle/>
          <a:p>
            <a:r>
              <a:rPr lang="fa-IR" dirty="0"/>
              <a:t>معایب:</a:t>
            </a:r>
          </a:p>
          <a:p>
            <a:pPr lvl="1"/>
            <a:r>
              <a:rPr lang="fa-IR" dirty="0"/>
              <a:t>کیفیت پایین نتایج سنتز (نسبت به طراحی </a:t>
            </a:r>
            <a:r>
              <a:rPr lang="en-US" sz="2400" dirty="0"/>
              <a:t>RTL</a:t>
            </a:r>
            <a:r>
              <a:rPr lang="fa-IR" dirty="0"/>
              <a:t>)</a:t>
            </a:r>
          </a:p>
          <a:p>
            <a:pPr lvl="2"/>
            <a:endParaRPr lang="fa-IR" dirty="0"/>
          </a:p>
          <a:p>
            <a:r>
              <a:rPr lang="fa-IR" dirty="0"/>
              <a:t>ترکیب دو روش:</a:t>
            </a:r>
          </a:p>
          <a:p>
            <a:pPr marL="457200" lvl="1" indent="0">
              <a:buNone/>
            </a:pPr>
            <a:r>
              <a:rPr lang="fa-IR" dirty="0"/>
              <a:t>1) توصیف سطح بالا و کاوش فضای طراحی</a:t>
            </a:r>
          </a:p>
          <a:p>
            <a:pPr lvl="2"/>
            <a:r>
              <a:rPr lang="fa-IR" dirty="0"/>
              <a:t>برای کیفیت مطلوب </a:t>
            </a:r>
            <a:r>
              <a:rPr lang="fa-IR" dirty="0">
                <a:sym typeface="Wingdings" panose="05000000000000000000" pitchFamily="2" charset="2"/>
              </a:rPr>
              <a:t> طراحی در سطح </a:t>
            </a:r>
            <a:r>
              <a:rPr lang="en-US" dirty="0">
                <a:sym typeface="Wingdings" panose="05000000000000000000" pitchFamily="2" charset="2"/>
              </a:rPr>
              <a:t>RTL</a:t>
            </a:r>
            <a:endParaRPr lang="fa-IR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fa-IR" dirty="0">
                <a:sym typeface="Wingdings" panose="05000000000000000000" pitchFamily="2" charset="2"/>
              </a:rPr>
              <a:t>2</a:t>
            </a:r>
            <a:r>
              <a:rPr lang="fa-IR">
                <a:sym typeface="Wingdings" panose="05000000000000000000" pitchFamily="2" charset="2"/>
              </a:rPr>
              <a:t>) بخش‌های </a:t>
            </a:r>
            <a:r>
              <a:rPr lang="fa-IR" dirty="0">
                <a:sym typeface="Wingdings" panose="05000000000000000000" pitchFamily="2" charset="2"/>
              </a:rPr>
              <a:t>بحرانی (بسیار مؤثر در سرعت): </a:t>
            </a:r>
            <a:r>
              <a:rPr lang="en-US" sz="2400" dirty="0">
                <a:sym typeface="Wingdings" panose="05000000000000000000" pitchFamily="2" charset="2"/>
              </a:rPr>
              <a:t>RTL</a:t>
            </a:r>
            <a:endParaRPr lang="fa-IR" sz="2400" dirty="0">
              <a:sym typeface="Wingdings" panose="05000000000000000000" pitchFamily="2" charset="2"/>
            </a:endParaRPr>
          </a:p>
          <a:p>
            <a:pPr marL="457200" lvl="1" indent="0">
              <a:buNone/>
            </a:pPr>
            <a:r>
              <a:rPr lang="fa-IR" sz="2400" dirty="0">
                <a:sym typeface="Wingdings" panose="05000000000000000000" pitchFamily="2" charset="2"/>
              </a:rPr>
              <a:t>    </a:t>
            </a:r>
            <a:r>
              <a:rPr lang="fa-IR">
                <a:sym typeface="Wingdings" panose="05000000000000000000" pitchFamily="2" charset="2"/>
              </a:rPr>
              <a:t>سایر بخش‌ها</a:t>
            </a:r>
            <a:r>
              <a:rPr lang="fa-IR" dirty="0">
                <a:sym typeface="Wingdings" panose="05000000000000000000" pitchFamily="2" charset="2"/>
              </a:rPr>
              <a:t>: </a:t>
            </a:r>
            <a:r>
              <a:rPr lang="en-US" sz="2400" dirty="0">
                <a:sym typeface="Wingdings" panose="05000000000000000000" pitchFamily="2" charset="2"/>
              </a:rPr>
              <a:t>HLS</a:t>
            </a:r>
            <a:endParaRPr lang="fa-IR" dirty="0">
              <a:sym typeface="Wingdings" panose="05000000000000000000" pitchFamily="2" charset="2"/>
            </a:endParaRPr>
          </a:p>
          <a:p>
            <a:pPr lvl="1"/>
            <a:endParaRPr lang="fa-IR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30028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انواع عملیات سنتز سطح بالا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764704"/>
            <a:ext cx="7772400" cy="5760640"/>
          </a:xfrm>
        </p:spPr>
        <p:txBody>
          <a:bodyPr/>
          <a:lstStyle/>
          <a:p>
            <a:r>
              <a:rPr lang="fa-IR" dirty="0"/>
              <a:t>عملیات سنتز:</a:t>
            </a:r>
          </a:p>
          <a:p>
            <a:pPr lvl="1"/>
            <a:r>
              <a:rPr lang="fa-IR" dirty="0"/>
              <a:t>سنتز توابع </a:t>
            </a:r>
            <a:r>
              <a:rPr lang="en-US" sz="2400" dirty="0"/>
              <a:t>C/C++</a:t>
            </a:r>
            <a:r>
              <a:rPr lang="fa-IR" sz="2400" dirty="0"/>
              <a:t> </a:t>
            </a:r>
            <a:r>
              <a:rPr lang="fa-IR"/>
              <a:t>از تابع درون </a:t>
            </a:r>
            <a:r>
              <a:rPr lang="en-US" sz="2400"/>
              <a:t>main</a:t>
            </a:r>
            <a:r>
              <a:rPr lang="en-US" sz="2400" dirty="0"/>
              <a:t>()</a:t>
            </a:r>
            <a:r>
              <a:rPr lang="fa-IR" sz="2400" dirty="0"/>
              <a:t> </a:t>
            </a:r>
            <a:r>
              <a:rPr lang="fa-IR" dirty="0"/>
              <a:t>به پایین</a:t>
            </a:r>
          </a:p>
          <a:p>
            <a:pPr lvl="2">
              <a:buFont typeface="+mj-lt"/>
              <a:buAutoNum type="arabicPeriod"/>
            </a:pPr>
            <a:r>
              <a:rPr lang="fa-IR" sz="2800"/>
              <a:t> سنتز </a:t>
            </a:r>
            <a:r>
              <a:rPr lang="fa-IR" sz="2800" dirty="0"/>
              <a:t>الگوریتم (بخش عمدة عملیات سنتز):</a:t>
            </a:r>
          </a:p>
          <a:p>
            <a:pPr lvl="3"/>
            <a:r>
              <a:rPr lang="fa-IR" sz="2400" dirty="0">
                <a:sym typeface="Wingdings" panose="05000000000000000000" pitchFamily="2" charset="2"/>
              </a:rPr>
              <a:t>سنتز عملیات درون تابع</a:t>
            </a:r>
          </a:p>
          <a:p>
            <a:pPr lvl="3"/>
            <a:r>
              <a:rPr lang="fa-IR" sz="2400" dirty="0"/>
              <a:t>شناسایی ساختارهای زبان سطح بالا</a:t>
            </a:r>
          </a:p>
          <a:p>
            <a:pPr lvl="3"/>
            <a:r>
              <a:rPr lang="fa-IR" sz="2400" dirty="0"/>
              <a:t>تولید اجزای سخت­افزاری لازم برای توصیف </a:t>
            </a:r>
            <a:r>
              <a:rPr lang="en-US" sz="1800" dirty="0"/>
              <a:t>RTL</a:t>
            </a:r>
            <a:endParaRPr lang="fa-IR" sz="2400" dirty="0"/>
          </a:p>
          <a:p>
            <a:pPr lvl="2">
              <a:buFont typeface="+mj-lt"/>
              <a:buAutoNum type="arabicPeriod"/>
            </a:pPr>
            <a:r>
              <a:rPr lang="fa-IR" sz="2800">
                <a:sym typeface="Wingdings" panose="05000000000000000000" pitchFamily="2" charset="2"/>
              </a:rPr>
              <a:t> سنتز </a:t>
            </a:r>
            <a:r>
              <a:rPr lang="fa-IR" sz="2800" dirty="0">
                <a:sym typeface="Wingdings" panose="05000000000000000000" pitchFamily="2" charset="2"/>
              </a:rPr>
              <a:t>مدار واسط</a:t>
            </a:r>
          </a:p>
          <a:p>
            <a:pPr lvl="3"/>
            <a:r>
              <a:rPr lang="fa-IR" sz="2400" dirty="0">
                <a:sym typeface="Wingdings" panose="05000000000000000000" pitchFamily="2" charset="2"/>
              </a:rPr>
              <a:t>سنتز </a:t>
            </a:r>
            <a:r>
              <a:rPr lang="fa-IR" sz="2400" dirty="0"/>
              <a:t>پارامترهای تابع به درگاه­ها و مدارهای واسط (که ارتباط مدار تابع را با سایر بخش­های سیستم فراهم می­کند)</a:t>
            </a:r>
          </a:p>
          <a:p>
            <a:pPr lvl="3"/>
            <a:r>
              <a:rPr lang="fa-IR" sz="2400" dirty="0"/>
              <a:t>مدار ساده: اتصال سیم، درگاه و عناصر حافظه</a:t>
            </a:r>
          </a:p>
          <a:p>
            <a:pPr lvl="3"/>
            <a:r>
              <a:rPr lang="fa-IR" sz="2400" dirty="0"/>
              <a:t>مدار پیچیده: پروتکل­های ارتباطی</a:t>
            </a:r>
            <a:endParaRPr lang="fa-IR" sz="2400" dirty="0">
              <a:sym typeface="Wingdings" panose="05000000000000000000" pitchFamily="2" charset="2"/>
            </a:endParaRPr>
          </a:p>
          <a:p>
            <a:pPr lvl="1"/>
            <a:endParaRPr lang="fa-IR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26534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sz="quarter"/>
          </p:nvPr>
        </p:nvSpPr>
        <p:spPr/>
        <p:txBody>
          <a:bodyPr/>
          <a:lstStyle/>
          <a:p>
            <a:r>
              <a:rPr lang="fa-IR" dirty="0"/>
              <a:t>مراحل سنتز سطح بالا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81616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مراحل سنتز سطح بالا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6678" y="824304"/>
            <a:ext cx="7772400" cy="4648200"/>
          </a:xfrm>
        </p:spPr>
        <p:txBody>
          <a:bodyPr/>
          <a:lstStyle/>
          <a:p>
            <a:r>
              <a:rPr lang="fa-IR" dirty="0"/>
              <a:t>مراحل سنتز:</a:t>
            </a:r>
          </a:p>
          <a:p>
            <a:r>
              <a:rPr lang="fa-IR" dirty="0"/>
              <a:t>هدف:</a:t>
            </a:r>
          </a:p>
          <a:p>
            <a:pPr lvl="1"/>
            <a:r>
              <a:rPr lang="fa-IR" dirty="0"/>
              <a:t>دید عمیق به طراحان سطح بالا</a:t>
            </a:r>
          </a:p>
          <a:p>
            <a:pPr lvl="1"/>
            <a:r>
              <a:rPr lang="fa-IR" dirty="0"/>
              <a:t>روش سیستماتیک برای طراحان </a:t>
            </a:r>
            <a:r>
              <a:rPr lang="en-US" dirty="0"/>
              <a:t>RTL</a:t>
            </a:r>
            <a:endParaRPr lang="fa-IR" dirty="0"/>
          </a:p>
          <a:p>
            <a:pPr lvl="1"/>
            <a:endParaRPr lang="fa-IR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8" y="848072"/>
            <a:ext cx="1554163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588187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مراحل سنتز سطح بالا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59832" y="824304"/>
            <a:ext cx="5439246" cy="4648200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fa-IR" dirty="0"/>
              <a:t>زمانبندی (</a:t>
            </a:r>
            <a:r>
              <a:rPr lang="en-US" sz="2800" dirty="0"/>
              <a:t>Scheduling</a:t>
            </a:r>
            <a:r>
              <a:rPr lang="fa-IR" dirty="0"/>
              <a:t>):</a:t>
            </a:r>
          </a:p>
          <a:p>
            <a:pPr lvl="1"/>
            <a:r>
              <a:rPr lang="fa-IR"/>
              <a:t>مشخص می‌کند در هر کلاک چه عملیاتی انجام شود.</a:t>
            </a:r>
            <a:endParaRPr lang="fa-IR" dirty="0"/>
          </a:p>
          <a:p>
            <a:pPr lvl="2"/>
            <a:r>
              <a:rPr lang="fa-IR"/>
              <a:t> تولید </a:t>
            </a:r>
            <a:r>
              <a:rPr lang="fa-IR" dirty="0"/>
              <a:t>گراف زمانبندی</a:t>
            </a:r>
          </a:p>
          <a:p>
            <a:pPr lvl="2"/>
            <a:endParaRPr lang="fa-IR" dirty="0"/>
          </a:p>
          <a:p>
            <a:pPr lvl="1"/>
            <a:r>
              <a:rPr lang="fa-IR" dirty="0"/>
              <a:t>اگر عملی در یک پریود کلاک قابل انجام نباشد</a:t>
            </a:r>
          </a:p>
          <a:p>
            <a:pPr lvl="2"/>
            <a:r>
              <a:rPr lang="fa-IR" dirty="0"/>
              <a:t>افزایش پریود کلاک یا </a:t>
            </a:r>
          </a:p>
          <a:p>
            <a:pPr lvl="2"/>
            <a:r>
              <a:rPr lang="fa-IR" dirty="0"/>
              <a:t>زمانبندی عمل در چند کلاک</a:t>
            </a:r>
          </a:p>
          <a:p>
            <a:pPr lvl="1"/>
            <a:r>
              <a:rPr lang="fa-IR" dirty="0"/>
              <a:t>اگر چند عمل مستقلند</a:t>
            </a:r>
          </a:p>
          <a:p>
            <a:pPr lvl="2"/>
            <a:r>
              <a:rPr lang="fa-IR" dirty="0"/>
              <a:t>زمانبندی در یک کلاک</a:t>
            </a:r>
          </a:p>
          <a:p>
            <a:pPr lvl="1"/>
            <a:endParaRPr lang="fa-IR" dirty="0"/>
          </a:p>
          <a:p>
            <a:pPr lvl="1"/>
            <a:endParaRPr lang="fa-IR" dirty="0"/>
          </a:p>
          <a:p>
            <a:pPr lvl="1"/>
            <a:endParaRPr lang="fa-IR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8" y="848072"/>
            <a:ext cx="1554163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2355722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مراحل سنتز سطح بالا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59832" y="824304"/>
            <a:ext cx="5439246" cy="4648200"/>
          </a:xfrm>
        </p:spPr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fa-IR" dirty="0"/>
              <a:t>تخصیص (</a:t>
            </a:r>
            <a:r>
              <a:rPr lang="en-US" sz="2800" dirty="0"/>
              <a:t>Allocation</a:t>
            </a:r>
            <a:r>
              <a:rPr lang="fa-IR" dirty="0"/>
              <a:t>):</a:t>
            </a:r>
          </a:p>
          <a:p>
            <a:pPr lvl="1"/>
            <a:r>
              <a:rPr lang="fa-IR" dirty="0"/>
              <a:t>تعیین مجموعة منابع سخت­افزاری لازم</a:t>
            </a:r>
          </a:p>
          <a:p>
            <a:pPr lvl="1"/>
            <a:r>
              <a:rPr lang="fa-IR" dirty="0"/>
              <a:t>تعیین ثبات­های لازم برای نگهداری عملوندها </a:t>
            </a:r>
          </a:p>
          <a:p>
            <a:r>
              <a:rPr lang="fa-IR" dirty="0"/>
              <a:t>مقیدسازی (</a:t>
            </a:r>
            <a:r>
              <a:rPr lang="en-US" sz="2800" dirty="0"/>
              <a:t>Binding</a:t>
            </a:r>
            <a:r>
              <a:rPr lang="fa-IR" dirty="0"/>
              <a:t>):</a:t>
            </a:r>
          </a:p>
          <a:p>
            <a:pPr lvl="1"/>
            <a:r>
              <a:rPr lang="fa-IR" dirty="0"/>
              <a:t>کدام عمل در توصیف سطح بالا توسط کدام سخت­افزار اجرا شود؟</a:t>
            </a:r>
          </a:p>
          <a:p>
            <a:pPr lvl="2"/>
            <a:r>
              <a:rPr lang="fa-IR" dirty="0"/>
              <a:t>مثال: اگر چند جمع در توصیف باشد، بنا بر نتیجة زمانبندی</a:t>
            </a:r>
          </a:p>
          <a:p>
            <a:pPr lvl="3"/>
            <a:r>
              <a:rPr lang="fa-IR" dirty="0"/>
              <a:t>ممکن است برای هر جمع، یک جمع­کننده تخصیص یابد و یا </a:t>
            </a:r>
          </a:p>
          <a:p>
            <a:pPr lvl="3"/>
            <a:r>
              <a:rPr lang="fa-IR" dirty="0"/>
              <a:t>تنها یک جمع­کننده برای انجام همة اعمال جمع</a:t>
            </a:r>
          </a:p>
          <a:p>
            <a:pPr lvl="1"/>
            <a:endParaRPr lang="fa-IR" dirty="0"/>
          </a:p>
          <a:p>
            <a:pPr lvl="2"/>
            <a:endParaRPr lang="fa-IR" dirty="0"/>
          </a:p>
          <a:p>
            <a:pPr lvl="1"/>
            <a:endParaRPr lang="fa-IR" dirty="0"/>
          </a:p>
          <a:p>
            <a:pPr lvl="1"/>
            <a:endParaRPr lang="fa-IR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8" y="848072"/>
            <a:ext cx="1554163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426814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مراحل سنتز سطح بالا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59832" y="824304"/>
            <a:ext cx="5439246" cy="4648200"/>
          </a:xfrm>
        </p:spPr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fa-IR" dirty="0"/>
              <a:t>تخصیص و مقیدسازی:</a:t>
            </a:r>
          </a:p>
          <a:p>
            <a:pPr lvl="1"/>
            <a:r>
              <a:rPr lang="fa-IR" dirty="0"/>
              <a:t>اگر عمل در </a:t>
            </a:r>
            <a:r>
              <a:rPr lang="en-US" sz="2400" dirty="0"/>
              <a:t>RTL</a:t>
            </a:r>
            <a:r>
              <a:rPr lang="fa-IR" dirty="0"/>
              <a:t> قابل سنتز نیست (مثل جذر):</a:t>
            </a:r>
          </a:p>
          <a:p>
            <a:pPr lvl="2"/>
            <a:r>
              <a:rPr lang="fa-IR" dirty="0">
                <a:sym typeface="Wingdings" panose="05000000000000000000" pitchFamily="2" charset="2"/>
              </a:rPr>
              <a:t> </a:t>
            </a:r>
            <a:r>
              <a:rPr lang="fa-IR" dirty="0"/>
              <a:t>استفاده از کتابخانه­های هسته­های آماده و ابزارهای </a:t>
            </a:r>
            <a:r>
              <a:rPr lang="en-US" dirty="0"/>
              <a:t>core generator</a:t>
            </a:r>
            <a:r>
              <a:rPr lang="fa-IR" dirty="0"/>
              <a:t> توسط ابزار </a:t>
            </a:r>
            <a:r>
              <a:rPr lang="en-US" dirty="0"/>
              <a:t>HLS</a:t>
            </a:r>
            <a:endParaRPr lang="fa-IR" dirty="0"/>
          </a:p>
          <a:p>
            <a:pPr lvl="3"/>
            <a:r>
              <a:rPr lang="en-US" dirty="0"/>
              <a:t>CORDIC</a:t>
            </a:r>
            <a:r>
              <a:rPr lang="fa-IR" dirty="0"/>
              <a:t> </a:t>
            </a:r>
          </a:p>
          <a:p>
            <a:pPr lvl="1"/>
            <a:endParaRPr lang="fa-IR" dirty="0"/>
          </a:p>
          <a:p>
            <a:pPr lvl="2"/>
            <a:endParaRPr lang="fa-IR" dirty="0"/>
          </a:p>
          <a:p>
            <a:pPr lvl="1"/>
            <a:endParaRPr lang="fa-IR" dirty="0"/>
          </a:p>
          <a:p>
            <a:pPr lvl="1"/>
            <a:endParaRPr lang="fa-IR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8" y="848072"/>
            <a:ext cx="1554163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7105011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مراحل سنتز سطح بالا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59832" y="824304"/>
            <a:ext cx="5439246" cy="4648200"/>
          </a:xfrm>
        </p:spPr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fa-IR" dirty="0"/>
              <a:t>سنتز کنترل کننده:</a:t>
            </a:r>
          </a:p>
          <a:p>
            <a:pPr lvl="1"/>
            <a:r>
              <a:rPr lang="fa-IR" dirty="0"/>
              <a:t>تولید </a:t>
            </a:r>
            <a:r>
              <a:rPr lang="en-US" sz="2400" dirty="0"/>
              <a:t>FSM</a:t>
            </a:r>
            <a:r>
              <a:rPr lang="fa-IR" dirty="0"/>
              <a:t> برای </a:t>
            </a:r>
            <a:r>
              <a:rPr lang="fa-IR"/>
              <a:t>ایجاد سیگنال‌های </a:t>
            </a:r>
            <a:r>
              <a:rPr lang="fa-IR" dirty="0"/>
              <a:t>کنترلی</a:t>
            </a:r>
          </a:p>
          <a:p>
            <a:pPr lvl="2"/>
            <a:r>
              <a:rPr lang="fa-IR" dirty="0"/>
              <a:t>برای فراهم کردن زمانبندی </a:t>
            </a:r>
          </a:p>
          <a:p>
            <a:pPr lvl="1"/>
            <a:endParaRPr lang="fa-IR" dirty="0"/>
          </a:p>
          <a:p>
            <a:pPr lvl="2"/>
            <a:endParaRPr lang="fa-IR" dirty="0"/>
          </a:p>
          <a:p>
            <a:pPr lvl="1"/>
            <a:endParaRPr lang="fa-IR" dirty="0"/>
          </a:p>
          <a:p>
            <a:pPr lvl="1"/>
            <a:endParaRPr lang="fa-IR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8" y="848072"/>
            <a:ext cx="1554163" cy="5029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5319275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مراحل سنتز سطح بالا: مثال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9218" y="653008"/>
            <a:ext cx="5439246" cy="4648200"/>
          </a:xfrm>
        </p:spPr>
        <p:txBody>
          <a:bodyPr/>
          <a:lstStyle/>
          <a:p>
            <a:r>
              <a:rPr lang="fa-IR" dirty="0"/>
              <a:t>سنتز ب.م.م:</a:t>
            </a:r>
          </a:p>
          <a:p>
            <a:pPr lvl="1"/>
            <a:r>
              <a:rPr lang="fa-IR" dirty="0"/>
              <a:t>تولید گراف </a:t>
            </a:r>
            <a:r>
              <a:rPr lang="en-US" dirty="0" err="1"/>
              <a:t>FSMD</a:t>
            </a:r>
            <a:endParaRPr lang="fa-IR" dirty="0"/>
          </a:p>
          <a:p>
            <a:pPr lvl="2"/>
            <a:r>
              <a:rPr lang="fa-IR" dirty="0"/>
              <a:t>با ساختارهای از پیش تعریف شده</a:t>
            </a:r>
          </a:p>
          <a:p>
            <a:pPr lvl="1"/>
            <a:endParaRPr lang="fa-IR" dirty="0"/>
          </a:p>
          <a:p>
            <a:pPr lvl="2"/>
            <a:endParaRPr lang="fa-IR" dirty="0"/>
          </a:p>
          <a:p>
            <a:pPr lvl="1"/>
            <a:endParaRPr lang="fa-IR" dirty="0"/>
          </a:p>
          <a:p>
            <a:pPr lvl="1"/>
            <a:endParaRPr lang="fa-IR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  <p:sp>
        <p:nvSpPr>
          <p:cNvPr id="6" name="Rectangle 5"/>
          <p:cNvSpPr/>
          <p:nvPr/>
        </p:nvSpPr>
        <p:spPr>
          <a:xfrm>
            <a:off x="395536" y="1196752"/>
            <a:ext cx="3384376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600" b="1" dirty="0" err="1">
                <a:latin typeface="Courier New" panose="02070309020205020404" pitchFamily="49" charset="0"/>
                <a:ea typeface="Calibri" panose="020F0502020204030204" pitchFamily="34" charset="0"/>
              </a:rPr>
              <a:t>int</a:t>
            </a:r>
            <a:r>
              <a:rPr lang="en-US" sz="1600" b="1" dirty="0">
                <a:latin typeface="Courier New" panose="02070309020205020404" pitchFamily="49" charset="0"/>
                <a:ea typeface="Calibri" panose="020F0502020204030204" pitchFamily="34" charset="0"/>
              </a:rPr>
              <a:t> </a:t>
            </a:r>
            <a:r>
              <a:rPr lang="en-US" sz="1600" b="1" dirty="0" err="1">
                <a:latin typeface="Courier New" panose="02070309020205020404" pitchFamily="49" charset="0"/>
                <a:ea typeface="Calibri" panose="020F0502020204030204" pitchFamily="34" charset="0"/>
              </a:rPr>
              <a:t>gcd</a:t>
            </a:r>
            <a:r>
              <a:rPr lang="en-US" sz="1600" b="1" dirty="0">
                <a:latin typeface="Courier New" panose="02070309020205020404" pitchFamily="49" charset="0"/>
                <a:ea typeface="Calibri" panose="020F0502020204030204" pitchFamily="34" charset="0"/>
              </a:rPr>
              <a:t>(</a:t>
            </a:r>
            <a:r>
              <a:rPr lang="en-US" sz="1600" b="1" dirty="0" err="1">
                <a:latin typeface="Courier New" panose="02070309020205020404" pitchFamily="49" charset="0"/>
                <a:ea typeface="Calibri" panose="020F0502020204030204" pitchFamily="34" charset="0"/>
              </a:rPr>
              <a:t>int</a:t>
            </a:r>
            <a:r>
              <a:rPr lang="en-US" sz="1600" b="1" dirty="0">
                <a:latin typeface="Courier New" panose="02070309020205020404" pitchFamily="49" charset="0"/>
                <a:ea typeface="Calibri" panose="020F0502020204030204" pitchFamily="34" charset="0"/>
              </a:rPr>
              <a:t> x, </a:t>
            </a:r>
            <a:r>
              <a:rPr lang="en-US" sz="1600" b="1" dirty="0" err="1">
                <a:latin typeface="Courier New" panose="02070309020205020404" pitchFamily="49" charset="0"/>
                <a:ea typeface="Calibri" panose="020F0502020204030204" pitchFamily="34" charset="0"/>
              </a:rPr>
              <a:t>int</a:t>
            </a:r>
            <a:r>
              <a:rPr lang="en-US" sz="1600" b="1" dirty="0">
                <a:latin typeface="Courier New" panose="02070309020205020404" pitchFamily="49" charset="0"/>
                <a:ea typeface="Calibri" panose="020F0502020204030204" pitchFamily="34" charset="0"/>
              </a:rPr>
              <a:t> y)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latin typeface="Courier New" panose="02070309020205020404" pitchFamily="49" charset="0"/>
                <a:ea typeface="Calibri" panose="020F0502020204030204" pitchFamily="34" charset="0"/>
              </a:rPr>
              <a:t>{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latin typeface="Courier New" panose="02070309020205020404" pitchFamily="49" charset="0"/>
                <a:ea typeface="Calibri" panose="020F0502020204030204" pitchFamily="34" charset="0"/>
              </a:rPr>
              <a:t>   fin = false;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latin typeface="Courier New" panose="02070309020205020404" pitchFamily="49" charset="0"/>
                <a:ea typeface="Calibri" panose="020F0502020204030204" pitchFamily="34" charset="0"/>
              </a:rPr>
              <a:t>   while (!fin)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latin typeface="Courier New" panose="02070309020205020404" pitchFamily="49" charset="0"/>
                <a:ea typeface="Calibri" panose="020F0502020204030204" pitchFamily="34" charset="0"/>
              </a:rPr>
              <a:t>   {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latin typeface="Courier New" panose="02070309020205020404" pitchFamily="49" charset="0"/>
                <a:ea typeface="Calibri" panose="020F0502020204030204" pitchFamily="34" charset="0"/>
              </a:rPr>
              <a:t>      if (x &gt; y)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latin typeface="Courier New" panose="02070309020205020404" pitchFamily="49" charset="0"/>
                <a:ea typeface="Calibri" panose="020F0502020204030204" pitchFamily="34" charset="0"/>
              </a:rPr>
              <a:t>         x = x – y;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latin typeface="Courier New" panose="02070309020205020404" pitchFamily="49" charset="0"/>
                <a:ea typeface="Calibri" panose="020F0502020204030204" pitchFamily="34" charset="0"/>
              </a:rPr>
              <a:t>      else if (x &lt; y)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latin typeface="Courier New" panose="02070309020205020404" pitchFamily="49" charset="0"/>
                <a:ea typeface="Calibri" panose="020F0502020204030204" pitchFamily="34" charset="0"/>
              </a:rPr>
              <a:t>         y = y – x;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latin typeface="Courier New" panose="02070309020205020404" pitchFamily="49" charset="0"/>
                <a:ea typeface="Calibri" panose="020F0502020204030204" pitchFamily="34" charset="0"/>
              </a:rPr>
              <a:t>      else 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ar-SA" sz="1600" b="1" dirty="0">
                <a:latin typeface="Calibri" panose="020F0502020204030204" pitchFamily="34" charset="0"/>
                <a:ea typeface="Calibri" panose="020F0502020204030204" pitchFamily="34" charset="0"/>
                <a:cs typeface="Courier New" panose="02070309020205020404" pitchFamily="49" charset="0"/>
              </a:rPr>
              <a:t>         </a:t>
            </a:r>
            <a:r>
              <a:rPr lang="en-US" sz="1600" b="1" dirty="0">
                <a:latin typeface="Courier New" panose="02070309020205020404" pitchFamily="49" charset="0"/>
                <a:ea typeface="Calibri" panose="020F0502020204030204" pitchFamily="34" charset="0"/>
              </a:rPr>
              <a:t>fin = true;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latin typeface="Courier New" panose="02070309020205020404" pitchFamily="49" charset="0"/>
                <a:ea typeface="Calibri" panose="020F0502020204030204" pitchFamily="34" charset="0"/>
              </a:rPr>
              <a:t>   }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latin typeface="Courier New" panose="02070309020205020404" pitchFamily="49" charset="0"/>
                <a:ea typeface="Calibri" panose="020F0502020204030204" pitchFamily="34" charset="0"/>
              </a:rPr>
              <a:t>   return x;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600" b="1" dirty="0">
                <a:latin typeface="Courier New" panose="02070309020205020404" pitchFamily="49" charset="0"/>
                <a:ea typeface="Calibri" panose="020F0502020204030204" pitchFamily="34" charset="0"/>
              </a:rPr>
              <a:t>}</a:t>
            </a:r>
            <a:endParaRPr lang="en-US" sz="2000" dirty="0"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9218" y="2204864"/>
            <a:ext cx="5314182" cy="4028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14681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مراحل سنتز سطح بالا: مثال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59832" y="824304"/>
            <a:ext cx="5439246" cy="4648200"/>
          </a:xfrm>
        </p:spPr>
        <p:txBody>
          <a:bodyPr/>
          <a:lstStyle/>
          <a:p>
            <a:pPr marL="514350" indent="-514350">
              <a:buFont typeface="+mj-lt"/>
              <a:buAutoNum type="arabicPeriod" startAt="3"/>
            </a:pPr>
            <a:r>
              <a:rPr lang="fa-IR" dirty="0"/>
              <a:t>الگوهای حلقه و </a:t>
            </a:r>
            <a:r>
              <a:rPr lang="en-US" dirty="0"/>
              <a:t>if</a:t>
            </a:r>
            <a:r>
              <a:rPr lang="fa-IR" dirty="0"/>
              <a:t>:</a:t>
            </a:r>
          </a:p>
          <a:p>
            <a:pPr lvl="1"/>
            <a:endParaRPr lang="fa-IR" dirty="0"/>
          </a:p>
          <a:p>
            <a:pPr lvl="2"/>
            <a:endParaRPr lang="fa-IR" dirty="0"/>
          </a:p>
          <a:p>
            <a:pPr lvl="1"/>
            <a:endParaRPr lang="fa-IR" dirty="0"/>
          </a:p>
          <a:p>
            <a:pPr lvl="1"/>
            <a:endParaRPr lang="fa-IR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0998" y="1340768"/>
            <a:ext cx="6230159" cy="244827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648" y="3829539"/>
            <a:ext cx="5944861" cy="2551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598529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مراحل سنتز سطح بالا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51920" y="148952"/>
            <a:ext cx="5439246" cy="4648200"/>
          </a:xfrm>
        </p:spPr>
        <p:txBody>
          <a:bodyPr/>
          <a:lstStyle/>
          <a:p>
            <a:endParaRPr lang="fa-IR" dirty="0"/>
          </a:p>
          <a:p>
            <a:pPr lvl="1"/>
            <a:r>
              <a:rPr lang="fa-IR" dirty="0"/>
              <a:t>تخصیص و مقیدسازی</a:t>
            </a:r>
          </a:p>
          <a:p>
            <a:pPr lvl="2"/>
            <a:r>
              <a:rPr lang="fa-IR" dirty="0"/>
              <a:t>عملگرها</a:t>
            </a:r>
          </a:p>
          <a:p>
            <a:pPr lvl="2"/>
            <a:r>
              <a:rPr lang="fa-IR" dirty="0"/>
              <a:t>ثبات ها</a:t>
            </a:r>
          </a:p>
          <a:p>
            <a:pPr lvl="1"/>
            <a:endParaRPr lang="fa-IR" dirty="0"/>
          </a:p>
          <a:p>
            <a:pPr lvl="2"/>
            <a:endParaRPr lang="fa-IR" dirty="0"/>
          </a:p>
          <a:p>
            <a:pPr lvl="1"/>
            <a:endParaRPr lang="fa-IR" dirty="0"/>
          </a:p>
          <a:p>
            <a:pPr lvl="1"/>
            <a:endParaRPr lang="fa-IR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24</a:t>
            </a:fld>
            <a:endParaRPr lang="en-US" altLang="en-US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77254844"/>
              </p:ext>
            </p:extLst>
          </p:nvPr>
        </p:nvGraphicFramePr>
        <p:xfrm>
          <a:off x="2913003" y="2276872"/>
          <a:ext cx="5835461" cy="39604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18707129" imgH="12696857" progId="Visio.Drawing.11">
                  <p:embed/>
                </p:oleObj>
              </mc:Choice>
              <mc:Fallback>
                <p:oleObj name="Visio" r:id="rId2" imgW="18707129" imgH="12696857" progId="Visio.Drawing.1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913003" y="2276872"/>
                        <a:ext cx="5835461" cy="39604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1196752"/>
            <a:ext cx="3168352" cy="32316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b="1" dirty="0" err="1">
                <a:latin typeface="Courier New" panose="02070309020205020404" pitchFamily="49" charset="0"/>
                <a:ea typeface="Calibri" panose="020F0502020204030204" pitchFamily="34" charset="0"/>
              </a:rPr>
              <a:t>int</a:t>
            </a:r>
            <a:r>
              <a:rPr lang="en-US" sz="1400" b="1" dirty="0">
                <a:latin typeface="Courier New" panose="02070309020205020404" pitchFamily="49" charset="0"/>
                <a:ea typeface="Calibri" panose="020F0502020204030204" pitchFamily="34" charset="0"/>
              </a:rPr>
              <a:t> </a:t>
            </a:r>
            <a:r>
              <a:rPr lang="en-US" sz="1400" b="1" dirty="0" err="1">
                <a:latin typeface="Courier New" panose="02070309020205020404" pitchFamily="49" charset="0"/>
                <a:ea typeface="Calibri" panose="020F0502020204030204" pitchFamily="34" charset="0"/>
              </a:rPr>
              <a:t>gcd</a:t>
            </a:r>
            <a:r>
              <a:rPr lang="en-US" sz="1400" b="1" dirty="0">
                <a:latin typeface="Courier New" panose="02070309020205020404" pitchFamily="49" charset="0"/>
                <a:ea typeface="Calibri" panose="020F0502020204030204" pitchFamily="34" charset="0"/>
              </a:rPr>
              <a:t>(</a:t>
            </a:r>
            <a:r>
              <a:rPr lang="en-US" sz="1400" b="1" dirty="0" err="1">
                <a:latin typeface="Courier New" panose="02070309020205020404" pitchFamily="49" charset="0"/>
                <a:ea typeface="Calibri" panose="020F0502020204030204" pitchFamily="34" charset="0"/>
              </a:rPr>
              <a:t>int</a:t>
            </a:r>
            <a:r>
              <a:rPr lang="en-US" sz="1400" b="1" dirty="0">
                <a:latin typeface="Courier New" panose="02070309020205020404" pitchFamily="49" charset="0"/>
                <a:ea typeface="Calibri" panose="020F0502020204030204" pitchFamily="34" charset="0"/>
              </a:rPr>
              <a:t> x, </a:t>
            </a:r>
            <a:r>
              <a:rPr lang="en-US" sz="1400" b="1" dirty="0" err="1">
                <a:latin typeface="Courier New" panose="02070309020205020404" pitchFamily="49" charset="0"/>
                <a:ea typeface="Calibri" panose="020F0502020204030204" pitchFamily="34" charset="0"/>
              </a:rPr>
              <a:t>int</a:t>
            </a:r>
            <a:r>
              <a:rPr lang="en-US" sz="1400" b="1" dirty="0">
                <a:latin typeface="Courier New" panose="02070309020205020404" pitchFamily="49" charset="0"/>
                <a:ea typeface="Calibri" panose="020F0502020204030204" pitchFamily="34" charset="0"/>
              </a:rPr>
              <a:t> y)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latin typeface="Courier New" panose="02070309020205020404" pitchFamily="49" charset="0"/>
                <a:ea typeface="Calibri" panose="020F0502020204030204" pitchFamily="34" charset="0"/>
              </a:rPr>
              <a:t>{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latin typeface="Courier New" panose="02070309020205020404" pitchFamily="49" charset="0"/>
                <a:ea typeface="Calibri" panose="020F0502020204030204" pitchFamily="34" charset="0"/>
              </a:rPr>
              <a:t>   fin = false;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latin typeface="Courier New" panose="02070309020205020404" pitchFamily="49" charset="0"/>
                <a:ea typeface="Calibri" panose="020F0502020204030204" pitchFamily="34" charset="0"/>
              </a:rPr>
              <a:t>   while (!fin)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latin typeface="Courier New" panose="02070309020205020404" pitchFamily="49" charset="0"/>
                <a:ea typeface="Calibri" panose="020F0502020204030204" pitchFamily="34" charset="0"/>
              </a:rPr>
              <a:t>   {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latin typeface="Courier New" panose="02070309020205020404" pitchFamily="49" charset="0"/>
                <a:ea typeface="Calibri" panose="020F0502020204030204" pitchFamily="34" charset="0"/>
              </a:rPr>
              <a:t>      if (x &gt; y)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latin typeface="Courier New" panose="02070309020205020404" pitchFamily="49" charset="0"/>
                <a:ea typeface="Calibri" panose="020F0502020204030204" pitchFamily="34" charset="0"/>
              </a:rPr>
              <a:t>         x = x – y;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latin typeface="Courier New" panose="02070309020205020404" pitchFamily="49" charset="0"/>
                <a:ea typeface="Calibri" panose="020F0502020204030204" pitchFamily="34" charset="0"/>
              </a:rPr>
              <a:t>      else if (x &lt; y)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latin typeface="Courier New" panose="02070309020205020404" pitchFamily="49" charset="0"/>
                <a:ea typeface="Calibri" panose="020F0502020204030204" pitchFamily="34" charset="0"/>
              </a:rPr>
              <a:t>         y = y – x;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latin typeface="Courier New" panose="02070309020205020404" pitchFamily="49" charset="0"/>
                <a:ea typeface="Calibri" panose="020F0502020204030204" pitchFamily="34" charset="0"/>
              </a:rPr>
              <a:t>      else 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ar-SA" sz="1400" b="1" dirty="0">
                <a:latin typeface="Calibri" panose="020F0502020204030204" pitchFamily="34" charset="0"/>
                <a:ea typeface="Calibri" panose="020F0502020204030204" pitchFamily="34" charset="0"/>
                <a:cs typeface="Courier New" panose="02070309020205020404" pitchFamily="49" charset="0"/>
              </a:rPr>
              <a:t>         </a:t>
            </a:r>
            <a:r>
              <a:rPr lang="en-US" sz="1400" b="1" dirty="0">
                <a:latin typeface="Courier New" panose="02070309020205020404" pitchFamily="49" charset="0"/>
                <a:ea typeface="Calibri" panose="020F0502020204030204" pitchFamily="34" charset="0"/>
              </a:rPr>
              <a:t>fin = true;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latin typeface="Courier New" panose="02070309020205020404" pitchFamily="49" charset="0"/>
                <a:ea typeface="Calibri" panose="020F0502020204030204" pitchFamily="34" charset="0"/>
              </a:rPr>
              <a:t>   }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latin typeface="Courier New" panose="02070309020205020404" pitchFamily="49" charset="0"/>
                <a:ea typeface="Calibri" panose="020F0502020204030204" pitchFamily="34" charset="0"/>
              </a:rPr>
              <a:t>   return x;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</a:endParaRPr>
          </a:p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US" sz="1400" b="1" dirty="0">
                <a:latin typeface="Courier New" panose="02070309020205020404" pitchFamily="49" charset="0"/>
                <a:ea typeface="Calibri" panose="020F0502020204030204" pitchFamily="34" charset="0"/>
              </a:rPr>
              <a:t>}</a:t>
            </a:r>
            <a:endParaRPr lang="en-US" sz="1800" dirty="0"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48211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998" y="977092"/>
            <a:ext cx="3614135" cy="273994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مراحل سنتز سطح بالا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88640"/>
            <a:ext cx="6194822" cy="2415952"/>
          </a:xfrm>
        </p:spPr>
        <p:txBody>
          <a:bodyPr/>
          <a:lstStyle/>
          <a:p>
            <a:endParaRPr lang="fa-IR" dirty="0"/>
          </a:p>
          <a:p>
            <a:pPr lvl="1"/>
            <a:r>
              <a:rPr lang="fa-IR" dirty="0"/>
              <a:t>سنتز کنترل کننده بر اساس گراف </a:t>
            </a:r>
            <a:r>
              <a:rPr lang="en-US" dirty="0" err="1"/>
              <a:t>FSMD</a:t>
            </a:r>
            <a:endParaRPr lang="fa-IR" dirty="0"/>
          </a:p>
          <a:p>
            <a:pPr lvl="1"/>
            <a:endParaRPr lang="fa-IR" dirty="0"/>
          </a:p>
          <a:p>
            <a:pPr lvl="2"/>
            <a:endParaRPr lang="fa-IR" dirty="0"/>
          </a:p>
          <a:p>
            <a:pPr lvl="1"/>
            <a:endParaRPr lang="fa-IR" dirty="0"/>
          </a:p>
          <a:p>
            <a:pPr lvl="1"/>
            <a:endParaRPr lang="fa-IR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25</a:t>
            </a:fld>
            <a:endParaRPr lang="en-US" altLang="en-US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9227442"/>
              </p:ext>
            </p:extLst>
          </p:nvPr>
        </p:nvGraphicFramePr>
        <p:xfrm>
          <a:off x="693922" y="1268759"/>
          <a:ext cx="5534262" cy="508532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3" imgW="18068874" imgH="16602075" progId="Visio.Drawing.11">
                  <p:embed/>
                </p:oleObj>
              </mc:Choice>
              <mc:Fallback>
                <p:oleObj name="Visio" r:id="rId3" imgW="18068874" imgH="16602075" progId="Visio.Drawing.1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3922" y="1268759"/>
                        <a:ext cx="5534262" cy="508532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039435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 dirty="0"/>
              <a:t>اشتراک منابع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779912" y="581000"/>
            <a:ext cx="5511254" cy="2415952"/>
          </a:xfrm>
        </p:spPr>
        <p:txBody>
          <a:bodyPr/>
          <a:lstStyle/>
          <a:p>
            <a:endParaRPr lang="fa-IR" dirty="0"/>
          </a:p>
          <a:p>
            <a:pPr lvl="1"/>
            <a:endParaRPr lang="fa-IR" dirty="0"/>
          </a:p>
          <a:p>
            <a:pPr lvl="1"/>
            <a:endParaRPr lang="fa-IR" dirty="0"/>
          </a:p>
          <a:p>
            <a:pPr lvl="2"/>
            <a:endParaRPr lang="fa-IR" dirty="0"/>
          </a:p>
          <a:p>
            <a:pPr lvl="1"/>
            <a:endParaRPr lang="fa-IR" dirty="0"/>
          </a:p>
          <a:p>
            <a:pPr lvl="1"/>
            <a:endParaRPr lang="fa-IR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26</a:t>
            </a:fld>
            <a:endParaRPr lang="en-US" altLang="en-US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0753856"/>
              </p:ext>
            </p:extLst>
          </p:nvPr>
        </p:nvGraphicFramePr>
        <p:xfrm>
          <a:off x="5220072" y="2454266"/>
          <a:ext cx="3356198" cy="263091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4800600" imgH="3771755" progId="Visio.Drawing.15">
                  <p:embed/>
                </p:oleObj>
              </mc:Choice>
              <mc:Fallback>
                <p:oleObj name="Visio" r:id="rId2" imgW="4800600" imgH="3771755" progId="Visio.Drawing.15">
                  <p:embed/>
                  <p:pic>
                    <p:nvPicPr>
                      <p:cNvPr id="0" name="Object 2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220072" y="2454266"/>
                        <a:ext cx="3356198" cy="2630918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44566003"/>
              </p:ext>
            </p:extLst>
          </p:nvPr>
        </p:nvGraphicFramePr>
        <p:xfrm>
          <a:off x="399827" y="1570293"/>
          <a:ext cx="3672408" cy="34428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5448286" imgH="5114828" progId="Visio.Drawing.11">
                  <p:embed/>
                </p:oleObj>
              </mc:Choice>
              <mc:Fallback>
                <p:oleObj name="Visio" r:id="rId4" imgW="5448286" imgH="5114828" progId="Visio.Drawing.11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99827" y="1570293"/>
                        <a:ext cx="3672408" cy="3442883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320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/>
              <a:t>زمانبندی و </a:t>
            </a:r>
            <a:r>
              <a:rPr lang="en-US" dirty="0"/>
              <a:t>DFG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79712" y="824304"/>
            <a:ext cx="6519366" cy="4648200"/>
          </a:xfrm>
        </p:spPr>
        <p:txBody>
          <a:bodyPr/>
          <a:lstStyle/>
          <a:p>
            <a:r>
              <a:rPr lang="fa-IR" dirty="0"/>
              <a:t>زمانبندی </a:t>
            </a:r>
            <a:r>
              <a:rPr lang="fa-IR"/>
              <a:t>و موازی‌سازی </a:t>
            </a:r>
            <a:r>
              <a:rPr lang="fa-IR" dirty="0"/>
              <a:t>عملیات:</a:t>
            </a:r>
          </a:p>
          <a:p>
            <a:pPr lvl="1"/>
            <a:r>
              <a:rPr lang="fa-IR" dirty="0"/>
              <a:t>گراف جریان داده (</a:t>
            </a:r>
            <a:r>
              <a:rPr lang="en-US" sz="2400" dirty="0"/>
              <a:t>Data Flow Graph</a:t>
            </a:r>
            <a:r>
              <a:rPr lang="fa-IR" dirty="0"/>
              <a:t>):</a:t>
            </a:r>
          </a:p>
          <a:p>
            <a:pPr lvl="2"/>
            <a:r>
              <a:rPr lang="fa-IR" dirty="0"/>
              <a:t>عملیات در چند سیکل</a:t>
            </a:r>
          </a:p>
          <a:p>
            <a:pPr lvl="1"/>
            <a:endParaRPr lang="fa-IR" dirty="0"/>
          </a:p>
          <a:p>
            <a:pPr lvl="2"/>
            <a:endParaRPr lang="fa-IR" dirty="0"/>
          </a:p>
          <a:p>
            <a:pPr lvl="1"/>
            <a:endParaRPr lang="fa-IR" dirty="0"/>
          </a:p>
          <a:p>
            <a:pPr lvl="1"/>
            <a:endParaRPr lang="fa-IR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  <p:sp>
        <p:nvSpPr>
          <p:cNvPr id="5" name="Rectangle 4"/>
          <p:cNvSpPr/>
          <p:nvPr/>
        </p:nvSpPr>
        <p:spPr>
          <a:xfrm>
            <a:off x="692150" y="2670830"/>
            <a:ext cx="294374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i="1" dirty="0">
                <a:ea typeface="Calibri" panose="020F0502020204030204" pitchFamily="34" charset="0"/>
                <a:cs typeface="B Nazanin" panose="00000400000000000000" pitchFamily="2" charset="-78"/>
              </a:rPr>
              <a:t>(a</a:t>
            </a:r>
            <a:r>
              <a:rPr lang="en-US" sz="2800" b="1" i="1" baseline="30000" dirty="0">
                <a:ea typeface="Calibri" panose="020F0502020204030204" pitchFamily="34" charset="0"/>
                <a:cs typeface="B Nazanin" panose="00000400000000000000" pitchFamily="2" charset="-78"/>
              </a:rPr>
              <a:t>2</a:t>
            </a:r>
            <a:r>
              <a:rPr lang="en-US" sz="2800" b="1" i="1" dirty="0">
                <a:ea typeface="Calibri" panose="020F0502020204030204" pitchFamily="34" charset="0"/>
                <a:cs typeface="B Nazanin" panose="00000400000000000000" pitchFamily="2" charset="-78"/>
              </a:rPr>
              <a:t>+b</a:t>
            </a:r>
            <a:r>
              <a:rPr lang="en-US" sz="2800" b="1" i="1" baseline="30000" dirty="0">
                <a:ea typeface="Calibri" panose="020F0502020204030204" pitchFamily="34" charset="0"/>
                <a:cs typeface="B Nazanin" panose="00000400000000000000" pitchFamily="2" charset="-78"/>
              </a:rPr>
              <a:t>2</a:t>
            </a:r>
            <a:r>
              <a:rPr lang="en-US" sz="2800" b="1" i="1" dirty="0">
                <a:ea typeface="Calibri" panose="020F0502020204030204" pitchFamily="34" charset="0"/>
                <a:cs typeface="B Nazanin" panose="00000400000000000000" pitchFamily="2" charset="-78"/>
              </a:rPr>
              <a:t>-2ab)(a</a:t>
            </a:r>
            <a:r>
              <a:rPr lang="en-US" sz="2800" b="1" i="1" baseline="30000" dirty="0">
                <a:ea typeface="Calibri" panose="020F0502020204030204" pitchFamily="34" charset="0"/>
                <a:cs typeface="B Nazanin" panose="00000400000000000000" pitchFamily="2" charset="-78"/>
              </a:rPr>
              <a:t>2</a:t>
            </a:r>
            <a:r>
              <a:rPr lang="en-US" sz="2800" b="1" i="1" dirty="0">
                <a:ea typeface="Calibri" panose="020F0502020204030204" pitchFamily="34" charset="0"/>
                <a:cs typeface="B Nazanin" panose="00000400000000000000" pitchFamily="2" charset="-78"/>
              </a:rPr>
              <a:t>+b) </a:t>
            </a:r>
            <a:endParaRPr lang="en-US" sz="2400" b="1" dirty="0"/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8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76065504"/>
              </p:ext>
            </p:extLst>
          </p:nvPr>
        </p:nvGraphicFramePr>
        <p:xfrm>
          <a:off x="4498360" y="2420888"/>
          <a:ext cx="3097976" cy="3686944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13773280" imgH="16402050" progId="Visio.Drawing.11">
                  <p:embed/>
                </p:oleObj>
              </mc:Choice>
              <mc:Fallback>
                <p:oleObj name="Visio" r:id="rId2" imgW="13773280" imgH="16402050" progId="Visio.Drawing.11">
                  <p:embed/>
                  <p:pic>
                    <p:nvPicPr>
                      <p:cNvPr id="0" name="Object 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498360" y="2420888"/>
                        <a:ext cx="3097976" cy="3686944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04379240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/>
              <a:t>زمانبندی و </a:t>
            </a:r>
            <a:r>
              <a:rPr lang="en-US" dirty="0"/>
              <a:t>DFG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47864" y="824304"/>
            <a:ext cx="5151214" cy="2676704"/>
          </a:xfrm>
        </p:spPr>
        <p:txBody>
          <a:bodyPr/>
          <a:lstStyle/>
          <a:p>
            <a:r>
              <a:rPr lang="fa-IR" dirty="0"/>
              <a:t>زمانبندی:</a:t>
            </a:r>
          </a:p>
          <a:p>
            <a:pPr lvl="1"/>
            <a:r>
              <a:rPr lang="fa-IR" dirty="0"/>
              <a:t>دو زمانبندی مختلف:</a:t>
            </a:r>
          </a:p>
          <a:p>
            <a:pPr lvl="1"/>
            <a:endParaRPr lang="fa-IR" dirty="0"/>
          </a:p>
          <a:p>
            <a:pPr lvl="2"/>
            <a:endParaRPr lang="fa-IR" dirty="0"/>
          </a:p>
          <a:p>
            <a:pPr lvl="1"/>
            <a:endParaRPr lang="fa-IR" dirty="0"/>
          </a:p>
          <a:p>
            <a:pPr lvl="1"/>
            <a:endParaRPr lang="fa-IR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  <p:sp>
        <p:nvSpPr>
          <p:cNvPr id="5" name="Rectangle 4"/>
          <p:cNvSpPr/>
          <p:nvPr/>
        </p:nvSpPr>
        <p:spPr>
          <a:xfrm>
            <a:off x="2195736" y="1007194"/>
            <a:ext cx="294374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i="1" dirty="0">
                <a:ea typeface="Calibri" panose="020F0502020204030204" pitchFamily="34" charset="0"/>
                <a:cs typeface="B Nazanin" panose="00000400000000000000" pitchFamily="2" charset="-78"/>
              </a:rPr>
              <a:t>(a</a:t>
            </a:r>
            <a:r>
              <a:rPr lang="en-US" sz="2800" b="1" i="1" baseline="30000" dirty="0">
                <a:ea typeface="Calibri" panose="020F0502020204030204" pitchFamily="34" charset="0"/>
                <a:cs typeface="B Nazanin" panose="00000400000000000000" pitchFamily="2" charset="-78"/>
              </a:rPr>
              <a:t>2</a:t>
            </a:r>
            <a:r>
              <a:rPr lang="en-US" sz="2800" b="1" i="1" dirty="0">
                <a:ea typeface="Calibri" panose="020F0502020204030204" pitchFamily="34" charset="0"/>
                <a:cs typeface="B Nazanin" panose="00000400000000000000" pitchFamily="2" charset="-78"/>
              </a:rPr>
              <a:t>+b</a:t>
            </a:r>
            <a:r>
              <a:rPr lang="en-US" sz="2800" b="1" i="1" baseline="30000" dirty="0">
                <a:ea typeface="Calibri" panose="020F0502020204030204" pitchFamily="34" charset="0"/>
                <a:cs typeface="B Nazanin" panose="00000400000000000000" pitchFamily="2" charset="-78"/>
              </a:rPr>
              <a:t>2</a:t>
            </a:r>
            <a:r>
              <a:rPr lang="en-US" sz="2800" b="1" i="1" dirty="0">
                <a:ea typeface="Calibri" panose="020F0502020204030204" pitchFamily="34" charset="0"/>
                <a:cs typeface="B Nazanin" panose="00000400000000000000" pitchFamily="2" charset="-78"/>
              </a:rPr>
              <a:t>-2ab)(a</a:t>
            </a:r>
            <a:r>
              <a:rPr lang="en-US" sz="2800" b="1" i="1" baseline="30000" dirty="0">
                <a:ea typeface="Calibri" panose="020F0502020204030204" pitchFamily="34" charset="0"/>
                <a:cs typeface="B Nazanin" panose="00000400000000000000" pitchFamily="2" charset="-78"/>
              </a:rPr>
              <a:t>2</a:t>
            </a:r>
            <a:r>
              <a:rPr lang="en-US" sz="2800" b="1" i="1" dirty="0">
                <a:ea typeface="Calibri" panose="020F0502020204030204" pitchFamily="34" charset="0"/>
                <a:cs typeface="B Nazanin" panose="00000400000000000000" pitchFamily="2" charset="-78"/>
              </a:rPr>
              <a:t>+b) </a:t>
            </a:r>
            <a:endParaRPr lang="en-US" sz="2400" b="1" dirty="0"/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11" name="Object 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0632093"/>
              </p:ext>
            </p:extLst>
          </p:nvPr>
        </p:nvGraphicFramePr>
        <p:xfrm>
          <a:off x="5421341" y="2060848"/>
          <a:ext cx="3073921" cy="307392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16973680" imgH="17049766" progId="Visio.Drawing.11">
                  <p:embed/>
                </p:oleObj>
              </mc:Choice>
              <mc:Fallback>
                <p:oleObj name="Visio" r:id="rId2" imgW="16973680" imgH="17049766" progId="Visio.Drawing.11">
                  <p:embed/>
                  <p:pic>
                    <p:nvPicPr>
                      <p:cNvPr id="0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421341" y="2060848"/>
                        <a:ext cx="3073921" cy="3073921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6"/>
          <p:cNvSpPr>
            <a:spLocks noChangeArrowheads="1"/>
          </p:cNvSpPr>
          <p:nvPr/>
        </p:nvSpPr>
        <p:spPr bwMode="auto">
          <a:xfrm>
            <a:off x="498403" y="1188739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graphicFrame>
        <p:nvGraphicFramePr>
          <p:cNvPr id="13" name="Object 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19972012"/>
              </p:ext>
            </p:extLst>
          </p:nvPr>
        </p:nvGraphicFramePr>
        <p:xfrm>
          <a:off x="827584" y="1782709"/>
          <a:ext cx="2952328" cy="375553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4" imgW="17887863" imgH="22707568" progId="Visio.Drawing.11">
                  <p:embed/>
                </p:oleObj>
              </mc:Choice>
              <mc:Fallback>
                <p:oleObj name="Visio" r:id="rId4" imgW="17887863" imgH="22707568" progId="Visio.Drawing.11">
                  <p:embed/>
                  <p:pic>
                    <p:nvPicPr>
                      <p:cNvPr id="0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827584" y="1782709"/>
                        <a:ext cx="2952328" cy="3755535"/>
                      </a:xfrm>
                      <a:prstGeom prst="rect">
                        <a:avLst/>
                      </a:prstGeom>
                      <a:noFill/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Rectangle 14"/>
          <p:cNvSpPr/>
          <p:nvPr/>
        </p:nvSpPr>
        <p:spPr>
          <a:xfrm>
            <a:off x="5652120" y="5517232"/>
            <a:ext cx="3456384" cy="9048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r" rtl="1">
              <a:spcBef>
                <a:spcPct val="20000"/>
              </a:spcBef>
            </a:pPr>
            <a:r>
              <a:rPr lang="fa-IR" sz="2400" kern="0" dirty="0">
                <a:solidFill>
                  <a:srgbClr val="0000FF"/>
                </a:solidFill>
                <a:latin typeface="Arial"/>
                <a:cs typeface="B Mitra" pitchFamily="2" charset="-78"/>
              </a:rPr>
              <a:t>3 ضرب کننده + 2 جمع کننده </a:t>
            </a:r>
          </a:p>
          <a:p>
            <a:pPr lvl="1" algn="r" rtl="1">
              <a:spcBef>
                <a:spcPct val="20000"/>
              </a:spcBef>
            </a:pPr>
            <a:r>
              <a:rPr lang="fa-IR" sz="2400" kern="0" dirty="0">
                <a:solidFill>
                  <a:srgbClr val="0000FF"/>
                </a:solidFill>
                <a:latin typeface="Arial"/>
                <a:cs typeface="B Mitra" pitchFamily="2" charset="-78"/>
              </a:rPr>
              <a:t>(+ 1 شیفت دهنده)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1560" y="5445224"/>
            <a:ext cx="3672408" cy="9048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1" algn="r" rtl="1">
              <a:spcBef>
                <a:spcPct val="20000"/>
              </a:spcBef>
            </a:pPr>
            <a:r>
              <a:rPr lang="fa-IR" sz="2400" kern="0" dirty="0">
                <a:solidFill>
                  <a:srgbClr val="0000FF"/>
                </a:solidFill>
                <a:latin typeface="Arial"/>
                <a:cs typeface="B Mitra" pitchFamily="2" charset="-78"/>
              </a:rPr>
              <a:t>1 ضرب کننده + 1 جمع کننده </a:t>
            </a:r>
          </a:p>
          <a:p>
            <a:pPr lvl="1" algn="r" rtl="1">
              <a:spcBef>
                <a:spcPct val="20000"/>
              </a:spcBef>
            </a:pPr>
            <a:r>
              <a:rPr lang="fa-IR" sz="2400" kern="0" dirty="0">
                <a:solidFill>
                  <a:srgbClr val="0000FF"/>
                </a:solidFill>
                <a:latin typeface="Arial"/>
                <a:cs typeface="B Mitra" pitchFamily="2" charset="-78"/>
              </a:rPr>
              <a:t>(+ 1 شیفت دهنده)</a:t>
            </a:r>
          </a:p>
        </p:txBody>
      </p:sp>
    </p:spTree>
    <p:extLst>
      <p:ext uri="{BB962C8B-B14F-4D97-AF65-F5344CB8AC3E}">
        <p14:creationId xmlns:p14="http://schemas.microsoft.com/office/powerpoint/2010/main" val="20272449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/>
              <a:t>زمانبندی و </a:t>
            </a:r>
            <a:r>
              <a:rPr lang="en-US" dirty="0"/>
              <a:t>DFG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560" y="824304"/>
            <a:ext cx="7887518" cy="2676704"/>
          </a:xfrm>
        </p:spPr>
        <p:txBody>
          <a:bodyPr/>
          <a:lstStyle/>
          <a:p>
            <a:r>
              <a:rPr lang="fa-IR" dirty="0"/>
              <a:t>زمانبندی:</a:t>
            </a:r>
          </a:p>
          <a:p>
            <a:pPr lvl="1"/>
            <a:r>
              <a:rPr lang="fa-IR"/>
              <a:t>در طراحی </a:t>
            </a:r>
            <a:r>
              <a:rPr lang="en-US"/>
              <a:t>RTL</a:t>
            </a:r>
            <a:r>
              <a:rPr lang="fa-IR"/>
              <a:t>، طراح دستی زمانبندی می‌کند.</a:t>
            </a:r>
          </a:p>
          <a:p>
            <a:pPr lvl="1"/>
            <a:r>
              <a:rPr lang="fa-IR"/>
              <a:t>ابزار </a:t>
            </a:r>
            <a:r>
              <a:rPr lang="en-US"/>
              <a:t>HLS</a:t>
            </a:r>
            <a:r>
              <a:rPr lang="fa-IR"/>
              <a:t> وابستگی های بین عملیات مجاور را تحلیل می‌کند.</a:t>
            </a:r>
          </a:p>
          <a:p>
            <a:pPr lvl="2"/>
            <a:r>
              <a:rPr lang="fa-IR">
                <a:sym typeface="Wingdings" panose="05000000000000000000" pitchFamily="2" charset="2"/>
              </a:rPr>
              <a:t> امکان موازی‌سازی عملیات در یک کلاک را بررسی می‌کند.</a:t>
            </a:r>
          </a:p>
          <a:p>
            <a:pPr lvl="2"/>
            <a:endParaRPr lang="fa-IR">
              <a:sym typeface="Wingdings" panose="05000000000000000000" pitchFamily="2" charset="2"/>
            </a:endParaRPr>
          </a:p>
          <a:p>
            <a:pPr lvl="1"/>
            <a:r>
              <a:rPr lang="fa-IR">
                <a:sym typeface="Wingdings" panose="05000000000000000000" pitchFamily="2" charset="2"/>
              </a:rPr>
              <a:t>اگر طراح </a:t>
            </a:r>
            <a:r>
              <a:rPr lang="en-US">
                <a:sym typeface="Wingdings" panose="05000000000000000000" pitchFamily="2" charset="2"/>
              </a:rPr>
              <a:t>T</a:t>
            </a:r>
            <a:r>
              <a:rPr lang="en-US" baseline="-25000">
                <a:sym typeface="Wingdings" panose="05000000000000000000" pitchFamily="2" charset="2"/>
              </a:rPr>
              <a:t>clk</a:t>
            </a:r>
            <a:r>
              <a:rPr lang="fa-IR">
                <a:sym typeface="Wingdings" panose="05000000000000000000" pitchFamily="2" charset="2"/>
              </a:rPr>
              <a:t> را بزرگ بدهد  عملیات بیشتری می‌تواند در یک سیکل انجام شود.</a:t>
            </a:r>
          </a:p>
          <a:p>
            <a:pPr lvl="1"/>
            <a:r>
              <a:rPr lang="fa-IR">
                <a:sym typeface="Wingdings" panose="05000000000000000000" pitchFamily="2" charset="2"/>
              </a:rPr>
              <a:t>اگرکوچک بدهد  ابزار </a:t>
            </a:r>
            <a:r>
              <a:rPr lang="en-US">
                <a:sym typeface="Wingdings" panose="05000000000000000000" pitchFamily="2" charset="2"/>
              </a:rPr>
              <a:t>HLS</a:t>
            </a:r>
            <a:r>
              <a:rPr lang="fa-IR">
                <a:sym typeface="Wingdings" panose="05000000000000000000" pitchFamily="2" charset="2"/>
              </a:rPr>
              <a:t> به طور خودکار عملیات را برای چند سیکل زمانبندی می‌کند.</a:t>
            </a:r>
          </a:p>
          <a:p>
            <a:pPr lvl="2"/>
            <a:r>
              <a:rPr lang="fa-IR">
                <a:sym typeface="Wingdings" panose="05000000000000000000" pitchFamily="2" charset="2"/>
              </a:rPr>
              <a:t>بعضی عملیات ممکن است با منابع چندسیکلی پیاده‌سازی شوند.</a:t>
            </a:r>
            <a:endParaRPr lang="fa-IR" dirty="0"/>
          </a:p>
          <a:p>
            <a:pPr lvl="1"/>
            <a:endParaRPr lang="fa-I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  <p:sp>
        <p:nvSpPr>
          <p:cNvPr id="6" name="Rectangle 2"/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12" name="Rectangle 6"/>
          <p:cNvSpPr>
            <a:spLocks noChangeArrowheads="1"/>
          </p:cNvSpPr>
          <p:nvPr/>
        </p:nvSpPr>
        <p:spPr bwMode="auto">
          <a:xfrm>
            <a:off x="498403" y="1188739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7554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/>
              <a:t>سنتز مدار واسط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7584" y="1112336"/>
            <a:ext cx="7671494" cy="2172648"/>
          </a:xfrm>
        </p:spPr>
        <p:txBody>
          <a:bodyPr/>
          <a:lstStyle/>
          <a:p>
            <a:r>
              <a:rPr lang="fa-IR" dirty="0"/>
              <a:t>درگاه های لازم:</a:t>
            </a:r>
          </a:p>
          <a:p>
            <a:pPr lvl="1"/>
            <a:r>
              <a:rPr lang="fa-IR" dirty="0"/>
              <a:t>پارامترهای تابع = ورودی ها و خروجی های بلوک</a:t>
            </a:r>
          </a:p>
          <a:p>
            <a:pPr lvl="1"/>
            <a:r>
              <a:rPr lang="fa-IR" dirty="0"/>
              <a:t>مقدار بازگردانده شده = درگاه خروجی</a:t>
            </a:r>
          </a:p>
          <a:p>
            <a:r>
              <a:rPr lang="fa-IR" dirty="0"/>
              <a:t>انواع پارامترها:</a:t>
            </a:r>
          </a:p>
          <a:p>
            <a:pPr lvl="1"/>
            <a:r>
              <a:rPr lang="fa-IR" dirty="0"/>
              <a:t>فراخوانی با مقدار</a:t>
            </a:r>
          </a:p>
          <a:p>
            <a:pPr lvl="2"/>
            <a:r>
              <a:rPr lang="fa-IR" dirty="0"/>
              <a:t>تابع نمی تواند مقدار پارامتر را تغییر دهد.</a:t>
            </a:r>
          </a:p>
          <a:p>
            <a:pPr lvl="1"/>
            <a:r>
              <a:rPr lang="fa-IR" dirty="0"/>
              <a:t>فراخوانی با ارجاع</a:t>
            </a:r>
          </a:p>
          <a:p>
            <a:pPr lvl="2"/>
            <a:r>
              <a:rPr lang="fa-IR" dirty="0"/>
              <a:t>آدرس پارامتر به بلوک سخت افزاری رد می شود.</a:t>
            </a:r>
          </a:p>
          <a:p>
            <a:pPr lvl="2"/>
            <a:endParaRPr lang="fa-IR" dirty="0"/>
          </a:p>
          <a:p>
            <a:pPr lvl="2"/>
            <a:endParaRPr lang="fa-IR" dirty="0"/>
          </a:p>
          <a:p>
            <a:pPr lvl="1"/>
            <a:endParaRPr lang="fa-IR" dirty="0"/>
          </a:p>
          <a:p>
            <a:pPr lvl="2"/>
            <a:endParaRPr lang="fa-IR" dirty="0"/>
          </a:p>
          <a:p>
            <a:pPr lvl="1"/>
            <a:endParaRPr lang="fa-IR" dirty="0"/>
          </a:p>
          <a:p>
            <a:pPr lvl="1"/>
            <a:endParaRPr lang="fa-IR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30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50281269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/>
              <a:t>سنتز مدار واسط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889540"/>
            <a:ext cx="8280920" cy="5275764"/>
          </a:xfrm>
        </p:spPr>
        <p:txBody>
          <a:bodyPr/>
          <a:lstStyle/>
          <a:p>
            <a:r>
              <a:rPr lang="fa-IR"/>
              <a:t>انواع درگاه ها در ویوادو:</a:t>
            </a:r>
            <a:endParaRPr lang="fa-IR" dirty="0"/>
          </a:p>
          <a:p>
            <a:pPr lvl="1"/>
            <a:r>
              <a:rPr lang="en-US"/>
              <a:t>ap_none</a:t>
            </a:r>
            <a:endParaRPr lang="fa-IR"/>
          </a:p>
          <a:p>
            <a:pPr lvl="2"/>
            <a:r>
              <a:rPr lang="fa-IR"/>
              <a:t>درگاه ساده (بدون خط اضافه)</a:t>
            </a:r>
          </a:p>
          <a:p>
            <a:pPr lvl="2"/>
            <a:r>
              <a:rPr lang="fa-IR"/>
              <a:t> ماژولی که داده را به او می دهد باید در زمان مناسب بدهد.</a:t>
            </a:r>
          </a:p>
          <a:p>
            <a:pPr lvl="2"/>
            <a:r>
              <a:rPr lang="fa-IR"/>
              <a:t>پیش فرض برای پارامترهای ورودی فراخوانی با مقدار و نیمه ورودی پارامترهای فراخوانی با ارجاع</a:t>
            </a:r>
          </a:p>
          <a:p>
            <a:pPr lvl="1"/>
            <a:r>
              <a:rPr lang="en-US"/>
              <a:t>ap_ctrl_hs</a:t>
            </a:r>
            <a:endParaRPr lang="fa-IR"/>
          </a:p>
          <a:p>
            <a:pPr lvl="2"/>
            <a:r>
              <a:rPr lang="fa-IR"/>
              <a:t>دستدهی (</a:t>
            </a:r>
            <a:r>
              <a:rPr lang="en-US"/>
              <a:t>handshaking</a:t>
            </a:r>
            <a:r>
              <a:rPr lang="fa-IR"/>
              <a:t>): خطوط اضافه اسلاید بعد</a:t>
            </a:r>
          </a:p>
          <a:p>
            <a:pPr lvl="2"/>
            <a:r>
              <a:rPr lang="en-US"/>
              <a:t> </a:t>
            </a:r>
            <a:r>
              <a:rPr lang="fa-IR"/>
              <a:t>پیش فرض برای مقدار بازگردانده شده</a:t>
            </a:r>
          </a:p>
          <a:p>
            <a:pPr lvl="1"/>
            <a:r>
              <a:rPr lang="en-US"/>
              <a:t>ap_vld</a:t>
            </a:r>
            <a:endParaRPr lang="fa-IR"/>
          </a:p>
          <a:p>
            <a:pPr lvl="2"/>
            <a:r>
              <a:rPr lang="fa-IR"/>
              <a:t>پیش فرض برای نیمه خروجی پارامترهای فراخوانی با ارجاع</a:t>
            </a:r>
          </a:p>
          <a:p>
            <a:pPr lvl="2"/>
            <a:r>
              <a:rPr lang="fa-IR"/>
              <a:t>خط اضافه: </a:t>
            </a:r>
            <a:r>
              <a:rPr lang="en-US"/>
              <a:t>valid</a:t>
            </a:r>
            <a:r>
              <a:rPr lang="fa-IR"/>
              <a:t> برای اعلان آماده بودن داده پس از محاسبات</a:t>
            </a:r>
          </a:p>
          <a:p>
            <a:pPr lvl="2"/>
            <a:endParaRPr lang="fa-IR"/>
          </a:p>
          <a:p>
            <a:pPr lvl="1"/>
            <a:endParaRPr lang="fa-IR" dirty="0"/>
          </a:p>
          <a:p>
            <a:pPr lvl="2"/>
            <a:endParaRPr lang="fa-IR" dirty="0"/>
          </a:p>
          <a:p>
            <a:pPr lvl="1"/>
            <a:endParaRPr lang="fa-IR" dirty="0"/>
          </a:p>
          <a:p>
            <a:pPr lvl="2"/>
            <a:endParaRPr lang="fa-IR" dirty="0"/>
          </a:p>
          <a:p>
            <a:pPr lvl="1"/>
            <a:endParaRPr lang="fa-IR" dirty="0"/>
          </a:p>
          <a:p>
            <a:pPr lvl="1"/>
            <a:endParaRPr lang="fa-IR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31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136066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/>
              <a:t>سنتز مدار واسط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889540"/>
            <a:ext cx="8280920" cy="5275764"/>
          </a:xfrm>
        </p:spPr>
        <p:txBody>
          <a:bodyPr/>
          <a:lstStyle/>
          <a:p>
            <a:r>
              <a:rPr lang="fa-IR"/>
              <a:t>انواع درگاه ها در ویوادو:</a:t>
            </a:r>
            <a:endParaRPr lang="fa-IR" dirty="0"/>
          </a:p>
          <a:p>
            <a:pPr lvl="1"/>
            <a:r>
              <a:rPr lang="en-US"/>
              <a:t>ap_memory</a:t>
            </a:r>
            <a:endParaRPr lang="fa-IR"/>
          </a:p>
          <a:p>
            <a:pPr lvl="2"/>
            <a:r>
              <a:rPr lang="fa-IR"/>
              <a:t>پیش فرض برای پارامتر آرایه</a:t>
            </a:r>
          </a:p>
          <a:p>
            <a:pPr lvl="2"/>
            <a:r>
              <a:rPr lang="fa-IR"/>
              <a:t>خطوط:</a:t>
            </a:r>
          </a:p>
          <a:p>
            <a:pPr lvl="3"/>
            <a:r>
              <a:rPr lang="fa-IR" sz="2400"/>
              <a:t>داده برای خود پارامتر</a:t>
            </a:r>
          </a:p>
          <a:p>
            <a:pPr lvl="3"/>
            <a:r>
              <a:rPr lang="fa-IR" sz="2400"/>
              <a:t>آدرس</a:t>
            </a:r>
          </a:p>
          <a:p>
            <a:pPr lvl="3"/>
            <a:r>
              <a:rPr lang="en-US" sz="2400"/>
              <a:t>ce</a:t>
            </a:r>
            <a:r>
              <a:rPr lang="fa-IR" sz="2400"/>
              <a:t> برای پارامتر ورودی</a:t>
            </a:r>
          </a:p>
          <a:p>
            <a:pPr lvl="3"/>
            <a:r>
              <a:rPr lang="en-US" sz="2400"/>
              <a:t>we</a:t>
            </a:r>
            <a:r>
              <a:rPr lang="fa-IR" sz="2400"/>
              <a:t> برای پارامتر خروجی</a:t>
            </a:r>
          </a:p>
          <a:p>
            <a:pPr lvl="1"/>
            <a:r>
              <a:rPr lang="en-US" sz="3200"/>
              <a:t>ap_fifo</a:t>
            </a:r>
            <a:endParaRPr lang="fa-IR" sz="3200"/>
          </a:p>
          <a:p>
            <a:pPr lvl="1"/>
            <a:r>
              <a:rPr lang="en-US" sz="3200"/>
              <a:t>ap_bus</a:t>
            </a:r>
            <a:endParaRPr lang="fa-IR" sz="3200"/>
          </a:p>
          <a:p>
            <a:pPr lvl="1"/>
            <a:r>
              <a:rPr lang="en-US" sz="3200"/>
              <a:t>s_axilite</a:t>
            </a:r>
            <a:endParaRPr lang="fa-IR" sz="3200"/>
          </a:p>
          <a:p>
            <a:pPr lvl="2"/>
            <a:endParaRPr lang="fa-IR"/>
          </a:p>
          <a:p>
            <a:pPr lvl="1"/>
            <a:endParaRPr lang="fa-IR" dirty="0"/>
          </a:p>
          <a:p>
            <a:pPr lvl="2"/>
            <a:endParaRPr lang="fa-IR" dirty="0"/>
          </a:p>
          <a:p>
            <a:pPr lvl="1"/>
            <a:endParaRPr lang="fa-IR" dirty="0"/>
          </a:p>
          <a:p>
            <a:pPr lvl="2"/>
            <a:endParaRPr lang="fa-IR" dirty="0"/>
          </a:p>
          <a:p>
            <a:pPr lvl="1"/>
            <a:endParaRPr lang="fa-IR" dirty="0"/>
          </a:p>
          <a:p>
            <a:pPr lvl="1"/>
            <a:endParaRPr lang="fa-IR" dirty="0">
              <a:sym typeface="Wingdings" panose="05000000000000000000" pitchFamily="2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32</a:t>
            </a:fld>
            <a:endParaRPr lang="en-US" altLang="en-US"/>
          </a:p>
        </p:txBody>
      </p:sp>
      <p:sp>
        <p:nvSpPr>
          <p:cNvPr id="6" name="Rectangle 5"/>
          <p:cNvSpPr/>
          <p:nvPr/>
        </p:nvSpPr>
        <p:spPr>
          <a:xfrm>
            <a:off x="-738336" y="5318279"/>
            <a:ext cx="6534472" cy="9910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600200" lvl="3" indent="-228600" algn="r" rtl="1">
              <a:spcBef>
                <a:spcPct val="20000"/>
              </a:spcBef>
              <a:buFont typeface="Arial" panose="020B0604020202020204" pitchFamily="34" charset="0"/>
              <a:buChar char="−"/>
            </a:pPr>
            <a:endParaRPr lang="fa-IR" sz="2000" kern="0">
              <a:solidFill>
                <a:srgbClr val="000000"/>
              </a:solidFill>
              <a:latin typeface="Arial"/>
              <a:cs typeface="B Mitra" pitchFamily="2" charset="-78"/>
            </a:endParaRPr>
          </a:p>
          <a:p>
            <a:pPr marL="342900" lvl="0" indent="-342900" algn="r" rtl="1">
              <a:spcBef>
                <a:spcPct val="20000"/>
              </a:spcBef>
              <a:buFontTx/>
              <a:buChar char="•"/>
            </a:pPr>
            <a:r>
              <a:rPr lang="fa-IR" sz="3200" b="1" kern="0">
                <a:solidFill>
                  <a:srgbClr val="FF5050"/>
                </a:solidFill>
                <a:latin typeface="Arial"/>
                <a:cs typeface="B Mitra" pitchFamily="2" charset="-78"/>
              </a:rPr>
              <a:t>قابل تعیین با پراگما در کد یا در ابزار</a:t>
            </a:r>
          </a:p>
        </p:txBody>
      </p:sp>
    </p:spTree>
    <p:extLst>
      <p:ext uri="{BB962C8B-B14F-4D97-AF65-F5344CB8AC3E}">
        <p14:creationId xmlns:p14="http://schemas.microsoft.com/office/powerpoint/2010/main" val="30991992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/>
              <a:t>سنتز مدار واسط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43608" y="1628800"/>
            <a:ext cx="7671494" cy="5196984"/>
          </a:xfrm>
        </p:spPr>
        <p:txBody>
          <a:bodyPr/>
          <a:lstStyle/>
          <a:p>
            <a:r>
              <a:rPr lang="fa-IR" sz="2800" dirty="0"/>
              <a:t>درگاه </a:t>
            </a:r>
            <a:r>
              <a:rPr lang="fa-IR" sz="2800"/>
              <a:t>های </a:t>
            </a:r>
            <a:r>
              <a:rPr lang="en-US" sz="2800"/>
              <a:t>ap_ctrl_hs</a:t>
            </a:r>
            <a:r>
              <a:rPr lang="fa-IR" sz="2800"/>
              <a:t>:</a:t>
            </a:r>
            <a:endParaRPr lang="fa-IR" sz="2800" dirty="0"/>
          </a:p>
          <a:p>
            <a:pPr lvl="1"/>
            <a:r>
              <a:rPr lang="en-US" sz="2400" dirty="0"/>
              <a:t>start</a:t>
            </a:r>
            <a:r>
              <a:rPr lang="fa-IR" sz="2400" dirty="0"/>
              <a:t> (ورودی):</a:t>
            </a:r>
          </a:p>
          <a:p>
            <a:pPr lvl="2"/>
            <a:r>
              <a:rPr lang="fa-IR" sz="2000" dirty="0"/>
              <a:t>فعال شدن </a:t>
            </a:r>
            <a:r>
              <a:rPr lang="en-US" sz="2000" dirty="0"/>
              <a:t>start</a:t>
            </a:r>
            <a:r>
              <a:rPr lang="fa-IR" sz="2000" dirty="0"/>
              <a:t> </a:t>
            </a:r>
            <a:r>
              <a:rPr lang="fa-IR" sz="2000" dirty="0">
                <a:sym typeface="Wingdings" panose="05000000000000000000" pitchFamily="2" charset="2"/>
              </a:rPr>
              <a:t> </a:t>
            </a:r>
            <a:r>
              <a:rPr lang="fa-IR" sz="2000" dirty="0"/>
              <a:t>بلوک اجازه می­یابد که عملیات تابع را آغاز کند.</a:t>
            </a:r>
          </a:p>
          <a:p>
            <a:pPr lvl="1"/>
            <a:r>
              <a:rPr lang="en-US" sz="2400" dirty="0"/>
              <a:t>done</a:t>
            </a:r>
            <a:r>
              <a:rPr lang="fa-IR" sz="2400" dirty="0"/>
              <a:t> (خروجی):</a:t>
            </a:r>
          </a:p>
          <a:p>
            <a:pPr lvl="2"/>
            <a:r>
              <a:rPr lang="fa-IR" sz="2000" dirty="0"/>
              <a:t>وقتی بلوک کار خود را به پایان می­رساند، این سیگنال را فعال می­کند.</a:t>
            </a:r>
          </a:p>
          <a:p>
            <a:pPr lvl="2"/>
            <a:r>
              <a:rPr lang="fa-IR" sz="2000"/>
              <a:t>و نیز </a:t>
            </a:r>
            <a:r>
              <a:rPr lang="fa-IR" sz="2000" dirty="0"/>
              <a:t>بیانگر معتبر بودن داده روی </a:t>
            </a:r>
            <a:r>
              <a:rPr lang="en-US" sz="1800" dirty="0" err="1"/>
              <a:t>Return_val</a:t>
            </a:r>
            <a:r>
              <a:rPr lang="fa-IR" sz="1800" dirty="0"/>
              <a:t> </a:t>
            </a:r>
            <a:r>
              <a:rPr lang="fa-IR" sz="2000" dirty="0"/>
              <a:t>است.</a:t>
            </a:r>
          </a:p>
          <a:p>
            <a:pPr lvl="1"/>
            <a:r>
              <a:rPr lang="en-US" sz="2400" dirty="0"/>
              <a:t>ready</a:t>
            </a:r>
            <a:r>
              <a:rPr lang="fa-IR" sz="2400" dirty="0"/>
              <a:t> (خروجی):</a:t>
            </a:r>
          </a:p>
          <a:p>
            <a:pPr lvl="2"/>
            <a:r>
              <a:rPr lang="fa-IR" sz="2000" dirty="0"/>
              <a:t>بلوک با فعال کردن این سیگنال، به سایر اجزای سیستم اطلاع می­دهد که آمادة دریافت دادة جدید درکلاک بعدی است.</a:t>
            </a:r>
          </a:p>
          <a:p>
            <a:pPr lvl="1"/>
            <a:r>
              <a:rPr lang="en-US" sz="2400" dirty="0"/>
              <a:t>idle</a:t>
            </a:r>
            <a:r>
              <a:rPr lang="fa-IR" sz="2400" dirty="0"/>
              <a:t> (خروجی):</a:t>
            </a:r>
          </a:p>
          <a:p>
            <a:pPr lvl="2"/>
            <a:r>
              <a:rPr lang="fa-IR" sz="2000" dirty="0"/>
              <a:t>بلوک در بازه­های زمانی که بیکار است، این سیگنال را فعال می­کند.</a:t>
            </a:r>
          </a:p>
          <a:p>
            <a:pPr lvl="2"/>
            <a:r>
              <a:rPr lang="fa-IR" sz="2000" dirty="0"/>
              <a:t>وقتی که شروع به کار می کند، صفر می‌شود و وقتی که کار تمام می‌شود، یک </a:t>
            </a:r>
            <a:r>
              <a:rPr lang="fa-IR" sz="2000"/>
              <a:t>می‌شود.</a:t>
            </a:r>
            <a:endParaRPr lang="fa-IR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33</a:t>
            </a:fld>
            <a:endParaRPr lang="en-US" altLang="en-US"/>
          </a:p>
        </p:txBody>
      </p:sp>
      <p:sp>
        <p:nvSpPr>
          <p:cNvPr id="5" name="Rectangle 4"/>
          <p:cNvSpPr/>
          <p:nvPr/>
        </p:nvSpPr>
        <p:spPr bwMode="auto">
          <a:xfrm>
            <a:off x="1403648" y="980728"/>
            <a:ext cx="2232248" cy="158417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1019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>
              <a:ln w="19050">
                <a:solidFill>
                  <a:schemeClr val="tx1"/>
                </a:solidFill>
              </a:ln>
              <a:cs typeface="Arial" pitchFamily="34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1619672" y="1124744"/>
            <a:ext cx="1800200" cy="864096"/>
          </a:xfrm>
          <a:prstGeom prst="rect">
            <a:avLst/>
          </a:prstGeom>
          <a:solidFill>
            <a:srgbClr val="FFFF00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1019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a-IR" dirty="0">
                <a:ln w="19050">
                  <a:solidFill>
                    <a:schemeClr val="tx1"/>
                  </a:solidFill>
                </a:ln>
                <a:cs typeface="2  Nazanin" panose="00000400000000000000" pitchFamily="2" charset="-78"/>
              </a:rPr>
              <a:t>مدار محاسباتی</a:t>
            </a:r>
            <a:endParaRPr lang="en-US" dirty="0">
              <a:ln w="19050">
                <a:solidFill>
                  <a:schemeClr val="tx1"/>
                </a:solidFill>
              </a:ln>
              <a:cs typeface="2 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619672" y="2060848"/>
            <a:ext cx="1800200" cy="432048"/>
          </a:xfrm>
          <a:prstGeom prst="rect">
            <a:avLst/>
          </a:prstGeom>
          <a:solidFill>
            <a:srgbClr val="FFFF00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1019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a-IR" dirty="0">
                <a:ln w="19050">
                  <a:solidFill>
                    <a:schemeClr val="tx1"/>
                  </a:solidFill>
                </a:ln>
                <a:cs typeface="2  Nazanin" panose="00000400000000000000" pitchFamily="2" charset="-78"/>
              </a:rPr>
              <a:t>مدار کنترل واسط</a:t>
            </a:r>
            <a:endParaRPr lang="en-US" dirty="0">
              <a:ln w="19050">
                <a:solidFill>
                  <a:schemeClr val="tx1"/>
                </a:solidFill>
              </a:ln>
              <a:cs typeface="2  Nazanin" panose="00000400000000000000" pitchFamily="2" charset="-78"/>
            </a:endParaRPr>
          </a:p>
        </p:txBody>
      </p:sp>
      <p:cxnSp>
        <p:nvCxnSpPr>
          <p:cNvPr id="9" name="Elbow Connector 8"/>
          <p:cNvCxnSpPr>
            <a:endCxn id="5" idx="0"/>
          </p:cNvCxnSpPr>
          <p:nvPr/>
        </p:nvCxnSpPr>
        <p:spPr bwMode="auto">
          <a:xfrm>
            <a:off x="1052190" y="566242"/>
            <a:ext cx="1467582" cy="414486"/>
          </a:xfrm>
          <a:prstGeom prst="bentConnector2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6" name="Elbow Connector 15"/>
          <p:cNvCxnSpPr/>
          <p:nvPr/>
        </p:nvCxnSpPr>
        <p:spPr bwMode="auto">
          <a:xfrm>
            <a:off x="1052190" y="684485"/>
            <a:ext cx="1242976" cy="296243"/>
          </a:xfrm>
          <a:prstGeom prst="bentConnector3">
            <a:avLst>
              <a:gd name="adj1" fmla="val 99996"/>
            </a:avLst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1" name="Elbow Connector 20"/>
          <p:cNvCxnSpPr/>
          <p:nvPr/>
        </p:nvCxnSpPr>
        <p:spPr bwMode="auto">
          <a:xfrm>
            <a:off x="1052190" y="832606"/>
            <a:ext cx="1018370" cy="148122"/>
          </a:xfrm>
          <a:prstGeom prst="bentConnector3">
            <a:avLst>
              <a:gd name="adj1" fmla="val 100205"/>
            </a:avLst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467544" y="476672"/>
            <a:ext cx="819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</a:rPr>
              <a:t>clock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7544" y="629072"/>
            <a:ext cx="819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</a:rPr>
              <a:t>reset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7544" y="332656"/>
            <a:ext cx="819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</a:rPr>
              <a:t>start</a:t>
            </a:r>
          </a:p>
        </p:txBody>
      </p:sp>
      <p:sp>
        <p:nvSpPr>
          <p:cNvPr id="34" name="Right Arrow 33"/>
          <p:cNvSpPr/>
          <p:nvPr/>
        </p:nvSpPr>
        <p:spPr bwMode="auto">
          <a:xfrm>
            <a:off x="827584" y="1484784"/>
            <a:ext cx="576064" cy="216024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1019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>
              <a:ln w="19050">
                <a:solidFill>
                  <a:schemeClr val="tx1"/>
                </a:solidFill>
              </a:ln>
              <a:cs typeface="Arial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96614" y="1268760"/>
            <a:ext cx="819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+mj-lt"/>
              </a:rPr>
              <a:t>Data_in</a:t>
            </a:r>
            <a:endParaRPr lang="en-US" sz="1400" dirty="0">
              <a:latin typeface="+mj-lt"/>
            </a:endParaRPr>
          </a:p>
        </p:txBody>
      </p:sp>
      <p:sp>
        <p:nvSpPr>
          <p:cNvPr id="36" name="Right Arrow 35"/>
          <p:cNvSpPr/>
          <p:nvPr/>
        </p:nvSpPr>
        <p:spPr bwMode="auto">
          <a:xfrm>
            <a:off x="3662810" y="1484784"/>
            <a:ext cx="576064" cy="216024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1019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>
              <a:ln w="19050">
                <a:solidFill>
                  <a:schemeClr val="tx1"/>
                </a:solidFill>
              </a:ln>
              <a:cs typeface="Arial" pitchFamily="34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257054" y="1393031"/>
            <a:ext cx="1179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+mj-lt"/>
              </a:rPr>
              <a:t>Return_val</a:t>
            </a:r>
            <a:endParaRPr lang="en-US" sz="1400" dirty="0">
              <a:latin typeface="+mj-lt"/>
            </a:endParaRPr>
          </a:p>
        </p:txBody>
      </p:sp>
      <p:cxnSp>
        <p:nvCxnSpPr>
          <p:cNvPr id="39" name="Straight Arrow Connector 38"/>
          <p:cNvCxnSpPr/>
          <p:nvPr/>
        </p:nvCxnSpPr>
        <p:spPr bwMode="auto">
          <a:xfrm>
            <a:off x="3635896" y="1988840"/>
            <a:ext cx="621158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4257054" y="1825079"/>
            <a:ext cx="6029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</a:rPr>
              <a:t>done</a:t>
            </a:r>
          </a:p>
        </p:txBody>
      </p:sp>
      <p:cxnSp>
        <p:nvCxnSpPr>
          <p:cNvPr id="43" name="Straight Arrow Connector 42"/>
          <p:cNvCxnSpPr/>
          <p:nvPr/>
        </p:nvCxnSpPr>
        <p:spPr bwMode="auto">
          <a:xfrm>
            <a:off x="3635896" y="2224609"/>
            <a:ext cx="621158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4257054" y="2060848"/>
            <a:ext cx="8910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</a:rPr>
              <a:t>ready</a:t>
            </a:r>
          </a:p>
        </p:txBody>
      </p:sp>
      <p:cxnSp>
        <p:nvCxnSpPr>
          <p:cNvPr id="45" name="Straight Arrow Connector 44"/>
          <p:cNvCxnSpPr/>
          <p:nvPr/>
        </p:nvCxnSpPr>
        <p:spPr bwMode="auto">
          <a:xfrm>
            <a:off x="3635896" y="2492896"/>
            <a:ext cx="621158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4257054" y="2329135"/>
            <a:ext cx="6029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</a:rPr>
              <a:t>idle</a:t>
            </a:r>
          </a:p>
        </p:txBody>
      </p:sp>
    </p:spTree>
    <p:extLst>
      <p:ext uri="{BB962C8B-B14F-4D97-AF65-F5344CB8AC3E}">
        <p14:creationId xmlns:p14="http://schemas.microsoft.com/office/powerpoint/2010/main" val="313352473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/>
              <a:t>سنتز مدار واسط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536" y="2264464"/>
            <a:ext cx="8319566" cy="5196984"/>
          </a:xfrm>
        </p:spPr>
        <p:txBody>
          <a:bodyPr/>
          <a:lstStyle/>
          <a:p>
            <a:r>
              <a:rPr lang="fa-IR" sz="2800" dirty="0"/>
              <a:t>در </a:t>
            </a:r>
            <a:r>
              <a:rPr lang="fa-IR" sz="2800"/>
              <a:t>ویوادو:</a:t>
            </a:r>
            <a:endParaRPr lang="fa-IR" sz="2000" dirty="0"/>
          </a:p>
          <a:p>
            <a:pPr lvl="1"/>
            <a:r>
              <a:rPr lang="fa-IR" sz="2400" dirty="0"/>
              <a:t>نام پورت ها:</a:t>
            </a:r>
          </a:p>
          <a:p>
            <a:pPr lvl="2"/>
            <a:r>
              <a:rPr lang="en-US" sz="2000" dirty="0" err="1"/>
              <a:t>ap_clk</a:t>
            </a:r>
            <a:r>
              <a:rPr lang="fa-IR" sz="2000" dirty="0"/>
              <a:t> </a:t>
            </a:r>
          </a:p>
          <a:p>
            <a:pPr lvl="2"/>
            <a:r>
              <a:rPr lang="en-US" sz="2000" dirty="0" err="1"/>
              <a:t>ap_rst</a:t>
            </a:r>
            <a:r>
              <a:rPr lang="fa-IR" sz="2000" dirty="0"/>
              <a:t> </a:t>
            </a:r>
          </a:p>
          <a:p>
            <a:pPr lvl="2"/>
            <a:r>
              <a:rPr lang="en-US" sz="2000" dirty="0" err="1"/>
              <a:t>ap_start</a:t>
            </a:r>
            <a:r>
              <a:rPr lang="fa-IR" sz="2000" dirty="0"/>
              <a:t> </a:t>
            </a:r>
          </a:p>
          <a:p>
            <a:pPr lvl="2"/>
            <a:r>
              <a:rPr lang="en-US" sz="2000" dirty="0" err="1"/>
              <a:t>ap_done</a:t>
            </a:r>
            <a:endParaRPr lang="en-US" sz="2000" dirty="0"/>
          </a:p>
          <a:p>
            <a:pPr lvl="2"/>
            <a:r>
              <a:rPr lang="en-US" sz="2000" dirty="0" err="1"/>
              <a:t>ap_ready</a:t>
            </a:r>
            <a:endParaRPr lang="en-US" sz="2000" dirty="0"/>
          </a:p>
          <a:p>
            <a:pPr lvl="2"/>
            <a:r>
              <a:rPr lang="en-US" sz="2000" dirty="0" err="1"/>
              <a:t>ap_idle</a:t>
            </a:r>
            <a:endParaRPr lang="en-US" sz="2000" dirty="0"/>
          </a:p>
          <a:p>
            <a:pPr lvl="2"/>
            <a:r>
              <a:rPr lang="en-US" sz="2000" dirty="0" err="1"/>
              <a:t>ap_return</a:t>
            </a:r>
            <a:endParaRPr lang="fa-IR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34</a:t>
            </a:fld>
            <a:endParaRPr lang="en-US" altLang="en-US"/>
          </a:p>
        </p:txBody>
      </p:sp>
      <p:sp>
        <p:nvSpPr>
          <p:cNvPr id="5" name="Rectangle 4"/>
          <p:cNvSpPr/>
          <p:nvPr/>
        </p:nvSpPr>
        <p:spPr bwMode="auto">
          <a:xfrm>
            <a:off x="1403648" y="980728"/>
            <a:ext cx="2232248" cy="158417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1019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>
              <a:ln w="19050">
                <a:solidFill>
                  <a:schemeClr val="tx1"/>
                </a:solidFill>
              </a:ln>
              <a:cs typeface="Arial" pitchFamily="34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1619672" y="1124744"/>
            <a:ext cx="1800200" cy="864096"/>
          </a:xfrm>
          <a:prstGeom prst="rect">
            <a:avLst/>
          </a:prstGeom>
          <a:solidFill>
            <a:srgbClr val="FFFF00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1019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a-IR" dirty="0">
                <a:ln w="19050">
                  <a:solidFill>
                    <a:schemeClr val="tx1"/>
                  </a:solidFill>
                </a:ln>
                <a:cs typeface="2  Nazanin" panose="00000400000000000000" pitchFamily="2" charset="-78"/>
              </a:rPr>
              <a:t>مدار محاسباتی</a:t>
            </a:r>
            <a:endParaRPr lang="en-US" dirty="0">
              <a:ln w="19050">
                <a:solidFill>
                  <a:schemeClr val="tx1"/>
                </a:solidFill>
              </a:ln>
              <a:cs typeface="2 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619672" y="2060848"/>
            <a:ext cx="1800200" cy="432048"/>
          </a:xfrm>
          <a:prstGeom prst="rect">
            <a:avLst/>
          </a:prstGeom>
          <a:solidFill>
            <a:srgbClr val="FFFF00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1019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a-IR" dirty="0">
                <a:ln w="19050">
                  <a:solidFill>
                    <a:schemeClr val="tx1"/>
                  </a:solidFill>
                </a:ln>
                <a:cs typeface="2  Nazanin" panose="00000400000000000000" pitchFamily="2" charset="-78"/>
              </a:rPr>
              <a:t>مدار کنترل واسط</a:t>
            </a:r>
            <a:endParaRPr lang="en-US" dirty="0">
              <a:ln w="19050">
                <a:solidFill>
                  <a:schemeClr val="tx1"/>
                </a:solidFill>
              </a:ln>
              <a:cs typeface="2  Nazanin" panose="00000400000000000000" pitchFamily="2" charset="-78"/>
            </a:endParaRPr>
          </a:p>
        </p:txBody>
      </p:sp>
      <p:cxnSp>
        <p:nvCxnSpPr>
          <p:cNvPr id="9" name="Elbow Connector 8"/>
          <p:cNvCxnSpPr>
            <a:endCxn id="5" idx="0"/>
          </p:cNvCxnSpPr>
          <p:nvPr/>
        </p:nvCxnSpPr>
        <p:spPr bwMode="auto">
          <a:xfrm>
            <a:off x="1052190" y="566242"/>
            <a:ext cx="1467582" cy="414486"/>
          </a:xfrm>
          <a:prstGeom prst="bentConnector2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6" name="Elbow Connector 15"/>
          <p:cNvCxnSpPr/>
          <p:nvPr/>
        </p:nvCxnSpPr>
        <p:spPr bwMode="auto">
          <a:xfrm>
            <a:off x="1052190" y="684485"/>
            <a:ext cx="1242976" cy="296243"/>
          </a:xfrm>
          <a:prstGeom prst="bentConnector3">
            <a:avLst>
              <a:gd name="adj1" fmla="val 99996"/>
            </a:avLst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1" name="Elbow Connector 20"/>
          <p:cNvCxnSpPr/>
          <p:nvPr/>
        </p:nvCxnSpPr>
        <p:spPr bwMode="auto">
          <a:xfrm>
            <a:off x="1052190" y="832606"/>
            <a:ext cx="1018370" cy="148122"/>
          </a:xfrm>
          <a:prstGeom prst="bentConnector3">
            <a:avLst>
              <a:gd name="adj1" fmla="val 100205"/>
            </a:avLst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467544" y="476672"/>
            <a:ext cx="819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</a:rPr>
              <a:t>clock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7544" y="629072"/>
            <a:ext cx="819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</a:rPr>
              <a:t>reset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7544" y="332656"/>
            <a:ext cx="819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</a:rPr>
              <a:t>start</a:t>
            </a:r>
          </a:p>
        </p:txBody>
      </p:sp>
      <p:sp>
        <p:nvSpPr>
          <p:cNvPr id="34" name="Right Arrow 33"/>
          <p:cNvSpPr/>
          <p:nvPr/>
        </p:nvSpPr>
        <p:spPr bwMode="auto">
          <a:xfrm>
            <a:off x="827584" y="1484784"/>
            <a:ext cx="576064" cy="216024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1019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>
              <a:ln w="19050">
                <a:solidFill>
                  <a:schemeClr val="tx1"/>
                </a:solidFill>
              </a:ln>
              <a:cs typeface="Arial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96614" y="1268760"/>
            <a:ext cx="819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+mj-lt"/>
              </a:rPr>
              <a:t>Data_in</a:t>
            </a:r>
            <a:endParaRPr lang="en-US" sz="1400" dirty="0">
              <a:latin typeface="+mj-lt"/>
            </a:endParaRPr>
          </a:p>
        </p:txBody>
      </p:sp>
      <p:sp>
        <p:nvSpPr>
          <p:cNvPr id="36" name="Right Arrow 35"/>
          <p:cNvSpPr/>
          <p:nvPr/>
        </p:nvSpPr>
        <p:spPr bwMode="auto">
          <a:xfrm>
            <a:off x="3662810" y="1484784"/>
            <a:ext cx="576064" cy="216024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1019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>
              <a:ln w="19050">
                <a:solidFill>
                  <a:schemeClr val="tx1"/>
                </a:solidFill>
              </a:ln>
              <a:cs typeface="Arial" pitchFamily="34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257054" y="1393031"/>
            <a:ext cx="1179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+mj-lt"/>
              </a:rPr>
              <a:t>Return_val</a:t>
            </a:r>
            <a:endParaRPr lang="en-US" sz="1400" dirty="0">
              <a:latin typeface="+mj-lt"/>
            </a:endParaRPr>
          </a:p>
        </p:txBody>
      </p:sp>
      <p:cxnSp>
        <p:nvCxnSpPr>
          <p:cNvPr id="39" name="Straight Arrow Connector 38"/>
          <p:cNvCxnSpPr/>
          <p:nvPr/>
        </p:nvCxnSpPr>
        <p:spPr bwMode="auto">
          <a:xfrm>
            <a:off x="3635896" y="1988840"/>
            <a:ext cx="621158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4257054" y="1825079"/>
            <a:ext cx="6029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</a:rPr>
              <a:t>done</a:t>
            </a:r>
          </a:p>
        </p:txBody>
      </p:sp>
      <p:cxnSp>
        <p:nvCxnSpPr>
          <p:cNvPr id="43" name="Straight Arrow Connector 42"/>
          <p:cNvCxnSpPr/>
          <p:nvPr/>
        </p:nvCxnSpPr>
        <p:spPr bwMode="auto">
          <a:xfrm>
            <a:off x="3635896" y="2224609"/>
            <a:ext cx="621158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4257054" y="2060848"/>
            <a:ext cx="8910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</a:rPr>
              <a:t>ready</a:t>
            </a:r>
          </a:p>
        </p:txBody>
      </p:sp>
      <p:cxnSp>
        <p:nvCxnSpPr>
          <p:cNvPr id="45" name="Straight Arrow Connector 44"/>
          <p:cNvCxnSpPr/>
          <p:nvPr/>
        </p:nvCxnSpPr>
        <p:spPr bwMode="auto">
          <a:xfrm>
            <a:off x="3635896" y="2492896"/>
            <a:ext cx="621158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4257054" y="2329135"/>
            <a:ext cx="6029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</a:rPr>
              <a:t>idle</a:t>
            </a:r>
          </a:p>
        </p:txBody>
      </p:sp>
    </p:spTree>
    <p:extLst>
      <p:ext uri="{BB962C8B-B14F-4D97-AF65-F5344CB8AC3E}">
        <p14:creationId xmlns:p14="http://schemas.microsoft.com/office/powerpoint/2010/main" val="347706854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/>
              <a:t>سنتز مدار واسط (مثال)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35</a:t>
            </a:fld>
            <a:endParaRPr lang="en-US" altLang="en-US"/>
          </a:p>
        </p:txBody>
      </p:sp>
      <p:sp>
        <p:nvSpPr>
          <p:cNvPr id="5" name="Rectangle 4"/>
          <p:cNvSpPr/>
          <p:nvPr/>
        </p:nvSpPr>
        <p:spPr bwMode="auto">
          <a:xfrm>
            <a:off x="1403648" y="980728"/>
            <a:ext cx="2232248" cy="158417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1019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>
              <a:ln w="19050">
                <a:solidFill>
                  <a:schemeClr val="tx1"/>
                </a:solidFill>
              </a:ln>
              <a:cs typeface="Arial" pitchFamily="34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1619672" y="1124744"/>
            <a:ext cx="1800200" cy="864096"/>
          </a:xfrm>
          <a:prstGeom prst="rect">
            <a:avLst/>
          </a:prstGeom>
          <a:solidFill>
            <a:srgbClr val="FFFF00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1019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a-IR" dirty="0">
                <a:ln w="19050">
                  <a:solidFill>
                    <a:schemeClr val="tx1"/>
                  </a:solidFill>
                </a:ln>
                <a:cs typeface="2  Nazanin" panose="00000400000000000000" pitchFamily="2" charset="-78"/>
              </a:rPr>
              <a:t>مدار محاسباتی</a:t>
            </a:r>
            <a:endParaRPr lang="en-US" dirty="0">
              <a:ln w="19050">
                <a:solidFill>
                  <a:schemeClr val="tx1"/>
                </a:solidFill>
              </a:ln>
              <a:cs typeface="2  Nazanin" panose="00000400000000000000" pitchFamily="2" charset="-78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619672" y="2060848"/>
            <a:ext cx="1800200" cy="432048"/>
          </a:xfrm>
          <a:prstGeom prst="rect">
            <a:avLst/>
          </a:prstGeom>
          <a:solidFill>
            <a:srgbClr val="FFFF00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1019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fa-IR" dirty="0">
                <a:ln w="19050">
                  <a:solidFill>
                    <a:schemeClr val="tx1"/>
                  </a:solidFill>
                </a:ln>
                <a:cs typeface="2  Nazanin" panose="00000400000000000000" pitchFamily="2" charset="-78"/>
              </a:rPr>
              <a:t>مدار کنترل واسط</a:t>
            </a:r>
            <a:endParaRPr lang="en-US" dirty="0">
              <a:ln w="19050">
                <a:solidFill>
                  <a:schemeClr val="tx1"/>
                </a:solidFill>
              </a:ln>
              <a:cs typeface="2  Nazanin" panose="00000400000000000000" pitchFamily="2" charset="-78"/>
            </a:endParaRPr>
          </a:p>
        </p:txBody>
      </p:sp>
      <p:cxnSp>
        <p:nvCxnSpPr>
          <p:cNvPr id="9" name="Elbow Connector 8"/>
          <p:cNvCxnSpPr>
            <a:endCxn id="5" idx="0"/>
          </p:cNvCxnSpPr>
          <p:nvPr/>
        </p:nvCxnSpPr>
        <p:spPr bwMode="auto">
          <a:xfrm>
            <a:off x="1052190" y="566242"/>
            <a:ext cx="1467582" cy="414486"/>
          </a:xfrm>
          <a:prstGeom prst="bentConnector2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6" name="Elbow Connector 15"/>
          <p:cNvCxnSpPr/>
          <p:nvPr/>
        </p:nvCxnSpPr>
        <p:spPr bwMode="auto">
          <a:xfrm>
            <a:off x="1052190" y="684485"/>
            <a:ext cx="1242976" cy="296243"/>
          </a:xfrm>
          <a:prstGeom prst="bentConnector3">
            <a:avLst>
              <a:gd name="adj1" fmla="val 99996"/>
            </a:avLst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1" name="Elbow Connector 20"/>
          <p:cNvCxnSpPr/>
          <p:nvPr/>
        </p:nvCxnSpPr>
        <p:spPr bwMode="auto">
          <a:xfrm>
            <a:off x="1052190" y="832606"/>
            <a:ext cx="1018370" cy="148122"/>
          </a:xfrm>
          <a:prstGeom prst="bentConnector3">
            <a:avLst>
              <a:gd name="adj1" fmla="val 100205"/>
            </a:avLst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31" name="TextBox 30"/>
          <p:cNvSpPr txBox="1"/>
          <p:nvPr/>
        </p:nvSpPr>
        <p:spPr>
          <a:xfrm>
            <a:off x="467544" y="476672"/>
            <a:ext cx="819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</a:rPr>
              <a:t>clock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7544" y="629072"/>
            <a:ext cx="819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</a:rPr>
              <a:t>reset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7544" y="332656"/>
            <a:ext cx="819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</a:rPr>
              <a:t>start</a:t>
            </a:r>
          </a:p>
        </p:txBody>
      </p:sp>
      <p:sp>
        <p:nvSpPr>
          <p:cNvPr id="34" name="Right Arrow 33"/>
          <p:cNvSpPr/>
          <p:nvPr/>
        </p:nvSpPr>
        <p:spPr bwMode="auto">
          <a:xfrm>
            <a:off x="827584" y="1484784"/>
            <a:ext cx="576064" cy="216024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1019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>
              <a:ln w="19050">
                <a:solidFill>
                  <a:schemeClr val="tx1"/>
                </a:solidFill>
              </a:ln>
              <a:cs typeface="Arial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96614" y="1268760"/>
            <a:ext cx="81900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+mj-lt"/>
              </a:rPr>
              <a:t>Data_in</a:t>
            </a:r>
            <a:endParaRPr lang="en-US" sz="1400" dirty="0">
              <a:latin typeface="+mj-lt"/>
            </a:endParaRPr>
          </a:p>
        </p:txBody>
      </p:sp>
      <p:sp>
        <p:nvSpPr>
          <p:cNvPr id="36" name="Right Arrow 35"/>
          <p:cNvSpPr/>
          <p:nvPr/>
        </p:nvSpPr>
        <p:spPr bwMode="auto">
          <a:xfrm>
            <a:off x="3662810" y="1484784"/>
            <a:ext cx="576064" cy="216024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1019175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dirty="0">
              <a:ln w="19050">
                <a:solidFill>
                  <a:schemeClr val="tx1"/>
                </a:solidFill>
              </a:ln>
              <a:cs typeface="Arial" pitchFamily="34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257054" y="1393031"/>
            <a:ext cx="11790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latin typeface="+mj-lt"/>
              </a:rPr>
              <a:t>Return_val</a:t>
            </a:r>
            <a:endParaRPr lang="en-US" sz="1400" dirty="0">
              <a:latin typeface="+mj-lt"/>
            </a:endParaRPr>
          </a:p>
        </p:txBody>
      </p:sp>
      <p:cxnSp>
        <p:nvCxnSpPr>
          <p:cNvPr id="39" name="Straight Arrow Connector 38"/>
          <p:cNvCxnSpPr/>
          <p:nvPr/>
        </p:nvCxnSpPr>
        <p:spPr bwMode="auto">
          <a:xfrm>
            <a:off x="3635896" y="1988840"/>
            <a:ext cx="621158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4257054" y="1825079"/>
            <a:ext cx="6029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</a:rPr>
              <a:t>done</a:t>
            </a:r>
          </a:p>
        </p:txBody>
      </p:sp>
      <p:cxnSp>
        <p:nvCxnSpPr>
          <p:cNvPr id="43" name="Straight Arrow Connector 42"/>
          <p:cNvCxnSpPr/>
          <p:nvPr/>
        </p:nvCxnSpPr>
        <p:spPr bwMode="auto">
          <a:xfrm>
            <a:off x="3635896" y="2224609"/>
            <a:ext cx="621158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4257054" y="2060848"/>
            <a:ext cx="8910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</a:rPr>
              <a:t>ready</a:t>
            </a:r>
          </a:p>
        </p:txBody>
      </p:sp>
      <p:cxnSp>
        <p:nvCxnSpPr>
          <p:cNvPr id="45" name="Straight Arrow Connector 44"/>
          <p:cNvCxnSpPr/>
          <p:nvPr/>
        </p:nvCxnSpPr>
        <p:spPr bwMode="auto">
          <a:xfrm>
            <a:off x="3635896" y="2492896"/>
            <a:ext cx="621158" cy="0"/>
          </a:xfrm>
          <a:prstGeom prst="straightConnector1">
            <a:avLst/>
          </a:prstGeom>
          <a:solidFill>
            <a:schemeClr val="accent1"/>
          </a:solidFill>
          <a:ln w="28575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46" name="TextBox 45"/>
          <p:cNvSpPr txBox="1"/>
          <p:nvPr/>
        </p:nvSpPr>
        <p:spPr>
          <a:xfrm>
            <a:off x="4257054" y="2329135"/>
            <a:ext cx="6029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</a:rPr>
              <a:t>idle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045" y="2959937"/>
            <a:ext cx="4054995" cy="3337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111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/>
              <a:t>سنتز مدار واسط (مثال)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36</a:t>
            </a:fld>
            <a:endParaRPr lang="en-US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894" y="764704"/>
            <a:ext cx="8075570" cy="5461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59501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/>
              <a:t>سنتز مدار واسط (مثال)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39952" y="1556792"/>
            <a:ext cx="4752528" cy="2676704"/>
          </a:xfrm>
        </p:spPr>
        <p:txBody>
          <a:bodyPr/>
          <a:lstStyle/>
          <a:p>
            <a:r>
              <a:rPr lang="fa-IR" sz="2800" dirty="0"/>
              <a:t>ب.م.م.: فراخوانی با ارجاع:</a:t>
            </a:r>
          </a:p>
          <a:p>
            <a:r>
              <a:rPr lang="fa-IR" sz="2800" dirty="0"/>
              <a:t>ک.م.م.: مقدار بازگشت داده شده</a:t>
            </a:r>
          </a:p>
          <a:p>
            <a:pPr lvl="1"/>
            <a:r>
              <a:rPr lang="en-US" sz="2400" dirty="0" err="1"/>
              <a:t>gcd_in</a:t>
            </a:r>
            <a:r>
              <a:rPr lang="fa-IR" sz="2400" dirty="0"/>
              <a:t> و </a:t>
            </a:r>
            <a:r>
              <a:rPr lang="en-US" sz="2400" dirty="0" err="1"/>
              <a:t>gcd_out</a:t>
            </a:r>
            <a:endParaRPr lang="en-US" sz="2400" dirty="0"/>
          </a:p>
          <a:p>
            <a:pPr lvl="2"/>
            <a:r>
              <a:rPr lang="fa-IR" sz="2000" dirty="0"/>
              <a:t>یا یک درگاه </a:t>
            </a:r>
            <a:r>
              <a:rPr lang="en-US" sz="2000" dirty="0" err="1"/>
              <a:t>inout</a:t>
            </a:r>
            <a:endParaRPr lang="en-US" sz="2000" dirty="0"/>
          </a:p>
          <a:p>
            <a:pPr lvl="1"/>
            <a:r>
              <a:rPr lang="en-US" sz="2400" dirty="0" err="1"/>
              <a:t>gcd_valid</a:t>
            </a:r>
            <a:r>
              <a:rPr lang="fa-IR" sz="2400" dirty="0"/>
              <a:t> برای </a:t>
            </a:r>
            <a:r>
              <a:rPr lang="en-US" sz="2400" dirty="0" err="1"/>
              <a:t>gcd_out</a:t>
            </a:r>
            <a:r>
              <a:rPr lang="fa-IR" sz="2400" dirty="0"/>
              <a:t>:</a:t>
            </a:r>
          </a:p>
          <a:p>
            <a:pPr lvl="2"/>
            <a:r>
              <a:rPr lang="fa-IR" sz="2000" dirty="0"/>
              <a:t>مانند </a:t>
            </a:r>
            <a:r>
              <a:rPr lang="en-US" sz="2000" dirty="0"/>
              <a:t>done</a:t>
            </a:r>
            <a:r>
              <a:rPr lang="fa-IR" sz="2000" dirty="0"/>
              <a:t> برای </a:t>
            </a:r>
            <a:r>
              <a:rPr lang="en-US" sz="2000" dirty="0" err="1"/>
              <a:t>return_val</a:t>
            </a:r>
            <a:endParaRPr lang="en-US" sz="2000" dirty="0"/>
          </a:p>
          <a:p>
            <a:pPr lvl="1"/>
            <a:endParaRPr lang="fa-IR" sz="2400" dirty="0"/>
          </a:p>
          <a:p>
            <a:pPr lvl="2"/>
            <a:endParaRPr lang="fa-IR" sz="2000" dirty="0"/>
          </a:p>
          <a:p>
            <a:pPr lvl="1"/>
            <a:endParaRPr lang="fa-IR" sz="2400" dirty="0"/>
          </a:p>
          <a:p>
            <a:pPr lvl="1"/>
            <a:endParaRPr lang="fa-IR" sz="2400" dirty="0">
              <a:sym typeface="Wingdings" panose="05000000000000000000" pitchFamily="2" charset="2"/>
            </a:endParaRPr>
          </a:p>
          <a:p>
            <a:pPr lvl="1"/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37</a:t>
            </a:fld>
            <a:endParaRPr lang="en-US" altLang="en-US"/>
          </a:p>
        </p:txBody>
      </p:sp>
      <p:graphicFrame>
        <p:nvGraphicFramePr>
          <p:cNvPr id="8" name="Object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07535890"/>
              </p:ext>
            </p:extLst>
          </p:nvPr>
        </p:nvGraphicFramePr>
        <p:xfrm>
          <a:off x="323529" y="2553748"/>
          <a:ext cx="4536504" cy="371511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14411231" imgH="11801475" progId="Visio.Drawing.11">
                  <p:embed/>
                </p:oleObj>
              </mc:Choice>
              <mc:Fallback>
                <p:oleObj name="Visio" r:id="rId2" imgW="14411231" imgH="11801475" progId="Visio.Drawing.1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23529" y="2553748"/>
                        <a:ext cx="4536504" cy="371511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9"/>
          <p:cNvSpPr/>
          <p:nvPr/>
        </p:nvSpPr>
        <p:spPr>
          <a:xfrm>
            <a:off x="323528" y="1052736"/>
            <a:ext cx="7992888" cy="5170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400" b="1">
                <a:latin typeface="Courier New" panose="02070309020205020404" pitchFamily="49" charset="0"/>
                <a:ea typeface="Calibri" panose="020F0502020204030204" pitchFamily="34" charset="0"/>
              </a:rPr>
              <a:t>long gcd_lcm(long </a:t>
            </a:r>
            <a:r>
              <a:rPr lang="en-US" sz="2400" b="1" dirty="0">
                <a:latin typeface="Courier New" panose="02070309020205020404" pitchFamily="49" charset="0"/>
                <a:ea typeface="Calibri" panose="020F0502020204030204" pitchFamily="34" charset="0"/>
              </a:rPr>
              <a:t>a, long b, long&amp; </a:t>
            </a:r>
            <a:r>
              <a:rPr lang="en-US" sz="2400" b="1" dirty="0" err="1">
                <a:latin typeface="Courier New" panose="02070309020205020404" pitchFamily="49" charset="0"/>
                <a:ea typeface="Calibri" panose="020F0502020204030204" pitchFamily="34" charset="0"/>
              </a:rPr>
              <a:t>gcd</a:t>
            </a:r>
            <a:r>
              <a:rPr lang="en-US" sz="2400" b="1" dirty="0">
                <a:latin typeface="Courier New" panose="02070309020205020404" pitchFamily="49" charset="0"/>
                <a:ea typeface="Calibri" panose="020F0502020204030204" pitchFamily="34" charset="0"/>
              </a:rPr>
              <a:t>);</a:t>
            </a:r>
            <a:endParaRPr lang="en-US" sz="3200" dirty="0">
              <a:latin typeface="Calibri" panose="020F0502020204030204" pitchFamily="34" charset="0"/>
              <a:ea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61247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rPr lang="fa-IR" dirty="0"/>
              <a:t>سنتز مدار واسط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3888" y="1556792"/>
            <a:ext cx="5328592" cy="3384376"/>
          </a:xfrm>
        </p:spPr>
        <p:txBody>
          <a:bodyPr/>
          <a:lstStyle/>
          <a:p>
            <a:r>
              <a:rPr lang="fa-IR" sz="2800" dirty="0"/>
              <a:t>ارتباط پیچیده تر:</a:t>
            </a:r>
          </a:p>
          <a:p>
            <a:pPr lvl="1"/>
            <a:r>
              <a:rPr lang="fa-IR" sz="2400" dirty="0"/>
              <a:t>طراح توصیف می کند</a:t>
            </a:r>
          </a:p>
          <a:p>
            <a:pPr lvl="1"/>
            <a:r>
              <a:rPr lang="fa-IR" sz="2400" dirty="0"/>
              <a:t>بلوک های آماده برای پروتکل های استاندارد</a:t>
            </a:r>
          </a:p>
          <a:p>
            <a:pPr lvl="2"/>
            <a:endParaRPr lang="fa-IR" sz="2000" dirty="0"/>
          </a:p>
          <a:p>
            <a:pPr lvl="1"/>
            <a:endParaRPr lang="fa-IR" sz="2400" dirty="0"/>
          </a:p>
          <a:p>
            <a:pPr lvl="2"/>
            <a:endParaRPr lang="fa-IR" sz="2000" dirty="0"/>
          </a:p>
          <a:p>
            <a:pPr lvl="1"/>
            <a:endParaRPr lang="fa-IR" sz="2400" dirty="0"/>
          </a:p>
          <a:p>
            <a:pPr lvl="1"/>
            <a:endParaRPr lang="fa-IR" sz="2400" dirty="0">
              <a:sym typeface="Wingdings" panose="05000000000000000000" pitchFamily="2" charset="2"/>
            </a:endParaRPr>
          </a:p>
          <a:p>
            <a:pPr lvl="1"/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38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5399323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a-IR"/>
              <a:t>منابع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799" y="1219200"/>
            <a:ext cx="8112125" cy="4648200"/>
          </a:xfrm>
        </p:spPr>
        <p:txBody>
          <a:bodyPr/>
          <a:lstStyle/>
          <a:p>
            <a:pPr lvl="1" algn="l" rtl="0"/>
            <a:r>
              <a:rPr lang="en-US"/>
              <a:t>ug998, Introduction to FPGA Design with Vivado High-Level Synthesis</a:t>
            </a:r>
          </a:p>
          <a:p>
            <a:pPr lvl="1" algn="l" rtl="0"/>
            <a:r>
              <a:rPr lang="en-US"/>
              <a:t>ug871, Vivado High-Level Synthesis Tutorial</a:t>
            </a:r>
          </a:p>
          <a:p>
            <a:pPr lvl="1" algn="l" rtl="0"/>
            <a:r>
              <a:rPr lang="en-US"/>
              <a:t>ug902, Vivado High-Level Synthesis User Guide</a:t>
            </a:r>
          </a:p>
          <a:p>
            <a:pPr lvl="1" algn="l" rtl="0"/>
            <a:endParaRPr lang="fa-I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5A899B80-BBC6-4923-BFC8-1F9F33FB645D}" type="slidenum">
              <a:rPr lang="en-US" altLang="en-US" smtClean="0"/>
              <a:pPr>
                <a:defRPr/>
              </a:pPr>
              <a:t>39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058997409"/>
      </p:ext>
    </p:extLst>
  </p:cSld>
  <p:clrMapOvr>
    <a:masterClrMapping/>
  </p:clrMapOvr>
</p:sld>
</file>

<file path=ppt/theme/theme1.xml><?xml version="1.0" encoding="utf-8"?>
<a:theme xmlns:a="http://schemas.openxmlformats.org/drawingml/2006/main" name="1_presentation_template">
  <a:themeElements>
    <a:clrScheme name="1_presentation_template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1_presentation_template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>
            <a:lumMod val="40000"/>
            <a:lumOff val="60000"/>
          </a:schemeClr>
        </a:solidFill>
        <a:ln w="2857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</a:bodyPr>
      <a:lstStyle>
        <a:defPPr marL="0" marR="0" indent="0" algn="l" defTabSz="10191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dirty="0" smtClean="0">
            <a:ln w="19050">
              <a:solidFill>
                <a:schemeClr val="tx1"/>
              </a:solidFill>
            </a:ln>
            <a:cs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10191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cs typeface="Arial" pitchFamily="34" charset="0"/>
          </a:defRPr>
        </a:defPPr>
      </a:lstStyle>
    </a:lnDef>
  </a:objectDefaults>
  <a:extraClrSchemeLst>
    <a:extraClrScheme>
      <a:clrScheme name="1_presentation_templat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presentation_templat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presentation_templat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presentation_templat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presentation_templat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presentation_templat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presentation_templat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Custom Design">
  <a:themeElements>
    <a:clrScheme name="Custom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Custom Design">
      <a:majorFont>
        <a:latin typeface="Arial"/>
        <a:ea typeface=""/>
        <a:cs typeface="Arial"/>
      </a:majorFont>
      <a:minorFont>
        <a:latin typeface="Arial"/>
        <a:ea typeface="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10191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cs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1019175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1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cs typeface="Arial" pitchFamily="34" charset="0"/>
          </a:defRPr>
        </a:defPPr>
      </a:lstStyle>
    </a:lnDef>
  </a:objectDefaults>
  <a:extraClrSchemeLst>
    <a:extraClrScheme>
      <a:clrScheme name="Custom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ustom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ustom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43221</TotalTime>
  <Words>1876</Words>
  <Application>Microsoft Office PowerPoint</Application>
  <PresentationFormat>On-screen Show (4:3)</PresentationFormat>
  <Paragraphs>420</Paragraphs>
  <Slides>39</Slides>
  <Notes>11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8" baseType="lpstr">
      <vt:lpstr>2  Nazanin</vt:lpstr>
      <vt:lpstr>Arial</vt:lpstr>
      <vt:lpstr>Calibri</vt:lpstr>
      <vt:lpstr>Courier New</vt:lpstr>
      <vt:lpstr>Times New Roman</vt:lpstr>
      <vt:lpstr>Wingdings</vt:lpstr>
      <vt:lpstr>1_presentation_template</vt:lpstr>
      <vt:lpstr>Custom Design</vt:lpstr>
      <vt:lpstr>Visio</vt:lpstr>
      <vt:lpstr>طراحی سطح بالا</vt:lpstr>
      <vt:lpstr>PowerPoint Presentation</vt:lpstr>
      <vt:lpstr>سطوح تجرید (Levels of Abstraction)</vt:lpstr>
      <vt:lpstr>سنتز سطح بالا</vt:lpstr>
      <vt:lpstr>توصیف رفتاری و RTL</vt:lpstr>
      <vt:lpstr>تاریخچه</vt:lpstr>
      <vt:lpstr>تاریخچه</vt:lpstr>
      <vt:lpstr>مدل برنامه‌نویسی/توصیف</vt:lpstr>
      <vt:lpstr>مدل برنامه‌نویسی/توصیف</vt:lpstr>
      <vt:lpstr>مدل برنامه‌نویسی/توصیف</vt:lpstr>
      <vt:lpstr>تاریخچه</vt:lpstr>
      <vt:lpstr>انواع توصیف سطح بالا</vt:lpstr>
      <vt:lpstr>مزایا و معایب طراحی و سنتز سطح بالا</vt:lpstr>
      <vt:lpstr>مزایا و معایب طراحی و سنتز سطح بالا</vt:lpstr>
      <vt:lpstr>انواع عملیات سنتز سطح بالا</vt:lpstr>
      <vt:lpstr>مراحل سنتز سطح بالا</vt:lpstr>
      <vt:lpstr>مراحل سنتز سطح بالا</vt:lpstr>
      <vt:lpstr>مراحل سنتز سطح بالا</vt:lpstr>
      <vt:lpstr>مراحل سنتز سطح بالا</vt:lpstr>
      <vt:lpstr>مراحل سنتز سطح بالا</vt:lpstr>
      <vt:lpstr>مراحل سنتز سطح بالا</vt:lpstr>
      <vt:lpstr>مراحل سنتز سطح بالا: مثال</vt:lpstr>
      <vt:lpstr>مراحل سنتز سطح بالا: مثال</vt:lpstr>
      <vt:lpstr>مراحل سنتز سطح بالا</vt:lpstr>
      <vt:lpstr>مراحل سنتز سطح بالا</vt:lpstr>
      <vt:lpstr>اشتراک منابع</vt:lpstr>
      <vt:lpstr>زمانبندی و DFG</vt:lpstr>
      <vt:lpstr>زمانبندی و DFG</vt:lpstr>
      <vt:lpstr>زمانبندی و DFG</vt:lpstr>
      <vt:lpstr>سنتز مدار واسط</vt:lpstr>
      <vt:lpstr>سنتز مدار واسط</vt:lpstr>
      <vt:lpstr>سنتز مدار واسط</vt:lpstr>
      <vt:lpstr>سنتز مدار واسط</vt:lpstr>
      <vt:lpstr>سنتز مدار واسط</vt:lpstr>
      <vt:lpstr>سنتز مدار واسط (مثال)</vt:lpstr>
      <vt:lpstr>سنتز مدار واسط (مثال)</vt:lpstr>
      <vt:lpstr>سنتز مدار واسط (مثال)</vt:lpstr>
      <vt:lpstr>سنتز مدار واسط</vt:lpstr>
      <vt:lpstr>منابع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szamani</dc:creator>
  <cp:lastModifiedBy>user</cp:lastModifiedBy>
  <cp:revision>1590</cp:revision>
  <dcterms:created xsi:type="dcterms:W3CDTF">1601-01-01T00:00:00Z</dcterms:created>
  <dcterms:modified xsi:type="dcterms:W3CDTF">2024-06-09T07:58:59Z</dcterms:modified>
</cp:coreProperties>
</file>