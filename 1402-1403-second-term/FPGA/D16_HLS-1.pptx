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42"/>
  </p:notesMasterIdLst>
  <p:sldIdLst>
    <p:sldId id="675" r:id="rId3"/>
    <p:sldId id="858" r:id="rId4"/>
    <p:sldId id="798" r:id="rId5"/>
    <p:sldId id="799" r:id="rId6"/>
    <p:sldId id="800" r:id="rId7"/>
    <p:sldId id="801" r:id="rId8"/>
    <p:sldId id="844" r:id="rId9"/>
    <p:sldId id="846" r:id="rId10"/>
    <p:sldId id="845" r:id="rId11"/>
    <p:sldId id="848" r:id="rId12"/>
    <p:sldId id="843" r:id="rId13"/>
    <p:sldId id="802" r:id="rId14"/>
    <p:sldId id="803" r:id="rId15"/>
    <p:sldId id="804" r:id="rId16"/>
    <p:sldId id="805" r:id="rId17"/>
    <p:sldId id="853" r:id="rId18"/>
    <p:sldId id="807" r:id="rId19"/>
    <p:sldId id="808" r:id="rId20"/>
    <p:sldId id="809" r:id="rId21"/>
    <p:sldId id="810" r:id="rId22"/>
    <p:sldId id="811" r:id="rId23"/>
    <p:sldId id="812" r:id="rId24"/>
    <p:sldId id="813" r:id="rId25"/>
    <p:sldId id="814" r:id="rId26"/>
    <p:sldId id="815" r:id="rId27"/>
    <p:sldId id="816" r:id="rId28"/>
    <p:sldId id="817" r:id="rId29"/>
    <p:sldId id="818" r:id="rId30"/>
    <p:sldId id="855" r:id="rId31"/>
    <p:sldId id="819" r:id="rId32"/>
    <p:sldId id="856" r:id="rId33"/>
    <p:sldId id="857" r:id="rId34"/>
    <p:sldId id="820" r:id="rId35"/>
    <p:sldId id="840" r:id="rId36"/>
    <p:sldId id="841" r:id="rId37"/>
    <p:sldId id="842" r:id="rId38"/>
    <p:sldId id="821" r:id="rId39"/>
    <p:sldId id="822" r:id="rId40"/>
    <p:sldId id="854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669900"/>
    <a:srgbClr val="0033CC"/>
    <a:srgbClr val="6699FF"/>
    <a:srgbClr val="47FFD1"/>
    <a:srgbClr val="0000FF"/>
    <a:srgbClr val="CC66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86342" autoAdjust="0"/>
  </p:normalViewPr>
  <p:slideViewPr>
    <p:cSldViewPr>
      <p:cViewPr varScale="1">
        <p:scale>
          <a:sx n="56" d="100"/>
          <a:sy n="56" d="100"/>
        </p:scale>
        <p:origin x="900" y="31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1D15426-1D08-4C5A-895B-59DBAD2FD4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85546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456781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755991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14707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204061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772639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792612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259200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02209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E4728CB-98FF-4654-A884-627C32064073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510199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The design does not start operation until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ap_start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 is set to logic 1.</a:t>
            </a:r>
            <a:endParaRPr lang="fa-IR" sz="1200" b="0" i="0" u="none" strike="noStrike" kern="1200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Arial" pitchFamily="34" charset="0"/>
            </a:endParaRPr>
          </a:p>
          <a:p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The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design indicates it is no longer idle by setting port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ap_idle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 low.</a:t>
            </a:r>
            <a:endParaRPr lang="fa-IR" sz="1200" b="0" i="0" u="none" strike="noStrike" kern="1200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Arial" pitchFamily="34" charset="0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Five transactions are </a:t>
            </a:r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shown. (one transaction: one execution of the C function)</a:t>
            </a:r>
            <a:endParaRPr lang="fa-IR" sz="1200" b="0" i="0" u="none" strike="noStrike" kern="1200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Arial" pitchFamily="34" charset="0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Output signal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ap_ready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 goes high to indicate the design is ready for new inputs 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the next clock.</a:t>
            </a:r>
            <a:endParaRPr lang="fa-IR" sz="1200" b="0" i="0" u="none" strike="noStrike" kern="1200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Arial" pitchFamily="34" charset="0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Output signal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ap_done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 indicates when the design is finished and that the value 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output port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ap_return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 is valid (the first output value, 60, is the sum of all three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inputs).</a:t>
            </a:r>
            <a:endParaRPr lang="fa-IR" sz="1200" b="0" i="0" u="none" strike="noStrike" kern="1200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Arial" pitchFamily="34" charset="0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Because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ap_start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 is held high, the next transaction starts on the next clock cycle.</a:t>
            </a:r>
            <a:endParaRPr lang="fa-IR" sz="1200" b="0" i="0" u="none" strike="noStrike" kern="1200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Arial" pitchFamily="34" charset="0"/>
            </a:endParaRPr>
          </a:p>
          <a:p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ap_start should be held at logic 1 until the associated output handshake ap_ready is</a:t>
            </a:r>
          </a:p>
          <a:p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asserted. When ap_ready goes high, the decision can be made on whether to keep</a:t>
            </a:r>
          </a:p>
          <a:p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ap_start asserted and perform another transaction or set ap_start to logic 0 and</a:t>
            </a:r>
          </a:p>
          <a:p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allow the design to halt at the end of the current transaction.</a:t>
            </a:r>
          </a:p>
          <a:p>
            <a:r>
              <a:rPr lang="en-US" sz="1200" b="1" i="1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Note: </a:t>
            </a:r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In RTL CoSimulation, all design and port input control signals are always enabled. For</a:t>
            </a:r>
          </a:p>
          <a:p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Arial" pitchFamily="34" charset="0"/>
              </a:rPr>
              <a:t>example, in Figure 4-5 signal ap_start is always high.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D15426-1D08-4C5A-895B-59DBAD2FD43D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044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580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899B80-BBC6-4923-BFC8-1F9F33FB64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74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53937-9BB9-40F9-91CC-AA18D07A99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1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62F42-27CD-4FAE-980F-036FB8427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40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A8987-0481-4125-8D8E-5349E5ED43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DF614-C5FC-4C55-9C5E-2FC3F43DAA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25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1604E-36EC-4446-8875-EAC9227CF5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39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E4B2D-55AB-4F40-AA53-BC8A8F37BC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09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AD4C-35F9-4F58-AFCD-D4C0B8B4B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24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63B20-E380-4E93-A7BB-980790A99E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7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43088-D7AB-4EC4-AFD5-0E79AD7638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9100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6D2B04-88AB-4572-8A48-C451A15A4C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929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37FE17-9FF0-4344-98C9-C258329B37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5066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501FB-C33C-416C-9087-52877609B5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97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F894B-8592-4A81-863E-40FF279CCF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669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EB22C-7899-4AA3-B9A8-BE7E8BEE45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4400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C5043-F201-4D7D-8DEE-930C75C57C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661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36BF38-7166-4666-B54B-988E7A795E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828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7D6FA-B15D-40C7-92F3-DE7932113B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459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9695F-721F-46BB-A853-313BEC2E10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0725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43922-55A8-4F3C-BFC4-3495BCD0F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469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75EA8-9727-44CA-84B9-A2EBAFE991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0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4047426-8241-409A-A9BB-79DBDCCBA7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92" r:id="rId1"/>
    <p:sldLayoutId id="2147485471" r:id="rId2"/>
    <p:sldLayoutId id="2147485472" r:id="rId3"/>
    <p:sldLayoutId id="2147485473" r:id="rId4"/>
    <p:sldLayoutId id="2147485474" r:id="rId5"/>
    <p:sldLayoutId id="2147485475" r:id="rId6"/>
    <p:sldLayoutId id="2147485476" r:id="rId7"/>
    <p:sldLayoutId id="2147485477" r:id="rId8"/>
    <p:sldLayoutId id="2147485478" r:id="rId9"/>
    <p:sldLayoutId id="2147485479" r:id="rId10"/>
    <p:sldLayoutId id="2147485480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2CEF38EC-C54E-4148-AB98-7F69B794F6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81" r:id="rId1"/>
    <p:sldLayoutId id="2147485482" r:id="rId2"/>
    <p:sldLayoutId id="2147485483" r:id="rId3"/>
    <p:sldLayoutId id="2147485484" r:id="rId4"/>
    <p:sldLayoutId id="2147485485" r:id="rId5"/>
    <p:sldLayoutId id="2147485486" r:id="rId6"/>
    <p:sldLayoutId id="2147485487" r:id="rId7"/>
    <p:sldLayoutId id="2147485488" r:id="rId8"/>
    <p:sldLayoutId id="2147485489" r:id="rId9"/>
    <p:sldLayoutId id="2147485490" r:id="rId10"/>
    <p:sldLayoutId id="21474854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rtl="1"/>
            <a:r>
              <a:rPr lang="fa-IR" dirty="0"/>
              <a:t>طراحی سطح بالا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9963" y="6388100"/>
            <a:ext cx="554037" cy="334963"/>
          </a:xfrm>
        </p:spPr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12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z="4000" smtClean="0"/>
              <a:t>بازدید از صمیم رایانه</a:t>
            </a:r>
          </a:p>
          <a:p>
            <a:pPr lvl="1"/>
            <a:r>
              <a:rPr lang="fa-IR" sz="3600" smtClean="0"/>
              <a:t>احتمالا چهارشنبه هفته آینده صبح</a:t>
            </a:r>
            <a:endParaRPr lang="fa-IR" sz="3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42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 (</a:t>
            </a:r>
            <a:r>
              <a:rPr lang="en-US" altLang="en-US" smtClean="0"/>
              <a:t>Levels of Abstraction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3995738" y="1000125"/>
            <a:ext cx="4937125" cy="5214938"/>
          </a:xfrm>
        </p:spPr>
        <p:txBody>
          <a:bodyPr/>
          <a:lstStyle/>
          <a:p>
            <a:r>
              <a:rPr lang="fa-IR" altLang="en-US" dirty="0" smtClean="0"/>
              <a:t>رفتاری: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 توصیف عملکرد مطلوب (الگوریتمی)</a:t>
            </a:r>
          </a:p>
          <a:p>
            <a:pPr lvl="2"/>
            <a:r>
              <a:rPr lang="fa-IR" altLang="en-US" dirty="0" smtClean="0"/>
              <a:t> بدون پرداختن به مدار</a:t>
            </a:r>
          </a:p>
          <a:p>
            <a:pPr lvl="2"/>
            <a:r>
              <a:rPr lang="fa-IR" altLang="en-US" dirty="0" smtClean="0"/>
              <a:t> همة امکانات </a:t>
            </a:r>
            <a:r>
              <a:rPr lang="en-US" altLang="en-US" sz="2800" dirty="0" smtClean="0"/>
              <a:t>VHDL</a:t>
            </a:r>
            <a:endParaRPr lang="fa-IR" altLang="en-US" dirty="0" smtClean="0"/>
          </a:p>
          <a:p>
            <a:pPr lvl="2"/>
            <a:r>
              <a:rPr lang="fa-IR" altLang="en-US" dirty="0" smtClean="0"/>
              <a:t> ترجیح طراحان: </a:t>
            </a:r>
            <a:r>
              <a:rPr lang="en-US" altLang="en-US" dirty="0" smtClean="0"/>
              <a:t>C/C++</a:t>
            </a:r>
          </a:p>
          <a:p>
            <a:pPr lvl="2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4581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60475" y="549275"/>
            <a:ext cx="7178675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564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سنتز سطح بالا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3275856" y="836712"/>
            <a:ext cx="5657007" cy="5214938"/>
          </a:xfrm>
        </p:spPr>
        <p:txBody>
          <a:bodyPr/>
          <a:lstStyle/>
          <a:p>
            <a:r>
              <a:rPr lang="fa-IR" altLang="en-US" dirty="0" smtClean="0"/>
              <a:t>سنتز:</a:t>
            </a:r>
          </a:p>
          <a:p>
            <a:pPr lvl="1"/>
            <a:r>
              <a:rPr lang="fa-IR" altLang="en-US" dirty="0" smtClean="0"/>
              <a:t>سنتز رفتاری (</a:t>
            </a:r>
            <a:r>
              <a:rPr lang="en-US" altLang="en-US" sz="2400" dirty="0" smtClean="0"/>
              <a:t>Behavioral Synthesis</a:t>
            </a:r>
            <a:r>
              <a:rPr lang="fa-IR" altLang="en-US" dirty="0" smtClean="0"/>
              <a:t>) یا سنتز سطح بالا (</a:t>
            </a:r>
            <a:r>
              <a:rPr lang="en-US" altLang="en-US" sz="2400" dirty="0" smtClean="0"/>
              <a:t>HLS</a:t>
            </a:r>
            <a:r>
              <a:rPr lang="fa-IR" altLang="en-US" dirty="0" smtClean="0"/>
              <a:t>)</a:t>
            </a:r>
            <a:r>
              <a:rPr lang="en-US" altLang="en-US" dirty="0" smtClean="0"/>
              <a:t>:</a:t>
            </a:r>
          </a:p>
          <a:p>
            <a:pPr lvl="2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7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8720" y="549275"/>
            <a:ext cx="7178675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1836193" y="2565400"/>
            <a:ext cx="223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High-Level Synthesis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799680" y="4365625"/>
            <a:ext cx="30607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Place &amp; Route (Layout Synthesis)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1772693" y="3500438"/>
            <a:ext cx="16462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Logic Synthesis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467544" y="1844824"/>
            <a:ext cx="3384376" cy="165561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23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توصیف رفتاری و </a:t>
            </a:r>
            <a:r>
              <a:rPr lang="en-US" altLang="en-US" dirty="0" smtClean="0"/>
              <a:t>RTL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39552" y="1000125"/>
            <a:ext cx="8393311" cy="5214938"/>
          </a:xfrm>
        </p:spPr>
        <p:txBody>
          <a:bodyPr/>
          <a:lstStyle/>
          <a:p>
            <a:r>
              <a:rPr lang="fa-IR" altLang="en-US" dirty="0" smtClean="0"/>
              <a:t>توصیف سطح بالا: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تنها </a:t>
            </a:r>
            <a:r>
              <a:rPr lang="fa-IR" altLang="en-US" dirty="0"/>
              <a:t>عملکرد </a:t>
            </a:r>
            <a:r>
              <a:rPr lang="fa-IR" altLang="en-US" dirty="0" smtClean="0"/>
              <a:t>سیستم، </a:t>
            </a:r>
            <a:r>
              <a:rPr lang="fa-IR" altLang="en-US" dirty="0"/>
              <a:t>در قالب ترتیب انجام </a:t>
            </a:r>
            <a:r>
              <a:rPr lang="fa-IR" altLang="en-US" dirty="0" smtClean="0"/>
              <a:t>عملیات</a:t>
            </a:r>
          </a:p>
          <a:p>
            <a:r>
              <a:rPr lang="fa-IR" altLang="en-US" dirty="0" smtClean="0"/>
              <a:t>توصیف </a:t>
            </a:r>
            <a:r>
              <a:rPr lang="fa-IR" altLang="en-US" dirty="0"/>
              <a:t>انتقال </a:t>
            </a:r>
            <a:r>
              <a:rPr lang="fa-IR" altLang="en-US" dirty="0" smtClean="0"/>
              <a:t>ثبات:</a:t>
            </a:r>
          </a:p>
          <a:p>
            <a:pPr lvl="1"/>
            <a:r>
              <a:rPr lang="fa-IR" altLang="en-US" dirty="0" smtClean="0"/>
              <a:t>زمانبندی دقیق عملیات در هر کلاک</a:t>
            </a:r>
          </a:p>
          <a:p>
            <a:pPr lvl="1"/>
            <a:r>
              <a:rPr lang="fa-IR" altLang="en-US" dirty="0" smtClean="0"/>
              <a:t>نحوة کنترل عملیات محاسباتی و منطقی</a:t>
            </a:r>
          </a:p>
          <a:p>
            <a:pPr lvl="1"/>
            <a:r>
              <a:rPr lang="fa-IR" altLang="en-US" dirty="0" smtClean="0"/>
              <a:t>نحوة کنترل قرارگرفتن نتایج آنها در ثبات‌ها در هر گام کنترلی </a:t>
            </a:r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78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تاریخچه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39552" y="1000125"/>
            <a:ext cx="8393311" cy="5214938"/>
          </a:xfrm>
        </p:spPr>
        <p:txBody>
          <a:bodyPr/>
          <a:lstStyle/>
          <a:p>
            <a:r>
              <a:rPr lang="fa-IR" altLang="en-US" dirty="0" smtClean="0"/>
              <a:t>کندی پردازنده‌ها</a:t>
            </a:r>
          </a:p>
          <a:p>
            <a:pPr lvl="1"/>
            <a:r>
              <a:rPr lang="fa-IR" altLang="en-US" dirty="0" smtClean="0"/>
              <a:t>عدم جوابگویی به نیازهای بسیاری از کاربردها</a:t>
            </a:r>
          </a:p>
          <a:p>
            <a:pPr lvl="1"/>
            <a:r>
              <a:rPr lang="fa-IR" altLang="en-US" dirty="0" smtClean="0">
                <a:sym typeface="Wingdings" panose="05000000000000000000" pitchFamily="2" charset="2"/>
              </a:rPr>
              <a:t> </a:t>
            </a:r>
            <a:r>
              <a:rPr lang="fa-IR" altLang="en-US" dirty="0" smtClean="0"/>
              <a:t>نیاز به شتاب‌دهی الگوریتم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گزینه‌‌ها:</a:t>
            </a:r>
          </a:p>
          <a:p>
            <a:pPr lvl="2"/>
            <a:r>
              <a:rPr lang="en-US" altLang="en-US" dirty="0" smtClean="0"/>
              <a:t>Multicores</a:t>
            </a:r>
          </a:p>
          <a:p>
            <a:pPr lvl="2"/>
            <a:r>
              <a:rPr lang="en-US" altLang="en-US" dirty="0" err="1" smtClean="0"/>
              <a:t>Manycores</a:t>
            </a:r>
            <a:r>
              <a:rPr lang="en-US" altLang="en-US" dirty="0" smtClean="0"/>
              <a:t> (GPU)</a:t>
            </a:r>
          </a:p>
          <a:p>
            <a:pPr lvl="2"/>
            <a:r>
              <a:rPr lang="en-US" altLang="en-US" dirty="0" smtClean="0"/>
              <a:t>FPGA</a:t>
            </a:r>
          </a:p>
          <a:p>
            <a:pPr lvl="2"/>
            <a:endParaRPr lang="fa-IR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53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تاریخچه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07504" y="1000125"/>
            <a:ext cx="8825359" cy="5214938"/>
          </a:xfrm>
        </p:spPr>
        <p:txBody>
          <a:bodyPr/>
          <a:lstStyle/>
          <a:p>
            <a:r>
              <a:rPr lang="en-US" altLang="en-US" dirty="0" smtClean="0"/>
              <a:t>Multicore</a:t>
            </a:r>
            <a:r>
              <a:rPr lang="fa-IR" altLang="en-US" dirty="0" smtClean="0"/>
              <a:t> و </a:t>
            </a:r>
            <a:r>
              <a:rPr lang="en-US" altLang="en-US" dirty="0" smtClean="0"/>
              <a:t>GPU</a:t>
            </a:r>
            <a:r>
              <a:rPr lang="fa-IR" altLang="en-US" dirty="0" smtClean="0"/>
              <a:t>:</a:t>
            </a:r>
          </a:p>
          <a:p>
            <a:endParaRPr lang="fa-IR" altLang="en-US" sz="3600" dirty="0" smtClean="0"/>
          </a:p>
          <a:p>
            <a:pPr lvl="1"/>
            <a:r>
              <a:rPr lang="fa-IR" altLang="en-US" sz="3200" dirty="0"/>
              <a:t>جوابگو </a:t>
            </a:r>
            <a:r>
              <a:rPr lang="fa-IR" altLang="en-US" sz="3200" dirty="0" smtClean="0"/>
              <a:t>نبودن افزایش </a:t>
            </a:r>
            <a:r>
              <a:rPr lang="fa-IR" altLang="en-US" sz="3200" dirty="0"/>
              <a:t>فرکانس </a:t>
            </a:r>
            <a:r>
              <a:rPr lang="fa-IR" altLang="en-US" sz="3200" dirty="0" smtClean="0"/>
              <a:t>پردازنده‌ها</a:t>
            </a:r>
          </a:p>
          <a:p>
            <a:pPr lvl="1"/>
            <a:r>
              <a:rPr lang="fa-IR" altLang="en-US" sz="3200" dirty="0" smtClean="0"/>
              <a:t>نیاز طراحان نرم‌افزار به طراحی ساختار موازی الگوریتم‌ها برای چندپردازنده‌ها </a:t>
            </a:r>
            <a:r>
              <a:rPr lang="fa-IR" altLang="en-US" sz="3200" b="1" dirty="0" smtClean="0"/>
              <a:t>به صورت کارامد</a:t>
            </a:r>
          </a:p>
          <a:p>
            <a:pPr lvl="1"/>
            <a:r>
              <a:rPr lang="fa-IR" altLang="en-US" sz="3200" dirty="0" smtClean="0"/>
              <a:t>تکنیک‌های طراحی الگوریتم‌های موازی مشابه مبانی طراحی با </a:t>
            </a:r>
            <a:r>
              <a:rPr lang="en-US" altLang="en-US" dirty="0" smtClean="0"/>
              <a:t>FPGA</a:t>
            </a:r>
            <a:endParaRPr lang="fa-IR" altLang="en-US" sz="3200" dirty="0" smtClean="0"/>
          </a:p>
          <a:p>
            <a:pPr lvl="2"/>
            <a:r>
              <a:rPr lang="fa-IR" altLang="en-US" sz="2800" dirty="0" smtClean="0"/>
              <a:t> تفاوت: مدل برنامه‌نویسی/توصیف: </a:t>
            </a:r>
            <a:r>
              <a:rPr lang="en-US" altLang="en-US" sz="2800" dirty="0" smtClean="0"/>
              <a:t>RTL</a:t>
            </a:r>
            <a:r>
              <a:rPr lang="fa-IR" altLang="en-US" sz="2800" dirty="0" smtClean="0"/>
              <a:t> در برابر </a:t>
            </a:r>
            <a:r>
              <a:rPr lang="en-US" altLang="en-US" sz="2800" dirty="0" smtClean="0"/>
              <a:t>C/C++</a:t>
            </a:r>
            <a:endParaRPr lang="fa-IR" altLang="en-US" dirty="0" smtClean="0"/>
          </a:p>
          <a:p>
            <a:pPr lvl="1"/>
            <a:endParaRPr lang="fa-IR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33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/>
              <a:t>مدل برنامه‌نویسی/توصیف</a:t>
            </a:r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496" y="980728"/>
            <a:ext cx="9361040" cy="936104"/>
          </a:xfrm>
        </p:spPr>
        <p:txBody>
          <a:bodyPr/>
          <a:lstStyle/>
          <a:p>
            <a:pPr lvl="1"/>
            <a:r>
              <a:rPr lang="fa-IR" dirty="0" smtClean="0"/>
              <a:t>تأثیر مدل برنامه‌نویسی در مدت طراحی و کارایی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 طراحی برای </a:t>
            </a:r>
            <a:r>
              <a:rPr lang="en-US" dirty="0" smtClean="0">
                <a:sym typeface="Wingdings" panose="05000000000000000000" pitchFamily="2" charset="2"/>
              </a:rPr>
              <a:t>FPGA</a:t>
            </a:r>
            <a:r>
              <a:rPr lang="fa-IR" dirty="0" smtClean="0">
                <a:sym typeface="Wingdings" panose="05000000000000000000" pitchFamily="2" charset="2"/>
              </a:rPr>
              <a:t> برای کاربردهایی که سایر سیستم‌ها جوابگوی سرعت نیستند</a:t>
            </a:r>
            <a:endParaRPr lang="fa-I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204864"/>
            <a:ext cx="6558434" cy="409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2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مدل برنامه‌نویسی/توصیف</a:t>
            </a:r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smtClean="0"/>
              <a:t>سنتز سطح بالا:</a:t>
            </a:r>
          </a:p>
          <a:p>
            <a:pPr lvl="1"/>
            <a:r>
              <a:rPr lang="fa-IR" dirty="0" smtClean="0"/>
              <a:t>پیشرفت‌های اخیر: استفاده از مدل برنامه‌نویسی مشابه طراحی نرم‌افزار (</a:t>
            </a:r>
            <a:r>
              <a:rPr lang="en-US" dirty="0" smtClean="0"/>
              <a:t>C/C++</a:t>
            </a:r>
            <a:r>
              <a:rPr lang="fa-IR" dirty="0" smtClean="0"/>
              <a:t>)</a:t>
            </a:r>
          </a:p>
          <a:p>
            <a:pPr lvl="1"/>
            <a:r>
              <a:rPr lang="fa-IR" dirty="0" smtClean="0"/>
              <a:t>نیاز به آشنایی با پلتفرم سخت‌افزاری </a:t>
            </a:r>
            <a:r>
              <a:rPr lang="en-US" dirty="0" smtClean="0"/>
              <a:t>FPGA</a:t>
            </a:r>
            <a:r>
              <a:rPr lang="fa-IR" dirty="0" smtClean="0"/>
              <a:t> برای رسیدن به هدف کارایی (سرعت)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45963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مدل برنامه‌نویسی/توصیف</a:t>
            </a:r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625624"/>
          </a:xfrm>
        </p:spPr>
        <p:txBody>
          <a:bodyPr/>
          <a:lstStyle/>
          <a:p>
            <a:r>
              <a:rPr lang="fa-IR" dirty="0" smtClean="0"/>
              <a:t>سنتز سطح بالا: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17063"/>
            <a:ext cx="6670222" cy="4198798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 flipH="1">
            <a:off x="2987824" y="2017063"/>
            <a:ext cx="2736304" cy="5478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1691680" y="3889271"/>
            <a:ext cx="3528392" cy="7638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1819750"/>
            <a:ext cx="858588" cy="6371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513" y="3261334"/>
            <a:ext cx="863181" cy="69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8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تاریخچه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39552" y="1000125"/>
            <a:ext cx="8393311" cy="5214938"/>
          </a:xfrm>
        </p:spPr>
        <p:txBody>
          <a:bodyPr/>
          <a:lstStyle/>
          <a:p>
            <a:r>
              <a:rPr lang="fa-IR" altLang="en-US" dirty="0" smtClean="0"/>
              <a:t>از دهة 1970: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آغاز پژوهش</a:t>
            </a:r>
          </a:p>
          <a:p>
            <a:pPr lvl="1"/>
            <a:r>
              <a:rPr lang="fa-IR" altLang="en-US" dirty="0" smtClean="0"/>
              <a:t>ناکارامد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 عدم ورود به ابزارهای صنعتی</a:t>
            </a:r>
            <a:endParaRPr lang="fa-IR" altLang="en-US" dirty="0" smtClean="0"/>
          </a:p>
          <a:p>
            <a:r>
              <a:rPr lang="fa-IR" altLang="en-US" dirty="0" smtClean="0"/>
              <a:t>تحولات اخیر:</a:t>
            </a:r>
          </a:p>
          <a:p>
            <a:pPr lvl="1"/>
            <a:r>
              <a:rPr lang="fa-IR" altLang="en-US" dirty="0" smtClean="0"/>
              <a:t>پیشرفت ابزارهای سنتز</a:t>
            </a:r>
          </a:p>
          <a:p>
            <a:pPr lvl="1"/>
            <a:r>
              <a:rPr lang="fa-IR" altLang="en-US" dirty="0" smtClean="0"/>
              <a:t>نیاز </a:t>
            </a:r>
            <a:r>
              <a:rPr lang="fa-IR" altLang="en-US" smtClean="0"/>
              <a:t>شدید توسعه‌دهندگان برنامه‌های </a:t>
            </a:r>
            <a:r>
              <a:rPr lang="fa-IR" altLang="en-US" dirty="0" smtClean="0"/>
              <a:t>کاربردی </a:t>
            </a:r>
            <a:r>
              <a:rPr lang="fa-IR" altLang="en-US" smtClean="0"/>
              <a:t>به پیاده‌سازی سخت‌افزاری (شتاب‌دهی)</a:t>
            </a:r>
          </a:p>
          <a:p>
            <a:pPr lvl="1"/>
            <a:r>
              <a:rPr lang="fa-IR" altLang="en-US" smtClean="0"/>
              <a:t>پیچیدگی زیاد الگوریتم‌های نیازمند به شتاب‌دهی</a:t>
            </a:r>
            <a:endParaRPr lang="fa-IR" altLang="en-US" dirty="0" smtClean="0"/>
          </a:p>
          <a:p>
            <a:pPr lvl="1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D1162F-1DE6-49D1-87D2-778FE27EFE0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1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توصیف سطح 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80728"/>
            <a:ext cx="7772400" cy="4648200"/>
          </a:xfrm>
        </p:spPr>
        <p:txBody>
          <a:bodyPr/>
          <a:lstStyle/>
          <a:p>
            <a:r>
              <a:rPr lang="fa-IR" dirty="0" smtClean="0"/>
              <a:t>توصیف های سطح بالا:</a:t>
            </a:r>
          </a:p>
          <a:p>
            <a:pPr lvl="1"/>
            <a:r>
              <a:rPr lang="en-US" dirty="0" smtClean="0"/>
              <a:t>C/C++</a:t>
            </a:r>
          </a:p>
          <a:p>
            <a:pPr lvl="2"/>
            <a:r>
              <a:rPr lang="fa-IR" dirty="0" smtClean="0"/>
              <a:t>محدودیت های توصیف سخت افزار (همروندی)</a:t>
            </a:r>
          </a:p>
          <a:p>
            <a:pPr lvl="2"/>
            <a:r>
              <a:rPr lang="fa-IR" dirty="0" smtClean="0"/>
              <a:t>سنتزناپذیری برخی از ساختارها</a:t>
            </a:r>
            <a:endParaRPr lang="en-US" dirty="0" smtClean="0"/>
          </a:p>
          <a:p>
            <a:pPr lvl="1"/>
            <a:r>
              <a:rPr lang="en-US" dirty="0" err="1" smtClean="0"/>
              <a:t>SystemC</a:t>
            </a:r>
            <a:endParaRPr lang="fa-IR" dirty="0" smtClean="0"/>
          </a:p>
          <a:p>
            <a:pPr lvl="2"/>
            <a:r>
              <a:rPr lang="fa-IR" dirty="0" smtClean="0"/>
              <a:t>مبتنی بر </a:t>
            </a:r>
            <a:r>
              <a:rPr lang="en-US" dirty="0" smtClean="0"/>
              <a:t>C</a:t>
            </a:r>
            <a:endParaRPr lang="fa-IR" dirty="0" smtClean="0"/>
          </a:p>
          <a:p>
            <a:pPr lvl="2"/>
            <a:r>
              <a:rPr lang="fa-IR" dirty="0" smtClean="0"/>
              <a:t>امکان توصیف همروندی</a:t>
            </a:r>
            <a:endParaRPr lang="en-US" dirty="0" smtClean="0"/>
          </a:p>
          <a:p>
            <a:pPr lvl="1"/>
            <a:r>
              <a:rPr lang="en-US" dirty="0" err="1" smtClean="0"/>
              <a:t>OpenCL</a:t>
            </a:r>
            <a:endParaRPr lang="fa-IR" dirty="0" smtClean="0"/>
          </a:p>
          <a:p>
            <a:pPr lvl="2"/>
            <a:r>
              <a:rPr lang="fa-IR" dirty="0" smtClean="0"/>
              <a:t>ابتدا برای </a:t>
            </a:r>
            <a:r>
              <a:rPr lang="en-US" dirty="0" smtClean="0"/>
              <a:t>GPU</a:t>
            </a:r>
            <a:r>
              <a:rPr lang="fa-IR" dirty="0" smtClean="0"/>
              <a:t>، اخیرا در ابزارهای </a:t>
            </a:r>
            <a:r>
              <a:rPr lang="en-US" dirty="0" smtClean="0"/>
              <a:t>FPGA</a:t>
            </a:r>
          </a:p>
          <a:p>
            <a:pPr lvl="1"/>
            <a:r>
              <a:rPr lang="en-US" dirty="0" smtClean="0"/>
              <a:t>Simulink</a:t>
            </a:r>
            <a:r>
              <a:rPr lang="fa-IR" dirty="0" smtClean="0"/>
              <a:t> و </a:t>
            </a:r>
            <a:r>
              <a:rPr lang="en-US" dirty="0" smtClean="0"/>
              <a:t>MATLAB</a:t>
            </a:r>
          </a:p>
          <a:p>
            <a:pPr lvl="2"/>
            <a:r>
              <a:rPr lang="fa-IR" dirty="0" smtClean="0"/>
              <a:t>برای پردازش سیگنال دیجیتال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964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مزایا و معایب طراحی و سنتز 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80728"/>
            <a:ext cx="7772400" cy="4648200"/>
          </a:xfrm>
        </p:spPr>
        <p:txBody>
          <a:bodyPr/>
          <a:lstStyle/>
          <a:p>
            <a:r>
              <a:rPr lang="fa-IR" dirty="0" smtClean="0"/>
              <a:t>مزایا:</a:t>
            </a:r>
          </a:p>
          <a:p>
            <a:pPr lvl="1"/>
            <a:r>
              <a:rPr lang="fa-IR" dirty="0" smtClean="0"/>
              <a:t>سهولت </a:t>
            </a:r>
            <a:r>
              <a:rPr lang="fa-IR" smtClean="0"/>
              <a:t>طراحی سیستم‌های </a:t>
            </a:r>
            <a:r>
              <a:rPr lang="fa-IR" dirty="0" smtClean="0"/>
              <a:t>پیچیده</a:t>
            </a:r>
          </a:p>
          <a:p>
            <a:pPr lvl="2"/>
            <a:r>
              <a:rPr lang="fa-IR" smtClean="0"/>
              <a:t> توصیف </a:t>
            </a:r>
            <a:r>
              <a:rPr lang="fa-IR" dirty="0" smtClean="0"/>
              <a:t>عملیات در سطح بالا و تمرکز بیشتر بر نوآوری سطح بالا</a:t>
            </a:r>
          </a:p>
          <a:p>
            <a:pPr lvl="2"/>
            <a:endParaRPr lang="fa-IR" dirty="0" smtClean="0"/>
          </a:p>
          <a:p>
            <a:pPr lvl="1"/>
            <a:r>
              <a:rPr lang="fa-IR" smtClean="0"/>
              <a:t>سهولت درستی‌سنجی و اشکال‌زدایی</a:t>
            </a:r>
            <a:endParaRPr lang="fa-IR" dirty="0" smtClean="0"/>
          </a:p>
          <a:p>
            <a:pPr lvl="2"/>
            <a:r>
              <a:rPr lang="fa-IR" smtClean="0"/>
              <a:t> جزئیات </a:t>
            </a:r>
            <a:r>
              <a:rPr lang="fa-IR" dirty="0" smtClean="0"/>
              <a:t>بسیار کمتر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47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مزایا و معایب طراحی و سنتز 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80728"/>
            <a:ext cx="7772400" cy="4648200"/>
          </a:xfrm>
        </p:spPr>
        <p:txBody>
          <a:bodyPr/>
          <a:lstStyle/>
          <a:p>
            <a:r>
              <a:rPr lang="fa-IR" dirty="0" smtClean="0"/>
              <a:t>معایب:</a:t>
            </a:r>
          </a:p>
          <a:p>
            <a:pPr lvl="1"/>
            <a:r>
              <a:rPr lang="fa-IR" dirty="0" smtClean="0"/>
              <a:t>کیفیت پایین نتایج سنتز (نسبت به طراحی </a:t>
            </a:r>
            <a:r>
              <a:rPr lang="en-US" sz="2400" dirty="0" smtClean="0"/>
              <a:t>RTL</a:t>
            </a:r>
            <a:r>
              <a:rPr lang="fa-IR" dirty="0" smtClean="0"/>
              <a:t>)</a:t>
            </a:r>
          </a:p>
          <a:p>
            <a:pPr lvl="2"/>
            <a:endParaRPr lang="fa-IR" dirty="0"/>
          </a:p>
          <a:p>
            <a:r>
              <a:rPr lang="fa-IR" dirty="0" smtClean="0"/>
              <a:t>ترکیب دو روش:</a:t>
            </a:r>
          </a:p>
          <a:p>
            <a:pPr marL="457200" lvl="1" indent="0">
              <a:buNone/>
            </a:pPr>
            <a:r>
              <a:rPr lang="fa-IR" dirty="0" smtClean="0"/>
              <a:t>1) توصیف سطح بالا و کاوش فضای طراحی</a:t>
            </a:r>
          </a:p>
          <a:p>
            <a:pPr lvl="2"/>
            <a:r>
              <a:rPr lang="fa-IR" dirty="0" smtClean="0"/>
              <a:t>برای کیفیت مطلوب </a:t>
            </a:r>
            <a:r>
              <a:rPr lang="fa-IR" dirty="0" smtClean="0">
                <a:sym typeface="Wingdings" panose="05000000000000000000" pitchFamily="2" charset="2"/>
              </a:rPr>
              <a:t> طراحی در سطح </a:t>
            </a:r>
            <a:r>
              <a:rPr lang="en-US" dirty="0" smtClean="0">
                <a:sym typeface="Wingdings" panose="05000000000000000000" pitchFamily="2" charset="2"/>
              </a:rPr>
              <a:t>RTL</a:t>
            </a:r>
            <a:endParaRPr lang="fa-IR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fa-IR" dirty="0" smtClean="0">
                <a:sym typeface="Wingdings" panose="05000000000000000000" pitchFamily="2" charset="2"/>
              </a:rPr>
              <a:t>2</a:t>
            </a:r>
            <a:r>
              <a:rPr lang="fa-IR" smtClean="0">
                <a:sym typeface="Wingdings" panose="05000000000000000000" pitchFamily="2" charset="2"/>
              </a:rPr>
              <a:t>) بخش‌های </a:t>
            </a:r>
            <a:r>
              <a:rPr lang="fa-IR" dirty="0" smtClean="0">
                <a:sym typeface="Wingdings" panose="05000000000000000000" pitchFamily="2" charset="2"/>
              </a:rPr>
              <a:t>بحرانی (بسیار مؤثر در سرعت): </a:t>
            </a:r>
            <a:r>
              <a:rPr lang="en-US" sz="2400" dirty="0" smtClean="0">
                <a:sym typeface="Wingdings" panose="05000000000000000000" pitchFamily="2" charset="2"/>
              </a:rPr>
              <a:t>RTL</a:t>
            </a:r>
            <a:endParaRPr lang="fa-IR" sz="2400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fa-IR" sz="2400" dirty="0">
                <a:sym typeface="Wingdings" panose="05000000000000000000" pitchFamily="2" charset="2"/>
              </a:rPr>
              <a:t> </a:t>
            </a:r>
            <a:r>
              <a:rPr lang="fa-IR" sz="2400" dirty="0" smtClean="0">
                <a:sym typeface="Wingdings" panose="05000000000000000000" pitchFamily="2" charset="2"/>
              </a:rPr>
              <a:t>   </a:t>
            </a:r>
            <a:r>
              <a:rPr lang="fa-IR" smtClean="0">
                <a:sym typeface="Wingdings" panose="05000000000000000000" pitchFamily="2" charset="2"/>
              </a:rPr>
              <a:t>سایر بخش‌ها</a:t>
            </a:r>
            <a:r>
              <a:rPr lang="fa-IR" dirty="0" smtClean="0">
                <a:sym typeface="Wingdings" panose="05000000000000000000" pitchFamily="2" charset="2"/>
              </a:rPr>
              <a:t>: </a:t>
            </a:r>
            <a:r>
              <a:rPr lang="en-US" sz="2400" dirty="0" smtClean="0">
                <a:sym typeface="Wingdings" panose="05000000000000000000" pitchFamily="2" charset="2"/>
              </a:rPr>
              <a:t>HLS</a:t>
            </a:r>
            <a:endParaRPr lang="fa-IR" dirty="0" smtClean="0">
              <a:sym typeface="Wingdings" panose="05000000000000000000" pitchFamily="2" charset="2"/>
            </a:endParaRPr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002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عملیات </a:t>
            </a:r>
            <a:r>
              <a:rPr lang="fa-IR" dirty="0"/>
              <a:t>سنتز 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764704"/>
            <a:ext cx="7772400" cy="5760640"/>
          </a:xfrm>
        </p:spPr>
        <p:txBody>
          <a:bodyPr/>
          <a:lstStyle/>
          <a:p>
            <a:r>
              <a:rPr lang="fa-IR" dirty="0" smtClean="0"/>
              <a:t>عملیات سنتز:</a:t>
            </a:r>
          </a:p>
          <a:p>
            <a:pPr lvl="1"/>
            <a:r>
              <a:rPr lang="fa-IR" dirty="0" smtClean="0"/>
              <a:t>سنتز توابع </a:t>
            </a:r>
            <a:r>
              <a:rPr lang="en-US" sz="2400" dirty="0" smtClean="0"/>
              <a:t>C/C++</a:t>
            </a:r>
            <a:r>
              <a:rPr lang="fa-IR" sz="2400" dirty="0" smtClean="0"/>
              <a:t> </a:t>
            </a:r>
            <a:r>
              <a:rPr lang="fa-IR" smtClean="0"/>
              <a:t>از تابع درون </a:t>
            </a:r>
            <a:r>
              <a:rPr lang="en-US" sz="2400" smtClean="0"/>
              <a:t>main</a:t>
            </a:r>
            <a:r>
              <a:rPr lang="en-US" sz="2400" dirty="0" smtClean="0"/>
              <a:t>()</a:t>
            </a:r>
            <a:r>
              <a:rPr lang="fa-IR" sz="2400" dirty="0" smtClean="0"/>
              <a:t> </a:t>
            </a:r>
            <a:r>
              <a:rPr lang="fa-IR" dirty="0" smtClean="0"/>
              <a:t>به پایین</a:t>
            </a:r>
          </a:p>
          <a:p>
            <a:pPr lvl="2">
              <a:buFont typeface="+mj-lt"/>
              <a:buAutoNum type="arabicPeriod"/>
            </a:pPr>
            <a:r>
              <a:rPr lang="fa-IR" sz="2800" smtClean="0"/>
              <a:t> سنتز </a:t>
            </a:r>
            <a:r>
              <a:rPr lang="fa-IR" sz="2800" dirty="0"/>
              <a:t>الگوریتم (بخش عمدة عملیات </a:t>
            </a:r>
            <a:r>
              <a:rPr lang="fa-IR" sz="2800" dirty="0" smtClean="0"/>
              <a:t>سنتز):</a:t>
            </a:r>
          </a:p>
          <a:p>
            <a:pPr lvl="3"/>
            <a:r>
              <a:rPr lang="fa-IR" sz="2400" dirty="0" smtClean="0">
                <a:sym typeface="Wingdings" panose="05000000000000000000" pitchFamily="2" charset="2"/>
              </a:rPr>
              <a:t>سنتز عملیات درون تابع</a:t>
            </a:r>
          </a:p>
          <a:p>
            <a:pPr lvl="3"/>
            <a:r>
              <a:rPr lang="fa-IR" sz="2400" dirty="0"/>
              <a:t>شناسایی </a:t>
            </a:r>
            <a:r>
              <a:rPr lang="fa-IR" sz="2400" dirty="0" smtClean="0"/>
              <a:t>ساختارهای </a:t>
            </a:r>
            <a:r>
              <a:rPr lang="fa-IR" sz="2400" dirty="0"/>
              <a:t>زبان سطح </a:t>
            </a:r>
            <a:r>
              <a:rPr lang="fa-IR" sz="2400" dirty="0" smtClean="0"/>
              <a:t>بالا</a:t>
            </a:r>
          </a:p>
          <a:p>
            <a:pPr lvl="3"/>
            <a:r>
              <a:rPr lang="fa-IR" sz="2400" dirty="0" smtClean="0"/>
              <a:t>تولید اجزای </a:t>
            </a:r>
            <a:r>
              <a:rPr lang="fa-IR" sz="2400" dirty="0"/>
              <a:t>سخت­افزاری لازم برای توصیف </a:t>
            </a:r>
            <a:r>
              <a:rPr lang="en-US" sz="1800" dirty="0" smtClean="0"/>
              <a:t>RTL</a:t>
            </a:r>
            <a:endParaRPr lang="fa-IR" sz="2400" dirty="0" smtClean="0"/>
          </a:p>
          <a:p>
            <a:pPr lvl="2">
              <a:buFont typeface="+mj-lt"/>
              <a:buAutoNum type="arabicPeriod"/>
            </a:pPr>
            <a:r>
              <a:rPr lang="fa-IR" sz="2800" smtClean="0">
                <a:sym typeface="Wingdings" panose="05000000000000000000" pitchFamily="2" charset="2"/>
              </a:rPr>
              <a:t> سنتز </a:t>
            </a:r>
            <a:r>
              <a:rPr lang="fa-IR" sz="2800" dirty="0" smtClean="0">
                <a:sym typeface="Wingdings" panose="05000000000000000000" pitchFamily="2" charset="2"/>
              </a:rPr>
              <a:t>مدار واسط</a:t>
            </a:r>
          </a:p>
          <a:p>
            <a:pPr lvl="3"/>
            <a:r>
              <a:rPr lang="fa-IR" sz="2400" dirty="0">
                <a:sym typeface="Wingdings" panose="05000000000000000000" pitchFamily="2" charset="2"/>
              </a:rPr>
              <a:t>سنتز </a:t>
            </a:r>
            <a:r>
              <a:rPr lang="fa-IR" sz="2400" dirty="0"/>
              <a:t>پارامترهای تابع به درگاه­ها و مدارهای واسط (که ارتباط مدار تابع را با سایر بخش­های سیستم فراهم می­کند)</a:t>
            </a:r>
          </a:p>
          <a:p>
            <a:pPr lvl="3"/>
            <a:r>
              <a:rPr lang="fa-IR" sz="2400" dirty="0"/>
              <a:t>مدار ساده: اتصال سیم، درگاه و عناصر حافظه</a:t>
            </a:r>
          </a:p>
          <a:p>
            <a:pPr lvl="3"/>
            <a:r>
              <a:rPr lang="fa-IR" sz="2400" dirty="0"/>
              <a:t>مدار پیچیده: پروتکل­های ارتباطی</a:t>
            </a:r>
            <a:endParaRPr lang="fa-IR" sz="2400" dirty="0">
              <a:sym typeface="Wingdings" panose="05000000000000000000" pitchFamily="2" charset="2"/>
            </a:endParaRPr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653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fa-IR" dirty="0"/>
              <a:t>مراحل سنتز سطح بالا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816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678" y="824304"/>
            <a:ext cx="7772400" cy="4648200"/>
          </a:xfrm>
        </p:spPr>
        <p:txBody>
          <a:bodyPr/>
          <a:lstStyle/>
          <a:p>
            <a:r>
              <a:rPr lang="fa-IR" dirty="0" smtClean="0"/>
              <a:t>مراحل سنتز:</a:t>
            </a:r>
          </a:p>
          <a:p>
            <a:r>
              <a:rPr lang="fa-IR" dirty="0" smtClean="0"/>
              <a:t>هدف:</a:t>
            </a:r>
          </a:p>
          <a:p>
            <a:pPr lvl="1"/>
            <a:r>
              <a:rPr lang="fa-IR" dirty="0" smtClean="0"/>
              <a:t>دید عمیق به طراحان سطح بالا</a:t>
            </a:r>
          </a:p>
          <a:p>
            <a:pPr lvl="1"/>
            <a:r>
              <a:rPr lang="fa-IR" dirty="0" smtClean="0"/>
              <a:t>روش سیستماتیک برای طراحان </a:t>
            </a:r>
            <a:r>
              <a:rPr lang="en-US" dirty="0" smtClean="0"/>
              <a:t>RTL</a:t>
            </a:r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48072"/>
            <a:ext cx="15541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8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9832" y="824304"/>
            <a:ext cx="5439246" cy="4648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a-IR" dirty="0" smtClean="0"/>
              <a:t>زمانبندی (</a:t>
            </a:r>
            <a:r>
              <a:rPr lang="en-US" sz="2800" dirty="0" smtClean="0"/>
              <a:t>Scheduling</a:t>
            </a:r>
            <a:r>
              <a:rPr lang="fa-IR" dirty="0" smtClean="0"/>
              <a:t>):</a:t>
            </a:r>
          </a:p>
          <a:p>
            <a:pPr lvl="1"/>
            <a:r>
              <a:rPr lang="fa-IR" smtClean="0"/>
              <a:t>مشخص می‌کند در هر کلاک چه عملیاتی انجام شود.</a:t>
            </a:r>
            <a:endParaRPr lang="fa-IR" dirty="0" smtClean="0"/>
          </a:p>
          <a:p>
            <a:pPr lvl="2"/>
            <a:r>
              <a:rPr lang="fa-IR" smtClean="0"/>
              <a:t> تولید </a:t>
            </a:r>
            <a:r>
              <a:rPr lang="fa-IR" dirty="0" smtClean="0"/>
              <a:t>گراف زمانبندی</a:t>
            </a:r>
          </a:p>
          <a:p>
            <a:pPr lvl="2"/>
            <a:endParaRPr lang="fa-IR" dirty="0" smtClean="0"/>
          </a:p>
          <a:p>
            <a:pPr lvl="1"/>
            <a:r>
              <a:rPr lang="fa-IR" dirty="0" smtClean="0"/>
              <a:t>اگر عملی در یک پریود کلاک قابل انجام نباشد</a:t>
            </a:r>
          </a:p>
          <a:p>
            <a:pPr lvl="2"/>
            <a:r>
              <a:rPr lang="fa-IR" dirty="0" smtClean="0"/>
              <a:t>افزایش پریود کلاک یا </a:t>
            </a:r>
          </a:p>
          <a:p>
            <a:pPr lvl="2"/>
            <a:r>
              <a:rPr lang="fa-IR" dirty="0" smtClean="0"/>
              <a:t>زمانبندی عمل در چند کلاک</a:t>
            </a:r>
          </a:p>
          <a:p>
            <a:pPr lvl="1"/>
            <a:r>
              <a:rPr lang="fa-IR" dirty="0" smtClean="0"/>
              <a:t>اگر چند عمل مستقلند</a:t>
            </a:r>
          </a:p>
          <a:p>
            <a:pPr lvl="2"/>
            <a:r>
              <a:rPr lang="fa-IR" dirty="0" smtClean="0"/>
              <a:t>زمانبندی در یک کلاک</a:t>
            </a:r>
          </a:p>
          <a:p>
            <a:pPr lvl="1"/>
            <a:endParaRPr lang="fa-IR" dirty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48072"/>
            <a:ext cx="15541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57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9832" y="824304"/>
            <a:ext cx="5439246" cy="46482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fa-IR" dirty="0" smtClean="0"/>
              <a:t>تخصیص (</a:t>
            </a:r>
            <a:r>
              <a:rPr lang="en-US" sz="2800" dirty="0" smtClean="0"/>
              <a:t>Allocation</a:t>
            </a:r>
            <a:r>
              <a:rPr lang="fa-IR" dirty="0" smtClean="0"/>
              <a:t>):</a:t>
            </a:r>
          </a:p>
          <a:p>
            <a:pPr lvl="1"/>
            <a:r>
              <a:rPr lang="fa-IR" dirty="0" smtClean="0"/>
              <a:t>تعیین </a:t>
            </a:r>
            <a:r>
              <a:rPr lang="fa-IR" dirty="0"/>
              <a:t>مجموعة منابع سخت­افزاری </a:t>
            </a:r>
            <a:r>
              <a:rPr lang="fa-IR" dirty="0" smtClean="0"/>
              <a:t>لازم</a:t>
            </a:r>
          </a:p>
          <a:p>
            <a:pPr lvl="1"/>
            <a:r>
              <a:rPr lang="fa-IR" dirty="0"/>
              <a:t>تعیین </a:t>
            </a:r>
            <a:r>
              <a:rPr lang="fa-IR" dirty="0" smtClean="0"/>
              <a:t>ثبات­های </a:t>
            </a:r>
            <a:r>
              <a:rPr lang="fa-IR" dirty="0"/>
              <a:t>لازم برای نگهداری عملوندها </a:t>
            </a:r>
            <a:endParaRPr lang="fa-IR" dirty="0" smtClean="0"/>
          </a:p>
          <a:p>
            <a:r>
              <a:rPr lang="fa-IR" dirty="0" smtClean="0"/>
              <a:t>مقیدسازی (</a:t>
            </a:r>
            <a:r>
              <a:rPr lang="en-US" sz="2800" dirty="0" smtClean="0"/>
              <a:t>Binding</a:t>
            </a:r>
            <a:r>
              <a:rPr lang="fa-IR" dirty="0" smtClean="0"/>
              <a:t>):</a:t>
            </a:r>
          </a:p>
          <a:p>
            <a:pPr lvl="1"/>
            <a:r>
              <a:rPr lang="fa-IR" dirty="0"/>
              <a:t>کدام عمل در توصیف سطح بالا توسط کدام </a:t>
            </a:r>
            <a:r>
              <a:rPr lang="fa-IR" dirty="0" smtClean="0"/>
              <a:t>سخت­افزار اجرا شود؟</a:t>
            </a:r>
          </a:p>
          <a:p>
            <a:pPr lvl="2"/>
            <a:r>
              <a:rPr lang="fa-IR" dirty="0" smtClean="0"/>
              <a:t>مثال: اگر </a:t>
            </a:r>
            <a:r>
              <a:rPr lang="fa-IR" dirty="0"/>
              <a:t>چند </a:t>
            </a:r>
            <a:r>
              <a:rPr lang="fa-IR" dirty="0" smtClean="0"/>
              <a:t>جمع </a:t>
            </a:r>
            <a:r>
              <a:rPr lang="fa-IR" dirty="0"/>
              <a:t>در </a:t>
            </a:r>
            <a:r>
              <a:rPr lang="fa-IR" dirty="0" smtClean="0"/>
              <a:t>توصیف باشد، </a:t>
            </a:r>
            <a:r>
              <a:rPr lang="fa-IR" dirty="0"/>
              <a:t>بنا بر نتیجة </a:t>
            </a:r>
            <a:r>
              <a:rPr lang="fa-IR" dirty="0" smtClean="0"/>
              <a:t>زمانبندی</a:t>
            </a:r>
          </a:p>
          <a:p>
            <a:pPr lvl="3"/>
            <a:r>
              <a:rPr lang="fa-IR" dirty="0" smtClean="0"/>
              <a:t>ممکن </a:t>
            </a:r>
            <a:r>
              <a:rPr lang="fa-IR" dirty="0"/>
              <a:t>است برای هر </a:t>
            </a:r>
            <a:r>
              <a:rPr lang="fa-IR" dirty="0" smtClean="0"/>
              <a:t>جمع</a:t>
            </a:r>
            <a:r>
              <a:rPr lang="fa-IR" dirty="0"/>
              <a:t>، یک جمع­کننده تخصیص یابد و یا </a:t>
            </a:r>
            <a:endParaRPr lang="fa-IR" dirty="0" smtClean="0"/>
          </a:p>
          <a:p>
            <a:pPr lvl="3"/>
            <a:r>
              <a:rPr lang="fa-IR" dirty="0" smtClean="0"/>
              <a:t>تنها </a:t>
            </a:r>
            <a:r>
              <a:rPr lang="fa-IR" dirty="0"/>
              <a:t>یک جمع­کننده برای انجام همة اعمال </a:t>
            </a:r>
            <a:r>
              <a:rPr lang="fa-IR" dirty="0" smtClean="0"/>
              <a:t>جمع</a:t>
            </a:r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48072"/>
            <a:ext cx="15541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268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9832" y="824304"/>
            <a:ext cx="5439246" cy="46482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fa-IR" dirty="0" smtClean="0"/>
              <a:t>تخصیص و</a:t>
            </a:r>
            <a:r>
              <a:rPr lang="fa-IR" dirty="0"/>
              <a:t> </a:t>
            </a:r>
            <a:r>
              <a:rPr lang="fa-IR" dirty="0" smtClean="0"/>
              <a:t>مقیدسازی:</a:t>
            </a:r>
          </a:p>
          <a:p>
            <a:pPr lvl="1"/>
            <a:r>
              <a:rPr lang="fa-IR" dirty="0" smtClean="0"/>
              <a:t>اگر عمل در </a:t>
            </a:r>
            <a:r>
              <a:rPr lang="en-US" sz="2400" dirty="0" smtClean="0"/>
              <a:t>RTL</a:t>
            </a:r>
            <a:r>
              <a:rPr lang="fa-IR" dirty="0" smtClean="0"/>
              <a:t> قابل سنتز نیست (مثل جذر):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 </a:t>
            </a:r>
            <a:r>
              <a:rPr lang="fa-IR" dirty="0" smtClean="0"/>
              <a:t>استفاده از </a:t>
            </a:r>
            <a:r>
              <a:rPr lang="fa-IR" dirty="0"/>
              <a:t>کتابخانه­های هسته­های </a:t>
            </a:r>
            <a:r>
              <a:rPr lang="fa-IR" dirty="0" smtClean="0"/>
              <a:t>آماده و ابزارهای </a:t>
            </a:r>
            <a:r>
              <a:rPr lang="en-US" dirty="0" smtClean="0"/>
              <a:t>core generator</a:t>
            </a:r>
            <a:r>
              <a:rPr lang="fa-IR" dirty="0" smtClean="0"/>
              <a:t> توسط ابزار </a:t>
            </a:r>
            <a:r>
              <a:rPr lang="en-US" dirty="0" smtClean="0"/>
              <a:t>HLS</a:t>
            </a:r>
            <a:endParaRPr lang="fa-IR" dirty="0" smtClean="0"/>
          </a:p>
          <a:p>
            <a:pPr lvl="3"/>
            <a:r>
              <a:rPr lang="en-US" dirty="0" smtClean="0"/>
              <a:t>CORDIC</a:t>
            </a:r>
            <a:r>
              <a:rPr lang="fa-IR" dirty="0"/>
              <a:t> </a:t>
            </a:r>
            <a:endParaRPr lang="fa-IR" dirty="0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48072"/>
            <a:ext cx="15541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050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9832" y="824304"/>
            <a:ext cx="5439246" cy="46482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fa-IR" dirty="0" smtClean="0"/>
              <a:t>سنتز کنترل کننده:</a:t>
            </a:r>
          </a:p>
          <a:p>
            <a:pPr lvl="1"/>
            <a:r>
              <a:rPr lang="fa-IR" dirty="0" smtClean="0"/>
              <a:t>تولید </a:t>
            </a:r>
            <a:r>
              <a:rPr lang="en-US" sz="2400" dirty="0" smtClean="0"/>
              <a:t>FSM</a:t>
            </a:r>
            <a:r>
              <a:rPr lang="fa-IR" dirty="0" smtClean="0"/>
              <a:t> برای </a:t>
            </a:r>
            <a:r>
              <a:rPr lang="fa-IR" smtClean="0"/>
              <a:t>ایجاد سیگنال‌های </a:t>
            </a:r>
            <a:r>
              <a:rPr lang="fa-IR" dirty="0" smtClean="0"/>
              <a:t>کنترلی</a:t>
            </a:r>
          </a:p>
          <a:p>
            <a:pPr lvl="2"/>
            <a:r>
              <a:rPr lang="fa-IR" dirty="0" smtClean="0"/>
              <a:t>برای فراهم کردن زمانبندی </a:t>
            </a:r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48072"/>
            <a:ext cx="15541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92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بالا: مثال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18" y="653008"/>
            <a:ext cx="5439246" cy="4648200"/>
          </a:xfrm>
        </p:spPr>
        <p:txBody>
          <a:bodyPr/>
          <a:lstStyle/>
          <a:p>
            <a:r>
              <a:rPr lang="fa-IR" dirty="0" smtClean="0"/>
              <a:t>سنتز ب.م.م:</a:t>
            </a:r>
          </a:p>
          <a:p>
            <a:pPr lvl="1"/>
            <a:r>
              <a:rPr lang="fa-IR" dirty="0" smtClean="0"/>
              <a:t>تولید گراف </a:t>
            </a:r>
            <a:r>
              <a:rPr lang="en-US" dirty="0" err="1" smtClean="0"/>
              <a:t>FSMD</a:t>
            </a:r>
            <a:endParaRPr lang="fa-IR" dirty="0" smtClean="0"/>
          </a:p>
          <a:p>
            <a:pPr lvl="2"/>
            <a:r>
              <a:rPr lang="fa-IR" dirty="0" smtClean="0"/>
              <a:t>با ساختارهای از پیش تعریف شده</a:t>
            </a:r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395536" y="1196752"/>
            <a:ext cx="33843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gcd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(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x, </a:t>
            </a:r>
            <a:r>
              <a:rPr lang="en-US" sz="16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y)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fin = false;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while (!fin)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{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if (x &gt; y)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x = x – y;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else if (x &lt; y)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y = y – x;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else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ar-SA" sz="1600" b="1" dirty="0"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fin = true;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   return x;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Courier New" panose="02070309020205020404" pitchFamily="49" charset="0"/>
                <a:ea typeface="Calibri" panose="020F0502020204030204" pitchFamily="34" charset="0"/>
              </a:rPr>
              <a:t>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218" y="2204864"/>
            <a:ext cx="5314182" cy="40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6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بالا: مثال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9832" y="824304"/>
            <a:ext cx="5439246" cy="46482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fa-IR" dirty="0" smtClean="0"/>
              <a:t>الگوهای حلقه و </a:t>
            </a:r>
            <a:r>
              <a:rPr lang="en-US" dirty="0" smtClean="0"/>
              <a:t>if</a:t>
            </a:r>
            <a:r>
              <a:rPr lang="fa-IR" dirty="0" smtClean="0"/>
              <a:t>:</a:t>
            </a:r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98" y="1340768"/>
            <a:ext cx="6230159" cy="24482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829539"/>
            <a:ext cx="5944861" cy="255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8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0" y="148952"/>
            <a:ext cx="5439246" cy="4648200"/>
          </a:xfrm>
        </p:spPr>
        <p:txBody>
          <a:bodyPr/>
          <a:lstStyle/>
          <a:p>
            <a:endParaRPr lang="fa-IR" dirty="0" smtClean="0"/>
          </a:p>
          <a:p>
            <a:pPr lvl="1"/>
            <a:r>
              <a:rPr lang="fa-IR" dirty="0" smtClean="0"/>
              <a:t>تخصیص و مقیدسازی</a:t>
            </a:r>
          </a:p>
          <a:p>
            <a:pPr lvl="2"/>
            <a:r>
              <a:rPr lang="fa-IR" dirty="0" smtClean="0"/>
              <a:t>عملگرها</a:t>
            </a:r>
          </a:p>
          <a:p>
            <a:pPr lvl="2"/>
            <a:r>
              <a:rPr lang="fa-IR" dirty="0" smtClean="0"/>
              <a:t>ثبات ها</a:t>
            </a:r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254844"/>
              </p:ext>
            </p:extLst>
          </p:nvPr>
        </p:nvGraphicFramePr>
        <p:xfrm>
          <a:off x="2913003" y="2276872"/>
          <a:ext cx="5835461" cy="396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5" name="Visio" r:id="rId3" imgW="18707129" imgH="12696857" progId="Visio.Drawing.11">
                  <p:embed/>
                </p:oleObj>
              </mc:Choice>
              <mc:Fallback>
                <p:oleObj name="Visio" r:id="rId3" imgW="18707129" imgH="12696857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3003" y="2276872"/>
                        <a:ext cx="5835461" cy="3960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95536" y="1196752"/>
            <a:ext cx="316835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gcd</a:t>
            </a: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x, </a:t>
            </a:r>
            <a:r>
              <a:rPr lang="en-US" sz="14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int</a:t>
            </a: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y)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{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fin = false;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while (!fin)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{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if (x &gt; y)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x = x – y;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else if (x &lt; y)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   y = y – x;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   else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ar-SA" sz="1400" b="1" dirty="0"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fin = true;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}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   return x;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</a:rPr>
              <a:t>}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21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998" y="977092"/>
            <a:ext cx="3614135" cy="27399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مراحل سنتز </a:t>
            </a:r>
            <a:r>
              <a:rPr lang="fa-IR" dirty="0"/>
              <a:t>سطح </a:t>
            </a:r>
            <a:r>
              <a:rPr lang="fa-IR" dirty="0" smtClean="0"/>
              <a:t>بالا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8640"/>
            <a:ext cx="6194822" cy="2415952"/>
          </a:xfrm>
        </p:spPr>
        <p:txBody>
          <a:bodyPr/>
          <a:lstStyle/>
          <a:p>
            <a:endParaRPr lang="fa-IR" dirty="0" smtClean="0"/>
          </a:p>
          <a:p>
            <a:pPr lvl="1"/>
            <a:r>
              <a:rPr lang="fa-IR" dirty="0" smtClean="0"/>
              <a:t>سنتز کنترل کننده بر اساس گراف </a:t>
            </a:r>
            <a:r>
              <a:rPr lang="en-US" dirty="0" err="1" smtClean="0"/>
              <a:t>FSMD</a:t>
            </a:r>
            <a:endParaRPr lang="fa-IR" dirty="0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227442"/>
              </p:ext>
            </p:extLst>
          </p:nvPr>
        </p:nvGraphicFramePr>
        <p:xfrm>
          <a:off x="693922" y="1268759"/>
          <a:ext cx="5534262" cy="5085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9" name="Visio" r:id="rId4" imgW="18068874" imgH="16602075" progId="Visio.Drawing.11">
                  <p:embed/>
                </p:oleObj>
              </mc:Choice>
              <mc:Fallback>
                <p:oleObj name="Visio" r:id="rId4" imgW="18068874" imgH="16602075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3922" y="1268759"/>
                        <a:ext cx="5534262" cy="5085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94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اشتراک منابع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912" y="581000"/>
            <a:ext cx="5511254" cy="2415952"/>
          </a:xfrm>
        </p:spPr>
        <p:txBody>
          <a:bodyPr/>
          <a:lstStyle/>
          <a:p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753856"/>
              </p:ext>
            </p:extLst>
          </p:nvPr>
        </p:nvGraphicFramePr>
        <p:xfrm>
          <a:off x="5220072" y="2454266"/>
          <a:ext cx="3356198" cy="2630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4" name="Visio" r:id="rId3" imgW="4800600" imgH="3771755" progId="Visio.Drawing.15">
                  <p:embed/>
                </p:oleObj>
              </mc:Choice>
              <mc:Fallback>
                <p:oleObj name="Visio" r:id="rId3" imgW="4800600" imgH="3771755" progId="Visio.Drawing.1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2454266"/>
                        <a:ext cx="3356198" cy="26309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566003"/>
              </p:ext>
            </p:extLst>
          </p:nvPr>
        </p:nvGraphicFramePr>
        <p:xfrm>
          <a:off x="399827" y="1570293"/>
          <a:ext cx="3672408" cy="3442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5" name="Visio" r:id="rId5" imgW="5448286" imgH="5114828" progId="Visio.Drawing.11">
                  <p:embed/>
                </p:oleObj>
              </mc:Choice>
              <mc:Fallback>
                <p:oleObj name="Visio" r:id="rId5" imgW="5448286" imgH="511482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27" y="1570293"/>
                        <a:ext cx="3672408" cy="34428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2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زمان</a:t>
            </a:r>
            <a:r>
              <a:rPr lang="fa-IR" dirty="0"/>
              <a:t>ب</a:t>
            </a:r>
            <a:r>
              <a:rPr lang="fa-IR" dirty="0" smtClean="0"/>
              <a:t>ندی و </a:t>
            </a:r>
            <a:r>
              <a:rPr lang="en-US" dirty="0" smtClean="0"/>
              <a:t>DFG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824304"/>
            <a:ext cx="6519366" cy="4648200"/>
          </a:xfrm>
        </p:spPr>
        <p:txBody>
          <a:bodyPr/>
          <a:lstStyle/>
          <a:p>
            <a:r>
              <a:rPr lang="fa-IR" dirty="0" smtClean="0"/>
              <a:t>زمانبندی </a:t>
            </a:r>
            <a:r>
              <a:rPr lang="fa-IR" smtClean="0"/>
              <a:t>و موازی‌سازی </a:t>
            </a:r>
            <a:r>
              <a:rPr lang="fa-IR" dirty="0" smtClean="0"/>
              <a:t>عملیات:</a:t>
            </a:r>
          </a:p>
          <a:p>
            <a:pPr lvl="1"/>
            <a:r>
              <a:rPr lang="fa-IR" dirty="0" smtClean="0"/>
              <a:t>گراف جریان داده (</a:t>
            </a:r>
            <a:r>
              <a:rPr lang="en-US" sz="2400" dirty="0" smtClean="0"/>
              <a:t>Data Flow Graph</a:t>
            </a:r>
            <a:r>
              <a:rPr lang="fa-IR" dirty="0" smtClean="0"/>
              <a:t>):</a:t>
            </a:r>
          </a:p>
          <a:p>
            <a:pPr lvl="2"/>
            <a:r>
              <a:rPr lang="fa-IR" dirty="0" smtClean="0"/>
              <a:t>عملیات در چند سیکل</a:t>
            </a:r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692150" y="2670830"/>
            <a:ext cx="29437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(a</a:t>
            </a:r>
            <a:r>
              <a:rPr lang="en-US" sz="2800" b="1" i="1" baseline="30000" dirty="0"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+b</a:t>
            </a:r>
            <a:r>
              <a:rPr lang="en-US" sz="2800" b="1" i="1" baseline="30000" dirty="0"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-2ab)(a</a:t>
            </a:r>
            <a:r>
              <a:rPr lang="en-US" sz="2800" b="1" i="1" baseline="30000" dirty="0"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+b) </a:t>
            </a:r>
            <a:endParaRPr lang="en-US" sz="24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065504"/>
              </p:ext>
            </p:extLst>
          </p:nvPr>
        </p:nvGraphicFramePr>
        <p:xfrm>
          <a:off x="4498360" y="2420888"/>
          <a:ext cx="3097976" cy="3686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" name="Visio" r:id="rId3" imgW="13773280" imgH="16402050" progId="Visio.Drawing.11">
                  <p:embed/>
                </p:oleObj>
              </mc:Choice>
              <mc:Fallback>
                <p:oleObj name="Visio" r:id="rId3" imgW="13773280" imgH="1640205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360" y="2420888"/>
                        <a:ext cx="3097976" cy="36869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379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زمان</a:t>
            </a:r>
            <a:r>
              <a:rPr lang="fa-IR" dirty="0"/>
              <a:t>ب</a:t>
            </a:r>
            <a:r>
              <a:rPr lang="fa-IR" dirty="0" smtClean="0"/>
              <a:t>ندی و </a:t>
            </a:r>
            <a:r>
              <a:rPr lang="en-US" dirty="0" smtClean="0"/>
              <a:t>DFG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7864" y="824304"/>
            <a:ext cx="5151214" cy="2676704"/>
          </a:xfrm>
        </p:spPr>
        <p:txBody>
          <a:bodyPr/>
          <a:lstStyle/>
          <a:p>
            <a:r>
              <a:rPr lang="fa-IR" dirty="0" smtClean="0"/>
              <a:t>زمانبندی:</a:t>
            </a:r>
          </a:p>
          <a:p>
            <a:pPr lvl="1"/>
            <a:r>
              <a:rPr lang="fa-IR" dirty="0" smtClean="0"/>
              <a:t>دو زمانبندی مختلف:</a:t>
            </a:r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2195736" y="1007194"/>
            <a:ext cx="29437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(a</a:t>
            </a:r>
            <a:r>
              <a:rPr lang="en-US" sz="2800" b="1" i="1" baseline="30000" dirty="0"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+b</a:t>
            </a:r>
            <a:r>
              <a:rPr lang="en-US" sz="2800" b="1" i="1" baseline="30000" dirty="0"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-2ab)(a</a:t>
            </a:r>
            <a:r>
              <a:rPr lang="en-US" sz="2800" b="1" i="1" baseline="30000" dirty="0"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sz="2800" b="1" i="1" dirty="0">
                <a:ea typeface="Calibri" panose="020F0502020204030204" pitchFamily="34" charset="0"/>
                <a:cs typeface="B Nazanin" panose="00000400000000000000" pitchFamily="2" charset="-78"/>
              </a:rPr>
              <a:t>+b) </a:t>
            </a:r>
            <a:endParaRPr lang="en-US" sz="24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632093"/>
              </p:ext>
            </p:extLst>
          </p:nvPr>
        </p:nvGraphicFramePr>
        <p:xfrm>
          <a:off x="5421341" y="2060848"/>
          <a:ext cx="3073921" cy="3073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" name="Visio" r:id="rId3" imgW="16973680" imgH="17049766" progId="Visio.Drawing.11">
                  <p:embed/>
                </p:oleObj>
              </mc:Choice>
              <mc:Fallback>
                <p:oleObj name="Visio" r:id="rId3" imgW="16973680" imgH="1704976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41" y="2060848"/>
                        <a:ext cx="3073921" cy="30739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98403" y="1188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972012"/>
              </p:ext>
            </p:extLst>
          </p:nvPr>
        </p:nvGraphicFramePr>
        <p:xfrm>
          <a:off x="827584" y="1782709"/>
          <a:ext cx="2952328" cy="3755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6" name="Visio" r:id="rId5" imgW="17887863" imgH="22707568" progId="Visio.Drawing.11">
                  <p:embed/>
                </p:oleObj>
              </mc:Choice>
              <mc:Fallback>
                <p:oleObj name="Visio" r:id="rId5" imgW="17887863" imgH="2270756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782709"/>
                        <a:ext cx="2952328" cy="3755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5652120" y="5517232"/>
            <a:ext cx="3456384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 rtl="1">
              <a:spcBef>
                <a:spcPct val="20000"/>
              </a:spcBef>
            </a:pPr>
            <a:r>
              <a:rPr lang="fa-IR" sz="2400" kern="0" dirty="0" smtClean="0">
                <a:solidFill>
                  <a:srgbClr val="0000FF"/>
                </a:solidFill>
                <a:latin typeface="Arial"/>
                <a:cs typeface="B Mitra" pitchFamily="2" charset="-78"/>
              </a:rPr>
              <a:t>3 ضرب کننده + 2 جمع کننده </a:t>
            </a:r>
          </a:p>
          <a:p>
            <a:pPr lvl="1" algn="r" rtl="1">
              <a:spcBef>
                <a:spcPct val="20000"/>
              </a:spcBef>
            </a:pPr>
            <a:r>
              <a:rPr lang="fa-IR" sz="2400" kern="0" dirty="0" smtClean="0">
                <a:solidFill>
                  <a:srgbClr val="0000FF"/>
                </a:solidFill>
                <a:latin typeface="Arial"/>
                <a:cs typeface="B Mitra" pitchFamily="2" charset="-78"/>
              </a:rPr>
              <a:t>(+ 1 شیفت دهنده)</a:t>
            </a:r>
            <a:endParaRPr lang="fa-IR" sz="2400" kern="0" dirty="0">
              <a:solidFill>
                <a:srgbClr val="0000FF"/>
              </a:solidFill>
              <a:latin typeface="Arial"/>
              <a:cs typeface="B Mitra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1560" y="5445224"/>
            <a:ext cx="3672408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 rtl="1">
              <a:spcBef>
                <a:spcPct val="20000"/>
              </a:spcBef>
            </a:pPr>
            <a:r>
              <a:rPr lang="fa-IR" sz="2400" kern="0" dirty="0" smtClean="0">
                <a:solidFill>
                  <a:srgbClr val="0000FF"/>
                </a:solidFill>
                <a:latin typeface="Arial"/>
                <a:cs typeface="B Mitra" pitchFamily="2" charset="-78"/>
              </a:rPr>
              <a:t>1 ضرب کننده + 1 جمع کننده </a:t>
            </a:r>
            <a:endParaRPr lang="fa-IR" sz="2400" kern="0" dirty="0">
              <a:solidFill>
                <a:srgbClr val="0000FF"/>
              </a:solidFill>
              <a:latin typeface="Arial"/>
              <a:cs typeface="B Mitra" pitchFamily="2" charset="-78"/>
            </a:endParaRPr>
          </a:p>
          <a:p>
            <a:pPr lvl="1" algn="r" rtl="1">
              <a:spcBef>
                <a:spcPct val="20000"/>
              </a:spcBef>
            </a:pPr>
            <a:r>
              <a:rPr lang="fa-IR" sz="2400" kern="0" dirty="0">
                <a:solidFill>
                  <a:srgbClr val="0000FF"/>
                </a:solidFill>
                <a:latin typeface="Arial"/>
                <a:cs typeface="B Mitra" pitchFamily="2" charset="-78"/>
              </a:rPr>
              <a:t>(+ 1 شیفت دهنده</a:t>
            </a:r>
            <a:r>
              <a:rPr lang="fa-IR" sz="2400" kern="0" dirty="0" smtClean="0">
                <a:solidFill>
                  <a:srgbClr val="0000FF"/>
                </a:solidFill>
                <a:latin typeface="Arial"/>
                <a:cs typeface="B Mitra" pitchFamily="2" charset="-78"/>
              </a:rPr>
              <a:t>)</a:t>
            </a:r>
            <a:endParaRPr lang="fa-IR" sz="2400" kern="0" dirty="0">
              <a:solidFill>
                <a:srgbClr val="0000FF"/>
              </a:solidFill>
              <a:latin typeface="Arial"/>
              <a:cs typeface="B Mitra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2724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زمان</a:t>
            </a:r>
            <a:r>
              <a:rPr lang="fa-IR" dirty="0"/>
              <a:t>ب</a:t>
            </a:r>
            <a:r>
              <a:rPr lang="fa-IR" dirty="0" smtClean="0"/>
              <a:t>ندی و </a:t>
            </a:r>
            <a:r>
              <a:rPr lang="en-US" dirty="0" smtClean="0"/>
              <a:t>DFG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824304"/>
            <a:ext cx="7887518" cy="2676704"/>
          </a:xfrm>
        </p:spPr>
        <p:txBody>
          <a:bodyPr/>
          <a:lstStyle/>
          <a:p>
            <a:r>
              <a:rPr lang="fa-IR" dirty="0" smtClean="0"/>
              <a:t>زمانبندی:</a:t>
            </a:r>
          </a:p>
          <a:p>
            <a:pPr lvl="1"/>
            <a:r>
              <a:rPr lang="fa-IR" smtClean="0"/>
              <a:t>در طراحی </a:t>
            </a:r>
            <a:r>
              <a:rPr lang="en-US" smtClean="0"/>
              <a:t>RTL</a:t>
            </a:r>
            <a:r>
              <a:rPr lang="fa-IR" smtClean="0"/>
              <a:t>، طراح دستی زمانبندی می‌کند.</a:t>
            </a:r>
          </a:p>
          <a:p>
            <a:pPr lvl="1"/>
            <a:r>
              <a:rPr lang="fa-IR" smtClean="0"/>
              <a:t>ابزار </a:t>
            </a:r>
            <a:r>
              <a:rPr lang="en-US" smtClean="0"/>
              <a:t>HLS</a:t>
            </a:r>
            <a:r>
              <a:rPr lang="fa-IR" smtClean="0"/>
              <a:t> وابستگی های بین عملیات مجاور را تحلیل می‌کند.</a:t>
            </a:r>
          </a:p>
          <a:p>
            <a:pPr lvl="2"/>
            <a:r>
              <a:rPr lang="fa-IR" smtClean="0">
                <a:sym typeface="Wingdings" panose="05000000000000000000" pitchFamily="2" charset="2"/>
              </a:rPr>
              <a:t> امکان موازی‌سازی عملیات در یک کلاک را بررسی می‌کند.</a:t>
            </a:r>
          </a:p>
          <a:p>
            <a:pPr lvl="2"/>
            <a:endParaRPr lang="fa-IR">
              <a:sym typeface="Wingdings" panose="05000000000000000000" pitchFamily="2" charset="2"/>
            </a:endParaRPr>
          </a:p>
          <a:p>
            <a:pPr lvl="1"/>
            <a:r>
              <a:rPr lang="fa-IR" smtClean="0">
                <a:sym typeface="Wingdings" panose="05000000000000000000" pitchFamily="2" charset="2"/>
              </a:rPr>
              <a:t>اگر طراح </a:t>
            </a:r>
            <a:r>
              <a:rPr lang="en-US" smtClean="0">
                <a:sym typeface="Wingdings" panose="05000000000000000000" pitchFamily="2" charset="2"/>
              </a:rPr>
              <a:t>T</a:t>
            </a:r>
            <a:r>
              <a:rPr lang="en-US" baseline="-25000" smtClean="0">
                <a:sym typeface="Wingdings" panose="05000000000000000000" pitchFamily="2" charset="2"/>
              </a:rPr>
              <a:t>clk</a:t>
            </a:r>
            <a:r>
              <a:rPr lang="fa-IR" smtClean="0">
                <a:sym typeface="Wingdings" panose="05000000000000000000" pitchFamily="2" charset="2"/>
              </a:rPr>
              <a:t> را بزرگ بدهد  عملیات بیشتری می‌تواند در یک سیکل انجام شود.</a:t>
            </a:r>
          </a:p>
          <a:p>
            <a:pPr lvl="1"/>
            <a:r>
              <a:rPr lang="fa-IR" smtClean="0">
                <a:sym typeface="Wingdings" panose="05000000000000000000" pitchFamily="2" charset="2"/>
              </a:rPr>
              <a:t>اگرکوچک بدهد  ابزار </a:t>
            </a:r>
            <a:r>
              <a:rPr lang="en-US" smtClean="0">
                <a:sym typeface="Wingdings" panose="05000000000000000000" pitchFamily="2" charset="2"/>
              </a:rPr>
              <a:t>HLS</a:t>
            </a:r>
            <a:r>
              <a:rPr lang="fa-IR" smtClean="0">
                <a:sym typeface="Wingdings" panose="05000000000000000000" pitchFamily="2" charset="2"/>
              </a:rPr>
              <a:t> به طور خودکار عملیات را برای چند سیکل زمانبندی می‌کند.</a:t>
            </a:r>
          </a:p>
          <a:p>
            <a:pPr lvl="2"/>
            <a:r>
              <a:rPr lang="fa-IR" smtClean="0">
                <a:sym typeface="Wingdings" panose="05000000000000000000" pitchFamily="2" charset="2"/>
              </a:rPr>
              <a:t>بعضی عملیات ممکن است با منابع چندسیکلی پیاده‌سازی شوند.</a:t>
            </a:r>
            <a:endParaRPr lang="fa-IR" dirty="0" smtClean="0"/>
          </a:p>
          <a:p>
            <a:pPr lvl="1"/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98403" y="1188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5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112336"/>
            <a:ext cx="7671494" cy="2172648"/>
          </a:xfrm>
        </p:spPr>
        <p:txBody>
          <a:bodyPr/>
          <a:lstStyle/>
          <a:p>
            <a:r>
              <a:rPr lang="fa-IR" dirty="0" smtClean="0"/>
              <a:t>درگاه های لازم:</a:t>
            </a:r>
          </a:p>
          <a:p>
            <a:pPr lvl="1"/>
            <a:r>
              <a:rPr lang="fa-IR" dirty="0" smtClean="0"/>
              <a:t>پارامترهای تابع = ورودی ها و خروجی های بلوک</a:t>
            </a:r>
          </a:p>
          <a:p>
            <a:pPr lvl="1"/>
            <a:r>
              <a:rPr lang="fa-IR" dirty="0" smtClean="0"/>
              <a:t>مقدار بازگردانده شده = درگاه خروجی</a:t>
            </a:r>
          </a:p>
          <a:p>
            <a:r>
              <a:rPr lang="fa-IR" dirty="0" smtClean="0"/>
              <a:t>انواع پارامترها:</a:t>
            </a:r>
          </a:p>
          <a:p>
            <a:pPr lvl="1"/>
            <a:r>
              <a:rPr lang="fa-IR" dirty="0" smtClean="0"/>
              <a:t>فراخوانی با مقدار</a:t>
            </a:r>
          </a:p>
          <a:p>
            <a:pPr lvl="2"/>
            <a:r>
              <a:rPr lang="fa-IR" dirty="0" smtClean="0"/>
              <a:t>تابع نمی تواند مقدار پارامتر را تغییر دهد.</a:t>
            </a:r>
          </a:p>
          <a:p>
            <a:pPr lvl="1"/>
            <a:r>
              <a:rPr lang="fa-IR" dirty="0" smtClean="0"/>
              <a:t>فراخوانی با ارجاع</a:t>
            </a:r>
          </a:p>
          <a:p>
            <a:pPr lvl="2"/>
            <a:r>
              <a:rPr lang="fa-IR" dirty="0" smtClean="0"/>
              <a:t>آدرس پارامتر به بلوک سخت افزاری رد می شود.</a:t>
            </a:r>
          </a:p>
          <a:p>
            <a:pPr lvl="2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81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89540"/>
            <a:ext cx="8280920" cy="5275764"/>
          </a:xfrm>
        </p:spPr>
        <p:txBody>
          <a:bodyPr/>
          <a:lstStyle/>
          <a:p>
            <a:r>
              <a:rPr lang="fa-IR" smtClean="0"/>
              <a:t>انواع درگاه ها در ویوادو:</a:t>
            </a:r>
            <a:endParaRPr lang="fa-IR" dirty="0" smtClean="0"/>
          </a:p>
          <a:p>
            <a:pPr lvl="1"/>
            <a:r>
              <a:rPr lang="en-US" smtClean="0"/>
              <a:t>ap_none</a:t>
            </a:r>
            <a:endParaRPr lang="fa-IR" smtClean="0"/>
          </a:p>
          <a:p>
            <a:pPr lvl="2"/>
            <a:r>
              <a:rPr lang="fa-IR" smtClean="0"/>
              <a:t>درگاه ساده (بدون خط اضافه)</a:t>
            </a:r>
          </a:p>
          <a:p>
            <a:pPr lvl="2"/>
            <a:r>
              <a:rPr lang="fa-IR"/>
              <a:t> </a:t>
            </a:r>
            <a:r>
              <a:rPr lang="fa-IR" smtClean="0"/>
              <a:t>ماژولی که داده را به او می دهد باید در زمان مناسب بدهد.</a:t>
            </a:r>
          </a:p>
          <a:p>
            <a:pPr lvl="2"/>
            <a:r>
              <a:rPr lang="fa-IR" smtClean="0"/>
              <a:t>پیش فرض برای پارامترهای ورودی فراخوانی با مقدار و نیمه ورودی پارامترهای فراخوانی با ارجاع</a:t>
            </a:r>
          </a:p>
          <a:p>
            <a:pPr lvl="1"/>
            <a:r>
              <a:rPr lang="en-US" smtClean="0"/>
              <a:t>ap_ctrl_hs</a:t>
            </a:r>
            <a:endParaRPr lang="fa-IR" smtClean="0"/>
          </a:p>
          <a:p>
            <a:pPr lvl="2"/>
            <a:r>
              <a:rPr lang="fa-IR" smtClean="0"/>
              <a:t>دستدهی (</a:t>
            </a:r>
            <a:r>
              <a:rPr lang="en-US" smtClean="0"/>
              <a:t>handshaking</a:t>
            </a:r>
            <a:r>
              <a:rPr lang="fa-IR" smtClean="0"/>
              <a:t>): خطوط اضافه اسلاید بعد</a:t>
            </a:r>
          </a:p>
          <a:p>
            <a:pPr lvl="2"/>
            <a:r>
              <a:rPr lang="en-US" smtClean="0"/>
              <a:t> </a:t>
            </a:r>
            <a:r>
              <a:rPr lang="fa-IR" smtClean="0"/>
              <a:t>پیش فرض برای مقدار بازگردانده شده</a:t>
            </a:r>
          </a:p>
          <a:p>
            <a:pPr lvl="1"/>
            <a:r>
              <a:rPr lang="en-US" smtClean="0"/>
              <a:t>ap_vld</a:t>
            </a:r>
            <a:endParaRPr lang="fa-IR" smtClean="0"/>
          </a:p>
          <a:p>
            <a:pPr lvl="2"/>
            <a:r>
              <a:rPr lang="fa-IR" smtClean="0"/>
              <a:t>پیش فرض برای نیمه خروجی پارامترهای فراخوانی با ارجاع</a:t>
            </a:r>
          </a:p>
          <a:p>
            <a:pPr lvl="2"/>
            <a:r>
              <a:rPr lang="fa-IR" smtClean="0"/>
              <a:t>خط اضافه: </a:t>
            </a:r>
            <a:r>
              <a:rPr lang="en-US" smtClean="0"/>
              <a:t>valid</a:t>
            </a:r>
            <a:r>
              <a:rPr lang="fa-IR" smtClean="0"/>
              <a:t> برای اعلان آماده بودن داده پس از محاسبات</a:t>
            </a:r>
          </a:p>
          <a:p>
            <a:pPr lvl="2"/>
            <a:endParaRPr lang="fa-IR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360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89540"/>
            <a:ext cx="8280920" cy="5275764"/>
          </a:xfrm>
        </p:spPr>
        <p:txBody>
          <a:bodyPr/>
          <a:lstStyle/>
          <a:p>
            <a:r>
              <a:rPr lang="fa-IR" smtClean="0"/>
              <a:t>انواع درگاه ها در ویوادو:</a:t>
            </a:r>
            <a:endParaRPr lang="fa-IR" dirty="0" smtClean="0"/>
          </a:p>
          <a:p>
            <a:pPr lvl="1"/>
            <a:r>
              <a:rPr lang="en-US" smtClean="0"/>
              <a:t>ap_memory</a:t>
            </a:r>
            <a:endParaRPr lang="fa-IR" smtClean="0"/>
          </a:p>
          <a:p>
            <a:pPr lvl="2"/>
            <a:r>
              <a:rPr lang="fa-IR" smtClean="0"/>
              <a:t>پیش فرض برای پارامتر آرایه</a:t>
            </a:r>
          </a:p>
          <a:p>
            <a:pPr lvl="2"/>
            <a:r>
              <a:rPr lang="fa-IR" smtClean="0"/>
              <a:t>خطوط:</a:t>
            </a:r>
          </a:p>
          <a:p>
            <a:pPr lvl="3"/>
            <a:r>
              <a:rPr lang="fa-IR" sz="2400" smtClean="0"/>
              <a:t>داده برای خود پارامتر</a:t>
            </a:r>
          </a:p>
          <a:p>
            <a:pPr lvl="3"/>
            <a:r>
              <a:rPr lang="fa-IR" sz="2400" smtClean="0"/>
              <a:t>آدرس</a:t>
            </a:r>
          </a:p>
          <a:p>
            <a:pPr lvl="3"/>
            <a:r>
              <a:rPr lang="en-US" sz="2400" smtClean="0"/>
              <a:t>ce</a:t>
            </a:r>
            <a:r>
              <a:rPr lang="fa-IR" sz="2400" smtClean="0"/>
              <a:t> برای پارامتر ورودی</a:t>
            </a:r>
          </a:p>
          <a:p>
            <a:pPr lvl="3"/>
            <a:r>
              <a:rPr lang="en-US" sz="2400" smtClean="0"/>
              <a:t>we</a:t>
            </a:r>
            <a:r>
              <a:rPr lang="fa-IR" sz="2400" smtClean="0"/>
              <a:t> برای پارامتر خروجی</a:t>
            </a:r>
          </a:p>
          <a:p>
            <a:pPr lvl="1"/>
            <a:r>
              <a:rPr lang="en-US" sz="3200" smtClean="0"/>
              <a:t>ap_fifo</a:t>
            </a:r>
            <a:endParaRPr lang="fa-IR" sz="3200" smtClean="0"/>
          </a:p>
          <a:p>
            <a:pPr lvl="1"/>
            <a:r>
              <a:rPr lang="en-US" sz="3200" smtClean="0"/>
              <a:t>ap_bus</a:t>
            </a:r>
            <a:endParaRPr lang="fa-IR" sz="3200" smtClean="0"/>
          </a:p>
          <a:p>
            <a:pPr lvl="1"/>
            <a:r>
              <a:rPr lang="en-US" sz="3200" smtClean="0"/>
              <a:t>s_axilite</a:t>
            </a:r>
            <a:endParaRPr lang="fa-IR" sz="3200" smtClean="0"/>
          </a:p>
          <a:p>
            <a:pPr lvl="2"/>
            <a:endParaRPr lang="fa-IR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2"/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-738336" y="5318279"/>
            <a:ext cx="6534472" cy="99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lvl="3" indent="-228600" algn="r" rtl="1">
              <a:spcBef>
                <a:spcPct val="20000"/>
              </a:spcBef>
              <a:buFont typeface="Arial" panose="020B0604020202020204" pitchFamily="34" charset="0"/>
              <a:buChar char="−"/>
            </a:pPr>
            <a:endParaRPr lang="fa-IR" sz="2000" kern="0">
              <a:solidFill>
                <a:srgbClr val="000000"/>
              </a:solidFill>
              <a:latin typeface="Arial"/>
              <a:cs typeface="B Mitra" pitchFamily="2" charset="-78"/>
            </a:endParaRPr>
          </a:p>
          <a:p>
            <a:pPr marL="342900" lvl="0" indent="-342900" algn="r" rtl="1">
              <a:spcBef>
                <a:spcPct val="20000"/>
              </a:spcBef>
              <a:buFontTx/>
              <a:buChar char="•"/>
            </a:pPr>
            <a:r>
              <a:rPr lang="fa-IR" sz="3200" b="1" kern="0">
                <a:solidFill>
                  <a:srgbClr val="FF5050"/>
                </a:solidFill>
                <a:latin typeface="Arial"/>
                <a:cs typeface="B Mitra" pitchFamily="2" charset="-78"/>
              </a:rPr>
              <a:t>قابل </a:t>
            </a:r>
            <a:r>
              <a:rPr lang="fa-IR" sz="3200" b="1" kern="0" smtClean="0">
                <a:solidFill>
                  <a:srgbClr val="FF5050"/>
                </a:solidFill>
                <a:latin typeface="Arial"/>
                <a:cs typeface="B Mitra" pitchFamily="2" charset="-78"/>
              </a:rPr>
              <a:t>تعیین </a:t>
            </a:r>
            <a:r>
              <a:rPr lang="fa-IR" sz="3200" b="1" kern="0">
                <a:solidFill>
                  <a:srgbClr val="FF5050"/>
                </a:solidFill>
                <a:latin typeface="Arial"/>
                <a:cs typeface="B Mitra" pitchFamily="2" charset="-78"/>
              </a:rPr>
              <a:t>با پراگما در کد یا در ابزار</a:t>
            </a:r>
          </a:p>
        </p:txBody>
      </p:sp>
    </p:spTree>
    <p:extLst>
      <p:ext uri="{BB962C8B-B14F-4D97-AF65-F5344CB8AC3E}">
        <p14:creationId xmlns:p14="http://schemas.microsoft.com/office/powerpoint/2010/main" val="309919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628800"/>
            <a:ext cx="7671494" cy="5196984"/>
          </a:xfrm>
        </p:spPr>
        <p:txBody>
          <a:bodyPr/>
          <a:lstStyle/>
          <a:p>
            <a:r>
              <a:rPr lang="fa-IR" sz="2800" dirty="0" smtClean="0"/>
              <a:t>درگاه </a:t>
            </a:r>
            <a:r>
              <a:rPr lang="fa-IR" sz="2800" smtClean="0"/>
              <a:t>های </a:t>
            </a:r>
            <a:r>
              <a:rPr lang="en-US" sz="2800" smtClean="0"/>
              <a:t>ap_ctrl_hs</a:t>
            </a:r>
            <a:r>
              <a:rPr lang="fa-IR" sz="2800" smtClean="0"/>
              <a:t>:</a:t>
            </a:r>
            <a:endParaRPr lang="fa-IR" sz="2800" dirty="0" smtClean="0"/>
          </a:p>
          <a:p>
            <a:pPr lvl="1"/>
            <a:r>
              <a:rPr lang="en-US" sz="2400" dirty="0" smtClean="0"/>
              <a:t>start</a:t>
            </a:r>
            <a:r>
              <a:rPr lang="fa-IR" sz="2400" dirty="0" smtClean="0"/>
              <a:t> (ورودی):</a:t>
            </a:r>
          </a:p>
          <a:p>
            <a:pPr lvl="2"/>
            <a:r>
              <a:rPr lang="fa-IR" sz="2000" dirty="0" smtClean="0"/>
              <a:t>فعال شدن </a:t>
            </a:r>
            <a:r>
              <a:rPr lang="en-US" sz="2000" dirty="0" smtClean="0"/>
              <a:t>start</a:t>
            </a:r>
            <a:r>
              <a:rPr lang="fa-IR" sz="2000" dirty="0" smtClean="0"/>
              <a:t> </a:t>
            </a:r>
            <a:r>
              <a:rPr lang="fa-IR" sz="2000" dirty="0" smtClean="0">
                <a:sym typeface="Wingdings" panose="05000000000000000000" pitchFamily="2" charset="2"/>
              </a:rPr>
              <a:t> </a:t>
            </a:r>
            <a:r>
              <a:rPr lang="fa-IR" sz="2000" dirty="0" smtClean="0"/>
              <a:t>بلوک </a:t>
            </a:r>
            <a:r>
              <a:rPr lang="fa-IR" sz="2000" dirty="0"/>
              <a:t>اجازه می­یابد که عملیات تابع را آغاز </a:t>
            </a:r>
            <a:r>
              <a:rPr lang="fa-IR" sz="2000" dirty="0" smtClean="0"/>
              <a:t>کند.</a:t>
            </a:r>
          </a:p>
          <a:p>
            <a:pPr lvl="1"/>
            <a:r>
              <a:rPr lang="en-US" sz="2400" dirty="0" smtClean="0"/>
              <a:t>done</a:t>
            </a:r>
            <a:r>
              <a:rPr lang="fa-IR" sz="2400" dirty="0" smtClean="0"/>
              <a:t> (خروجی):</a:t>
            </a:r>
          </a:p>
          <a:p>
            <a:pPr lvl="2"/>
            <a:r>
              <a:rPr lang="fa-IR" sz="2000" dirty="0" smtClean="0"/>
              <a:t>وقتی بلوک </a:t>
            </a:r>
            <a:r>
              <a:rPr lang="fa-IR" sz="2000" dirty="0"/>
              <a:t>کار خود را به پایان می­رساند، این سیگنال را فعال </a:t>
            </a:r>
            <a:r>
              <a:rPr lang="fa-IR" sz="2000" dirty="0" smtClean="0"/>
              <a:t>می­کند.</a:t>
            </a:r>
          </a:p>
          <a:p>
            <a:pPr lvl="2"/>
            <a:r>
              <a:rPr lang="fa-IR" sz="2000" smtClean="0"/>
              <a:t>و نیز </a:t>
            </a:r>
            <a:r>
              <a:rPr lang="fa-IR" sz="2000" dirty="0" smtClean="0"/>
              <a:t>بیانگر معتبر بودن داده روی </a:t>
            </a:r>
            <a:r>
              <a:rPr lang="en-US" sz="1800" dirty="0" err="1" smtClean="0"/>
              <a:t>Return_val</a:t>
            </a:r>
            <a:r>
              <a:rPr lang="fa-IR" sz="1800" dirty="0" smtClean="0"/>
              <a:t> </a:t>
            </a:r>
            <a:r>
              <a:rPr lang="fa-IR" sz="2000" dirty="0" smtClean="0"/>
              <a:t>است.</a:t>
            </a:r>
          </a:p>
          <a:p>
            <a:pPr lvl="1"/>
            <a:r>
              <a:rPr lang="en-US" sz="2400" dirty="0" smtClean="0"/>
              <a:t>ready</a:t>
            </a:r>
            <a:r>
              <a:rPr lang="fa-IR" sz="2400" dirty="0" smtClean="0"/>
              <a:t> (خروجی):</a:t>
            </a:r>
          </a:p>
          <a:p>
            <a:pPr lvl="2"/>
            <a:r>
              <a:rPr lang="fa-IR" sz="2000" dirty="0"/>
              <a:t>بلوک با فعال کردن این سیگنال، به سایر اجزای سیستم اطلاع می­دهد که آمادة دریافت دادة </a:t>
            </a:r>
            <a:r>
              <a:rPr lang="fa-IR" sz="2000" dirty="0" smtClean="0"/>
              <a:t>جدید درکلاک بعدی است.</a:t>
            </a:r>
          </a:p>
          <a:p>
            <a:pPr lvl="1"/>
            <a:r>
              <a:rPr lang="en-US" sz="2400" dirty="0" smtClean="0"/>
              <a:t>idle</a:t>
            </a:r>
            <a:r>
              <a:rPr lang="fa-IR" sz="2400" dirty="0" smtClean="0"/>
              <a:t> (خروجی):</a:t>
            </a:r>
          </a:p>
          <a:p>
            <a:pPr lvl="2"/>
            <a:r>
              <a:rPr lang="fa-IR" sz="2000" dirty="0"/>
              <a:t>بلوک در بازه­های زمانی که بیکار است، این سیگنال را فعال </a:t>
            </a:r>
            <a:r>
              <a:rPr lang="fa-IR" sz="2000" dirty="0" smtClean="0"/>
              <a:t>می­کند.</a:t>
            </a:r>
          </a:p>
          <a:p>
            <a:pPr lvl="2"/>
            <a:r>
              <a:rPr lang="fa-IR" sz="2000" dirty="0" smtClean="0"/>
              <a:t>وقتی که شروع به کار می کند، صفر می‌شود و وقتی که کار تمام می‌شود، یک </a:t>
            </a:r>
            <a:r>
              <a:rPr lang="fa-IR" sz="2000" smtClean="0"/>
              <a:t>می‌شود.</a:t>
            </a:r>
            <a:endParaRPr lang="fa-IR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1403648" y="980728"/>
            <a:ext cx="2232248" cy="1584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619672" y="1124744"/>
            <a:ext cx="1800200" cy="864096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dirty="0" smtClean="0">
                <a:ln w="19050">
                  <a:solidFill>
                    <a:schemeClr val="tx1"/>
                  </a:solidFill>
                </a:ln>
                <a:cs typeface="2  Nazanin" panose="00000400000000000000" pitchFamily="2" charset="-78"/>
              </a:rPr>
              <a:t>مدار محاسباتی</a:t>
            </a:r>
            <a:endParaRPr lang="en-US" dirty="0" smtClean="0">
              <a:ln w="19050">
                <a:solidFill>
                  <a:schemeClr val="tx1"/>
                </a:solidFill>
              </a:ln>
              <a:cs typeface="2  Nazanin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619672" y="2060848"/>
            <a:ext cx="1800200" cy="432048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dirty="0" smtClean="0">
                <a:ln w="19050">
                  <a:solidFill>
                    <a:schemeClr val="tx1"/>
                  </a:solidFill>
                </a:ln>
                <a:cs typeface="2  Nazanin" panose="00000400000000000000" pitchFamily="2" charset="-78"/>
              </a:rPr>
              <a:t>مدار کنترل واسط</a:t>
            </a:r>
            <a:endParaRPr lang="en-US" dirty="0" smtClean="0">
              <a:ln w="19050">
                <a:solidFill>
                  <a:schemeClr val="tx1"/>
                </a:solidFill>
              </a:ln>
              <a:cs typeface="2  Nazanin" panose="00000400000000000000" pitchFamily="2" charset="-78"/>
            </a:endParaRPr>
          </a:p>
        </p:txBody>
      </p:sp>
      <p:cxnSp>
        <p:nvCxnSpPr>
          <p:cNvPr id="9" name="Elbow Connector 8"/>
          <p:cNvCxnSpPr>
            <a:endCxn id="5" idx="0"/>
          </p:cNvCxnSpPr>
          <p:nvPr/>
        </p:nvCxnSpPr>
        <p:spPr bwMode="auto">
          <a:xfrm>
            <a:off x="1052190" y="566242"/>
            <a:ext cx="1467582" cy="41448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Elbow Connector 15"/>
          <p:cNvCxnSpPr/>
          <p:nvPr/>
        </p:nvCxnSpPr>
        <p:spPr bwMode="auto">
          <a:xfrm>
            <a:off x="1052190" y="684485"/>
            <a:ext cx="1242976" cy="296243"/>
          </a:xfrm>
          <a:prstGeom prst="bentConnector3">
            <a:avLst>
              <a:gd name="adj1" fmla="val 99996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Elbow Connector 20"/>
          <p:cNvCxnSpPr/>
          <p:nvPr/>
        </p:nvCxnSpPr>
        <p:spPr bwMode="auto">
          <a:xfrm>
            <a:off x="1052190" y="832606"/>
            <a:ext cx="1018370" cy="148122"/>
          </a:xfrm>
          <a:prstGeom prst="bentConnector3">
            <a:avLst>
              <a:gd name="adj1" fmla="val 100205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67544" y="476672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clock</a:t>
            </a:r>
            <a:endParaRPr lang="en-US" sz="14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7544" y="629072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reset</a:t>
            </a:r>
            <a:endParaRPr lang="en-US" sz="1400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7544" y="332656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start</a:t>
            </a:r>
            <a:endParaRPr lang="en-US" sz="1400" dirty="0">
              <a:latin typeface="+mj-lt"/>
            </a:endParaRPr>
          </a:p>
        </p:txBody>
      </p:sp>
      <p:sp>
        <p:nvSpPr>
          <p:cNvPr id="34" name="Right Arrow 33"/>
          <p:cNvSpPr/>
          <p:nvPr/>
        </p:nvSpPr>
        <p:spPr bwMode="auto">
          <a:xfrm>
            <a:off x="827584" y="1484784"/>
            <a:ext cx="576064" cy="2160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6614" y="1268760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j-lt"/>
              </a:rPr>
              <a:t>Data_in</a:t>
            </a:r>
            <a:endParaRPr lang="en-US" sz="1400" dirty="0">
              <a:latin typeface="+mj-lt"/>
            </a:endParaRPr>
          </a:p>
        </p:txBody>
      </p:sp>
      <p:sp>
        <p:nvSpPr>
          <p:cNvPr id="36" name="Right Arrow 35"/>
          <p:cNvSpPr/>
          <p:nvPr/>
        </p:nvSpPr>
        <p:spPr bwMode="auto">
          <a:xfrm>
            <a:off x="3662810" y="1484784"/>
            <a:ext cx="576064" cy="2160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57054" y="1393031"/>
            <a:ext cx="1179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j-lt"/>
              </a:rPr>
              <a:t>Return_val</a:t>
            </a:r>
            <a:endParaRPr lang="en-US" sz="1400" dirty="0"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3635896" y="1988840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4257054" y="1825079"/>
            <a:ext cx="602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done</a:t>
            </a:r>
            <a:endParaRPr lang="en-US" sz="1400" dirty="0">
              <a:latin typeface="+mj-lt"/>
            </a:endParaRPr>
          </a:p>
        </p:txBody>
      </p:sp>
      <p:cxnSp>
        <p:nvCxnSpPr>
          <p:cNvPr id="43" name="Straight Arrow Connector 42"/>
          <p:cNvCxnSpPr/>
          <p:nvPr/>
        </p:nvCxnSpPr>
        <p:spPr bwMode="auto">
          <a:xfrm>
            <a:off x="3635896" y="2224609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4257054" y="2060848"/>
            <a:ext cx="891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ready</a:t>
            </a:r>
            <a:endParaRPr lang="en-US" sz="1400" dirty="0">
              <a:latin typeface="+mj-lt"/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3635896" y="2492896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4257054" y="2329135"/>
            <a:ext cx="602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idle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352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264464"/>
            <a:ext cx="8319566" cy="5196984"/>
          </a:xfrm>
        </p:spPr>
        <p:txBody>
          <a:bodyPr/>
          <a:lstStyle/>
          <a:p>
            <a:r>
              <a:rPr lang="fa-IR" sz="2800" dirty="0" smtClean="0"/>
              <a:t>در </a:t>
            </a:r>
            <a:r>
              <a:rPr lang="fa-IR" sz="2800" smtClean="0"/>
              <a:t>ویوادو</a:t>
            </a:r>
            <a:r>
              <a:rPr lang="fa-IR" sz="2800" smtClean="0"/>
              <a:t>:</a:t>
            </a:r>
            <a:endParaRPr lang="fa-IR" sz="2000" dirty="0" smtClean="0"/>
          </a:p>
          <a:p>
            <a:pPr lvl="1"/>
            <a:r>
              <a:rPr lang="fa-IR" sz="2400" dirty="0" smtClean="0"/>
              <a:t>نام پورت ها:</a:t>
            </a:r>
          </a:p>
          <a:p>
            <a:pPr lvl="2"/>
            <a:r>
              <a:rPr lang="en-US" sz="2000" dirty="0" err="1" smtClean="0"/>
              <a:t>ap_clk</a:t>
            </a:r>
            <a:r>
              <a:rPr lang="fa-IR" sz="2000" dirty="0" smtClean="0"/>
              <a:t> </a:t>
            </a:r>
          </a:p>
          <a:p>
            <a:pPr lvl="2"/>
            <a:r>
              <a:rPr lang="en-US" sz="2000" dirty="0" err="1" smtClean="0"/>
              <a:t>ap_rst</a:t>
            </a:r>
            <a:r>
              <a:rPr lang="fa-IR" sz="2000" dirty="0" smtClean="0"/>
              <a:t> </a:t>
            </a:r>
            <a:endParaRPr lang="fa-IR" sz="2000" dirty="0"/>
          </a:p>
          <a:p>
            <a:pPr lvl="2"/>
            <a:r>
              <a:rPr lang="en-US" sz="2000" dirty="0" err="1"/>
              <a:t>ap_start</a:t>
            </a:r>
            <a:r>
              <a:rPr lang="fa-IR" sz="2000" dirty="0"/>
              <a:t> </a:t>
            </a:r>
            <a:endParaRPr lang="fa-IR" sz="2000" dirty="0" smtClean="0"/>
          </a:p>
          <a:p>
            <a:pPr lvl="2"/>
            <a:r>
              <a:rPr lang="en-US" sz="2000" dirty="0" err="1" smtClean="0"/>
              <a:t>ap_done</a:t>
            </a:r>
            <a:endParaRPr lang="en-US" sz="2000" dirty="0"/>
          </a:p>
          <a:p>
            <a:pPr lvl="2"/>
            <a:r>
              <a:rPr lang="en-US" sz="2000" dirty="0" err="1" smtClean="0"/>
              <a:t>ap_ready</a:t>
            </a:r>
            <a:endParaRPr lang="en-US" sz="2000" dirty="0" smtClean="0"/>
          </a:p>
          <a:p>
            <a:pPr lvl="2"/>
            <a:r>
              <a:rPr lang="en-US" sz="2000" dirty="0" err="1" smtClean="0"/>
              <a:t>ap_idle</a:t>
            </a:r>
            <a:endParaRPr lang="en-US" sz="2000" dirty="0"/>
          </a:p>
          <a:p>
            <a:pPr lvl="2"/>
            <a:r>
              <a:rPr lang="en-US" sz="2000" dirty="0" err="1" smtClean="0"/>
              <a:t>ap_return</a:t>
            </a:r>
            <a:endParaRPr lang="fa-IR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1403648" y="980728"/>
            <a:ext cx="2232248" cy="1584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619672" y="1124744"/>
            <a:ext cx="1800200" cy="864096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dirty="0" smtClean="0">
                <a:ln w="19050">
                  <a:solidFill>
                    <a:schemeClr val="tx1"/>
                  </a:solidFill>
                </a:ln>
                <a:cs typeface="2  Nazanin" panose="00000400000000000000" pitchFamily="2" charset="-78"/>
              </a:rPr>
              <a:t>مدار محاسباتی</a:t>
            </a:r>
            <a:endParaRPr lang="en-US" dirty="0" smtClean="0">
              <a:ln w="19050">
                <a:solidFill>
                  <a:schemeClr val="tx1"/>
                </a:solidFill>
              </a:ln>
              <a:cs typeface="2  Nazanin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619672" y="2060848"/>
            <a:ext cx="1800200" cy="432048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dirty="0" smtClean="0">
                <a:ln w="19050">
                  <a:solidFill>
                    <a:schemeClr val="tx1"/>
                  </a:solidFill>
                </a:ln>
                <a:cs typeface="2  Nazanin" panose="00000400000000000000" pitchFamily="2" charset="-78"/>
              </a:rPr>
              <a:t>مدار کنترل واسط</a:t>
            </a:r>
            <a:endParaRPr lang="en-US" dirty="0" smtClean="0">
              <a:ln w="19050">
                <a:solidFill>
                  <a:schemeClr val="tx1"/>
                </a:solidFill>
              </a:ln>
              <a:cs typeface="2  Nazanin" panose="00000400000000000000" pitchFamily="2" charset="-78"/>
            </a:endParaRPr>
          </a:p>
        </p:txBody>
      </p:sp>
      <p:cxnSp>
        <p:nvCxnSpPr>
          <p:cNvPr id="9" name="Elbow Connector 8"/>
          <p:cNvCxnSpPr>
            <a:endCxn id="5" idx="0"/>
          </p:cNvCxnSpPr>
          <p:nvPr/>
        </p:nvCxnSpPr>
        <p:spPr bwMode="auto">
          <a:xfrm>
            <a:off x="1052190" y="566242"/>
            <a:ext cx="1467582" cy="41448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Elbow Connector 15"/>
          <p:cNvCxnSpPr/>
          <p:nvPr/>
        </p:nvCxnSpPr>
        <p:spPr bwMode="auto">
          <a:xfrm>
            <a:off x="1052190" y="684485"/>
            <a:ext cx="1242976" cy="296243"/>
          </a:xfrm>
          <a:prstGeom prst="bentConnector3">
            <a:avLst>
              <a:gd name="adj1" fmla="val 99996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Elbow Connector 20"/>
          <p:cNvCxnSpPr/>
          <p:nvPr/>
        </p:nvCxnSpPr>
        <p:spPr bwMode="auto">
          <a:xfrm>
            <a:off x="1052190" y="832606"/>
            <a:ext cx="1018370" cy="148122"/>
          </a:xfrm>
          <a:prstGeom prst="bentConnector3">
            <a:avLst>
              <a:gd name="adj1" fmla="val 100205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67544" y="476672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clock</a:t>
            </a:r>
            <a:endParaRPr lang="en-US" sz="14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7544" y="629072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reset</a:t>
            </a:r>
            <a:endParaRPr lang="en-US" sz="1400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7544" y="332656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start</a:t>
            </a:r>
            <a:endParaRPr lang="en-US" sz="1400" dirty="0">
              <a:latin typeface="+mj-lt"/>
            </a:endParaRPr>
          </a:p>
        </p:txBody>
      </p:sp>
      <p:sp>
        <p:nvSpPr>
          <p:cNvPr id="34" name="Right Arrow 33"/>
          <p:cNvSpPr/>
          <p:nvPr/>
        </p:nvSpPr>
        <p:spPr bwMode="auto">
          <a:xfrm>
            <a:off x="827584" y="1484784"/>
            <a:ext cx="576064" cy="2160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6614" y="1268760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j-lt"/>
              </a:rPr>
              <a:t>Data_in</a:t>
            </a:r>
            <a:endParaRPr lang="en-US" sz="1400" dirty="0">
              <a:latin typeface="+mj-lt"/>
            </a:endParaRPr>
          </a:p>
        </p:txBody>
      </p:sp>
      <p:sp>
        <p:nvSpPr>
          <p:cNvPr id="36" name="Right Arrow 35"/>
          <p:cNvSpPr/>
          <p:nvPr/>
        </p:nvSpPr>
        <p:spPr bwMode="auto">
          <a:xfrm>
            <a:off x="3662810" y="1484784"/>
            <a:ext cx="576064" cy="2160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57054" y="1393031"/>
            <a:ext cx="1179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j-lt"/>
              </a:rPr>
              <a:t>Return_val</a:t>
            </a:r>
            <a:endParaRPr lang="en-US" sz="1400" dirty="0"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3635896" y="1988840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4257054" y="1825079"/>
            <a:ext cx="602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done</a:t>
            </a:r>
            <a:endParaRPr lang="en-US" sz="1400" dirty="0">
              <a:latin typeface="+mj-lt"/>
            </a:endParaRPr>
          </a:p>
        </p:txBody>
      </p:sp>
      <p:cxnSp>
        <p:nvCxnSpPr>
          <p:cNvPr id="43" name="Straight Arrow Connector 42"/>
          <p:cNvCxnSpPr/>
          <p:nvPr/>
        </p:nvCxnSpPr>
        <p:spPr bwMode="auto">
          <a:xfrm>
            <a:off x="3635896" y="2224609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4257054" y="2060848"/>
            <a:ext cx="891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ready</a:t>
            </a:r>
            <a:endParaRPr lang="en-US" sz="1400" dirty="0">
              <a:latin typeface="+mj-lt"/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3635896" y="2492896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4257054" y="2329135"/>
            <a:ext cx="602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idle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7706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 (مثال)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1403648" y="980728"/>
            <a:ext cx="2232248" cy="1584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619672" y="1124744"/>
            <a:ext cx="1800200" cy="864096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dirty="0" smtClean="0">
                <a:ln w="19050">
                  <a:solidFill>
                    <a:schemeClr val="tx1"/>
                  </a:solidFill>
                </a:ln>
                <a:cs typeface="2  Nazanin" panose="00000400000000000000" pitchFamily="2" charset="-78"/>
              </a:rPr>
              <a:t>مدار محاسباتی</a:t>
            </a:r>
            <a:endParaRPr lang="en-US" dirty="0" smtClean="0">
              <a:ln w="19050">
                <a:solidFill>
                  <a:schemeClr val="tx1"/>
                </a:solidFill>
              </a:ln>
              <a:cs typeface="2  Nazanin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619672" y="2060848"/>
            <a:ext cx="1800200" cy="432048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dirty="0" smtClean="0">
                <a:ln w="19050">
                  <a:solidFill>
                    <a:schemeClr val="tx1"/>
                  </a:solidFill>
                </a:ln>
                <a:cs typeface="2  Nazanin" panose="00000400000000000000" pitchFamily="2" charset="-78"/>
              </a:rPr>
              <a:t>مدار کنترل واسط</a:t>
            </a:r>
            <a:endParaRPr lang="en-US" dirty="0" smtClean="0">
              <a:ln w="19050">
                <a:solidFill>
                  <a:schemeClr val="tx1"/>
                </a:solidFill>
              </a:ln>
              <a:cs typeface="2  Nazanin" panose="00000400000000000000" pitchFamily="2" charset="-78"/>
            </a:endParaRPr>
          </a:p>
        </p:txBody>
      </p:sp>
      <p:cxnSp>
        <p:nvCxnSpPr>
          <p:cNvPr id="9" name="Elbow Connector 8"/>
          <p:cNvCxnSpPr>
            <a:endCxn id="5" idx="0"/>
          </p:cNvCxnSpPr>
          <p:nvPr/>
        </p:nvCxnSpPr>
        <p:spPr bwMode="auto">
          <a:xfrm>
            <a:off x="1052190" y="566242"/>
            <a:ext cx="1467582" cy="41448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Elbow Connector 15"/>
          <p:cNvCxnSpPr/>
          <p:nvPr/>
        </p:nvCxnSpPr>
        <p:spPr bwMode="auto">
          <a:xfrm>
            <a:off x="1052190" y="684485"/>
            <a:ext cx="1242976" cy="296243"/>
          </a:xfrm>
          <a:prstGeom prst="bentConnector3">
            <a:avLst>
              <a:gd name="adj1" fmla="val 99996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Elbow Connector 20"/>
          <p:cNvCxnSpPr/>
          <p:nvPr/>
        </p:nvCxnSpPr>
        <p:spPr bwMode="auto">
          <a:xfrm>
            <a:off x="1052190" y="832606"/>
            <a:ext cx="1018370" cy="148122"/>
          </a:xfrm>
          <a:prstGeom prst="bentConnector3">
            <a:avLst>
              <a:gd name="adj1" fmla="val 100205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67544" y="476672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clock</a:t>
            </a:r>
            <a:endParaRPr lang="en-US" sz="14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7544" y="629072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reset</a:t>
            </a:r>
            <a:endParaRPr lang="en-US" sz="1400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7544" y="332656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start</a:t>
            </a:r>
            <a:endParaRPr lang="en-US" sz="1400" dirty="0">
              <a:latin typeface="+mj-lt"/>
            </a:endParaRPr>
          </a:p>
        </p:txBody>
      </p:sp>
      <p:sp>
        <p:nvSpPr>
          <p:cNvPr id="34" name="Right Arrow 33"/>
          <p:cNvSpPr/>
          <p:nvPr/>
        </p:nvSpPr>
        <p:spPr bwMode="auto">
          <a:xfrm>
            <a:off x="827584" y="1484784"/>
            <a:ext cx="576064" cy="2160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6614" y="1268760"/>
            <a:ext cx="81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j-lt"/>
              </a:rPr>
              <a:t>Data_in</a:t>
            </a:r>
            <a:endParaRPr lang="en-US" sz="1400" dirty="0">
              <a:latin typeface="+mj-lt"/>
            </a:endParaRPr>
          </a:p>
        </p:txBody>
      </p:sp>
      <p:sp>
        <p:nvSpPr>
          <p:cNvPr id="36" name="Right Arrow 35"/>
          <p:cNvSpPr/>
          <p:nvPr/>
        </p:nvSpPr>
        <p:spPr bwMode="auto">
          <a:xfrm>
            <a:off x="3662810" y="1484784"/>
            <a:ext cx="576064" cy="2160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57054" y="1393031"/>
            <a:ext cx="1179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j-lt"/>
              </a:rPr>
              <a:t>Return_val</a:t>
            </a:r>
            <a:endParaRPr lang="en-US" sz="1400" dirty="0">
              <a:latin typeface="+mj-lt"/>
            </a:endParaRPr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3635896" y="1988840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4257054" y="1825079"/>
            <a:ext cx="602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done</a:t>
            </a:r>
            <a:endParaRPr lang="en-US" sz="1400" dirty="0">
              <a:latin typeface="+mj-lt"/>
            </a:endParaRPr>
          </a:p>
        </p:txBody>
      </p:sp>
      <p:cxnSp>
        <p:nvCxnSpPr>
          <p:cNvPr id="43" name="Straight Arrow Connector 42"/>
          <p:cNvCxnSpPr/>
          <p:nvPr/>
        </p:nvCxnSpPr>
        <p:spPr bwMode="auto">
          <a:xfrm>
            <a:off x="3635896" y="2224609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4257054" y="2060848"/>
            <a:ext cx="891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ready</a:t>
            </a:r>
            <a:endParaRPr lang="en-US" sz="1400" dirty="0">
              <a:latin typeface="+mj-lt"/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3635896" y="2492896"/>
            <a:ext cx="62115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4257054" y="2329135"/>
            <a:ext cx="602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idle</a:t>
            </a:r>
            <a:endParaRPr lang="en-US" sz="1400" dirty="0"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45" y="2959937"/>
            <a:ext cx="4054995" cy="333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 (مثال)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94" y="764704"/>
            <a:ext cx="8075570" cy="546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9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</a:t>
            </a:r>
            <a:r>
              <a:rPr lang="fa-IR" dirty="0"/>
              <a:t> (</a:t>
            </a:r>
            <a:r>
              <a:rPr lang="fa-IR" dirty="0" smtClean="0"/>
              <a:t>مثال)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952" y="1556792"/>
            <a:ext cx="4752528" cy="2676704"/>
          </a:xfrm>
        </p:spPr>
        <p:txBody>
          <a:bodyPr/>
          <a:lstStyle/>
          <a:p>
            <a:r>
              <a:rPr lang="fa-IR" sz="2800" dirty="0" smtClean="0"/>
              <a:t>ب.م.م.: فراخوانی با ارجاع:</a:t>
            </a:r>
          </a:p>
          <a:p>
            <a:r>
              <a:rPr lang="fa-IR" sz="2800" dirty="0" smtClean="0"/>
              <a:t>ک.م.م.: مقدار بازگشت داده شده</a:t>
            </a:r>
          </a:p>
          <a:p>
            <a:pPr lvl="1"/>
            <a:r>
              <a:rPr lang="en-US" sz="2400" dirty="0" err="1" smtClean="0"/>
              <a:t>gcd_in</a:t>
            </a:r>
            <a:r>
              <a:rPr lang="fa-IR" sz="2400" dirty="0" smtClean="0"/>
              <a:t> و </a:t>
            </a:r>
            <a:r>
              <a:rPr lang="en-US" sz="2400" dirty="0" err="1" smtClean="0"/>
              <a:t>gcd_out</a:t>
            </a:r>
            <a:endParaRPr lang="en-US" sz="2400" dirty="0" smtClean="0"/>
          </a:p>
          <a:p>
            <a:pPr lvl="2"/>
            <a:r>
              <a:rPr lang="fa-IR" sz="2000" dirty="0" smtClean="0"/>
              <a:t>یا یک درگاه </a:t>
            </a:r>
            <a:r>
              <a:rPr lang="en-US" sz="2000" dirty="0" err="1" smtClean="0"/>
              <a:t>inout</a:t>
            </a:r>
            <a:endParaRPr lang="en-US" sz="2000" dirty="0" smtClean="0"/>
          </a:p>
          <a:p>
            <a:pPr lvl="1"/>
            <a:r>
              <a:rPr lang="en-US" sz="2400" dirty="0" err="1" smtClean="0"/>
              <a:t>gcd_valid</a:t>
            </a:r>
            <a:r>
              <a:rPr lang="fa-IR" sz="2400" dirty="0"/>
              <a:t> </a:t>
            </a:r>
            <a:r>
              <a:rPr lang="fa-IR" sz="2400" dirty="0" smtClean="0"/>
              <a:t>برای </a:t>
            </a:r>
            <a:r>
              <a:rPr lang="en-US" sz="2400" dirty="0" err="1" smtClean="0"/>
              <a:t>gcd_out</a:t>
            </a:r>
            <a:r>
              <a:rPr lang="fa-IR" sz="2400" dirty="0" smtClean="0"/>
              <a:t>:</a:t>
            </a:r>
          </a:p>
          <a:p>
            <a:pPr lvl="2"/>
            <a:r>
              <a:rPr lang="fa-IR" sz="2000" dirty="0" smtClean="0"/>
              <a:t>مانند </a:t>
            </a:r>
            <a:r>
              <a:rPr lang="en-US" sz="2000" dirty="0" smtClean="0"/>
              <a:t>done</a:t>
            </a:r>
            <a:r>
              <a:rPr lang="fa-IR" sz="2000" dirty="0" smtClean="0"/>
              <a:t> برای </a:t>
            </a:r>
            <a:r>
              <a:rPr lang="en-US" sz="2000" dirty="0" err="1" smtClean="0"/>
              <a:t>return_val</a:t>
            </a:r>
            <a:endParaRPr lang="en-US" sz="2000" dirty="0" smtClean="0"/>
          </a:p>
          <a:p>
            <a:pPr lvl="1"/>
            <a:endParaRPr lang="fa-IR" sz="2400" dirty="0" smtClean="0"/>
          </a:p>
          <a:p>
            <a:pPr lvl="2"/>
            <a:endParaRPr lang="fa-IR" sz="2000" dirty="0" smtClean="0"/>
          </a:p>
          <a:p>
            <a:pPr lvl="1"/>
            <a:endParaRPr lang="fa-IR" sz="2400" dirty="0" smtClean="0"/>
          </a:p>
          <a:p>
            <a:pPr lvl="1"/>
            <a:endParaRPr lang="fa-IR" sz="2400" dirty="0">
              <a:sym typeface="Wingdings" panose="05000000000000000000" pitchFamily="2" charset="2"/>
            </a:endParaRP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535890"/>
              </p:ext>
            </p:extLst>
          </p:nvPr>
        </p:nvGraphicFramePr>
        <p:xfrm>
          <a:off x="323529" y="2553748"/>
          <a:ext cx="4536504" cy="371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88" name="Visio" r:id="rId3" imgW="14411231" imgH="11801475" progId="Visio.Drawing.11">
                  <p:embed/>
                </p:oleObj>
              </mc:Choice>
              <mc:Fallback>
                <p:oleObj name="Visio" r:id="rId3" imgW="14411231" imgH="11801475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529" y="2553748"/>
                        <a:ext cx="4536504" cy="371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323528" y="1052736"/>
            <a:ext cx="7992888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Courier New" panose="02070309020205020404" pitchFamily="49" charset="0"/>
                <a:ea typeface="Calibri" panose="020F0502020204030204" pitchFamily="34" charset="0"/>
              </a:rPr>
              <a:t>long </a:t>
            </a:r>
            <a:r>
              <a:rPr lang="en-US" sz="2400" b="1" smtClean="0">
                <a:latin typeface="Courier New" panose="02070309020205020404" pitchFamily="49" charset="0"/>
                <a:ea typeface="Calibri" panose="020F0502020204030204" pitchFamily="34" charset="0"/>
              </a:rPr>
              <a:t>gcd_lcm(long </a:t>
            </a:r>
            <a:r>
              <a:rPr lang="en-US" sz="2400" b="1" dirty="0">
                <a:latin typeface="Courier New" panose="02070309020205020404" pitchFamily="49" charset="0"/>
                <a:ea typeface="Calibri" panose="020F0502020204030204" pitchFamily="34" charset="0"/>
              </a:rPr>
              <a:t>a, long b, long&amp; </a:t>
            </a:r>
            <a:r>
              <a:rPr lang="en-US" sz="2400" b="1" dirty="0" err="1">
                <a:latin typeface="Courier New" panose="02070309020205020404" pitchFamily="49" charset="0"/>
                <a:ea typeface="Calibri" panose="020F0502020204030204" pitchFamily="34" charset="0"/>
              </a:rPr>
              <a:t>gcd</a:t>
            </a:r>
            <a:r>
              <a:rPr lang="en-US" sz="2400" b="1" dirty="0">
                <a:latin typeface="Courier New" panose="02070309020205020404" pitchFamily="49" charset="0"/>
                <a:ea typeface="Calibri" panose="020F0502020204030204" pitchFamily="34" charset="0"/>
              </a:rPr>
              <a:t>);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2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سنتز مدار واسط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888" y="1556792"/>
            <a:ext cx="5328592" cy="3384376"/>
          </a:xfrm>
        </p:spPr>
        <p:txBody>
          <a:bodyPr/>
          <a:lstStyle/>
          <a:p>
            <a:r>
              <a:rPr lang="fa-IR" sz="2800" dirty="0" smtClean="0"/>
              <a:t>ارتباط پیچیده تر:</a:t>
            </a:r>
          </a:p>
          <a:p>
            <a:pPr lvl="1"/>
            <a:r>
              <a:rPr lang="fa-IR" sz="2400" dirty="0" smtClean="0"/>
              <a:t>طراح توصیف می کند</a:t>
            </a:r>
          </a:p>
          <a:p>
            <a:pPr lvl="1"/>
            <a:r>
              <a:rPr lang="fa-IR" sz="2400" dirty="0" smtClean="0"/>
              <a:t>بلوک های آماده برای پروتکل های استاندارد</a:t>
            </a:r>
          </a:p>
          <a:p>
            <a:pPr lvl="2"/>
            <a:endParaRPr lang="fa-IR" sz="2000" dirty="0" smtClean="0"/>
          </a:p>
          <a:p>
            <a:pPr lvl="1"/>
            <a:endParaRPr lang="fa-IR" sz="2400" dirty="0" smtClean="0"/>
          </a:p>
          <a:p>
            <a:pPr lvl="2"/>
            <a:endParaRPr lang="fa-IR" sz="2000" dirty="0" smtClean="0"/>
          </a:p>
          <a:p>
            <a:pPr lvl="1"/>
            <a:endParaRPr lang="fa-IR" sz="2400" dirty="0" smtClean="0"/>
          </a:p>
          <a:p>
            <a:pPr lvl="1"/>
            <a:endParaRPr lang="fa-IR" sz="2400" dirty="0">
              <a:sym typeface="Wingdings" panose="05000000000000000000" pitchFamily="2" charset="2"/>
            </a:endParaRP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99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mtClean="0"/>
              <a:t>منابع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219200"/>
            <a:ext cx="8112125" cy="4648200"/>
          </a:xfrm>
        </p:spPr>
        <p:txBody>
          <a:bodyPr/>
          <a:lstStyle/>
          <a:p>
            <a:pPr lvl="1" algn="l" rtl="0"/>
            <a:r>
              <a:rPr lang="en-US" smtClean="0"/>
              <a:t>ug998, Introduction </a:t>
            </a:r>
            <a:r>
              <a:rPr lang="en-US"/>
              <a:t>to FPGA Design with </a:t>
            </a:r>
            <a:r>
              <a:rPr lang="en-US" smtClean="0"/>
              <a:t>Vivado </a:t>
            </a:r>
            <a:r>
              <a:rPr lang="en-US"/>
              <a:t>High-Level </a:t>
            </a:r>
            <a:r>
              <a:rPr lang="en-US" smtClean="0"/>
              <a:t>Synthesis</a:t>
            </a:r>
            <a:endParaRPr lang="en-US" smtClean="0"/>
          </a:p>
          <a:p>
            <a:pPr lvl="1" algn="l" rtl="0"/>
            <a:r>
              <a:rPr lang="en-US" smtClean="0"/>
              <a:t>ug871, Vivado High-Level Synthesis Tutorial</a:t>
            </a:r>
          </a:p>
          <a:p>
            <a:pPr lvl="1" algn="l" rtl="0"/>
            <a:r>
              <a:rPr lang="en-US" smtClean="0"/>
              <a:t>ug902, Vivado High-Level Synthesis User Guide</a:t>
            </a:r>
          </a:p>
          <a:p>
            <a:pPr lvl="1" algn="l" rtl="0"/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8997409"/>
      </p:ext>
    </p:extLst>
  </p:cSld>
  <p:clrMapOvr>
    <a:masterClrMapping/>
  </p:clrMapOvr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40000"/>
            <a:lumOff val="6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n w="19050">
              <a:solidFill>
                <a:schemeClr val="tx1"/>
              </a:solidFill>
            </a:ln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43143</TotalTime>
  <Words>1711</Words>
  <Application>Microsoft Office PowerPoint</Application>
  <PresentationFormat>On-screen Show (4:3)</PresentationFormat>
  <Paragraphs>419</Paragraphs>
  <Slides>39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2  Nazanin</vt:lpstr>
      <vt:lpstr>Arial</vt:lpstr>
      <vt:lpstr>B Mitra</vt:lpstr>
      <vt:lpstr>B Nazanin</vt:lpstr>
      <vt:lpstr>B Titr</vt:lpstr>
      <vt:lpstr>Calibri</vt:lpstr>
      <vt:lpstr>Courier New</vt:lpstr>
      <vt:lpstr>Times New Roman</vt:lpstr>
      <vt:lpstr>Wingdings</vt:lpstr>
      <vt:lpstr>1_presentation_template</vt:lpstr>
      <vt:lpstr>Custom Design</vt:lpstr>
      <vt:lpstr>Visio</vt:lpstr>
      <vt:lpstr>طراحی سطح بالا</vt:lpstr>
      <vt:lpstr>PowerPoint Presentation</vt:lpstr>
      <vt:lpstr>سطوح تجرید (Levels of Abstraction)</vt:lpstr>
      <vt:lpstr>سنتز سطح بالا</vt:lpstr>
      <vt:lpstr>توصیف رفتاری و RTL</vt:lpstr>
      <vt:lpstr>تاریخچه</vt:lpstr>
      <vt:lpstr>تاریخچه</vt:lpstr>
      <vt:lpstr>مدل برنامه‌نویسی/توصیف</vt:lpstr>
      <vt:lpstr>مدل برنامه‌نویسی/توصیف</vt:lpstr>
      <vt:lpstr>مدل برنامه‌نویسی/توصیف</vt:lpstr>
      <vt:lpstr>تاریخچه</vt:lpstr>
      <vt:lpstr>انواع توصیف سطح بالا</vt:lpstr>
      <vt:lpstr>مزایا و معایب طراحی و سنتز سطح بالا</vt:lpstr>
      <vt:lpstr>مزایا و معایب طراحی و سنتز سطح بالا</vt:lpstr>
      <vt:lpstr>انواع عملیات سنتز سطح بالا</vt:lpstr>
      <vt:lpstr>مراحل سنتز سطح بالا</vt:lpstr>
      <vt:lpstr>مراحل سنتز سطح بالا</vt:lpstr>
      <vt:lpstr>مراحل سنتز سطح بالا</vt:lpstr>
      <vt:lpstr>مراحل سنتز سطح بالا</vt:lpstr>
      <vt:lpstr>مراحل سنتز سطح بالا</vt:lpstr>
      <vt:lpstr>مراحل سنتز سطح بالا</vt:lpstr>
      <vt:lpstr>مراحل سنتز سطح بالا: مثال</vt:lpstr>
      <vt:lpstr>مراحل سنتز سطح بالا: مثال</vt:lpstr>
      <vt:lpstr>مراحل سنتز سطح بالا</vt:lpstr>
      <vt:lpstr>مراحل سنتز سطح بالا</vt:lpstr>
      <vt:lpstr>اشتراک منابع</vt:lpstr>
      <vt:lpstr>زمانبندی و DFG</vt:lpstr>
      <vt:lpstr>زمانبندی و DFG</vt:lpstr>
      <vt:lpstr>زمانبندی و DFG</vt:lpstr>
      <vt:lpstr>سنتز مدار واسط</vt:lpstr>
      <vt:lpstr>سنتز مدار واسط</vt:lpstr>
      <vt:lpstr>سنتز مدار واسط</vt:lpstr>
      <vt:lpstr>سنتز مدار واسط</vt:lpstr>
      <vt:lpstr>سنتز مدار واسط</vt:lpstr>
      <vt:lpstr>سنتز مدار واسط (مثال)</vt:lpstr>
      <vt:lpstr>سنتز مدار واسط (مثال)</vt:lpstr>
      <vt:lpstr>سنتز مدار واسط (مثال)</vt:lpstr>
      <vt:lpstr>سنتز مدار واسط</vt:lpstr>
      <vt:lpstr>منابع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1590</cp:revision>
  <dcterms:created xsi:type="dcterms:W3CDTF">1601-01-01T00:00:00Z</dcterms:created>
  <dcterms:modified xsi:type="dcterms:W3CDTF">2024-05-21T06:04:34Z</dcterms:modified>
</cp:coreProperties>
</file>