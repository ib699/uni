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8" r:id="rId1"/>
  </p:sldMasterIdLst>
  <p:notesMasterIdLst>
    <p:notesMasterId r:id="rId24"/>
  </p:notesMasterIdLst>
  <p:sldIdLst>
    <p:sldId id="271" r:id="rId2"/>
    <p:sldId id="270" r:id="rId3"/>
    <p:sldId id="281" r:id="rId4"/>
    <p:sldId id="295" r:id="rId5"/>
    <p:sldId id="300" r:id="rId6"/>
    <p:sldId id="305" r:id="rId7"/>
    <p:sldId id="298" r:id="rId8"/>
    <p:sldId id="301" r:id="rId9"/>
    <p:sldId id="302" r:id="rId10"/>
    <p:sldId id="303" r:id="rId11"/>
    <p:sldId id="314" r:id="rId12"/>
    <p:sldId id="304" r:id="rId13"/>
    <p:sldId id="306" r:id="rId14"/>
    <p:sldId id="307" r:id="rId15"/>
    <p:sldId id="308" r:id="rId16"/>
    <p:sldId id="309" r:id="rId17"/>
    <p:sldId id="310" r:id="rId18"/>
    <p:sldId id="311" r:id="rId19"/>
    <p:sldId id="312" r:id="rId20"/>
    <p:sldId id="313" r:id="rId21"/>
    <p:sldId id="315" r:id="rId22"/>
    <p:sldId id="316" r:id="rId2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46FD"/>
    <a:srgbClr val="FF6600"/>
    <a:srgbClr val="CC0099"/>
    <a:srgbClr val="008000"/>
    <a:srgbClr val="FF0000"/>
    <a:srgbClr val="0066FF"/>
    <a:srgbClr val="6128F0"/>
    <a:srgbClr val="FF9900"/>
    <a:srgbClr val="66FF66"/>
    <a:srgbClr val="66FF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86047" autoAdjust="0"/>
  </p:normalViewPr>
  <p:slideViewPr>
    <p:cSldViewPr>
      <p:cViewPr varScale="1">
        <p:scale>
          <a:sx n="95" d="100"/>
          <a:sy n="95" d="100"/>
        </p:scale>
        <p:origin x="1986" y="84"/>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charset="0"/>
              </a:defRPr>
            </a:lvl1pPr>
          </a:lstStyle>
          <a:p>
            <a:pPr>
              <a:defRPr/>
            </a:pPr>
            <a:fld id="{45A470DC-7C81-4DA4-8C0B-00C3524FB74D}" type="datetimeFigureOut">
              <a:rPr lang="en-US"/>
              <a:pPr>
                <a:defRPr/>
              </a:pPr>
              <a:t>3/8/2021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charset="0"/>
              </a:defRPr>
            </a:lvl1pPr>
          </a:lstStyle>
          <a:p>
            <a:pPr>
              <a:defRPr/>
            </a:pPr>
            <a:fld id="{7733EA2D-6917-409E-A3B4-BA2E769CB8AC}" type="slidenum">
              <a:rPr lang="en-US"/>
              <a:pPr>
                <a:defRPr/>
              </a:pPr>
              <a:t>‹#›</a:t>
            </a:fld>
            <a:endParaRPr lang="en-US"/>
          </a:p>
        </p:txBody>
      </p:sp>
    </p:spTree>
    <p:extLst>
      <p:ext uri="{BB962C8B-B14F-4D97-AF65-F5344CB8AC3E}">
        <p14:creationId xmlns:p14="http://schemas.microsoft.com/office/powerpoint/2010/main" val="330308114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1</a:t>
            </a:fld>
            <a:endParaRPr lang="en-US"/>
          </a:p>
        </p:txBody>
      </p:sp>
    </p:spTree>
    <p:extLst>
      <p:ext uri="{BB962C8B-B14F-4D97-AF65-F5344CB8AC3E}">
        <p14:creationId xmlns:p14="http://schemas.microsoft.com/office/powerpoint/2010/main" val="15318689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dirty="0"/>
              <a:t>روشگان</a:t>
            </a:r>
            <a:r>
              <a:rPr lang="fa-IR" baseline="0" dirty="0"/>
              <a:t> واژه مصوب فرهنگستان و معادل </a:t>
            </a:r>
            <a:r>
              <a:rPr lang="en-US" baseline="0" dirty="0"/>
              <a:t>methodology</a:t>
            </a:r>
            <a:r>
              <a:rPr lang="fa-IR" baseline="0" dirty="0"/>
              <a:t> است که به معنی مجموعه‌ای از روش‌ها است که برای تولید نرم‌افزار به کار می‌رود. </a:t>
            </a:r>
            <a:endParaRPr lang="en-US"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2</a:t>
            </a:fld>
            <a:endParaRPr lang="en-US"/>
          </a:p>
        </p:txBody>
      </p:sp>
    </p:spTree>
    <p:extLst>
      <p:ext uri="{BB962C8B-B14F-4D97-AF65-F5344CB8AC3E}">
        <p14:creationId xmlns:p14="http://schemas.microsoft.com/office/powerpoint/2010/main" val="27239792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dirty="0"/>
              <a:t>تفاوت این روش با تجزیه</a:t>
            </a:r>
            <a:r>
              <a:rPr lang="fa-IR" baseline="0" dirty="0"/>
              <a:t> فانکشنال بازگشتی این است که در روش فانکشنال بازگشتی، با یک تابع بازگشتی روبرو هستیم و برای موازی‌سازی آن، هر بار که تابع خودش را صدا می‌زند، یک وظیفه موازی جدید در سیستم تولید می‌شود.</a:t>
            </a:r>
          </a:p>
          <a:p>
            <a:pPr algn="r" rtl="1"/>
            <a:r>
              <a:rPr lang="fa-IR" baseline="0" dirty="0"/>
              <a:t>ولی در این روش، می گوییم خود ساختار داده بازگشتی است مانند لیست پیوندی، درخت و ... </a:t>
            </a:r>
          </a:p>
          <a:p>
            <a:pPr algn="r" rtl="1"/>
            <a:r>
              <a:rPr lang="fa-IR" baseline="0" dirty="0"/>
              <a:t>در مواجهه با این ساختارها، در هنگام پیمایش ساختار داده، به هر المان جدید که می‌رسیم پردازش آن را به یک وظیفه موازی جدید محول می‌کنیم.</a:t>
            </a:r>
          </a:p>
          <a:p>
            <a:pPr algn="r" rtl="1"/>
            <a:r>
              <a:rPr lang="fa-IR" baseline="0" dirty="0"/>
              <a:t>در واقع این روش بیشتر از این که شبیه </a:t>
            </a:r>
            <a:r>
              <a:rPr lang="en-US" baseline="0" dirty="0"/>
              <a:t>recursive functional</a:t>
            </a:r>
            <a:r>
              <a:rPr lang="fa-IR" baseline="0" dirty="0"/>
              <a:t> باشد، شبیه </a:t>
            </a:r>
            <a:r>
              <a:rPr lang="en-US" baseline="0" dirty="0"/>
              <a:t>geometric decomposition</a:t>
            </a:r>
            <a:r>
              <a:rPr lang="fa-IR" baseline="0" dirty="0"/>
              <a:t> است ولی ساختار داده در آن بازگشتی است.</a:t>
            </a:r>
            <a:endParaRPr lang="en-US"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4</a:t>
            </a:fld>
            <a:endParaRPr lang="en-US"/>
          </a:p>
        </p:txBody>
      </p:sp>
    </p:spTree>
    <p:extLst>
      <p:ext uri="{BB962C8B-B14F-4D97-AF65-F5344CB8AC3E}">
        <p14:creationId xmlns:p14="http://schemas.microsoft.com/office/powerpoint/2010/main" val="42045398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dirty="0"/>
              <a:t>دستورات </a:t>
            </a:r>
            <a:r>
              <a:rPr lang="en-US" dirty="0" err="1"/>
              <a:t>ls</a:t>
            </a:r>
            <a:r>
              <a:rPr lang="fa-IR" dirty="0"/>
              <a:t>،</a:t>
            </a:r>
            <a:r>
              <a:rPr lang="fa-IR" baseline="0" dirty="0"/>
              <a:t> </a:t>
            </a:r>
            <a:r>
              <a:rPr lang="en-US" baseline="0" dirty="0" err="1"/>
              <a:t>grep</a:t>
            </a:r>
            <a:r>
              <a:rPr lang="fa-IR" baseline="0" dirty="0"/>
              <a:t> و </a:t>
            </a:r>
            <a:r>
              <a:rPr lang="en-US" baseline="0" dirty="0"/>
              <a:t>less</a:t>
            </a:r>
            <a:r>
              <a:rPr lang="fa-IR" baseline="0" dirty="0"/>
              <a:t> هر کدام یک پروسس ایجاد می‌کنند که خروجی اولی به ورودی دومی و خروجی دومی به ورودی سومی متصل است. به این ترتیب پروسس اول همه فایلهای پوشه فعلی را لیست می کند و پروسس دوم آنهایی که حاوی رشته </a:t>
            </a:r>
            <a:r>
              <a:rPr lang="en-US" baseline="0" dirty="0"/>
              <a:t>key</a:t>
            </a:r>
            <a:r>
              <a:rPr lang="fa-IR" baseline="0" dirty="0"/>
              <a:t> هستند را انتخاب می‌کند و به سومی می‌دهد و سومی نیز در یک صفحه با قابلیت </a:t>
            </a:r>
            <a:r>
              <a:rPr lang="en-US" baseline="0" dirty="0"/>
              <a:t>scroll</a:t>
            </a:r>
            <a:r>
              <a:rPr lang="fa-IR" baseline="0" dirty="0"/>
              <a:t> نمایش می‌دهد. این همان ارتباط بین پروسس (</a:t>
            </a:r>
            <a:r>
              <a:rPr lang="en-US" baseline="0" dirty="0"/>
              <a:t>IPC</a:t>
            </a:r>
            <a:r>
              <a:rPr lang="fa-IR" baseline="0" dirty="0"/>
              <a:t>) از نوع </a:t>
            </a:r>
            <a:r>
              <a:rPr lang="en-US" baseline="0" dirty="0"/>
              <a:t>pipe</a:t>
            </a:r>
            <a:r>
              <a:rPr lang="fa-IR" baseline="0" dirty="0"/>
              <a:t> است. </a:t>
            </a:r>
            <a:endParaRPr lang="en-US"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7</a:t>
            </a:fld>
            <a:endParaRPr lang="en-US"/>
          </a:p>
        </p:txBody>
      </p:sp>
    </p:spTree>
    <p:extLst>
      <p:ext uri="{BB962C8B-B14F-4D97-AF65-F5344CB8AC3E}">
        <p14:creationId xmlns:p14="http://schemas.microsoft.com/office/powerpoint/2010/main" val="15601729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baseline="0" dirty="0"/>
              <a:t>این ساختار را می‌توان توالی چند تولید‌کننده-مصرف‌کننده (</a:t>
            </a:r>
            <a:r>
              <a:rPr lang="en-US" baseline="0" dirty="0"/>
              <a:t>Producer-consumer</a:t>
            </a:r>
            <a:r>
              <a:rPr lang="fa-IR" baseline="0" dirty="0"/>
              <a:t>) نیز دانست.</a:t>
            </a:r>
            <a:endParaRPr lang="en-US"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8</a:t>
            </a:fld>
            <a:endParaRPr lang="en-US"/>
          </a:p>
        </p:txBody>
      </p:sp>
    </p:spTree>
    <p:extLst>
      <p:ext uri="{BB962C8B-B14F-4D97-AF65-F5344CB8AC3E}">
        <p14:creationId xmlns:p14="http://schemas.microsoft.com/office/powerpoint/2010/main" val="16762598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dirty="0"/>
              <a:t>مثلاً شبیه‌سازی</a:t>
            </a:r>
            <a:r>
              <a:rPr lang="fa-IR" baseline="0" dirty="0"/>
              <a:t> یک مدار دیجیتال سطح گیت در </a:t>
            </a:r>
            <a:r>
              <a:rPr lang="en-US" baseline="0" dirty="0" err="1"/>
              <a:t>Modelsim</a:t>
            </a:r>
            <a:endParaRPr lang="en-US"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10</a:t>
            </a:fld>
            <a:endParaRPr lang="en-US"/>
          </a:p>
        </p:txBody>
      </p:sp>
    </p:spTree>
    <p:extLst>
      <p:ext uri="{BB962C8B-B14F-4D97-AF65-F5344CB8AC3E}">
        <p14:creationId xmlns:p14="http://schemas.microsoft.com/office/powerpoint/2010/main" val="7804602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dirty="0"/>
              <a:t>دقت کنید</a:t>
            </a:r>
            <a:r>
              <a:rPr lang="fa-IR" baseline="0" dirty="0"/>
              <a:t> در ضرب ماتریسی، اینکه: </a:t>
            </a:r>
          </a:p>
          <a:p>
            <a:pPr algn="r" rtl="1"/>
            <a:r>
              <a:rPr lang="fa-IR" baseline="0" dirty="0"/>
              <a:t>1- ابتدا با تجزیه عملیاتی، محاسبه هر المان از ماتریس حاصل‌ضرب را به صورت یک وظیفه تعریف کنیم و بعد همه وظایف موجود در یک ردیف از ماتریس حاصل‌ضرب را در مرحله انباشت یک گروه کنیم، </a:t>
            </a:r>
          </a:p>
          <a:p>
            <a:pPr algn="r" rtl="1"/>
            <a:r>
              <a:rPr lang="fa-IR" baseline="0" dirty="0"/>
              <a:t>2- با اینکه با تجزیه دامنه یک بعدی، هر ردیف از المانهای ماتریس حاصلضرب را انتخاب و یک وظیفه به آن منتسب کنیم هر دو به یک نتیجه منجر می‌شود. در واقع دو نگاه متفاوت به صورت مسئله است که به یک نتیجه می‌رسد. </a:t>
            </a:r>
            <a:endParaRPr lang="en-US"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11</a:t>
            </a:fld>
            <a:endParaRPr lang="en-US"/>
          </a:p>
        </p:txBody>
      </p:sp>
    </p:spTree>
    <p:extLst>
      <p:ext uri="{BB962C8B-B14F-4D97-AF65-F5344CB8AC3E}">
        <p14:creationId xmlns:p14="http://schemas.microsoft.com/office/powerpoint/2010/main" val="23712682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dirty="0"/>
              <a:t>یک مثال می‌تواند پردازش</a:t>
            </a:r>
            <a:r>
              <a:rPr lang="fa-IR" baseline="0" dirty="0"/>
              <a:t> تعداد زیادی تصویر باشد. هر تصویر را برای پردازش به چندین قسمت تقسیم کرده‌ایم ولی نوع پردازش به نحوی است که قسمت‌های مختلف تصویر زمان‌های متفاوتی طول می‌کشد. اگر تعداد مساوی قطعه تصویر به هر نخ بدهیم باز هم الگوریتم ناکارآمد است و برخی نخ‌ها ممکن است زودتر کارشان تمام شده و بیکار بمانند. یک راه حل خوب این است که تولیدکننده‌ها تصاویر را خرد کنند و در یک صف قرار دهند و مصرف‌کننده‌ها در صورت اتمام کار قبلی به صف سرکشی کنند و کار جدید بردارند.  </a:t>
            </a:r>
            <a:endParaRPr lang="en-US"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16</a:t>
            </a:fld>
            <a:endParaRPr lang="en-US"/>
          </a:p>
        </p:txBody>
      </p:sp>
    </p:spTree>
    <p:extLst>
      <p:ext uri="{BB962C8B-B14F-4D97-AF65-F5344CB8AC3E}">
        <p14:creationId xmlns:p14="http://schemas.microsoft.com/office/powerpoint/2010/main" val="7110896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dirty="0"/>
              <a:t>به حالتی که تیم</a:t>
            </a:r>
            <a:r>
              <a:rPr lang="fa-IR" baseline="0" dirty="0"/>
              <a:t> نخ‌ها هر بار در مواجهه با قسمت موازی دوباره تولید نمی‌شوند و در ابتدا یک‌بار نخ‌ها ایجاد شده و هر بار فقط از حالت تعلیق در می‌آیند و دوباره به تعلیق می‌روند اصطلاحاً </a:t>
            </a:r>
            <a:r>
              <a:rPr lang="en-US" baseline="0" dirty="0"/>
              <a:t>Thread-Pool</a:t>
            </a:r>
            <a:r>
              <a:rPr lang="fa-IR" baseline="0" dirty="0"/>
              <a:t> گویند. </a:t>
            </a:r>
            <a:r>
              <a:rPr lang="en-US" baseline="0" dirty="0" err="1"/>
              <a:t>OpenMP</a:t>
            </a:r>
            <a:r>
              <a:rPr lang="fa-IR" baseline="0" dirty="0"/>
              <a:t> از این روش استفاده می‌کند.</a:t>
            </a:r>
            <a:endParaRPr lang="en-US" baseline="0" dirty="0"/>
          </a:p>
          <a:p>
            <a:pPr algn="r" rtl="1"/>
            <a:r>
              <a:rPr lang="fa-IR" baseline="0" dirty="0"/>
              <a:t>به عملیات ایجاد یک نخ در موقع نیاز و شروع به کار آن </a:t>
            </a:r>
            <a:r>
              <a:rPr lang="en-US" baseline="0" dirty="0"/>
              <a:t>Thread Spawn</a:t>
            </a:r>
            <a:r>
              <a:rPr lang="fa-IR" baseline="0"/>
              <a:t> (تولید مثل نخ!) نیز </a:t>
            </a:r>
            <a:r>
              <a:rPr lang="fa-IR" baseline="0" dirty="0"/>
              <a:t>گویند.</a:t>
            </a:r>
            <a:endParaRPr lang="en-US"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18</a:t>
            </a:fld>
            <a:endParaRPr lang="en-US"/>
          </a:p>
        </p:txBody>
      </p:sp>
    </p:spTree>
    <p:extLst>
      <p:ext uri="{BB962C8B-B14F-4D97-AF65-F5344CB8AC3E}">
        <p14:creationId xmlns:p14="http://schemas.microsoft.com/office/powerpoint/2010/main" val="21205201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dirty="0"/>
              <a:t>این</a:t>
            </a:r>
            <a:r>
              <a:rPr lang="fa-IR" baseline="0" dirty="0"/>
              <a:t> که فقط یک کپی از داده در سیستم موجود باشد یا چند کپی، در واقع بده بستانی بین نیازمندی حافظه و تعداد ارتباطات بوجود می‌آورد. به عبارت دیگر، اگر چندین کپی از یک داده ایجاد کنیم نیاز به حافظه بیشتری داریم، و اگر فقط یک کپی داشته باشیم، دسترسی‌های مکرر به آن کپی ممکن است به گلوگاه تبدیل شود.</a:t>
            </a:r>
            <a:endParaRPr lang="en-US"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21</a:t>
            </a:fld>
            <a:endParaRPr lang="en-US"/>
          </a:p>
        </p:txBody>
      </p:sp>
    </p:spTree>
    <p:extLst>
      <p:ext uri="{BB962C8B-B14F-4D97-AF65-F5344CB8AC3E}">
        <p14:creationId xmlns:p14="http://schemas.microsoft.com/office/powerpoint/2010/main" val="13316195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22</a:t>
            </a:fld>
            <a:endParaRPr lang="en-US"/>
          </a:p>
        </p:txBody>
      </p:sp>
    </p:spTree>
    <p:extLst>
      <p:ext uri="{BB962C8B-B14F-4D97-AF65-F5344CB8AC3E}">
        <p14:creationId xmlns:p14="http://schemas.microsoft.com/office/powerpoint/2010/main" val="4306340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4" name="Rectangle 3"/>
          <p:cNvSpPr/>
          <p:nvPr/>
        </p:nvSpPr>
        <p:spPr bwMode="white">
          <a:xfrm>
            <a:off x="0" y="5970588"/>
            <a:ext cx="9144000" cy="887412"/>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p:cNvSpPr/>
          <p:nvPr/>
        </p:nvSpPr>
        <p:spPr>
          <a:xfrm>
            <a:off x="-9525" y="6053138"/>
            <a:ext cx="2249488" cy="712787"/>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2359025" y="6043613"/>
            <a:ext cx="6784975" cy="714375"/>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lang="en-US" dirty="0"/>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7" name="Date Placeholder 27"/>
          <p:cNvSpPr>
            <a:spLocks noGrp="1"/>
          </p:cNvSpPr>
          <p:nvPr>
            <p:ph type="dt" sz="half" idx="10"/>
          </p:nvPr>
        </p:nvSpPr>
        <p:spPr>
          <a:xfrm>
            <a:off x="76200" y="6069013"/>
            <a:ext cx="2057400" cy="685800"/>
          </a:xfrm>
        </p:spPr>
        <p:txBody>
          <a:bodyPr>
            <a:noAutofit/>
          </a:bodyPr>
          <a:lstStyle>
            <a:lvl1pPr algn="ctr">
              <a:defRPr sz="2000">
                <a:solidFill>
                  <a:srgbClr val="FFFFFF"/>
                </a:solidFill>
              </a:defRPr>
            </a:lvl1pPr>
          </a:lstStyle>
          <a:p>
            <a:pPr>
              <a:defRPr/>
            </a:pPr>
            <a:r>
              <a:rPr lang="en-US" altLang="en-US"/>
              <a:t>برنامه‌نویسی چند‌هسته‌ای</a:t>
            </a:r>
          </a:p>
        </p:txBody>
      </p:sp>
      <p:sp>
        <p:nvSpPr>
          <p:cNvPr id="10" name="Footer Placeholder 16"/>
          <p:cNvSpPr>
            <a:spLocks noGrp="1"/>
          </p:cNvSpPr>
          <p:nvPr>
            <p:ph type="ftr" sz="quarter" idx="11"/>
          </p:nvPr>
        </p:nvSpPr>
        <p:spPr>
          <a:xfrm>
            <a:off x="2085975" y="236538"/>
            <a:ext cx="5867400" cy="365125"/>
          </a:xfrm>
        </p:spPr>
        <p:txBody>
          <a:bodyPr/>
          <a:lstStyle>
            <a:lvl1pPr algn="r">
              <a:defRPr>
                <a:solidFill>
                  <a:schemeClr val="tx2"/>
                </a:solidFill>
              </a:defRPr>
            </a:lvl1pPr>
          </a:lstStyle>
          <a:p>
            <a:pPr>
              <a:defRPr/>
            </a:pPr>
            <a:r>
              <a:rPr lang="fa-IR" altLang="en-US"/>
              <a:t>4- طراحی برنامه موازی</a:t>
            </a:r>
            <a:endParaRPr lang="en-US" altLang="en-US" dirty="0"/>
          </a:p>
        </p:txBody>
      </p:sp>
      <p:sp>
        <p:nvSpPr>
          <p:cNvPr id="11"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pPr>
              <a:defRPr/>
            </a:pPr>
            <a:fld id="{C3B93544-E515-4998-91FF-24DFE15CC0DF}" type="slidenum">
              <a:rPr lang="en-US" altLang="en-US"/>
              <a:pPr>
                <a:defRPr/>
              </a:pPr>
              <a:t>‹#›</a:t>
            </a:fld>
            <a:endParaRPr lang="en-US" altLang="en-US"/>
          </a:p>
        </p:txBody>
      </p:sp>
    </p:spTree>
    <p:extLst>
      <p:ext uri="{BB962C8B-B14F-4D97-AF65-F5344CB8AC3E}">
        <p14:creationId xmlns:p14="http://schemas.microsoft.com/office/powerpoint/2010/main" val="302612857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685800"/>
          </a:xfrm>
        </p:spPr>
        <p:txBody>
          <a:bodyPr/>
          <a:lstStyle>
            <a:lvl1pPr algn="r" rtl="1">
              <a:defRPr baseline="0">
                <a:cs typeface="B Nazanin" panose="00000400000000000000" pitchFamily="2" charset="-78"/>
              </a:defRPr>
            </a:lvl1pPr>
          </a:lstStyle>
          <a:p>
            <a:r>
              <a:rPr lang="en-US" dirty="0"/>
              <a:t>Click to edit Master title style</a:t>
            </a:r>
          </a:p>
        </p:txBody>
      </p:sp>
      <p:sp>
        <p:nvSpPr>
          <p:cNvPr id="8" name="Content Placeholder 7"/>
          <p:cNvSpPr>
            <a:spLocks noGrp="1"/>
          </p:cNvSpPr>
          <p:nvPr>
            <p:ph sz="quarter" idx="1"/>
          </p:nvPr>
        </p:nvSpPr>
        <p:spPr>
          <a:xfrm>
            <a:off x="612648" y="1219200"/>
            <a:ext cx="8153400" cy="4876800"/>
          </a:xfrm>
        </p:spPr>
        <p:txBody>
          <a:bodyPr/>
          <a:lstStyle>
            <a:lvl1pPr algn="r" rtl="1">
              <a:defRPr baseline="0">
                <a:cs typeface="B Nazanin" panose="00000400000000000000" pitchFamily="2" charset="-78"/>
              </a:defRPr>
            </a:lvl1pPr>
            <a:lvl2pPr algn="r" rtl="1">
              <a:defRPr baseline="0">
                <a:cs typeface="B Nazanin" panose="00000400000000000000" pitchFamily="2" charset="-78"/>
              </a:defRPr>
            </a:lvl2pPr>
            <a:lvl3pPr algn="r" rtl="1">
              <a:defRPr baseline="0">
                <a:cs typeface="B Nazanin" panose="00000400000000000000" pitchFamily="2" charset="-78"/>
              </a:defRPr>
            </a:lvl3pPr>
            <a:lvl4pPr algn="r" rtl="1">
              <a:defRPr baseline="0">
                <a:cs typeface="B Nazanin" panose="00000400000000000000" pitchFamily="2" charset="-78"/>
              </a:defRPr>
            </a:lvl4pPr>
            <a:lvl5pPr algn="r" rtl="1">
              <a:defRPr baseline="0">
                <a:cs typeface="B Nazanin" panose="00000400000000000000" pitchFamily="2" charset="-78"/>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rtl="1">
              <a:defRPr baseline="0">
                <a:cs typeface="B Nazanin" panose="00000400000000000000" pitchFamily="2" charset="-78"/>
              </a:defRPr>
            </a:lvl1pPr>
          </a:lstStyle>
          <a:p>
            <a:pPr>
              <a:defRPr/>
            </a:pPr>
            <a:r>
              <a:rPr lang="en-US" altLang="en-US"/>
              <a:t>برنامه‌نویسی چند‌هسته‌ای</a:t>
            </a:r>
          </a:p>
        </p:txBody>
      </p:sp>
      <p:sp>
        <p:nvSpPr>
          <p:cNvPr id="5" name="Footer Placeholder 4"/>
          <p:cNvSpPr>
            <a:spLocks noGrp="1"/>
          </p:cNvSpPr>
          <p:nvPr>
            <p:ph type="ftr" sz="quarter" idx="11"/>
          </p:nvPr>
        </p:nvSpPr>
        <p:spPr>
          <a:xfrm>
            <a:off x="1195388" y="6248400"/>
            <a:ext cx="4811712" cy="381000"/>
          </a:xfrm>
        </p:spPr>
        <p:txBody>
          <a:bodyPr/>
          <a:lstStyle>
            <a:lvl1pPr rtl="1">
              <a:defRPr baseline="0">
                <a:cs typeface="B Nazanin" panose="00000400000000000000" pitchFamily="2" charset="-78"/>
              </a:defRPr>
            </a:lvl1pPr>
          </a:lstStyle>
          <a:p>
            <a:pPr>
              <a:defRPr/>
            </a:pPr>
            <a:r>
              <a:rPr lang="fa-IR" altLang="en-US"/>
              <a:t>4- طراحی برنامه موازی</a:t>
            </a:r>
            <a:endParaRPr lang="en-US" altLang="en-US" dirty="0"/>
          </a:p>
        </p:txBody>
      </p:sp>
      <p:sp>
        <p:nvSpPr>
          <p:cNvPr id="6" name="Slide Number Placeholder 5"/>
          <p:cNvSpPr>
            <a:spLocks noGrp="1"/>
          </p:cNvSpPr>
          <p:nvPr>
            <p:ph type="sldNum" sz="quarter" idx="12"/>
          </p:nvPr>
        </p:nvSpPr>
        <p:spPr/>
        <p:txBody>
          <a:bodyPr/>
          <a:lstStyle>
            <a:lvl1pPr rtl="1">
              <a:defRPr baseline="0">
                <a:solidFill>
                  <a:srgbClr val="FFFFFF"/>
                </a:solidFill>
                <a:cs typeface="B Nazanin" panose="00000400000000000000" pitchFamily="2" charset="-78"/>
              </a:defRPr>
            </a:lvl1pPr>
          </a:lstStyle>
          <a:p>
            <a:pPr>
              <a:defRPr/>
            </a:pPr>
            <a:fld id="{F8A5C899-0CF2-4984-AB7A-C737EF720B98}" type="slidenum">
              <a:rPr lang="en-US" altLang="en-US" smtClean="0"/>
              <a:pPr>
                <a:defRPr/>
              </a:pPr>
              <a:t>‹#›</a:t>
            </a:fld>
            <a:endParaRPr lang="en-US" altLang="en-US" dirty="0"/>
          </a:p>
        </p:txBody>
      </p:sp>
    </p:spTree>
    <p:extLst>
      <p:ext uri="{BB962C8B-B14F-4D97-AF65-F5344CB8AC3E}">
        <p14:creationId xmlns:p14="http://schemas.microsoft.com/office/powerpoint/2010/main" val="19045846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 name="Text Placeholder 2"/>
          <p:cNvSpPr>
            <a:spLocks noGrp="1"/>
          </p:cNvSpPr>
          <p:nvPr>
            <p:ph type="body" idx="1"/>
          </p:nvPr>
        </p:nvSpPr>
        <p:spPr>
          <a:xfrm>
            <a:off x="1371600" y="2743200"/>
            <a:ext cx="7123113" cy="1673225"/>
          </a:xfrm>
        </p:spPr>
        <p:txBody>
          <a:bodyPr/>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lang="en-US"/>
              <a:t>Click to edit Master title style</a:t>
            </a:r>
          </a:p>
        </p:txBody>
      </p:sp>
      <p:sp>
        <p:nvSpPr>
          <p:cNvPr id="7" name="Date Placeholder 11"/>
          <p:cNvSpPr>
            <a:spLocks noGrp="1"/>
          </p:cNvSpPr>
          <p:nvPr>
            <p:ph type="dt" sz="half" idx="10"/>
          </p:nvPr>
        </p:nvSpPr>
        <p:spPr/>
        <p:txBody>
          <a:bodyPr/>
          <a:lstStyle>
            <a:lvl1pPr>
              <a:defRPr/>
            </a:lvl1pPr>
          </a:lstStyle>
          <a:p>
            <a:pPr>
              <a:defRPr/>
            </a:pPr>
            <a:r>
              <a:rPr lang="en-US" altLang="en-US"/>
              <a:t>برنامه‌نویسی چند‌هسته‌ای</a:t>
            </a:r>
          </a:p>
        </p:txBody>
      </p:sp>
      <p:sp>
        <p:nvSpPr>
          <p:cNvPr id="8" name="Slide Number Placeholder 12"/>
          <p:cNvSpPr>
            <a:spLocks noGrp="1"/>
          </p:cNvSpPr>
          <p:nvPr>
            <p:ph type="sldNum" sz="quarter" idx="11"/>
          </p:nvPr>
        </p:nvSpPr>
        <p:spPr>
          <a:xfrm>
            <a:off x="0" y="1752600"/>
            <a:ext cx="1295400" cy="701675"/>
          </a:xfrm>
        </p:spPr>
        <p:txBody>
          <a:bodyPr>
            <a:noAutofit/>
          </a:bodyPr>
          <a:lstStyle>
            <a:lvl1pPr>
              <a:defRPr sz="2400">
                <a:solidFill>
                  <a:srgbClr val="FFFFFF"/>
                </a:solidFill>
              </a:defRPr>
            </a:lvl1pPr>
          </a:lstStyle>
          <a:p>
            <a:pPr>
              <a:defRPr/>
            </a:pPr>
            <a:fld id="{D1C4AC28-1BAE-4DCD-93DB-8AD7F1A46763}" type="slidenum">
              <a:rPr lang="en-US" altLang="en-US"/>
              <a:pPr>
                <a:defRPr/>
              </a:pPr>
              <a:t>‹#›</a:t>
            </a:fld>
            <a:endParaRPr lang="en-US" altLang="en-US"/>
          </a:p>
        </p:txBody>
      </p:sp>
      <p:sp>
        <p:nvSpPr>
          <p:cNvPr id="9" name="Footer Placeholder 13"/>
          <p:cNvSpPr>
            <a:spLocks noGrp="1"/>
          </p:cNvSpPr>
          <p:nvPr>
            <p:ph type="ftr" sz="quarter" idx="12"/>
          </p:nvPr>
        </p:nvSpPr>
        <p:spPr/>
        <p:txBody>
          <a:bodyPr/>
          <a:lstStyle>
            <a:lvl1pPr>
              <a:defRPr/>
            </a:lvl1pPr>
          </a:lstStyle>
          <a:p>
            <a:pPr>
              <a:defRPr/>
            </a:pPr>
            <a:r>
              <a:rPr lang="fa-IR" altLang="en-US"/>
              <a:t>4- طراحی برنامه موازی</a:t>
            </a:r>
            <a:endParaRPr lang="en-US" altLang="en-US"/>
          </a:p>
        </p:txBody>
      </p:sp>
    </p:spTree>
    <p:extLst>
      <p:ext uri="{BB962C8B-B14F-4D97-AF65-F5344CB8AC3E}">
        <p14:creationId xmlns:p14="http://schemas.microsoft.com/office/powerpoint/2010/main" val="279782321"/>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844901" y="1589567"/>
            <a:ext cx="3886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7"/>
          <p:cNvSpPr>
            <a:spLocks noGrp="1"/>
          </p:cNvSpPr>
          <p:nvPr>
            <p:ph type="dt" sz="half" idx="10"/>
          </p:nvPr>
        </p:nvSpPr>
        <p:spPr/>
        <p:txBody>
          <a:bodyPr rtlCol="0"/>
          <a:lstStyle>
            <a:lvl1pPr>
              <a:defRPr/>
            </a:lvl1pPr>
          </a:lstStyle>
          <a:p>
            <a:pPr>
              <a:defRPr/>
            </a:pPr>
            <a:r>
              <a:rPr lang="en-US" altLang="en-US"/>
              <a:t>برنامه‌نویسی چند‌هسته‌ای</a:t>
            </a:r>
          </a:p>
        </p:txBody>
      </p:sp>
      <p:sp>
        <p:nvSpPr>
          <p:cNvPr id="6" name="Slide Number Placeholder 9"/>
          <p:cNvSpPr>
            <a:spLocks noGrp="1"/>
          </p:cNvSpPr>
          <p:nvPr>
            <p:ph type="sldNum" sz="quarter" idx="11"/>
          </p:nvPr>
        </p:nvSpPr>
        <p:spPr/>
        <p:txBody>
          <a:bodyPr rtlCol="0"/>
          <a:lstStyle>
            <a:lvl1pPr>
              <a:defRPr/>
            </a:lvl1pPr>
          </a:lstStyle>
          <a:p>
            <a:pPr>
              <a:defRPr/>
            </a:pPr>
            <a:fld id="{C8273399-FC00-468E-8297-A5C757E77729}" type="slidenum">
              <a:rPr lang="en-US" altLang="en-US"/>
              <a:pPr>
                <a:defRPr/>
              </a:pPr>
              <a:t>‹#›</a:t>
            </a:fld>
            <a:endParaRPr lang="en-US" altLang="en-US"/>
          </a:p>
        </p:txBody>
      </p:sp>
      <p:sp>
        <p:nvSpPr>
          <p:cNvPr id="7" name="Footer Placeholder 11"/>
          <p:cNvSpPr>
            <a:spLocks noGrp="1"/>
          </p:cNvSpPr>
          <p:nvPr>
            <p:ph type="ftr" sz="quarter" idx="12"/>
          </p:nvPr>
        </p:nvSpPr>
        <p:spPr/>
        <p:txBody>
          <a:bodyPr rtlCol="0"/>
          <a:lstStyle>
            <a:lvl1pPr>
              <a:defRPr/>
            </a:lvl1pPr>
          </a:lstStyle>
          <a:p>
            <a:pPr>
              <a:defRPr/>
            </a:pPr>
            <a:r>
              <a:rPr lang="fa-IR" altLang="en-US"/>
              <a:t>4- طراحی برنامه موازی</a:t>
            </a:r>
            <a:endParaRPr lang="en-US" altLang="en-US"/>
          </a:p>
        </p:txBody>
      </p:sp>
    </p:spTree>
    <p:extLst>
      <p:ext uri="{BB962C8B-B14F-4D97-AF65-F5344CB8AC3E}">
        <p14:creationId xmlns:p14="http://schemas.microsoft.com/office/powerpoint/2010/main" val="2696597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lstStyle>
            <a:lvl1pPr>
              <a:defRPr/>
            </a:lvl1pPr>
          </a:lstStyle>
          <a:p>
            <a:r>
              <a:rPr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800600" y="2438400"/>
            <a:ext cx="3886200" cy="358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a:r>
              <a:rPr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a:r>
              <a:rPr lang="en-US"/>
              <a:t>Click to edit Master text styles</a:t>
            </a:r>
          </a:p>
        </p:txBody>
      </p:sp>
      <p:sp>
        <p:nvSpPr>
          <p:cNvPr id="7" name="Date Placeholder 9"/>
          <p:cNvSpPr>
            <a:spLocks noGrp="1"/>
          </p:cNvSpPr>
          <p:nvPr>
            <p:ph type="dt" sz="half" idx="10"/>
          </p:nvPr>
        </p:nvSpPr>
        <p:spPr/>
        <p:txBody>
          <a:bodyPr rtlCol="0"/>
          <a:lstStyle>
            <a:lvl1pPr>
              <a:defRPr/>
            </a:lvl1pPr>
          </a:lstStyle>
          <a:p>
            <a:pPr>
              <a:defRPr/>
            </a:pPr>
            <a:r>
              <a:rPr lang="en-US" altLang="en-US"/>
              <a:t>برنامه‌نویسی چند‌هسته‌ای</a:t>
            </a:r>
          </a:p>
        </p:txBody>
      </p:sp>
      <p:sp>
        <p:nvSpPr>
          <p:cNvPr id="8" name="Slide Number Placeholder 11"/>
          <p:cNvSpPr>
            <a:spLocks noGrp="1"/>
          </p:cNvSpPr>
          <p:nvPr>
            <p:ph type="sldNum" sz="quarter" idx="11"/>
          </p:nvPr>
        </p:nvSpPr>
        <p:spPr/>
        <p:txBody>
          <a:bodyPr rtlCol="0"/>
          <a:lstStyle>
            <a:lvl1pPr>
              <a:defRPr/>
            </a:lvl1pPr>
          </a:lstStyle>
          <a:p>
            <a:pPr>
              <a:defRPr/>
            </a:pPr>
            <a:fld id="{B5EE0C74-F63E-4D14-B3D9-88056494A6C0}" type="slidenum">
              <a:rPr lang="en-US" altLang="en-US"/>
              <a:pPr>
                <a:defRPr/>
              </a:pPr>
              <a:t>‹#›</a:t>
            </a:fld>
            <a:endParaRPr lang="en-US" altLang="en-US"/>
          </a:p>
        </p:txBody>
      </p:sp>
      <p:sp>
        <p:nvSpPr>
          <p:cNvPr id="9" name="Footer Placeholder 13"/>
          <p:cNvSpPr>
            <a:spLocks noGrp="1"/>
          </p:cNvSpPr>
          <p:nvPr>
            <p:ph type="ftr" sz="quarter" idx="12"/>
          </p:nvPr>
        </p:nvSpPr>
        <p:spPr/>
        <p:txBody>
          <a:bodyPr rtlCol="0"/>
          <a:lstStyle>
            <a:lvl1pPr>
              <a:defRPr/>
            </a:lvl1pPr>
          </a:lstStyle>
          <a:p>
            <a:pPr>
              <a:defRPr/>
            </a:pPr>
            <a:r>
              <a:rPr lang="fa-IR" altLang="en-US"/>
              <a:t>4- طراحی برنامه موازی</a:t>
            </a:r>
            <a:endParaRPr lang="en-US" altLang="en-US"/>
          </a:p>
        </p:txBody>
      </p:sp>
    </p:spTree>
    <p:extLst>
      <p:ext uri="{BB962C8B-B14F-4D97-AF65-F5344CB8AC3E}">
        <p14:creationId xmlns:p14="http://schemas.microsoft.com/office/powerpoint/2010/main" val="36389807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p:cNvSpPr>
            <a:spLocks noGrp="1"/>
          </p:cNvSpPr>
          <p:nvPr>
            <p:ph type="dt" sz="half" idx="10"/>
          </p:nvPr>
        </p:nvSpPr>
        <p:spPr/>
        <p:txBody>
          <a:bodyPr/>
          <a:lstStyle>
            <a:lvl1pPr>
              <a:defRPr/>
            </a:lvl1pPr>
          </a:lstStyle>
          <a:p>
            <a:pPr>
              <a:defRPr/>
            </a:pPr>
            <a:r>
              <a:rPr lang="en-US" altLang="en-US"/>
              <a:t>برنامه‌نویسی چند‌هسته‌ای</a:t>
            </a:r>
            <a:endParaRPr lang="en-US" altLang="en-US" dirty="0"/>
          </a:p>
        </p:txBody>
      </p:sp>
      <p:sp>
        <p:nvSpPr>
          <p:cNvPr id="4" name="Footer Placeholder 2"/>
          <p:cNvSpPr>
            <a:spLocks noGrp="1"/>
          </p:cNvSpPr>
          <p:nvPr>
            <p:ph type="ftr" sz="quarter" idx="11"/>
          </p:nvPr>
        </p:nvSpPr>
        <p:spPr/>
        <p:txBody>
          <a:bodyPr/>
          <a:lstStyle>
            <a:lvl1pPr>
              <a:defRPr/>
            </a:lvl1pPr>
          </a:lstStyle>
          <a:p>
            <a:pPr>
              <a:defRPr/>
            </a:pPr>
            <a:r>
              <a:rPr lang="fa-IR" altLang="en-US"/>
              <a:t>4- طراحی برنامه موازی</a:t>
            </a:r>
            <a:endParaRPr lang="en-US" altLang="en-US" dirty="0"/>
          </a:p>
        </p:txBody>
      </p:sp>
      <p:sp>
        <p:nvSpPr>
          <p:cNvPr id="5" name="Slide Number Placeholder 22"/>
          <p:cNvSpPr>
            <a:spLocks noGrp="1"/>
          </p:cNvSpPr>
          <p:nvPr>
            <p:ph type="sldNum" sz="quarter" idx="12"/>
          </p:nvPr>
        </p:nvSpPr>
        <p:spPr/>
        <p:txBody>
          <a:bodyPr/>
          <a:lstStyle>
            <a:lvl1pPr>
              <a:defRPr/>
            </a:lvl1pPr>
          </a:lstStyle>
          <a:p>
            <a:pPr>
              <a:defRPr/>
            </a:pPr>
            <a:fld id="{D5051E03-F727-4562-A6EF-A0FC89A14B1C}" type="slidenum">
              <a:rPr lang="en-US" altLang="en-US"/>
              <a:pPr>
                <a:defRPr/>
              </a:pPr>
              <a:t>‹#›</a:t>
            </a:fld>
            <a:endParaRPr lang="en-US" altLang="en-US" dirty="0"/>
          </a:p>
        </p:txBody>
      </p:sp>
    </p:spTree>
    <p:extLst>
      <p:ext uri="{BB962C8B-B14F-4D97-AF65-F5344CB8AC3E}">
        <p14:creationId xmlns:p14="http://schemas.microsoft.com/office/powerpoint/2010/main" val="11713323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r>
              <a:rPr lang="en-US" altLang="en-US"/>
              <a:t>برنامه‌نویسی چند‌هسته‌ای</a:t>
            </a:r>
          </a:p>
        </p:txBody>
      </p:sp>
      <p:sp>
        <p:nvSpPr>
          <p:cNvPr id="3" name="Footer Placeholder 2"/>
          <p:cNvSpPr>
            <a:spLocks noGrp="1"/>
          </p:cNvSpPr>
          <p:nvPr>
            <p:ph type="ftr" sz="quarter" idx="11"/>
          </p:nvPr>
        </p:nvSpPr>
        <p:spPr/>
        <p:txBody>
          <a:bodyPr/>
          <a:lstStyle>
            <a:lvl1pPr>
              <a:defRPr/>
            </a:lvl1pPr>
          </a:lstStyle>
          <a:p>
            <a:pPr>
              <a:defRPr/>
            </a:pPr>
            <a:r>
              <a:rPr lang="fa-IR" altLang="en-US"/>
              <a:t>4- طراحی برنامه موازی</a:t>
            </a:r>
            <a:endParaRPr lang="en-US" alt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pPr>
              <a:defRPr/>
            </a:pPr>
            <a:fld id="{1447DC95-5854-4724-B6D6-20751119913D}" type="slidenum">
              <a:rPr lang="en-US" altLang="en-US"/>
              <a:pPr>
                <a:defRPr/>
              </a:pPr>
              <a:t>‹#›</a:t>
            </a:fld>
            <a:endParaRPr lang="en-US" altLang="en-US"/>
          </a:p>
        </p:txBody>
      </p:sp>
    </p:spTree>
    <p:extLst>
      <p:ext uri="{BB962C8B-B14F-4D97-AF65-F5344CB8AC3E}">
        <p14:creationId xmlns:p14="http://schemas.microsoft.com/office/powerpoint/2010/main" val="25482852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lstStyle>
            <a:lvl1pPr algn="l">
              <a:buNone/>
              <a:defRPr sz="4400" b="0"/>
            </a:lvl1pPr>
          </a:lstStyle>
          <a:p>
            <a:r>
              <a:rPr lang="en-US"/>
              <a:t>Click to edit Master title style</a:t>
            </a:r>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p:cNvSpPr>
            <a:spLocks noGrp="1"/>
          </p:cNvSpPr>
          <p:nvPr>
            <p:ph type="dt" sz="half" idx="10"/>
          </p:nvPr>
        </p:nvSpPr>
        <p:spPr/>
        <p:txBody>
          <a:bodyPr/>
          <a:lstStyle>
            <a:lvl1pPr>
              <a:defRPr/>
            </a:lvl1pPr>
          </a:lstStyle>
          <a:p>
            <a:pPr>
              <a:defRPr/>
            </a:pPr>
            <a:r>
              <a:rPr lang="en-US" altLang="en-US"/>
              <a:t>برنامه‌نویسی چند‌هسته‌ای</a:t>
            </a:r>
            <a:endParaRPr lang="en-US" altLang="en-US" dirty="0"/>
          </a:p>
        </p:txBody>
      </p:sp>
      <p:sp>
        <p:nvSpPr>
          <p:cNvPr id="6" name="Footer Placeholder 2"/>
          <p:cNvSpPr>
            <a:spLocks noGrp="1"/>
          </p:cNvSpPr>
          <p:nvPr>
            <p:ph type="ftr" sz="quarter" idx="11"/>
          </p:nvPr>
        </p:nvSpPr>
        <p:spPr/>
        <p:txBody>
          <a:bodyPr/>
          <a:lstStyle>
            <a:lvl1pPr>
              <a:defRPr/>
            </a:lvl1pPr>
          </a:lstStyle>
          <a:p>
            <a:pPr>
              <a:defRPr/>
            </a:pPr>
            <a:r>
              <a:rPr lang="fa-IR" altLang="en-US"/>
              <a:t>4- طراحی برنامه موازی</a:t>
            </a:r>
            <a:endParaRPr lang="en-US" altLang="en-US" dirty="0"/>
          </a:p>
        </p:txBody>
      </p:sp>
      <p:sp>
        <p:nvSpPr>
          <p:cNvPr id="7" name="Slide Number Placeholder 22"/>
          <p:cNvSpPr>
            <a:spLocks noGrp="1"/>
          </p:cNvSpPr>
          <p:nvPr>
            <p:ph type="sldNum" sz="quarter" idx="12"/>
          </p:nvPr>
        </p:nvSpPr>
        <p:spPr/>
        <p:txBody>
          <a:bodyPr/>
          <a:lstStyle>
            <a:lvl1pPr>
              <a:defRPr/>
            </a:lvl1pPr>
          </a:lstStyle>
          <a:p>
            <a:pPr>
              <a:defRPr/>
            </a:pPr>
            <a:fld id="{7B626475-5554-4527-8CFD-5B621BF7CCBE}" type="slidenum">
              <a:rPr lang="en-US" altLang="en-US"/>
              <a:pPr>
                <a:defRPr/>
              </a:pPr>
              <a:t>‹#›</a:t>
            </a:fld>
            <a:endParaRPr lang="en-US" altLang="en-US" dirty="0"/>
          </a:p>
        </p:txBody>
      </p:sp>
    </p:spTree>
    <p:extLst>
      <p:ext uri="{BB962C8B-B14F-4D97-AF65-F5344CB8AC3E}">
        <p14:creationId xmlns:p14="http://schemas.microsoft.com/office/powerpoint/2010/main" val="2790985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5" name="Rectangle 4"/>
          <p:cNvSpPr/>
          <p:nvPr/>
        </p:nvSpPr>
        <p:spPr bwMode="white">
          <a:xfrm>
            <a:off x="-9525" y="4572000"/>
            <a:ext cx="9144000" cy="887413"/>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9525" y="4664075"/>
            <a:ext cx="1463675" cy="712788"/>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tangle 6"/>
          <p:cNvSpPr/>
          <p:nvPr/>
        </p:nvSpPr>
        <p:spPr>
          <a:xfrm>
            <a:off x="1544638" y="4654550"/>
            <a:ext cx="7599362" cy="712788"/>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Rectangle 7"/>
          <p:cNvSpPr/>
          <p:nvPr/>
        </p:nvSpPr>
        <p:spPr bwMode="white">
          <a:xfrm>
            <a:off x="1447800" y="0"/>
            <a:ext cx="100013" cy="6867525"/>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a:r>
              <a:rPr lang="en-US"/>
              <a:t>Click to edit Master text styles</a:t>
            </a:r>
          </a:p>
        </p:txBody>
      </p:sp>
      <p:sp>
        <p:nvSpPr>
          <p:cNvPr id="2" name="Title 1"/>
          <p:cNvSpPr>
            <a:spLocks noGrp="1"/>
          </p:cNvSpPr>
          <p:nvPr>
            <p:ph type="title"/>
          </p:nvPr>
        </p:nvSpPr>
        <p:spPr>
          <a:xfrm>
            <a:off x="1600200" y="4648200"/>
            <a:ext cx="7315200" cy="685800"/>
          </a:xfrm>
        </p:spPr>
        <p:txBody>
          <a:bodyPr/>
          <a:lstStyle>
            <a:lvl1pPr algn="l">
              <a:buNone/>
              <a:defRPr sz="2800" b="0">
                <a:solidFill>
                  <a:srgbClr val="FFFFFF"/>
                </a:solidFill>
              </a:defRPr>
            </a:lvl1pPr>
          </a:lstStyle>
          <a:p>
            <a:r>
              <a:rPr lang="en-US"/>
              <a:t>Click to edit Master title style</a:t>
            </a:r>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normAutofit/>
          </a:bodyPr>
          <a:lstStyle>
            <a:lvl1pPr marL="0" indent="0">
              <a:buNone/>
              <a:defRPr sz="3200"/>
            </a:lvl1pPr>
          </a:lstStyle>
          <a:p>
            <a:pPr lvl="0"/>
            <a:r>
              <a:rPr lang="en-US" noProof="0"/>
              <a:t>Click icon to add picture</a:t>
            </a:r>
            <a:endParaRPr lang="en-US" noProof="0" dirty="0"/>
          </a:p>
        </p:txBody>
      </p:sp>
      <p:sp>
        <p:nvSpPr>
          <p:cNvPr id="9" name="Date Placeholder 11"/>
          <p:cNvSpPr>
            <a:spLocks noGrp="1"/>
          </p:cNvSpPr>
          <p:nvPr>
            <p:ph type="dt" sz="half" idx="10"/>
          </p:nvPr>
        </p:nvSpPr>
        <p:spPr>
          <a:xfrm>
            <a:off x="6248400" y="6248400"/>
            <a:ext cx="2667000" cy="365125"/>
          </a:xfrm>
        </p:spPr>
        <p:txBody>
          <a:bodyPr rtlCol="0"/>
          <a:lstStyle>
            <a:lvl1pPr>
              <a:defRPr/>
            </a:lvl1pPr>
          </a:lstStyle>
          <a:p>
            <a:pPr>
              <a:defRPr/>
            </a:pPr>
            <a:r>
              <a:rPr lang="en-US" altLang="en-US"/>
              <a:t>برنامه‌نویسی چند‌هسته‌ای</a:t>
            </a:r>
          </a:p>
        </p:txBody>
      </p:sp>
      <p:sp>
        <p:nvSpPr>
          <p:cNvPr id="10" name="Slide Number Placeholder 12"/>
          <p:cNvSpPr>
            <a:spLocks noGrp="1"/>
          </p:cNvSpPr>
          <p:nvPr>
            <p:ph type="sldNum" sz="quarter" idx="11"/>
          </p:nvPr>
        </p:nvSpPr>
        <p:spPr>
          <a:xfrm>
            <a:off x="0" y="4667250"/>
            <a:ext cx="1447800" cy="663575"/>
          </a:xfrm>
        </p:spPr>
        <p:txBody>
          <a:bodyPr rtlCol="0"/>
          <a:lstStyle>
            <a:lvl1pPr>
              <a:defRPr sz="2800"/>
            </a:lvl1pPr>
          </a:lstStyle>
          <a:p>
            <a:pPr>
              <a:defRPr/>
            </a:pPr>
            <a:fld id="{96818297-90BD-4146-99D5-0305732C08E6}" type="slidenum">
              <a:rPr lang="en-US" altLang="en-US"/>
              <a:pPr>
                <a:defRPr/>
              </a:pPr>
              <a:t>‹#›</a:t>
            </a:fld>
            <a:endParaRPr lang="en-US" altLang="en-US"/>
          </a:p>
        </p:txBody>
      </p:sp>
      <p:sp>
        <p:nvSpPr>
          <p:cNvPr id="11" name="Footer Placeholder 13"/>
          <p:cNvSpPr>
            <a:spLocks noGrp="1"/>
          </p:cNvSpPr>
          <p:nvPr>
            <p:ph type="ftr" sz="quarter" idx="12"/>
          </p:nvPr>
        </p:nvSpPr>
        <p:spPr>
          <a:xfrm>
            <a:off x="1600200" y="6248400"/>
            <a:ext cx="4572000" cy="365125"/>
          </a:xfrm>
        </p:spPr>
        <p:txBody>
          <a:bodyPr rtlCol="0"/>
          <a:lstStyle>
            <a:lvl1pPr>
              <a:defRPr/>
            </a:lvl1pPr>
          </a:lstStyle>
          <a:p>
            <a:pPr>
              <a:defRPr/>
            </a:pPr>
            <a:r>
              <a:rPr lang="fa-IR" altLang="en-US"/>
              <a:t>4- طراحی برنامه موازی</a:t>
            </a:r>
            <a:endParaRPr lang="en-US" altLang="en-US"/>
          </a:p>
        </p:txBody>
      </p:sp>
    </p:spTree>
    <p:extLst>
      <p:ext uri="{BB962C8B-B14F-4D97-AF65-F5344CB8AC3E}">
        <p14:creationId xmlns:p14="http://schemas.microsoft.com/office/powerpoint/2010/main" val="413670198"/>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r>
              <a:rPr lang="en-US" altLang="en-US"/>
              <a:t>برنامه‌نویسی چند‌هسته‌ای</a:t>
            </a:r>
            <a:endParaRPr lang="en-US" altLang="en-US" dirty="0"/>
          </a:p>
        </p:txBody>
      </p:sp>
      <p:sp>
        <p:nvSpPr>
          <p:cNvPr id="5" name="Footer Placeholder 2"/>
          <p:cNvSpPr>
            <a:spLocks noGrp="1"/>
          </p:cNvSpPr>
          <p:nvPr>
            <p:ph type="ftr" sz="quarter" idx="11"/>
          </p:nvPr>
        </p:nvSpPr>
        <p:spPr/>
        <p:txBody>
          <a:bodyPr/>
          <a:lstStyle>
            <a:lvl1pPr>
              <a:defRPr/>
            </a:lvl1pPr>
          </a:lstStyle>
          <a:p>
            <a:pPr>
              <a:defRPr/>
            </a:pPr>
            <a:r>
              <a:rPr lang="fa-IR" altLang="en-US"/>
              <a:t>4- طراحی برنامه موازی</a:t>
            </a:r>
            <a:endParaRPr lang="en-US" altLang="en-US" dirty="0"/>
          </a:p>
        </p:txBody>
      </p:sp>
      <p:sp>
        <p:nvSpPr>
          <p:cNvPr id="6" name="Slide Number Placeholder 22"/>
          <p:cNvSpPr>
            <a:spLocks noGrp="1"/>
          </p:cNvSpPr>
          <p:nvPr>
            <p:ph type="sldNum" sz="quarter" idx="12"/>
          </p:nvPr>
        </p:nvSpPr>
        <p:spPr/>
        <p:txBody>
          <a:bodyPr/>
          <a:lstStyle>
            <a:lvl1pPr>
              <a:defRPr/>
            </a:lvl1pPr>
          </a:lstStyle>
          <a:p>
            <a:pPr>
              <a:defRPr/>
            </a:pPr>
            <a:fld id="{A85D6ACE-8AD5-4601-BF6F-3BD0F2FCF74C}" type="slidenum">
              <a:rPr lang="en-US" altLang="en-US"/>
              <a:pPr>
                <a:defRPr/>
              </a:pPr>
              <a:t>‹#›</a:t>
            </a:fld>
            <a:endParaRPr lang="en-US" altLang="en-US" dirty="0"/>
          </a:p>
        </p:txBody>
      </p:sp>
    </p:spTree>
    <p:extLst>
      <p:ext uri="{BB962C8B-B14F-4D97-AF65-F5344CB8AC3E}">
        <p14:creationId xmlns:p14="http://schemas.microsoft.com/office/powerpoint/2010/main" val="34867251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3"/>
          <p:cNvSpPr/>
          <p:nvPr/>
        </p:nvSpPr>
        <p:spPr bwMode="white">
          <a:xfrm>
            <a:off x="6096000" y="0"/>
            <a:ext cx="320675"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4"/>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ectangle 5"/>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Vertical Title 1"/>
          <p:cNvSpPr>
            <a:spLocks noGrp="1"/>
          </p:cNvSpPr>
          <p:nvPr>
            <p:ph type="title" orient="vert"/>
          </p:nvPr>
        </p:nvSpPr>
        <p:spPr>
          <a:xfrm>
            <a:off x="6553200" y="609600"/>
            <a:ext cx="2057400" cy="55165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a:xfrm>
            <a:off x="6553200" y="6248400"/>
            <a:ext cx="2209800" cy="365125"/>
          </a:xfrm>
        </p:spPr>
        <p:txBody>
          <a:bodyPr/>
          <a:lstStyle>
            <a:lvl1pPr>
              <a:defRPr/>
            </a:lvl1pPr>
          </a:lstStyle>
          <a:p>
            <a:pPr>
              <a:defRPr/>
            </a:pPr>
            <a:r>
              <a:rPr lang="en-US" altLang="en-US"/>
              <a:t>برنامه‌نویسی چند‌هسته‌ای</a:t>
            </a:r>
          </a:p>
        </p:txBody>
      </p:sp>
      <p:sp>
        <p:nvSpPr>
          <p:cNvPr id="8" name="Footer Placeholder 4"/>
          <p:cNvSpPr>
            <a:spLocks noGrp="1"/>
          </p:cNvSpPr>
          <p:nvPr>
            <p:ph type="ftr" sz="quarter" idx="11"/>
          </p:nvPr>
        </p:nvSpPr>
        <p:spPr>
          <a:xfrm>
            <a:off x="457200" y="6248400"/>
            <a:ext cx="5573713" cy="365125"/>
          </a:xfrm>
        </p:spPr>
        <p:txBody>
          <a:bodyPr/>
          <a:lstStyle>
            <a:lvl1pPr>
              <a:defRPr/>
            </a:lvl1pPr>
          </a:lstStyle>
          <a:p>
            <a:pPr>
              <a:defRPr/>
            </a:pPr>
            <a:r>
              <a:rPr lang="fa-IR" altLang="en-US"/>
              <a:t>4- طراحی برنامه موازی</a:t>
            </a:r>
            <a:endParaRPr lang="en-US" altLang="en-US"/>
          </a:p>
        </p:txBody>
      </p:sp>
      <p:sp>
        <p:nvSpPr>
          <p:cNvPr id="9" name="Slide Number Placeholder 5"/>
          <p:cNvSpPr>
            <a:spLocks noGrp="1"/>
          </p:cNvSpPr>
          <p:nvPr>
            <p:ph type="sldNum" sz="quarter" idx="12"/>
          </p:nvPr>
        </p:nvSpPr>
        <p:spPr>
          <a:xfrm rot="5400000">
            <a:off x="5989638" y="144462"/>
            <a:ext cx="533400" cy="244475"/>
          </a:xfrm>
        </p:spPr>
        <p:txBody>
          <a:bodyPr/>
          <a:lstStyle>
            <a:lvl1pPr>
              <a:defRPr/>
            </a:lvl1pPr>
          </a:lstStyle>
          <a:p>
            <a:pPr>
              <a:defRPr/>
            </a:pPr>
            <a:fld id="{3A9D028E-CEE5-4E72-AB72-60DE51AE86D8}" type="slidenum">
              <a:rPr lang="en-US" altLang="en-US"/>
              <a:pPr>
                <a:defRPr/>
              </a:pPr>
              <a:t>‹#›</a:t>
            </a:fld>
            <a:endParaRPr lang="en-US" altLang="en-US"/>
          </a:p>
        </p:txBody>
      </p:sp>
    </p:spTree>
    <p:extLst>
      <p:ext uri="{BB962C8B-B14F-4D97-AF65-F5344CB8AC3E}">
        <p14:creationId xmlns:p14="http://schemas.microsoft.com/office/powerpoint/2010/main" val="81176392"/>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21"/>
          <p:cNvSpPr>
            <a:spLocks noGrp="1"/>
          </p:cNvSpPr>
          <p:nvPr>
            <p:ph type="title"/>
          </p:nvPr>
        </p:nvSpPr>
        <p:spPr bwMode="auto">
          <a:xfrm>
            <a:off x="609600" y="228600"/>
            <a:ext cx="8153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12"/>
          <p:cNvSpPr>
            <a:spLocks noGrp="1"/>
          </p:cNvSpPr>
          <p:nvPr>
            <p:ph type="body" idx="1"/>
          </p:nvPr>
        </p:nvSpPr>
        <p:spPr bwMode="auto">
          <a:xfrm>
            <a:off x="612775" y="1235075"/>
            <a:ext cx="8153400" cy="489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p:cNvSpPr>
            <a:spLocks noGrp="1"/>
          </p:cNvSpPr>
          <p:nvPr>
            <p:ph type="dt" sz="half" idx="2"/>
          </p:nvPr>
        </p:nvSpPr>
        <p:spPr>
          <a:xfrm>
            <a:off x="6096000" y="6248400"/>
            <a:ext cx="2667000" cy="381000"/>
          </a:xfrm>
          <a:prstGeom prst="rect">
            <a:avLst/>
          </a:prstGeom>
          <a:solidFill>
            <a:schemeClr val="accent1"/>
          </a:solidFill>
        </p:spPr>
        <p:txBody>
          <a:bodyPr vert="horz" anchor="ctr" anchorCtr="0"/>
          <a:lstStyle>
            <a:lvl1pPr algn="ctr" eaLnBrk="1" latinLnBrk="0" hangingPunct="1">
              <a:defRPr kumimoji="0" sz="1400">
                <a:solidFill>
                  <a:schemeClr val="tx2"/>
                </a:solidFill>
                <a:latin typeface="Arial" charset="0"/>
              </a:defRPr>
            </a:lvl1pPr>
          </a:lstStyle>
          <a:p>
            <a:pPr>
              <a:defRPr/>
            </a:pPr>
            <a:r>
              <a:rPr lang="en-US" altLang="en-US"/>
              <a:t>برنامه‌نویسی چند‌هسته‌ای</a:t>
            </a:r>
            <a:endParaRPr lang="en-US" altLang="en-US" dirty="0"/>
          </a:p>
        </p:txBody>
      </p:sp>
      <p:sp>
        <p:nvSpPr>
          <p:cNvPr id="3" name="Footer Placeholder 2"/>
          <p:cNvSpPr>
            <a:spLocks noGrp="1"/>
          </p:cNvSpPr>
          <p:nvPr>
            <p:ph type="ftr" sz="quarter" idx="3"/>
          </p:nvPr>
        </p:nvSpPr>
        <p:spPr>
          <a:xfrm>
            <a:off x="1219200" y="6248400"/>
            <a:ext cx="4811713" cy="381000"/>
          </a:xfrm>
          <a:prstGeom prst="rect">
            <a:avLst/>
          </a:prstGeom>
          <a:solidFill>
            <a:schemeClr val="accent2"/>
          </a:solidFill>
        </p:spPr>
        <p:txBody>
          <a:bodyPr vert="horz" anchor="ctr"/>
          <a:lstStyle>
            <a:lvl1pPr algn="ctr" eaLnBrk="1" latinLnBrk="0" hangingPunct="1">
              <a:defRPr kumimoji="0" sz="1400">
                <a:solidFill>
                  <a:schemeClr val="tx2"/>
                </a:solidFill>
                <a:latin typeface="Arial" charset="0"/>
              </a:defRPr>
            </a:lvl1pPr>
          </a:lstStyle>
          <a:p>
            <a:pPr>
              <a:defRPr/>
            </a:pPr>
            <a:r>
              <a:rPr lang="fa-IR" altLang="en-US"/>
              <a:t>4- طراحی برنامه موازی</a:t>
            </a:r>
            <a:endParaRPr lang="en-US" altLang="en-US" dirty="0"/>
          </a:p>
        </p:txBody>
      </p:sp>
      <p:sp>
        <p:nvSpPr>
          <p:cNvPr id="7" name="Rectangle 6"/>
          <p:cNvSpPr/>
          <p:nvPr/>
        </p:nvSpPr>
        <p:spPr bwMode="white">
          <a:xfrm>
            <a:off x="0" y="900113"/>
            <a:ext cx="9144000" cy="319087"/>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Rectangle 7"/>
          <p:cNvSpPr/>
          <p:nvPr/>
        </p:nvSpPr>
        <p:spPr>
          <a:xfrm>
            <a:off x="590550" y="6248400"/>
            <a:ext cx="533400" cy="381000"/>
          </a:xfrm>
          <a:prstGeom prst="rect">
            <a:avLst/>
          </a:prstGeom>
          <a:solidFill>
            <a:schemeClr val="accent1"/>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9" name="Rectangle 8"/>
          <p:cNvSpPr/>
          <p:nvPr/>
        </p:nvSpPr>
        <p:spPr>
          <a:xfrm>
            <a:off x="590550" y="990600"/>
            <a:ext cx="8172450" cy="160338"/>
          </a:xfrm>
          <a:prstGeom prst="rect">
            <a:avLst/>
          </a:prstGeom>
          <a:solidFill>
            <a:schemeClr val="accent1"/>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3" name="Slide Number Placeholder 22"/>
          <p:cNvSpPr>
            <a:spLocks noGrp="1"/>
          </p:cNvSpPr>
          <p:nvPr>
            <p:ph type="sldNum" sz="quarter" idx="4"/>
          </p:nvPr>
        </p:nvSpPr>
        <p:spPr>
          <a:xfrm>
            <a:off x="609600" y="6329363"/>
            <a:ext cx="533400" cy="244475"/>
          </a:xfrm>
          <a:prstGeom prst="rect">
            <a:avLst/>
          </a:prstGeom>
        </p:spPr>
        <p:txBody>
          <a:bodyPr vert="horz" anchor="ctr" anchorCtr="0">
            <a:normAutofit/>
          </a:bodyPr>
          <a:lstStyle>
            <a:lvl1pPr algn="ctr" eaLnBrk="1" latinLnBrk="0" hangingPunct="1">
              <a:defRPr kumimoji="0" sz="1400" b="1">
                <a:solidFill>
                  <a:srgbClr val="FFFFFF"/>
                </a:solidFill>
                <a:latin typeface="Arial" charset="0"/>
              </a:defRPr>
            </a:lvl1pPr>
          </a:lstStyle>
          <a:p>
            <a:pPr>
              <a:defRPr/>
            </a:pPr>
            <a:fld id="{27132BE2-3AAD-4C99-84E8-867559028174}" type="slidenum">
              <a:rPr lang="en-US" altLang="en-US"/>
              <a:pPr>
                <a:defRPr/>
              </a:pPr>
              <a:t>‹#›</a:t>
            </a:fld>
            <a:endParaRPr lang="en-US" altLang="en-US" dirty="0"/>
          </a:p>
        </p:txBody>
      </p:sp>
    </p:spTree>
  </p:cSld>
  <p:clrMap bg1="lt1" tx1="dk1" bg2="lt2" tx2="dk2" accent1="accent1" accent2="accent2" accent3="accent3" accent4="accent4" accent5="accent5" accent6="accent6" hlink="hlink" folHlink="folHlink"/>
  <p:sldLayoutIdLst>
    <p:sldLayoutId id="2147483968" r:id="rId1"/>
    <p:sldLayoutId id="2147483969" r:id="rId2"/>
    <p:sldLayoutId id="2147483970" r:id="rId3"/>
    <p:sldLayoutId id="2147483971" r:id="rId4"/>
    <p:sldLayoutId id="2147483972" r:id="rId5"/>
    <p:sldLayoutId id="2147483965" r:id="rId6"/>
    <p:sldLayoutId id="2147483973" r:id="rId7"/>
    <p:sldLayoutId id="2147483966" r:id="rId8"/>
    <p:sldLayoutId id="2147483974" r:id="rId9"/>
    <p:sldLayoutId id="2147483967" r:id="rId10"/>
    <p:sldLayoutId id="2147483975" r:id="rId11"/>
  </p:sldLayoutIdLst>
  <p:hf hdr="0"/>
  <p:txStyles>
    <p:titleStyle>
      <a:lvl1pPr algn="l" rtl="0" eaLnBrk="0" fontAlgn="base" hangingPunct="0">
        <a:spcBef>
          <a:spcPct val="0"/>
        </a:spcBef>
        <a:spcAft>
          <a:spcPct val="0"/>
        </a:spcAft>
        <a:defRPr sz="4400" kern="12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Calibri" pitchFamily="34" charset="0"/>
        </a:defRPr>
      </a:lvl2pPr>
      <a:lvl3pPr algn="l" rtl="0" eaLnBrk="0" fontAlgn="base" hangingPunct="0">
        <a:spcBef>
          <a:spcPct val="0"/>
        </a:spcBef>
        <a:spcAft>
          <a:spcPct val="0"/>
        </a:spcAft>
        <a:defRPr sz="4400">
          <a:solidFill>
            <a:schemeClr val="tx2"/>
          </a:solidFill>
          <a:latin typeface="Calibri" pitchFamily="34" charset="0"/>
        </a:defRPr>
      </a:lvl3pPr>
      <a:lvl4pPr algn="l" rtl="0" eaLnBrk="0" fontAlgn="base" hangingPunct="0">
        <a:spcBef>
          <a:spcPct val="0"/>
        </a:spcBef>
        <a:spcAft>
          <a:spcPct val="0"/>
        </a:spcAft>
        <a:defRPr sz="4400">
          <a:solidFill>
            <a:schemeClr val="tx2"/>
          </a:solidFill>
          <a:latin typeface="Calibri" pitchFamily="34" charset="0"/>
        </a:defRPr>
      </a:lvl4pPr>
      <a:lvl5pPr algn="l" rtl="0" eaLnBrk="0" fontAlgn="base" hangingPunct="0">
        <a:spcBef>
          <a:spcPct val="0"/>
        </a:spcBef>
        <a:spcAft>
          <a:spcPct val="0"/>
        </a:spcAft>
        <a:defRPr sz="4400">
          <a:solidFill>
            <a:schemeClr val="tx2"/>
          </a:solidFill>
          <a:latin typeface="Calibri" pitchFamily="34" charset="0"/>
        </a:defRPr>
      </a:lvl5pPr>
      <a:lvl6pPr marL="457200" algn="l" rtl="0" fontAlgn="base">
        <a:spcBef>
          <a:spcPct val="0"/>
        </a:spcBef>
        <a:spcAft>
          <a:spcPct val="0"/>
        </a:spcAft>
        <a:defRPr sz="4400">
          <a:solidFill>
            <a:schemeClr val="tx2"/>
          </a:solidFill>
          <a:latin typeface="Calibri" pitchFamily="34" charset="0"/>
        </a:defRPr>
      </a:lvl6pPr>
      <a:lvl7pPr marL="914400" algn="l" rtl="0" fontAlgn="base">
        <a:spcBef>
          <a:spcPct val="0"/>
        </a:spcBef>
        <a:spcAft>
          <a:spcPct val="0"/>
        </a:spcAft>
        <a:defRPr sz="4400">
          <a:solidFill>
            <a:schemeClr val="tx2"/>
          </a:solidFill>
          <a:latin typeface="Calibri" pitchFamily="34" charset="0"/>
        </a:defRPr>
      </a:lvl7pPr>
      <a:lvl8pPr marL="1371600" algn="l" rtl="0" fontAlgn="base">
        <a:spcBef>
          <a:spcPct val="0"/>
        </a:spcBef>
        <a:spcAft>
          <a:spcPct val="0"/>
        </a:spcAft>
        <a:defRPr sz="4400">
          <a:solidFill>
            <a:schemeClr val="tx2"/>
          </a:solidFill>
          <a:latin typeface="Calibri" pitchFamily="34" charset="0"/>
        </a:defRPr>
      </a:lvl8pPr>
      <a:lvl9pPr marL="1828800" algn="l" rtl="0" fontAlgn="base">
        <a:spcBef>
          <a:spcPct val="0"/>
        </a:spcBef>
        <a:spcAft>
          <a:spcPct val="0"/>
        </a:spcAft>
        <a:defRPr sz="4400">
          <a:solidFill>
            <a:schemeClr val="tx2"/>
          </a:solidFill>
          <a:latin typeface="Calibri" pitchFamily="34" charset="0"/>
        </a:defRPr>
      </a:lvl9pPr>
    </p:titleStyle>
    <p:bodyStyle>
      <a:lvl1pPr marL="319088" indent="-319088" algn="l" rtl="0" eaLnBrk="0" fontAlgn="base" hangingPunct="0">
        <a:spcBef>
          <a:spcPts val="700"/>
        </a:spcBef>
        <a:spcAft>
          <a:spcPct val="0"/>
        </a:spcAft>
        <a:buClr>
          <a:schemeClr val="accent2"/>
        </a:buClr>
        <a:buSzPct val="60000"/>
        <a:buFont typeface="Wingdings" pitchFamily="2" charset="2"/>
        <a:buChar char=""/>
        <a:defRPr sz="2900" kern="1200">
          <a:solidFill>
            <a:schemeClr val="tx1"/>
          </a:solidFill>
          <a:latin typeface="+mn-lt"/>
          <a:ea typeface="+mn-ea"/>
          <a:cs typeface="+mn-cs"/>
        </a:defRPr>
      </a:lvl1pPr>
      <a:lvl2pPr marL="639763" indent="-273050" algn="l" rtl="0" eaLnBrk="0" fontAlgn="base" hangingPunct="0">
        <a:spcBef>
          <a:spcPts val="550"/>
        </a:spcBef>
        <a:spcAft>
          <a:spcPct val="0"/>
        </a:spcAft>
        <a:buClr>
          <a:schemeClr val="accent1"/>
        </a:buClr>
        <a:buSzPct val="70000"/>
        <a:buFont typeface="Wingdings 2" pitchFamily="18" charset="2"/>
        <a:buChar char=""/>
        <a:defRPr sz="2600" kern="1200">
          <a:solidFill>
            <a:schemeClr val="tx1"/>
          </a:solidFill>
          <a:latin typeface="+mn-lt"/>
          <a:ea typeface="+mn-ea"/>
          <a:cs typeface="+mn-cs"/>
        </a:defRPr>
      </a:lvl2pPr>
      <a:lvl3pPr marL="914400" indent="-228600" algn="l" rtl="0" eaLnBrk="0" fontAlgn="base" hangingPunct="0">
        <a:spcBef>
          <a:spcPts val="500"/>
        </a:spcBef>
        <a:spcAft>
          <a:spcPct val="0"/>
        </a:spcAft>
        <a:buClr>
          <a:schemeClr val="accent2"/>
        </a:buClr>
        <a:buSzPct val="75000"/>
        <a:buFont typeface="Wingdings" pitchFamily="2" charset="2"/>
        <a:buChar char=""/>
        <a:defRPr sz="2300" kern="1200">
          <a:solidFill>
            <a:schemeClr val="tx1"/>
          </a:solidFill>
          <a:latin typeface="+mn-lt"/>
          <a:ea typeface="+mn-ea"/>
          <a:cs typeface="+mn-cs"/>
        </a:defRPr>
      </a:lvl3pPr>
      <a:lvl4pPr marL="1371600" indent="-228600" algn="l" rtl="0" eaLnBrk="0" fontAlgn="base" hangingPunct="0">
        <a:spcBef>
          <a:spcPts val="400"/>
        </a:spcBef>
        <a:spcAft>
          <a:spcPct val="0"/>
        </a:spcAft>
        <a:buClr>
          <a:srgbClr val="A5AB81"/>
        </a:buClr>
        <a:buSzPct val="75000"/>
        <a:buFont typeface="Wingdings" pitchFamily="2" charset="2"/>
        <a:buChar char=""/>
        <a:defRPr sz="2000" kern="1200">
          <a:solidFill>
            <a:schemeClr val="tx1"/>
          </a:solidFill>
          <a:latin typeface="+mn-lt"/>
          <a:ea typeface="+mn-ea"/>
          <a:cs typeface="+mn-cs"/>
        </a:defRPr>
      </a:lvl4pPr>
      <a:lvl5pPr marL="1828800" indent="-228600" algn="l" rtl="0" eaLnBrk="0" fontAlgn="base" hangingPunct="0">
        <a:spcBef>
          <a:spcPts val="400"/>
        </a:spcBef>
        <a:spcAft>
          <a:spcPct val="0"/>
        </a:spcAft>
        <a:buClr>
          <a:srgbClr val="D8B25C"/>
        </a:buClr>
        <a:buSzPct val="65000"/>
        <a:buFont typeface="Wingdings" pitchFamily="2" charset="2"/>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990600"/>
            <a:ext cx="8229600" cy="4876800"/>
          </a:xfrm>
        </p:spPr>
        <p:txBody>
          <a:bodyPr>
            <a:normAutofit/>
          </a:bodyPr>
          <a:lstStyle/>
          <a:p>
            <a:pPr algn="r" rtl="1" eaLnBrk="1" fontAlgn="auto" hangingPunct="1">
              <a:spcAft>
                <a:spcPts val="0"/>
              </a:spcAft>
              <a:defRPr/>
            </a:pPr>
            <a:r>
              <a:rPr lang="fa-IR" cap="none" dirty="0">
                <a:cs typeface="B Nazanin" panose="00000400000000000000" pitchFamily="2" charset="-78"/>
              </a:rPr>
              <a:t>برنامه‌نویسی چندهسته‌ای</a:t>
            </a:r>
            <a:br>
              <a:rPr lang="en-US" cap="none" dirty="0">
                <a:cs typeface="B Nazanin" panose="00000400000000000000" pitchFamily="2" charset="-78"/>
              </a:rPr>
            </a:br>
            <a:br>
              <a:rPr lang="fa-IR" cap="none" dirty="0">
                <a:cs typeface="B Nazanin" panose="00000400000000000000" pitchFamily="2" charset="-78"/>
              </a:rPr>
            </a:br>
            <a:r>
              <a:rPr lang="fa-IR" cap="none" dirty="0">
                <a:cs typeface="B Nazanin" panose="00000400000000000000" pitchFamily="2" charset="-78"/>
              </a:rPr>
              <a:t>4- طراحی برنامه موازی (بخش دوم)</a:t>
            </a:r>
            <a:br>
              <a:rPr lang="en-US" dirty="0">
                <a:cs typeface="B Nazanin" panose="00000400000000000000" pitchFamily="2" charset="-78"/>
              </a:rPr>
            </a:br>
            <a:br>
              <a:rPr lang="en-US" dirty="0">
                <a:cs typeface="B Nazanin" panose="00000400000000000000" pitchFamily="2" charset="-78"/>
              </a:rPr>
            </a:br>
            <a:r>
              <a:rPr lang="fa-IR" sz="3600" cap="none" dirty="0">
                <a:cs typeface="B Nazanin" panose="00000400000000000000" pitchFamily="2" charset="-78"/>
              </a:rPr>
              <a:t>محمود ممتازپور</a:t>
            </a:r>
            <a:br>
              <a:rPr lang="en-US" sz="3600" cap="none" dirty="0">
                <a:cs typeface="B Nazanin" panose="00000400000000000000" pitchFamily="2" charset="-78"/>
              </a:rPr>
            </a:br>
            <a:br>
              <a:rPr lang="en-US" dirty="0">
                <a:cs typeface="B Nazanin" panose="00000400000000000000" pitchFamily="2" charset="-78"/>
              </a:rPr>
            </a:br>
            <a:endParaRPr lang="en-US" sz="3000" cap="none" dirty="0">
              <a:cs typeface="B Nazanin" panose="00000400000000000000" pitchFamily="2" charset="-78"/>
            </a:endParaRPr>
          </a:p>
        </p:txBody>
      </p:sp>
      <p:sp>
        <p:nvSpPr>
          <p:cNvPr id="10243" name="Subtitle 2"/>
          <p:cNvSpPr>
            <a:spLocks noGrp="1"/>
          </p:cNvSpPr>
          <p:nvPr>
            <p:ph type="subTitle" idx="1"/>
          </p:nvPr>
        </p:nvSpPr>
        <p:spPr>
          <a:xfrm>
            <a:off x="2362200" y="6049963"/>
            <a:ext cx="6705600" cy="685800"/>
          </a:xfrm>
        </p:spPr>
        <p:txBody>
          <a:bodyPr/>
          <a:lstStyle/>
          <a:p>
            <a:pPr algn="ctr" rtl="1" eaLnBrk="1" hangingPunct="1"/>
            <a:r>
              <a:rPr lang="fa-IR" altLang="en-US" dirty="0">
                <a:cs typeface="B Nazanin" panose="00000400000000000000" pitchFamily="2" charset="-78"/>
              </a:rPr>
              <a:t>دانشگاه صنعتی امیرکبیر</a:t>
            </a:r>
            <a:endParaRPr lang="en-US" altLang="en-US" dirty="0">
              <a:cs typeface="B Nazanin" panose="00000400000000000000" pitchFamily="2" charset="-78"/>
            </a:endParaRPr>
          </a:p>
        </p:txBody>
      </p:sp>
      <p:sp>
        <p:nvSpPr>
          <p:cNvPr id="10244" name="Date Placeholder 3"/>
          <p:cNvSpPr>
            <a:spLocks noGrp="1"/>
          </p:cNvSpPr>
          <p:nvPr>
            <p:ph type="dt" sz="quarter" idx="10"/>
          </p:nvPr>
        </p:nvSpPr>
        <p:spPr bwMode="auto">
          <a:xfrm>
            <a:off x="76200" y="6248400"/>
            <a:ext cx="2057400" cy="381000"/>
          </a:xfrm>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rtl="1" eaLnBrk="1" hangingPunct="1">
              <a:spcBef>
                <a:spcPct val="0"/>
              </a:spcBef>
              <a:buClrTx/>
              <a:buSzTx/>
              <a:buFontTx/>
              <a:buNone/>
            </a:pPr>
            <a:r>
              <a:rPr lang="en-US" altLang="en-US" sz="1800">
                <a:solidFill>
                  <a:srgbClr val="FFFFFF"/>
                </a:solidFill>
                <a:latin typeface="Arial" pitchFamily="34" charset="0"/>
                <a:cs typeface="B Nazanin" panose="00000400000000000000" pitchFamily="2" charset="-78"/>
              </a:rPr>
              <a:t>برنامه‌نویسی چند‌هسته‌ای</a:t>
            </a:r>
            <a:endParaRPr lang="en-US" altLang="en-US" sz="1800" dirty="0">
              <a:solidFill>
                <a:srgbClr val="FFFFFF"/>
              </a:solidFill>
              <a:latin typeface="Arial" pitchFamily="34" charset="0"/>
              <a:cs typeface="B Nazanin" panose="00000400000000000000" pitchFamily="2" charset="-78"/>
            </a:endParaRPr>
          </a:p>
        </p:txBody>
      </p:sp>
      <p:sp>
        <p:nvSpPr>
          <p:cNvPr id="10245" name="Footer Placeholder 4"/>
          <p:cNvSpPr>
            <a:spLocks noGrp="1"/>
          </p:cNvSpPr>
          <p:nvPr>
            <p:ph type="ftr" sz="quarter" idx="11"/>
          </p:nvPr>
        </p:nvSpPr>
        <p:spPr bwMode="auto">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algn="r" rtl="1" eaLnBrk="1" hangingPunct="1">
              <a:spcBef>
                <a:spcPct val="0"/>
              </a:spcBef>
              <a:buClrTx/>
              <a:buSzTx/>
              <a:buFontTx/>
              <a:buNone/>
            </a:pPr>
            <a:r>
              <a:rPr lang="fa-IR" altLang="en-US" sz="1400">
                <a:solidFill>
                  <a:schemeClr val="tx2"/>
                </a:solidFill>
                <a:latin typeface="Arial" pitchFamily="34" charset="0"/>
                <a:cs typeface="B Nazanin" panose="00000400000000000000" pitchFamily="2" charset="-78"/>
              </a:rPr>
              <a:t>4- طراحی برنامه موازی</a:t>
            </a:r>
            <a:endParaRPr lang="en-US" altLang="en-US" sz="1400">
              <a:solidFill>
                <a:schemeClr val="tx2"/>
              </a:solidFill>
              <a:latin typeface="Arial" pitchFamily="34" charset="0"/>
              <a:cs typeface="B Nazanin" panose="00000400000000000000" pitchFamily="2" charset="-78"/>
            </a:endParaRPr>
          </a:p>
        </p:txBody>
      </p:sp>
      <p:sp>
        <p:nvSpPr>
          <p:cNvPr id="1024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rtl="1" eaLnBrk="1" hangingPunct="1">
              <a:spcBef>
                <a:spcPct val="0"/>
              </a:spcBef>
              <a:buClrTx/>
              <a:buSzTx/>
              <a:buFontTx/>
              <a:buNone/>
            </a:pPr>
            <a:fld id="{D7895C56-766E-4F90-AE6B-6CA76F48B262}" type="slidenum">
              <a:rPr lang="en-US" altLang="en-US" sz="1400" smtClean="0">
                <a:solidFill>
                  <a:schemeClr val="tx2"/>
                </a:solidFill>
                <a:latin typeface="Arial" pitchFamily="34" charset="0"/>
                <a:cs typeface="B Nazanin" panose="00000400000000000000" pitchFamily="2" charset="-78"/>
              </a:rPr>
              <a:pPr rtl="1" eaLnBrk="1" hangingPunct="1">
                <a:spcBef>
                  <a:spcPct val="0"/>
                </a:spcBef>
                <a:buClrTx/>
                <a:buSzTx/>
                <a:buFontTx/>
                <a:buNone/>
              </a:pPr>
              <a:t>1</a:t>
            </a:fld>
            <a:endParaRPr lang="en-US" altLang="en-US" sz="1400">
              <a:solidFill>
                <a:schemeClr val="tx2"/>
              </a:solidFill>
              <a:latin typeface="Arial" pitchFamily="34" charset="0"/>
              <a:cs typeface="B Nazanin" panose="00000400000000000000" pitchFamily="2" charset="-7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381000" y="152400"/>
            <a:ext cx="8229600" cy="822325"/>
          </a:xfrm>
          <a:noFill/>
        </p:spPr>
        <p:txBody>
          <a:bodyPr/>
          <a:lstStyle/>
          <a:p>
            <a:pPr eaLnBrk="1" hangingPunct="1"/>
            <a:r>
              <a:rPr lang="fa-IR" altLang="en-US" dirty="0"/>
              <a:t>فهرست</a:t>
            </a:r>
            <a:endParaRPr lang="en-US" altLang="en-US" dirty="0"/>
          </a:p>
        </p:txBody>
      </p:sp>
      <p:sp>
        <p:nvSpPr>
          <p:cNvPr id="11267" name="Footer Placeholder 5"/>
          <p:cNvSpPr>
            <a:spLocks noGrp="1"/>
          </p:cNvSpPr>
          <p:nvPr>
            <p:ph type="ftr" sz="quarter" idx="11"/>
          </p:nvPr>
        </p:nvSpPr>
        <p:spPr bwMode="auto">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eaLnBrk="1" hangingPunct="1">
              <a:spcBef>
                <a:spcPct val="0"/>
              </a:spcBef>
              <a:buClrTx/>
              <a:buSzTx/>
              <a:buFontTx/>
              <a:buNone/>
            </a:pPr>
            <a:r>
              <a:rPr lang="fa-IR" altLang="en-US" sz="1400">
                <a:solidFill>
                  <a:schemeClr val="tx2"/>
                </a:solidFill>
                <a:latin typeface="Arial" pitchFamily="34" charset="0"/>
              </a:rPr>
              <a:t>4- طراحی برنامه موازی</a:t>
            </a:r>
            <a:endParaRPr lang="en-US" altLang="en-US" sz="1400">
              <a:solidFill>
                <a:schemeClr val="tx2"/>
              </a:solidFill>
              <a:latin typeface="Arial" pitchFamily="34" charset="0"/>
            </a:endParaRPr>
          </a:p>
        </p:txBody>
      </p:sp>
      <p:sp>
        <p:nvSpPr>
          <p:cNvPr id="3" name="Slide Number Placeholder 2"/>
          <p:cNvSpPr>
            <a:spLocks noGrp="1"/>
          </p:cNvSpPr>
          <p:nvPr>
            <p:ph type="sldNum" sz="quarter" idx="12"/>
          </p:nvPr>
        </p:nvSpPr>
        <p:spPr/>
        <p:txBody>
          <a:bodyPr>
            <a:normAutofit fontScale="85000" lnSpcReduction="20000"/>
          </a:bodyPr>
          <a:lstStyle/>
          <a:p>
            <a:pPr>
              <a:defRPr/>
            </a:pPr>
            <a:fld id="{A1A49216-A321-4EE8-B001-158F3BAA2239}" type="slidenum">
              <a:rPr lang="en-US" altLang="en-US"/>
              <a:pPr>
                <a:defRPr/>
              </a:pPr>
              <a:t>2</a:t>
            </a:fld>
            <a:endParaRPr lang="en-US" altLang="en-US"/>
          </a:p>
        </p:txBody>
      </p:sp>
      <p:sp>
        <p:nvSpPr>
          <p:cNvPr id="11269" name="Rectangle 3"/>
          <p:cNvSpPr>
            <a:spLocks noGrp="1" noChangeArrowheads="1"/>
          </p:cNvSpPr>
          <p:nvPr>
            <p:ph sz="quarter" idx="1"/>
          </p:nvPr>
        </p:nvSpPr>
        <p:spPr>
          <a:xfrm>
            <a:off x="612775" y="1219200"/>
            <a:ext cx="8153400" cy="4876800"/>
          </a:xfrm>
        </p:spPr>
        <p:txBody>
          <a:bodyPr/>
          <a:lstStyle/>
          <a:p>
            <a:pPr eaLnBrk="1" hangingPunct="1"/>
            <a:r>
              <a:rPr lang="fa-IR" altLang="en-US" dirty="0"/>
              <a:t>ادامه الگوهای تجزیه مسئله</a:t>
            </a:r>
          </a:p>
          <a:p>
            <a:pPr eaLnBrk="1" hangingPunct="1"/>
            <a:r>
              <a:rPr lang="fa-IR" altLang="en-US" dirty="0"/>
              <a:t>الگوهای برنامه موازی</a:t>
            </a:r>
          </a:p>
          <a:p>
            <a:pPr eaLnBrk="1" hangingPunct="1"/>
            <a:endParaRPr lang="fa-IR" altLang="en-US" dirty="0"/>
          </a:p>
          <a:p>
            <a:pPr eaLnBrk="1" hangingPunct="1"/>
            <a:endParaRPr lang="en-US" altLang="en-US" dirty="0"/>
          </a:p>
          <a:p>
            <a:pPr eaLnBrk="1" hangingPunct="1"/>
            <a:endParaRPr lang="en-US" altLang="en-US" dirty="0"/>
          </a:p>
        </p:txBody>
      </p:sp>
      <p:sp>
        <p:nvSpPr>
          <p:cNvPr id="11270" name="TextBox 6"/>
          <p:cNvSpPr txBox="1">
            <a:spLocks noChangeArrowheads="1"/>
          </p:cNvSpPr>
          <p:nvPr/>
        </p:nvSpPr>
        <p:spPr bwMode="auto">
          <a:xfrm>
            <a:off x="-1752600" y="47244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eaLnBrk="1" hangingPunct="1">
              <a:spcBef>
                <a:spcPct val="0"/>
              </a:spcBef>
              <a:buClrTx/>
              <a:buSzTx/>
              <a:buFontTx/>
              <a:buNone/>
            </a:pPr>
            <a:endParaRPr lang="en-US" altLang="en-US" sz="1800">
              <a:latin typeface="Arial" pitchFamily="34" charset="0"/>
            </a:endParaRPr>
          </a:p>
        </p:txBody>
      </p:sp>
      <p:sp>
        <p:nvSpPr>
          <p:cNvPr id="11271" name="Date Placeholder 7"/>
          <p:cNvSpPr>
            <a:spLocks noGrp="1"/>
          </p:cNvSpPr>
          <p:nvPr>
            <p:ph type="dt" sz="quarter" idx="10"/>
          </p:nvPr>
        </p:nvSpPr>
        <p:spPr bwMode="auto">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eaLnBrk="1" hangingPunct="1">
              <a:spcBef>
                <a:spcPct val="0"/>
              </a:spcBef>
              <a:buClrTx/>
              <a:buSzTx/>
              <a:buFontTx/>
              <a:buNone/>
            </a:pPr>
            <a:r>
              <a:rPr lang="en-US" altLang="en-US" sz="1400">
                <a:solidFill>
                  <a:schemeClr val="tx2"/>
                </a:solidFill>
                <a:latin typeface="Arial" pitchFamily="34" charset="0"/>
              </a:rPr>
              <a:t>برنامه‌نویسی چند‌هسته‌ای</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الگوهای تجزیه</a:t>
            </a:r>
            <a:endParaRPr lang="en-US" dirty="0"/>
          </a:p>
        </p:txBody>
      </p:sp>
      <p:sp>
        <p:nvSpPr>
          <p:cNvPr id="3" name="Content Placeholder 2"/>
          <p:cNvSpPr>
            <a:spLocks noGrp="1"/>
          </p:cNvSpPr>
          <p:nvPr>
            <p:ph sz="quarter" idx="1"/>
          </p:nvPr>
        </p:nvSpPr>
        <p:spPr/>
        <p:txBody>
          <a:bodyPr/>
          <a:lstStyle/>
          <a:p>
            <a:r>
              <a:rPr lang="fa-IR" dirty="0"/>
              <a:t>معمولاً برای ساده کردن عملیات تجزیه، از یکی از الگوهای شناخته‌شده زیر استفاده می‌کنیم.</a:t>
            </a:r>
            <a:endParaRPr lang="en-US" dirty="0"/>
          </a:p>
        </p:txBody>
      </p:sp>
      <p:sp>
        <p:nvSpPr>
          <p:cNvPr id="4" name="Date Placeholder 3"/>
          <p:cNvSpPr>
            <a:spLocks noGrp="1"/>
          </p:cNvSpPr>
          <p:nvPr>
            <p:ph type="dt" sz="half" idx="10"/>
          </p:nvPr>
        </p:nvSpPr>
        <p:spPr/>
        <p:txBody>
          <a:bodyPr/>
          <a:lstStyle/>
          <a:p>
            <a:pPr>
              <a:defRPr/>
            </a:pPr>
            <a:r>
              <a:rPr lang="en-US" altLang="en-US"/>
              <a:t>برنامه‌نویسی چند‌هسته‌ای</a:t>
            </a:r>
          </a:p>
        </p:txBody>
      </p:sp>
      <p:sp>
        <p:nvSpPr>
          <p:cNvPr id="5" name="Footer Placeholder 4"/>
          <p:cNvSpPr>
            <a:spLocks noGrp="1"/>
          </p:cNvSpPr>
          <p:nvPr>
            <p:ph type="ftr" sz="quarter" idx="11"/>
          </p:nvPr>
        </p:nvSpPr>
        <p:spPr/>
        <p:txBody>
          <a:bodyPr/>
          <a:lstStyle/>
          <a:p>
            <a:pPr>
              <a:defRPr/>
            </a:pPr>
            <a:r>
              <a:rPr lang="fa-IR" altLang="en-US"/>
              <a:t>4- طراحی برنامه موازی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3</a:t>
            </a:fld>
            <a:endParaRPr lang="en-US" altLang="en-US" dirty="0"/>
          </a:p>
        </p:txBody>
      </p:sp>
      <p:pic>
        <p:nvPicPr>
          <p:cNvPr id="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5932" y="2514600"/>
            <a:ext cx="8153400" cy="28702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5964798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rtl="0"/>
            <a:r>
              <a:rPr lang="en-US" dirty="0"/>
              <a:t>Recursive Data Decomposition</a:t>
            </a:r>
          </a:p>
        </p:txBody>
      </p:sp>
      <p:sp>
        <p:nvSpPr>
          <p:cNvPr id="3" name="Content Placeholder 2"/>
          <p:cNvSpPr>
            <a:spLocks noGrp="1"/>
          </p:cNvSpPr>
          <p:nvPr>
            <p:ph sz="quarter" idx="1"/>
          </p:nvPr>
        </p:nvSpPr>
        <p:spPr/>
        <p:txBody>
          <a:bodyPr/>
          <a:lstStyle/>
          <a:p>
            <a:r>
              <a:rPr lang="fa-IR" dirty="0"/>
              <a:t>ساختارهای داده بازگشتی مانند درخت، گراف یا لیست را نمی‌توان به روش تجزیه هندسی به راحتی تجزیه کرد.</a:t>
            </a:r>
          </a:p>
          <a:p>
            <a:r>
              <a:rPr lang="fa-IR" dirty="0"/>
              <a:t>در روش تجزیه داده بازگشتی، ساختار داده به المان‌های کوچکتر تجزیه شده و هر المان (یا گروهی از المان‌ها) به یک وظیفه نگاشت می‌شود.</a:t>
            </a:r>
          </a:p>
          <a:p>
            <a:r>
              <a:rPr lang="fa-IR" dirty="0"/>
              <a:t>ممکن است در این روش نیاز به تغییر الگوریتم اصلی باشد تا بتوان عملیات را به صورت موازی انجام داد.  </a:t>
            </a:r>
          </a:p>
          <a:p>
            <a:endParaRPr lang="en-US" dirty="0"/>
          </a:p>
        </p:txBody>
      </p:sp>
      <p:sp>
        <p:nvSpPr>
          <p:cNvPr id="4" name="Date Placeholder 3"/>
          <p:cNvSpPr>
            <a:spLocks noGrp="1"/>
          </p:cNvSpPr>
          <p:nvPr>
            <p:ph type="dt" sz="half" idx="10"/>
          </p:nvPr>
        </p:nvSpPr>
        <p:spPr/>
        <p:txBody>
          <a:bodyPr/>
          <a:lstStyle/>
          <a:p>
            <a:pPr>
              <a:defRPr/>
            </a:pPr>
            <a:r>
              <a:rPr lang="en-US" altLang="en-US"/>
              <a:t>برنامه‌نویسی چند‌هسته‌ای</a:t>
            </a:r>
          </a:p>
        </p:txBody>
      </p:sp>
      <p:sp>
        <p:nvSpPr>
          <p:cNvPr id="5" name="Footer Placeholder 4"/>
          <p:cNvSpPr>
            <a:spLocks noGrp="1"/>
          </p:cNvSpPr>
          <p:nvPr>
            <p:ph type="ftr" sz="quarter" idx="11"/>
          </p:nvPr>
        </p:nvSpPr>
        <p:spPr/>
        <p:txBody>
          <a:bodyPr/>
          <a:lstStyle/>
          <a:p>
            <a:pPr>
              <a:defRPr/>
            </a:pPr>
            <a:r>
              <a:rPr lang="fa-IR" altLang="en-US"/>
              <a:t>4- طراحی برنامه موازی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4</a:t>
            </a:fld>
            <a:endParaRPr lang="en-US" altLang="en-US" dirty="0"/>
          </a:p>
        </p:txBody>
      </p:sp>
    </p:spTree>
    <p:extLst>
      <p:ext uri="{BB962C8B-B14F-4D97-AF65-F5344CB8AC3E}">
        <p14:creationId xmlns:p14="http://schemas.microsoft.com/office/powerpoint/2010/main" val="1760360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rtl="0"/>
            <a:r>
              <a:rPr lang="en-US" dirty="0"/>
              <a:t>Recursive Data Decomposition</a:t>
            </a:r>
          </a:p>
        </p:txBody>
      </p:sp>
      <p:sp>
        <p:nvSpPr>
          <p:cNvPr id="3" name="Content Placeholder 2"/>
          <p:cNvSpPr>
            <a:spLocks noGrp="1"/>
          </p:cNvSpPr>
          <p:nvPr>
            <p:ph sz="quarter" idx="1"/>
          </p:nvPr>
        </p:nvSpPr>
        <p:spPr/>
        <p:txBody>
          <a:bodyPr/>
          <a:lstStyle/>
          <a:p>
            <a:r>
              <a:rPr lang="fa-IR" dirty="0"/>
              <a:t>نسخه سریال پردازش یک لیست پیوندی</a:t>
            </a:r>
            <a:endParaRPr lang="en-US" dirty="0"/>
          </a:p>
          <a:p>
            <a:endParaRPr lang="en-US" dirty="0"/>
          </a:p>
          <a:p>
            <a:endParaRPr lang="en-US" dirty="0"/>
          </a:p>
          <a:p>
            <a:endParaRPr lang="en-US" dirty="0"/>
          </a:p>
          <a:p>
            <a:r>
              <a:rPr lang="fa-IR" dirty="0"/>
              <a:t>نسخه موازی</a:t>
            </a:r>
            <a:endParaRPr lang="en-US" dirty="0"/>
          </a:p>
        </p:txBody>
      </p:sp>
      <p:sp>
        <p:nvSpPr>
          <p:cNvPr id="4" name="Date Placeholder 3"/>
          <p:cNvSpPr>
            <a:spLocks noGrp="1"/>
          </p:cNvSpPr>
          <p:nvPr>
            <p:ph type="dt" sz="half" idx="10"/>
          </p:nvPr>
        </p:nvSpPr>
        <p:spPr/>
        <p:txBody>
          <a:bodyPr/>
          <a:lstStyle/>
          <a:p>
            <a:pPr>
              <a:defRPr/>
            </a:pPr>
            <a:r>
              <a:rPr lang="en-US" altLang="en-US"/>
              <a:t>برنامه‌نویسی چند‌هسته‌ای</a:t>
            </a:r>
          </a:p>
        </p:txBody>
      </p:sp>
      <p:sp>
        <p:nvSpPr>
          <p:cNvPr id="5" name="Footer Placeholder 4"/>
          <p:cNvSpPr>
            <a:spLocks noGrp="1"/>
          </p:cNvSpPr>
          <p:nvPr>
            <p:ph type="ftr" sz="quarter" idx="11"/>
          </p:nvPr>
        </p:nvSpPr>
        <p:spPr/>
        <p:txBody>
          <a:bodyPr/>
          <a:lstStyle/>
          <a:p>
            <a:pPr>
              <a:defRPr/>
            </a:pPr>
            <a:r>
              <a:rPr lang="fa-IR" altLang="en-US"/>
              <a:t>4- طراحی برنامه موازی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5</a:t>
            </a:fld>
            <a:endParaRPr lang="en-US" altLang="en-US" dirty="0"/>
          </a:p>
        </p:txBody>
      </p:sp>
      <p:sp>
        <p:nvSpPr>
          <p:cNvPr id="7" name="Rectangle 1"/>
          <p:cNvSpPr>
            <a:spLocks noChangeArrowheads="1"/>
          </p:cNvSpPr>
          <p:nvPr/>
        </p:nvSpPr>
        <p:spPr bwMode="auto">
          <a:xfrm>
            <a:off x="876300" y="1828800"/>
            <a:ext cx="4038600"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spcBef>
                <a:spcPts val="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p = head</a:t>
            </a:r>
          </a:p>
          <a:p>
            <a:pPr marL="0" indent="0">
              <a:spcBef>
                <a:spcPts val="0"/>
              </a:spcBef>
              <a:buNone/>
            </a:pPr>
            <a:r>
              <a:rPr lang="en-US" sz="20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while</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(p){</a:t>
            </a:r>
          </a:p>
          <a:p>
            <a:pPr marL="0" indent="0">
              <a:spcBef>
                <a:spcPts val="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	process(p);</a:t>
            </a:r>
          </a:p>
          <a:p>
            <a:pPr marL="0" indent="0">
              <a:spcBef>
                <a:spcPts val="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	p = </a:t>
            </a:r>
            <a:r>
              <a:rPr lang="en-US" sz="2000" dirty="0" err="1">
                <a:latin typeface="Droid Sans Mono" panose="020B0609030804020204" pitchFamily="49" charset="0"/>
                <a:ea typeface="Droid Sans Mono" panose="020B0609030804020204" pitchFamily="49" charset="0"/>
                <a:cs typeface="Droid Sans Mono" panose="020B0609030804020204" pitchFamily="49" charset="0"/>
              </a:rPr>
              <a:t>p.next</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spcBef>
                <a:spcPts val="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a:t>
            </a:r>
          </a:p>
        </p:txBody>
      </p:sp>
      <p:sp>
        <p:nvSpPr>
          <p:cNvPr id="8" name="Rectangle 1"/>
          <p:cNvSpPr>
            <a:spLocks noChangeArrowheads="1"/>
          </p:cNvSpPr>
          <p:nvPr/>
        </p:nvSpPr>
        <p:spPr bwMode="auto">
          <a:xfrm>
            <a:off x="873304" y="3929896"/>
            <a:ext cx="6594296"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spcBef>
                <a:spcPts val="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p = head</a:t>
            </a:r>
          </a:p>
          <a:p>
            <a:pPr marL="0" indent="0">
              <a:spcBef>
                <a:spcPts val="0"/>
              </a:spcBef>
              <a:buNone/>
            </a:pPr>
            <a:r>
              <a:rPr lang="en-US" sz="20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while</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(p){</a:t>
            </a:r>
          </a:p>
          <a:p>
            <a:pPr marL="0" indent="0">
              <a:spcBef>
                <a:spcPts val="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	task[</a:t>
            </a:r>
            <a:r>
              <a:rPr lang="en-US" sz="20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 = </a:t>
            </a:r>
            <a:r>
              <a:rPr lang="en-US" sz="2000" dirty="0" err="1">
                <a:latin typeface="Droid Sans Mono" panose="020B0609030804020204" pitchFamily="49" charset="0"/>
                <a:ea typeface="Droid Sans Mono" panose="020B0609030804020204" pitchFamily="49" charset="0"/>
                <a:cs typeface="Droid Sans Mono" panose="020B0609030804020204" pitchFamily="49" charset="0"/>
              </a:rPr>
              <a:t>newTask</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(process(p));</a:t>
            </a:r>
          </a:p>
          <a:p>
            <a:pPr marL="0" indent="0">
              <a:spcBef>
                <a:spcPts val="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20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spcBef>
                <a:spcPts val="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	p = </a:t>
            </a:r>
            <a:r>
              <a:rPr lang="en-US" sz="2000" dirty="0" err="1">
                <a:latin typeface="Droid Sans Mono" panose="020B0609030804020204" pitchFamily="49" charset="0"/>
                <a:ea typeface="Droid Sans Mono" panose="020B0609030804020204" pitchFamily="49" charset="0"/>
                <a:cs typeface="Droid Sans Mono" panose="020B0609030804020204" pitchFamily="49" charset="0"/>
              </a:rPr>
              <a:t>p.next</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spcBef>
                <a:spcPts val="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a:t>
            </a:r>
          </a:p>
        </p:txBody>
      </p:sp>
    </p:spTree>
    <p:extLst>
      <p:ext uri="{BB962C8B-B14F-4D97-AF65-F5344CB8AC3E}">
        <p14:creationId xmlns:p14="http://schemas.microsoft.com/office/powerpoint/2010/main" val="11411079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rtl="0"/>
            <a:r>
              <a:rPr lang="en-US" dirty="0"/>
              <a:t>Recursive Data Decomposition</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fa-IR" dirty="0"/>
                  <a:t>همانطور که گفته شد، برخی مواقع نیاز به تغییر ساختار الگوریتم داریم تا موازی‌سازی در عمل اتفاق بیفتد.</a:t>
                </a:r>
              </a:p>
              <a:p>
                <a:r>
                  <a:rPr lang="fa-IR" dirty="0"/>
                  <a:t>مثال: محاسبه </a:t>
                </a:r>
                <a:r>
                  <a:rPr lang="en-US" dirty="0"/>
                  <a:t>prefix sum</a:t>
                </a:r>
              </a:p>
              <a:p>
                <a:pPr algn="l" rtl="0"/>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𝑖</m:t>
                        </m:r>
                      </m:sub>
                    </m:sSub>
                    <m:r>
                      <a:rPr lang="en-US" b="0" i="1" smtClean="0">
                        <a:latin typeface="Cambria Math" panose="02040503050406030204" pitchFamily="18" charset="0"/>
                      </a:rPr>
                      <m:t>= </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𝑗</m:t>
                        </m:r>
                        <m:r>
                          <a:rPr lang="en-US" b="0" i="1" smtClean="0">
                            <a:latin typeface="Cambria Math" panose="02040503050406030204" pitchFamily="18" charset="0"/>
                          </a:rPr>
                          <m:t>=</m:t>
                        </m:r>
                        <m:r>
                          <m:rPr>
                            <m:brk m:alnAt="23"/>
                          </m:rPr>
                          <a:rPr lang="en-US" b="0" i="1" smtClean="0">
                            <a:latin typeface="Cambria Math" panose="02040503050406030204" pitchFamily="18" charset="0"/>
                          </a:rPr>
                          <m:t>1</m:t>
                        </m:r>
                      </m:sub>
                      <m:sup>
                        <m:r>
                          <a:rPr lang="en-US" b="0" i="1" smtClean="0">
                            <a:latin typeface="Cambria Math" panose="02040503050406030204" pitchFamily="18" charset="0"/>
                          </a:rPr>
                          <m:t>𝑖</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𝑗</m:t>
                            </m:r>
                          </m:sub>
                        </m:sSub>
                      </m:e>
                    </m:nary>
                  </m:oMath>
                </a14:m>
                <a:endParaRPr lang="en-US" dirty="0"/>
              </a:p>
              <a:p>
                <a:pPr algn="l" rtl="0"/>
                <a:endParaRPr lang="en-US" dirty="0"/>
              </a:p>
              <a:p>
                <a:pPr algn="l" rtl="0"/>
                <a:endParaRPr lang="en-US" dirty="0"/>
              </a:p>
              <a:p>
                <a:pPr algn="r"/>
                <a:endParaRPr lang="fa-IR" dirty="0"/>
              </a:p>
              <a:p>
                <a:pPr algn="r"/>
                <a:r>
                  <a:rPr lang="fa-IR" dirty="0"/>
                  <a:t>در این حالت، تبدیل </a:t>
                </a:r>
                <a:r>
                  <a:rPr lang="en-US" dirty="0"/>
                  <a:t>process(p)</a:t>
                </a:r>
                <a:r>
                  <a:rPr lang="fa-IR" dirty="0"/>
                  <a:t> به وظایف موازی عملا سودی ندارد. چرا؟ </a:t>
                </a:r>
                <a:endParaRPr lang="en-US" dirty="0"/>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0">
                <a:blip r:embed="rId4"/>
                <a:stretch>
                  <a:fillRect t="-1250" r="-449" b="-250"/>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pPr>
              <a:defRPr/>
            </a:pPr>
            <a:r>
              <a:rPr lang="en-US" altLang="en-US"/>
              <a:t>برنامه‌نویسی چند‌هسته‌ای</a:t>
            </a:r>
          </a:p>
        </p:txBody>
      </p:sp>
      <p:sp>
        <p:nvSpPr>
          <p:cNvPr id="5" name="Footer Placeholder 4"/>
          <p:cNvSpPr>
            <a:spLocks noGrp="1"/>
          </p:cNvSpPr>
          <p:nvPr>
            <p:ph type="ftr" sz="quarter" idx="11"/>
          </p:nvPr>
        </p:nvSpPr>
        <p:spPr/>
        <p:txBody>
          <a:bodyPr/>
          <a:lstStyle/>
          <a:p>
            <a:pPr>
              <a:defRPr/>
            </a:pPr>
            <a:r>
              <a:rPr lang="fa-IR" altLang="en-US"/>
              <a:t>4- طراحی برنامه موازی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6</a:t>
            </a:fld>
            <a:endParaRPr lang="en-US" altLang="en-US" dirty="0"/>
          </a:p>
        </p:txBody>
      </p:sp>
      <p:sp>
        <p:nvSpPr>
          <p:cNvPr id="7" name="Rectangle 1"/>
          <p:cNvSpPr>
            <a:spLocks noChangeArrowheads="1"/>
          </p:cNvSpPr>
          <p:nvPr/>
        </p:nvSpPr>
        <p:spPr bwMode="auto">
          <a:xfrm>
            <a:off x="4419600" y="3124200"/>
            <a:ext cx="4343400"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spcBef>
                <a:spcPts val="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p = head</a:t>
            </a:r>
          </a:p>
          <a:p>
            <a:pPr marL="0" indent="0">
              <a:spcBef>
                <a:spcPts val="0"/>
              </a:spcBef>
              <a:buNone/>
            </a:pPr>
            <a:r>
              <a:rPr lang="en-US" sz="20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while</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a:t>
            </a:r>
            <a:r>
              <a:rPr lang="en-US" sz="2000" dirty="0" err="1">
                <a:latin typeface="Droid Sans Mono" panose="020B0609030804020204" pitchFamily="49" charset="0"/>
                <a:ea typeface="Droid Sans Mono" panose="020B0609030804020204" pitchFamily="49" charset="0"/>
                <a:cs typeface="Droid Sans Mono" panose="020B0609030804020204" pitchFamily="49" charset="0"/>
              </a:rPr>
              <a:t>p.next</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spcBef>
                <a:spcPts val="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2000" dirty="0" err="1">
                <a:latin typeface="Droid Sans Mono" panose="020B0609030804020204" pitchFamily="49" charset="0"/>
                <a:ea typeface="Droid Sans Mono" panose="020B0609030804020204" pitchFamily="49" charset="0"/>
                <a:cs typeface="Droid Sans Mono" panose="020B0609030804020204" pitchFamily="49" charset="0"/>
              </a:rPr>
              <a:t>p.next</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 = p + </a:t>
            </a:r>
            <a:r>
              <a:rPr lang="en-US" sz="2000" dirty="0" err="1">
                <a:latin typeface="Droid Sans Mono" panose="020B0609030804020204" pitchFamily="49" charset="0"/>
                <a:ea typeface="Droid Sans Mono" panose="020B0609030804020204" pitchFamily="49" charset="0"/>
                <a:cs typeface="Droid Sans Mono" panose="020B0609030804020204" pitchFamily="49" charset="0"/>
              </a:rPr>
              <a:t>p.next</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spcBef>
                <a:spcPts val="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	p = </a:t>
            </a:r>
            <a:r>
              <a:rPr lang="en-US" sz="2000" dirty="0" err="1">
                <a:latin typeface="Droid Sans Mono" panose="020B0609030804020204" pitchFamily="49" charset="0"/>
                <a:ea typeface="Droid Sans Mono" panose="020B0609030804020204" pitchFamily="49" charset="0"/>
                <a:cs typeface="Droid Sans Mono" panose="020B0609030804020204" pitchFamily="49" charset="0"/>
              </a:rPr>
              <a:t>p.next</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spcBef>
                <a:spcPts val="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a:t>
            </a:r>
          </a:p>
        </p:txBody>
      </p:sp>
    </p:spTree>
    <p:extLst>
      <p:ext uri="{BB962C8B-B14F-4D97-AF65-F5344CB8AC3E}">
        <p14:creationId xmlns:p14="http://schemas.microsoft.com/office/powerpoint/2010/main" val="3396116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rtl="0"/>
            <a:r>
              <a:rPr lang="en-US" dirty="0"/>
              <a:t>Pipeline Decomposition</a:t>
            </a:r>
          </a:p>
        </p:txBody>
      </p:sp>
      <p:sp>
        <p:nvSpPr>
          <p:cNvPr id="3" name="Content Placeholder 2"/>
          <p:cNvSpPr>
            <a:spLocks noGrp="1"/>
          </p:cNvSpPr>
          <p:nvPr>
            <p:ph sz="quarter" idx="1"/>
          </p:nvPr>
        </p:nvSpPr>
        <p:spPr/>
        <p:txBody>
          <a:bodyPr/>
          <a:lstStyle/>
          <a:p>
            <a:r>
              <a:rPr lang="fa-IR" dirty="0"/>
              <a:t>خط‌لوله تشکیل شده است از چند </a:t>
            </a:r>
            <a:r>
              <a:rPr lang="fa-IR" b="1" dirty="0"/>
              <a:t>گام</a:t>
            </a:r>
            <a:r>
              <a:rPr lang="fa-IR" dirty="0"/>
              <a:t> که هر گام عملیات خاصی را بر روی داده انجام می‌دهد و حاصل را به گام بعدی تحویل می‌دهد.</a:t>
            </a:r>
          </a:p>
          <a:p>
            <a:r>
              <a:rPr lang="fa-IR" dirty="0"/>
              <a:t>کاربردها:</a:t>
            </a:r>
          </a:p>
          <a:p>
            <a:pPr lvl="1"/>
            <a:r>
              <a:rPr lang="fa-IR" dirty="0"/>
              <a:t>خط‌لوله دستورالعمل در </a:t>
            </a:r>
            <a:r>
              <a:rPr lang="en-US" dirty="0"/>
              <a:t>CPU</a:t>
            </a:r>
            <a:endParaRPr lang="fa-IR" dirty="0"/>
          </a:p>
          <a:p>
            <a:pPr lvl="1"/>
            <a:r>
              <a:rPr lang="fa-IR" dirty="0"/>
              <a:t>بیشتر الگوریتم‌های پردازش سیگنال دیجیتال (مانند </a:t>
            </a:r>
            <a:r>
              <a:rPr lang="en-US" dirty="0"/>
              <a:t>FFT</a:t>
            </a:r>
            <a:r>
              <a:rPr lang="fa-IR" dirty="0"/>
              <a:t>)</a:t>
            </a:r>
          </a:p>
          <a:p>
            <a:pPr lvl="1"/>
            <a:r>
              <a:rPr lang="fa-IR" dirty="0"/>
              <a:t>رندرکردن تصاویر گرافیکی</a:t>
            </a:r>
          </a:p>
          <a:p>
            <a:pPr lvl="1"/>
            <a:r>
              <a:rPr lang="fa-IR" dirty="0"/>
              <a:t>برنامه‌نویسی </a:t>
            </a:r>
            <a:r>
              <a:rPr lang="en-US" dirty="0"/>
              <a:t>Shell</a:t>
            </a:r>
            <a:r>
              <a:rPr lang="fa-IR" dirty="0"/>
              <a:t> (مثلاً در لینوکس می‌توان خروجی یک دستور را به ورودی دستور دیگر وصل کرد و یک خط‌لوله دستور تشکیل داد.)</a:t>
            </a:r>
          </a:p>
          <a:p>
            <a:pPr lvl="1"/>
            <a:endParaRPr lang="en-US" dirty="0"/>
          </a:p>
        </p:txBody>
      </p:sp>
      <p:sp>
        <p:nvSpPr>
          <p:cNvPr id="4" name="Date Placeholder 3"/>
          <p:cNvSpPr>
            <a:spLocks noGrp="1"/>
          </p:cNvSpPr>
          <p:nvPr>
            <p:ph type="dt" sz="half" idx="10"/>
          </p:nvPr>
        </p:nvSpPr>
        <p:spPr/>
        <p:txBody>
          <a:bodyPr/>
          <a:lstStyle/>
          <a:p>
            <a:pPr>
              <a:defRPr/>
            </a:pPr>
            <a:r>
              <a:rPr lang="en-US" altLang="en-US"/>
              <a:t>برنامه‌نویسی چند‌هسته‌ای</a:t>
            </a:r>
          </a:p>
        </p:txBody>
      </p:sp>
      <p:sp>
        <p:nvSpPr>
          <p:cNvPr id="5" name="Footer Placeholder 4"/>
          <p:cNvSpPr>
            <a:spLocks noGrp="1"/>
          </p:cNvSpPr>
          <p:nvPr>
            <p:ph type="ftr" sz="quarter" idx="11"/>
          </p:nvPr>
        </p:nvSpPr>
        <p:spPr/>
        <p:txBody>
          <a:bodyPr/>
          <a:lstStyle/>
          <a:p>
            <a:pPr>
              <a:defRPr/>
            </a:pPr>
            <a:r>
              <a:rPr lang="fa-IR" altLang="en-US"/>
              <a:t>4- طراحی برنامه موازی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7</a:t>
            </a:fld>
            <a:endParaRPr lang="en-US" altLang="en-US" dirty="0"/>
          </a:p>
        </p:txBody>
      </p:sp>
      <p:sp>
        <p:nvSpPr>
          <p:cNvPr id="7" name="Rectangle 1"/>
          <p:cNvSpPr>
            <a:spLocks noChangeArrowheads="1"/>
          </p:cNvSpPr>
          <p:nvPr/>
        </p:nvSpPr>
        <p:spPr bwMode="auto">
          <a:xfrm>
            <a:off x="1132726" y="5133945"/>
            <a:ext cx="387798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err="1">
                <a:ln>
                  <a:noFill/>
                </a:ln>
                <a:solidFill>
                  <a:schemeClr val="tx1"/>
                </a:solidFill>
                <a:effectLst/>
                <a:latin typeface="Droid Sans Mono" panose="020B0609030804020204" pitchFamily="49" charset="0"/>
                <a:ea typeface="Droid Sans Mono" panose="020B0609030804020204" pitchFamily="49" charset="0"/>
                <a:cs typeface="Droid Sans Mono" panose="020B0609030804020204" pitchFamily="49" charset="0"/>
              </a:rPr>
              <a:t>ls</a:t>
            </a:r>
            <a:r>
              <a:rPr kumimoji="0" lang="en-US" sz="2000" b="0" i="0" u="none" strike="noStrike" cap="none" normalizeH="0" baseline="0" dirty="0">
                <a:ln>
                  <a:noFill/>
                </a:ln>
                <a:solidFill>
                  <a:schemeClr val="tx1"/>
                </a:solidFill>
                <a:effectLst/>
                <a:latin typeface="Droid Sans Mono" panose="020B0609030804020204" pitchFamily="49" charset="0"/>
                <a:ea typeface="Droid Sans Mono" panose="020B0609030804020204" pitchFamily="49" charset="0"/>
                <a:cs typeface="Droid Sans Mono" panose="020B0609030804020204" pitchFamily="49" charset="0"/>
              </a:rPr>
              <a:t> -l | </a:t>
            </a:r>
            <a:r>
              <a:rPr kumimoji="0" lang="en-US" sz="2000" b="0" i="0" u="none" strike="noStrike" cap="none" normalizeH="0" baseline="0" dirty="0" err="1">
                <a:ln>
                  <a:noFill/>
                </a:ln>
                <a:solidFill>
                  <a:schemeClr val="tx1"/>
                </a:solidFill>
                <a:effectLst/>
                <a:latin typeface="Droid Sans Mono" panose="020B0609030804020204" pitchFamily="49" charset="0"/>
                <a:ea typeface="Droid Sans Mono" panose="020B0609030804020204" pitchFamily="49" charset="0"/>
                <a:cs typeface="Droid Sans Mono" panose="020B0609030804020204" pitchFamily="49" charset="0"/>
              </a:rPr>
              <a:t>grep</a:t>
            </a:r>
            <a:r>
              <a:rPr kumimoji="0" lang="en-US" sz="2000" b="0" i="0" u="none" strike="noStrike" cap="none" normalizeH="0" baseline="0" dirty="0">
                <a:ln>
                  <a:noFill/>
                </a:ln>
                <a:solidFill>
                  <a:schemeClr val="tx1"/>
                </a:solidFill>
                <a:effectLst/>
                <a:latin typeface="Droid Sans Mono" panose="020B0609030804020204" pitchFamily="49" charset="0"/>
                <a:ea typeface="Droid Sans Mono" panose="020B0609030804020204" pitchFamily="49" charset="0"/>
                <a:cs typeface="Droid Sans Mono" panose="020B0609030804020204" pitchFamily="49" charset="0"/>
              </a:rPr>
              <a:t> key | less </a:t>
            </a:r>
          </a:p>
        </p:txBody>
      </p:sp>
    </p:spTree>
    <p:extLst>
      <p:ext uri="{BB962C8B-B14F-4D97-AF65-F5344CB8AC3E}">
        <p14:creationId xmlns:p14="http://schemas.microsoft.com/office/powerpoint/2010/main" val="1443177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rtl="0"/>
            <a:r>
              <a:rPr lang="en-US" dirty="0"/>
              <a:t>Pipeline Decomposition</a:t>
            </a:r>
          </a:p>
        </p:txBody>
      </p:sp>
      <p:sp>
        <p:nvSpPr>
          <p:cNvPr id="3" name="Content Placeholder 2"/>
          <p:cNvSpPr>
            <a:spLocks noGrp="1"/>
          </p:cNvSpPr>
          <p:nvPr>
            <p:ph sz="quarter" idx="1"/>
          </p:nvPr>
        </p:nvSpPr>
        <p:spPr/>
        <p:txBody>
          <a:bodyPr/>
          <a:lstStyle/>
          <a:p>
            <a:r>
              <a:rPr lang="fa-IR" dirty="0"/>
              <a:t>ایده اصلی: اگر ساختار برنامه و جریان داده در آن به خط‌لوله شباهت دارد، برنامه را بر همان اساس به گام‌های خط‌لوله تجزیه کن و هر گام را به یک واحد پردازشی تخصیص بده.</a:t>
            </a:r>
          </a:p>
          <a:p>
            <a:r>
              <a:rPr lang="fa-IR" dirty="0"/>
              <a:t>هر گام:</a:t>
            </a:r>
          </a:p>
          <a:p>
            <a:endParaRPr lang="fa-IR" dirty="0"/>
          </a:p>
          <a:p>
            <a:endParaRPr lang="fa-IR" dirty="0"/>
          </a:p>
          <a:p>
            <a:endParaRPr lang="fa-IR" dirty="0"/>
          </a:p>
          <a:p>
            <a:r>
              <a:rPr lang="fa-IR" dirty="0"/>
              <a:t>مثال:</a:t>
            </a:r>
          </a:p>
          <a:p>
            <a:endParaRPr lang="fa-IR" dirty="0"/>
          </a:p>
        </p:txBody>
      </p:sp>
      <p:sp>
        <p:nvSpPr>
          <p:cNvPr id="4" name="Date Placeholder 3"/>
          <p:cNvSpPr>
            <a:spLocks noGrp="1"/>
          </p:cNvSpPr>
          <p:nvPr>
            <p:ph type="dt" sz="half" idx="10"/>
          </p:nvPr>
        </p:nvSpPr>
        <p:spPr/>
        <p:txBody>
          <a:bodyPr/>
          <a:lstStyle/>
          <a:p>
            <a:pPr>
              <a:defRPr/>
            </a:pPr>
            <a:r>
              <a:rPr lang="en-US" altLang="en-US"/>
              <a:t>برنامه‌نویسی چند‌هسته‌ای</a:t>
            </a:r>
          </a:p>
        </p:txBody>
      </p:sp>
      <p:sp>
        <p:nvSpPr>
          <p:cNvPr id="5" name="Footer Placeholder 4"/>
          <p:cNvSpPr>
            <a:spLocks noGrp="1"/>
          </p:cNvSpPr>
          <p:nvPr>
            <p:ph type="ftr" sz="quarter" idx="11"/>
          </p:nvPr>
        </p:nvSpPr>
        <p:spPr/>
        <p:txBody>
          <a:bodyPr/>
          <a:lstStyle/>
          <a:p>
            <a:pPr>
              <a:defRPr/>
            </a:pPr>
            <a:r>
              <a:rPr lang="fa-IR" altLang="en-US"/>
              <a:t>4- طراحی برنامه موازی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8</a:t>
            </a:fld>
            <a:endParaRPr lang="en-US" altLang="en-US" dirty="0"/>
          </a:p>
        </p:txBody>
      </p:sp>
      <p:sp>
        <p:nvSpPr>
          <p:cNvPr id="8" name="Rectangle 1"/>
          <p:cNvSpPr>
            <a:spLocks noChangeArrowheads="1"/>
          </p:cNvSpPr>
          <p:nvPr/>
        </p:nvSpPr>
        <p:spPr bwMode="auto">
          <a:xfrm>
            <a:off x="876300" y="2365453"/>
            <a:ext cx="7467600"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Droid Sans Mono" panose="020B0609030804020204" pitchFamily="49" charset="0"/>
                <a:ea typeface="Droid Sans Mono" panose="020B0609030804020204" pitchFamily="49" charset="0"/>
                <a:cs typeface="Droid Sans Mono" panose="020B0609030804020204" pitchFamily="49" charset="0"/>
              </a:rPr>
              <a:t>initialize()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rgbClr val="1B46FD"/>
                </a:solidFill>
                <a:effectLst/>
                <a:latin typeface="Droid Sans Mono" panose="020B0609030804020204" pitchFamily="49" charset="0"/>
                <a:ea typeface="Droid Sans Mono" panose="020B0609030804020204" pitchFamily="49" charset="0"/>
                <a:cs typeface="Droid Sans Mono" panose="020B0609030804020204" pitchFamily="49" charset="0"/>
              </a:rPr>
              <a:t>while</a:t>
            </a:r>
            <a:r>
              <a:rPr kumimoji="0" lang="en-US" sz="2000" b="0" i="0" u="none" strike="noStrike" cap="none" normalizeH="0" baseline="0" dirty="0">
                <a:ln>
                  <a:noFill/>
                </a:ln>
                <a:solidFill>
                  <a:schemeClr val="tx1"/>
                </a:solidFill>
                <a:effectLst/>
                <a:latin typeface="Droid Sans Mono" panose="020B0609030804020204" pitchFamily="49" charset="0"/>
                <a:ea typeface="Droid Sans Mono" panose="020B0609030804020204" pitchFamily="49" charset="0"/>
                <a:cs typeface="Droid Sans Mono" panose="020B0609030804020204" pitchFamily="49" charset="0"/>
              </a:rPr>
              <a:t> (more data)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Droid Sans Mono" panose="020B0609030804020204" pitchFamily="49" charset="0"/>
                <a:ea typeface="Droid Sans Mono" panose="020B0609030804020204" pitchFamily="49" charset="0"/>
                <a:cs typeface="Droid Sans Mono" panose="020B060903080402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 </a:t>
            </a:r>
            <a:r>
              <a:rPr kumimoji="0" lang="en-US" sz="2000" b="0" i="0" u="none" strike="noStrike" cap="none" normalizeH="0" baseline="0" dirty="0">
                <a:ln>
                  <a:noFill/>
                </a:ln>
                <a:solidFill>
                  <a:schemeClr val="tx1"/>
                </a:solidFill>
                <a:effectLst/>
                <a:latin typeface="Droid Sans Mono" panose="020B0609030804020204" pitchFamily="49" charset="0"/>
                <a:ea typeface="Droid Sans Mono" panose="020B0609030804020204" pitchFamily="49" charset="0"/>
                <a:cs typeface="Droid Sans Mono" panose="020B0609030804020204" pitchFamily="49" charset="0"/>
              </a:rPr>
              <a:t>receive data element from previous stage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Droid Sans Mono" panose="020B0609030804020204" pitchFamily="49" charset="0"/>
                <a:ea typeface="Droid Sans Mono" panose="020B0609030804020204" pitchFamily="49" charset="0"/>
                <a:cs typeface="Droid Sans Mono" panose="020B0609030804020204" pitchFamily="49" charset="0"/>
              </a:rPr>
              <a:t> perform operation on data element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Droid Sans Mono" panose="020B0609030804020204" pitchFamily="49" charset="0"/>
                <a:ea typeface="Droid Sans Mono" panose="020B0609030804020204" pitchFamily="49" charset="0"/>
                <a:cs typeface="Droid Sans Mono" panose="020B0609030804020204" pitchFamily="49" charset="0"/>
              </a:rPr>
              <a:t> send data element to next stage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Droid Sans Mono" panose="020B0609030804020204" pitchFamily="49" charset="0"/>
                <a:ea typeface="Droid Sans Mono" panose="020B0609030804020204" pitchFamily="49" charset="0"/>
                <a:cs typeface="Droid Sans Mono" panose="020B060903080402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Droid Sans Mono" panose="020B0609030804020204" pitchFamily="49" charset="0"/>
                <a:ea typeface="Droid Sans Mono" panose="020B0609030804020204" pitchFamily="49" charset="0"/>
                <a:cs typeface="Droid Sans Mono" panose="020B0609030804020204" pitchFamily="49" charset="0"/>
              </a:rPr>
              <a:t>finalize() </a:t>
            </a:r>
          </a:p>
        </p:txBody>
      </p:sp>
      <p:grpSp>
        <p:nvGrpSpPr>
          <p:cNvPr id="21" name="Group 20"/>
          <p:cNvGrpSpPr/>
          <p:nvPr/>
        </p:nvGrpSpPr>
        <p:grpSpPr>
          <a:xfrm>
            <a:off x="1600200" y="5181600"/>
            <a:ext cx="5510212" cy="930667"/>
            <a:chOff x="1600200" y="5181600"/>
            <a:chExt cx="5510212" cy="930667"/>
          </a:xfrm>
        </p:grpSpPr>
        <p:sp>
          <p:nvSpPr>
            <p:cNvPr id="9" name="Oval 8"/>
            <p:cNvSpPr/>
            <p:nvPr/>
          </p:nvSpPr>
          <p:spPr>
            <a:xfrm>
              <a:off x="1600200" y="5197867"/>
              <a:ext cx="1243012"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FFT</a:t>
              </a:r>
            </a:p>
          </p:txBody>
        </p:sp>
        <p:sp>
          <p:nvSpPr>
            <p:cNvPr id="10" name="Oval 9"/>
            <p:cNvSpPr/>
            <p:nvPr/>
          </p:nvSpPr>
          <p:spPr>
            <a:xfrm>
              <a:off x="3733800" y="5181600"/>
              <a:ext cx="1243012"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Digital Filter</a:t>
              </a:r>
            </a:p>
          </p:txBody>
        </p:sp>
        <p:sp>
          <p:nvSpPr>
            <p:cNvPr id="11" name="Oval 10"/>
            <p:cNvSpPr/>
            <p:nvPr/>
          </p:nvSpPr>
          <p:spPr>
            <a:xfrm>
              <a:off x="5867400" y="5181600"/>
              <a:ext cx="1243012"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IFFT</a:t>
              </a:r>
            </a:p>
          </p:txBody>
        </p:sp>
        <p:cxnSp>
          <p:nvCxnSpPr>
            <p:cNvPr id="13" name="Straight Arrow Connector 12"/>
            <p:cNvCxnSpPr>
              <a:stCxn id="9" idx="6"/>
              <a:endCxn id="10" idx="2"/>
            </p:cNvCxnSpPr>
            <p:nvPr/>
          </p:nvCxnSpPr>
          <p:spPr>
            <a:xfrm flipV="1">
              <a:off x="2843212" y="5638800"/>
              <a:ext cx="890588" cy="1626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10" idx="6"/>
              <a:endCxn id="11" idx="2"/>
            </p:cNvCxnSpPr>
            <p:nvPr/>
          </p:nvCxnSpPr>
          <p:spPr>
            <a:xfrm>
              <a:off x="4976812" y="5638800"/>
              <a:ext cx="89058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36909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rtl="0"/>
            <a:r>
              <a:rPr lang="en-US" dirty="0"/>
              <a:t>Event-based Coordination</a:t>
            </a:r>
          </a:p>
        </p:txBody>
      </p:sp>
      <p:sp>
        <p:nvSpPr>
          <p:cNvPr id="3" name="Content Placeholder 2"/>
          <p:cNvSpPr>
            <a:spLocks noGrp="1"/>
          </p:cNvSpPr>
          <p:nvPr>
            <p:ph sz="quarter" idx="1"/>
          </p:nvPr>
        </p:nvSpPr>
        <p:spPr/>
        <p:txBody>
          <a:bodyPr/>
          <a:lstStyle/>
          <a:p>
            <a:r>
              <a:rPr lang="fa-IR" dirty="0"/>
              <a:t>در خط‌لوله:</a:t>
            </a:r>
          </a:p>
          <a:p>
            <a:pPr lvl="1"/>
            <a:r>
              <a:rPr lang="fa-IR" dirty="0"/>
              <a:t>هر وظیفه فقط با وظیفه سمت راست خود ارتباط دارد. </a:t>
            </a:r>
          </a:p>
          <a:p>
            <a:pPr lvl="1"/>
            <a:r>
              <a:rPr lang="fa-IR" dirty="0"/>
              <a:t>ارتباط یک طرفه و از چپ به راست است.</a:t>
            </a:r>
          </a:p>
          <a:p>
            <a:pPr lvl="1"/>
            <a:r>
              <a:rPr lang="fa-IR" dirty="0"/>
              <a:t>زمان ارتباط مشخص و قابل پیش‌بینی است. </a:t>
            </a:r>
          </a:p>
          <a:p>
            <a:r>
              <a:rPr lang="fa-IR" dirty="0"/>
              <a:t>ولی در برخی مسائل:</a:t>
            </a:r>
          </a:p>
          <a:p>
            <a:pPr lvl="1"/>
            <a:r>
              <a:rPr lang="fa-IR" dirty="0"/>
              <a:t>واحدهای </a:t>
            </a:r>
            <a:r>
              <a:rPr lang="fa-IR" b="1" dirty="0"/>
              <a:t>شبه‌مستقلی</a:t>
            </a:r>
            <a:r>
              <a:rPr lang="fa-IR" dirty="0"/>
              <a:t> وجود دارند که به شکل غیر منظمی با یکدیگر ارتباط دارند. </a:t>
            </a:r>
          </a:p>
          <a:p>
            <a:pPr lvl="1"/>
            <a:r>
              <a:rPr lang="fa-IR" dirty="0"/>
              <a:t>جهت ارتباط، مبدأ و مقصد ارتباط و زمان ارتباط قابل پیش‌بینی نیستند.</a:t>
            </a:r>
          </a:p>
        </p:txBody>
      </p:sp>
      <p:sp>
        <p:nvSpPr>
          <p:cNvPr id="4" name="Date Placeholder 3"/>
          <p:cNvSpPr>
            <a:spLocks noGrp="1"/>
          </p:cNvSpPr>
          <p:nvPr>
            <p:ph type="dt" sz="half" idx="10"/>
          </p:nvPr>
        </p:nvSpPr>
        <p:spPr/>
        <p:txBody>
          <a:bodyPr/>
          <a:lstStyle/>
          <a:p>
            <a:pPr>
              <a:defRPr/>
            </a:pPr>
            <a:r>
              <a:rPr lang="en-US" altLang="en-US"/>
              <a:t>برنامه‌نویسی چند‌هسته‌ای</a:t>
            </a:r>
          </a:p>
        </p:txBody>
      </p:sp>
      <p:sp>
        <p:nvSpPr>
          <p:cNvPr id="5" name="Footer Placeholder 4"/>
          <p:cNvSpPr>
            <a:spLocks noGrp="1"/>
          </p:cNvSpPr>
          <p:nvPr>
            <p:ph type="ftr" sz="quarter" idx="11"/>
          </p:nvPr>
        </p:nvSpPr>
        <p:spPr/>
        <p:txBody>
          <a:bodyPr/>
          <a:lstStyle/>
          <a:p>
            <a:pPr>
              <a:defRPr/>
            </a:pPr>
            <a:r>
              <a:rPr lang="fa-IR" altLang="en-US"/>
              <a:t>4- طراحی برنامه موازی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9</a:t>
            </a:fld>
            <a:endParaRPr lang="en-US" altLang="en-US" dirty="0"/>
          </a:p>
        </p:txBody>
      </p:sp>
    </p:spTree>
    <p:extLst>
      <p:ext uri="{BB962C8B-B14F-4D97-AF65-F5344CB8AC3E}">
        <p14:creationId xmlns:p14="http://schemas.microsoft.com/office/powerpoint/2010/main" val="3484940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rtl="0"/>
            <a:r>
              <a:rPr lang="en-US" dirty="0"/>
              <a:t>Event-based Coordination</a:t>
            </a:r>
          </a:p>
        </p:txBody>
      </p:sp>
      <p:sp>
        <p:nvSpPr>
          <p:cNvPr id="3" name="Content Placeholder 2"/>
          <p:cNvSpPr>
            <a:spLocks noGrp="1"/>
          </p:cNvSpPr>
          <p:nvPr>
            <p:ph sz="quarter" idx="1"/>
          </p:nvPr>
        </p:nvSpPr>
        <p:spPr/>
        <p:txBody>
          <a:bodyPr/>
          <a:lstStyle/>
          <a:p>
            <a:r>
              <a:rPr lang="fa-IR" dirty="0"/>
              <a:t>الگوی هر وظیفه:</a:t>
            </a:r>
            <a:endParaRPr lang="en-US" dirty="0"/>
          </a:p>
          <a:p>
            <a:endParaRPr lang="en-US" dirty="0"/>
          </a:p>
          <a:p>
            <a:endParaRPr lang="en-US" dirty="0"/>
          </a:p>
          <a:p>
            <a:endParaRPr lang="en-US" dirty="0"/>
          </a:p>
          <a:p>
            <a:r>
              <a:rPr lang="fa-IR" dirty="0"/>
              <a:t>مثال: </a:t>
            </a:r>
            <a:r>
              <a:rPr lang="en-US" dirty="0"/>
              <a:t>Discrete event simulation</a:t>
            </a:r>
          </a:p>
          <a:p>
            <a:pPr lvl="1"/>
            <a:r>
              <a:rPr lang="fa-IR" dirty="0"/>
              <a:t>شبیه‌سازی خروجی یک مدار سطح گیت به ازای ورودی‌های متغیر در زمان</a:t>
            </a:r>
          </a:p>
          <a:p>
            <a:pPr lvl="1"/>
            <a:r>
              <a:rPr lang="fa-IR" dirty="0"/>
              <a:t>هر واحد پردازشی مسئول شبیه‌سازی یک قسمت از مدار است و فقط در هنگام دریافت رخداد تغییر ورودی، خروجی را محاسبه کرده و یک رخداد جدید تولید می‌کند. </a:t>
            </a:r>
          </a:p>
        </p:txBody>
      </p:sp>
      <p:sp>
        <p:nvSpPr>
          <p:cNvPr id="4" name="Date Placeholder 3"/>
          <p:cNvSpPr>
            <a:spLocks noGrp="1"/>
          </p:cNvSpPr>
          <p:nvPr>
            <p:ph type="dt" sz="half" idx="10"/>
          </p:nvPr>
        </p:nvSpPr>
        <p:spPr/>
        <p:txBody>
          <a:bodyPr/>
          <a:lstStyle/>
          <a:p>
            <a:pPr>
              <a:defRPr/>
            </a:pPr>
            <a:r>
              <a:rPr lang="en-US" altLang="en-US"/>
              <a:t>برنامه‌نویسی چند‌هسته‌ای</a:t>
            </a:r>
          </a:p>
        </p:txBody>
      </p:sp>
      <p:sp>
        <p:nvSpPr>
          <p:cNvPr id="5" name="Footer Placeholder 4"/>
          <p:cNvSpPr>
            <a:spLocks noGrp="1"/>
          </p:cNvSpPr>
          <p:nvPr>
            <p:ph type="ftr" sz="quarter" idx="11"/>
          </p:nvPr>
        </p:nvSpPr>
        <p:spPr/>
        <p:txBody>
          <a:bodyPr/>
          <a:lstStyle/>
          <a:p>
            <a:pPr>
              <a:defRPr/>
            </a:pPr>
            <a:r>
              <a:rPr lang="fa-IR" altLang="en-US"/>
              <a:t>4- طراحی برنامه موازی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10</a:t>
            </a:fld>
            <a:endParaRPr lang="en-US" altLang="en-US" dirty="0"/>
          </a:p>
        </p:txBody>
      </p:sp>
      <p:sp>
        <p:nvSpPr>
          <p:cNvPr id="7" name="Rectangle 1"/>
          <p:cNvSpPr>
            <a:spLocks noChangeArrowheads="1"/>
          </p:cNvSpPr>
          <p:nvPr/>
        </p:nvSpPr>
        <p:spPr bwMode="auto">
          <a:xfrm>
            <a:off x="685800" y="1179255"/>
            <a:ext cx="2646878"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Droid Sans Mono" panose="020B0609030804020204" pitchFamily="49" charset="0"/>
                <a:ea typeface="Droid Sans Mono" panose="020B0609030804020204" pitchFamily="49" charset="0"/>
                <a:cs typeface="Droid Sans Mono" panose="020B0609030804020204" pitchFamily="49" charset="0"/>
              </a:rPr>
              <a:t>initialize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rgbClr val="1B46FD"/>
                </a:solidFill>
                <a:effectLst/>
                <a:latin typeface="Droid Sans Mono" panose="020B0609030804020204" pitchFamily="49" charset="0"/>
                <a:ea typeface="Droid Sans Mono" panose="020B0609030804020204" pitchFamily="49" charset="0"/>
                <a:cs typeface="Droid Sans Mono" panose="020B0609030804020204" pitchFamily="49" charset="0"/>
              </a:rPr>
              <a:t>while</a:t>
            </a:r>
            <a:r>
              <a:rPr kumimoji="0" lang="en-US" sz="2000" b="0" i="0" u="none" strike="noStrike" cap="none" normalizeH="0" baseline="0" dirty="0">
                <a:ln>
                  <a:noFill/>
                </a:ln>
                <a:solidFill>
                  <a:schemeClr val="tx1"/>
                </a:solidFill>
                <a:effectLst/>
                <a:latin typeface="Droid Sans Mono" panose="020B0609030804020204" pitchFamily="49" charset="0"/>
                <a:ea typeface="Droid Sans Mono" panose="020B0609030804020204" pitchFamily="49" charset="0"/>
                <a:cs typeface="Droid Sans Mono" panose="020B0609030804020204" pitchFamily="49" charset="0"/>
              </a:rPr>
              <a:t>(not done)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Droid Sans Mono" panose="020B0609030804020204" pitchFamily="49" charset="0"/>
                <a:ea typeface="Droid Sans Mono" panose="020B0609030804020204" pitchFamily="49" charset="0"/>
                <a:cs typeface="Droid Sans Mono" panose="020B060903080402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 </a:t>
            </a:r>
            <a:r>
              <a:rPr kumimoji="0" lang="en-US" sz="2000" b="0" i="0" u="none" strike="noStrike" cap="none" normalizeH="0" baseline="0" dirty="0">
                <a:ln>
                  <a:noFill/>
                </a:ln>
                <a:solidFill>
                  <a:schemeClr val="tx1"/>
                </a:solidFill>
                <a:effectLst/>
                <a:latin typeface="Droid Sans Mono" panose="020B0609030804020204" pitchFamily="49" charset="0"/>
                <a:ea typeface="Droid Sans Mono" panose="020B0609030804020204" pitchFamily="49" charset="0"/>
                <a:cs typeface="Droid Sans Mono" panose="020B0609030804020204" pitchFamily="49" charset="0"/>
              </a:rPr>
              <a:t>receive event </a:t>
            </a:r>
          </a:p>
          <a:p>
            <a:pPr marL="0" marR="0" lvl="0" indent="0" algn="l" defTabSz="914400" rtl="0" eaLnBrk="0" fontAlgn="base" latinLnBrk="0" hangingPunct="0">
              <a:lnSpc>
                <a:spcPct val="100000"/>
              </a:lnSpc>
              <a:spcBef>
                <a:spcPct val="0"/>
              </a:spcBef>
              <a:spcAft>
                <a:spcPct val="0"/>
              </a:spcAft>
              <a:buClrTx/>
              <a:buSzTx/>
              <a:buFontTx/>
              <a:buNone/>
              <a:tabLst/>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 </a:t>
            </a:r>
            <a:r>
              <a:rPr kumimoji="0" lang="en-US" sz="2000" b="0" i="0" u="none" strike="noStrike" cap="none" normalizeH="0" baseline="0" dirty="0">
                <a:ln>
                  <a:noFill/>
                </a:ln>
                <a:solidFill>
                  <a:schemeClr val="tx1"/>
                </a:solidFill>
                <a:effectLst/>
                <a:latin typeface="Droid Sans Mono" panose="020B0609030804020204" pitchFamily="49" charset="0"/>
                <a:ea typeface="Droid Sans Mono" panose="020B0609030804020204" pitchFamily="49" charset="0"/>
                <a:cs typeface="Droid Sans Mono" panose="020B0609030804020204" pitchFamily="49" charset="0"/>
              </a:rPr>
              <a:t>process event </a:t>
            </a:r>
          </a:p>
          <a:p>
            <a:pPr marL="0" marR="0" lvl="0" indent="0" algn="l" defTabSz="914400" rtl="0" eaLnBrk="0" fontAlgn="base" latinLnBrk="0" hangingPunct="0">
              <a:lnSpc>
                <a:spcPct val="100000"/>
              </a:lnSpc>
              <a:spcBef>
                <a:spcPct val="0"/>
              </a:spcBef>
              <a:spcAft>
                <a:spcPct val="0"/>
              </a:spcAft>
              <a:buClrTx/>
              <a:buSzTx/>
              <a:buFontTx/>
              <a:buNone/>
              <a:tabLst/>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 </a:t>
            </a:r>
            <a:r>
              <a:rPr kumimoji="0" lang="en-US" sz="2000" b="0" i="0" u="none" strike="noStrike" cap="none" normalizeH="0" baseline="0" dirty="0">
                <a:ln>
                  <a:noFill/>
                </a:ln>
                <a:solidFill>
                  <a:schemeClr val="tx1"/>
                </a:solidFill>
                <a:effectLst/>
                <a:latin typeface="Droid Sans Mono" panose="020B0609030804020204" pitchFamily="49" charset="0"/>
                <a:ea typeface="Droid Sans Mono" panose="020B0609030804020204" pitchFamily="49" charset="0"/>
                <a:cs typeface="Droid Sans Mono" panose="020B0609030804020204" pitchFamily="49" charset="0"/>
              </a:rPr>
              <a:t>send events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Droid Sans Mono" panose="020B0609030804020204" pitchFamily="49" charset="0"/>
                <a:ea typeface="Droid Sans Mono" panose="020B0609030804020204" pitchFamily="49" charset="0"/>
                <a:cs typeface="Droid Sans Mono" panose="020B060903080402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Droid Sans Mono" panose="020B0609030804020204" pitchFamily="49" charset="0"/>
                <a:ea typeface="Droid Sans Mono" panose="020B0609030804020204" pitchFamily="49" charset="0"/>
                <a:cs typeface="Droid Sans Mono" panose="020B0609030804020204" pitchFamily="49" charset="0"/>
              </a:rPr>
              <a:t>finalize </a:t>
            </a:r>
          </a:p>
        </p:txBody>
      </p:sp>
    </p:spTree>
    <p:extLst>
      <p:ext uri="{BB962C8B-B14F-4D97-AF65-F5344CB8AC3E}">
        <p14:creationId xmlns:p14="http://schemas.microsoft.com/office/powerpoint/2010/main" val="1613735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مثال‌هایی از تجزیه</a:t>
            </a:r>
            <a:endParaRPr lang="en-US" dirty="0"/>
          </a:p>
        </p:txBody>
      </p:sp>
      <p:sp>
        <p:nvSpPr>
          <p:cNvPr id="3" name="Content Placeholder 2"/>
          <p:cNvSpPr>
            <a:spLocks noGrp="1"/>
          </p:cNvSpPr>
          <p:nvPr>
            <p:ph sz="quarter" idx="1"/>
          </p:nvPr>
        </p:nvSpPr>
        <p:spPr/>
        <p:txBody>
          <a:bodyPr/>
          <a:lstStyle/>
          <a:p>
            <a:r>
              <a:rPr lang="fa-IR" dirty="0"/>
              <a:t>پیدا کردن مقدار بیشینه در یک آرایه</a:t>
            </a:r>
          </a:p>
          <a:p>
            <a:pPr lvl="1"/>
            <a:r>
              <a:rPr lang="fa-IR" dirty="0"/>
              <a:t>تجزیه دامنه</a:t>
            </a:r>
          </a:p>
          <a:p>
            <a:pPr lvl="1"/>
            <a:r>
              <a:rPr lang="fa-IR" dirty="0"/>
              <a:t>تجزیه عملیاتی بازگشتی</a:t>
            </a:r>
          </a:p>
          <a:p>
            <a:r>
              <a:rPr lang="fa-IR" dirty="0"/>
              <a:t>یافتن فراوانی تعدادی رشته در یک پایگاه داده</a:t>
            </a:r>
          </a:p>
          <a:p>
            <a:pPr lvl="1"/>
            <a:r>
              <a:rPr lang="fa-IR" dirty="0"/>
              <a:t>تجزیه دامنه (بر حسب داده ورودی، خروجی یا هر دو)</a:t>
            </a:r>
          </a:p>
          <a:p>
            <a:r>
              <a:rPr lang="fa-IR" dirty="0"/>
              <a:t>ضرب ماتریسی</a:t>
            </a:r>
            <a:endParaRPr lang="en-US" dirty="0"/>
          </a:p>
          <a:p>
            <a:pPr lvl="1"/>
            <a:r>
              <a:rPr lang="en-US" dirty="0"/>
              <a:t> </a:t>
            </a:r>
            <a:r>
              <a:rPr lang="fa-IR" dirty="0"/>
              <a:t>تجزیه عملیاتی وظایف موازی</a:t>
            </a:r>
            <a:endParaRPr lang="en-US" dirty="0"/>
          </a:p>
          <a:p>
            <a:pPr lvl="1"/>
            <a:r>
              <a:rPr lang="fa-IR" dirty="0"/>
              <a:t>تجزیه دامنه یک بعدی و دو بعدی</a:t>
            </a:r>
          </a:p>
          <a:p>
            <a:endParaRPr lang="fa-IR" dirty="0"/>
          </a:p>
          <a:p>
            <a:endParaRPr lang="en-US" dirty="0"/>
          </a:p>
        </p:txBody>
      </p:sp>
      <p:sp>
        <p:nvSpPr>
          <p:cNvPr id="4" name="Date Placeholder 3"/>
          <p:cNvSpPr>
            <a:spLocks noGrp="1"/>
          </p:cNvSpPr>
          <p:nvPr>
            <p:ph type="dt" sz="half" idx="10"/>
          </p:nvPr>
        </p:nvSpPr>
        <p:spPr/>
        <p:txBody>
          <a:bodyPr/>
          <a:lstStyle/>
          <a:p>
            <a:pPr>
              <a:defRPr/>
            </a:pPr>
            <a:r>
              <a:rPr lang="en-US" altLang="en-US"/>
              <a:t>برنامه‌نویسی چند‌هسته‌ای</a:t>
            </a:r>
          </a:p>
        </p:txBody>
      </p:sp>
      <p:sp>
        <p:nvSpPr>
          <p:cNvPr id="5" name="Footer Placeholder 4"/>
          <p:cNvSpPr>
            <a:spLocks noGrp="1"/>
          </p:cNvSpPr>
          <p:nvPr>
            <p:ph type="ftr" sz="quarter" idx="11"/>
          </p:nvPr>
        </p:nvSpPr>
        <p:spPr/>
        <p:txBody>
          <a:bodyPr/>
          <a:lstStyle/>
          <a:p>
            <a:pPr>
              <a:defRPr/>
            </a:pPr>
            <a:r>
              <a:rPr lang="fa-IR" altLang="en-US"/>
              <a:t>4- طراحی برنامه موازی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11</a:t>
            </a:fld>
            <a:endParaRPr lang="en-US" altLang="en-US" dirty="0"/>
          </a:p>
        </p:txBody>
      </p:sp>
    </p:spTree>
    <p:extLst>
      <p:ext uri="{BB962C8B-B14F-4D97-AF65-F5344CB8AC3E}">
        <p14:creationId xmlns:p14="http://schemas.microsoft.com/office/powerpoint/2010/main" val="1044695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الگوهای برنامه موازی</a:t>
            </a:r>
            <a:endParaRPr lang="en-US" dirty="0"/>
          </a:p>
        </p:txBody>
      </p:sp>
      <p:sp>
        <p:nvSpPr>
          <p:cNvPr id="3" name="Content Placeholder 2"/>
          <p:cNvSpPr>
            <a:spLocks noGrp="1"/>
          </p:cNvSpPr>
          <p:nvPr>
            <p:ph sz="quarter" idx="1"/>
          </p:nvPr>
        </p:nvSpPr>
        <p:spPr/>
        <p:txBody>
          <a:bodyPr/>
          <a:lstStyle/>
          <a:p>
            <a:r>
              <a:rPr lang="fa-IR" dirty="0"/>
              <a:t>ارباب-برده					   </a:t>
            </a:r>
            <a:r>
              <a:rPr lang="en-US" dirty="0"/>
              <a:t>Master-Slave</a:t>
            </a:r>
          </a:p>
          <a:p>
            <a:r>
              <a:rPr lang="fa-IR" dirty="0"/>
              <a:t>نگاشت-کاهش				    </a:t>
            </a:r>
            <a:r>
              <a:rPr lang="en-US" dirty="0"/>
              <a:t>Map-Reduce</a:t>
            </a:r>
          </a:p>
          <a:p>
            <a:r>
              <a:rPr lang="fa-IR" dirty="0"/>
              <a:t>تولیدکننده-مصرف‌کننده		  </a:t>
            </a:r>
            <a:r>
              <a:rPr lang="en-US" dirty="0"/>
              <a:t>Producer-Consumer</a:t>
            </a:r>
          </a:p>
          <a:p>
            <a:r>
              <a:rPr lang="fa-IR" dirty="0"/>
              <a:t>خط‌لوله						  </a:t>
            </a:r>
            <a:r>
              <a:rPr lang="en-US" dirty="0"/>
              <a:t>Pipeline</a:t>
            </a:r>
          </a:p>
          <a:p>
            <a:r>
              <a:rPr lang="fa-IR" dirty="0"/>
              <a:t>انشعاب-پیوند					          </a:t>
            </a:r>
            <a:r>
              <a:rPr lang="en-US" dirty="0"/>
              <a:t>Fork-Join</a:t>
            </a:r>
            <a:endParaRPr lang="fa-IR" dirty="0"/>
          </a:p>
          <a:p>
            <a:r>
              <a:rPr lang="fa-IR" dirty="0"/>
              <a:t>موازی‎سازی حلقه			        </a:t>
            </a:r>
            <a:r>
              <a:rPr lang="en-US" dirty="0"/>
              <a:t>Loop Parallelism</a:t>
            </a:r>
            <a:endParaRPr lang="fa-IR" dirty="0"/>
          </a:p>
        </p:txBody>
      </p:sp>
      <p:sp>
        <p:nvSpPr>
          <p:cNvPr id="4" name="Date Placeholder 3"/>
          <p:cNvSpPr>
            <a:spLocks noGrp="1"/>
          </p:cNvSpPr>
          <p:nvPr>
            <p:ph type="dt" sz="half" idx="10"/>
          </p:nvPr>
        </p:nvSpPr>
        <p:spPr/>
        <p:txBody>
          <a:bodyPr/>
          <a:lstStyle/>
          <a:p>
            <a:pPr>
              <a:defRPr/>
            </a:pPr>
            <a:r>
              <a:rPr lang="en-US" altLang="en-US"/>
              <a:t>برنامه‌نویسی چند‌هسته‌ای</a:t>
            </a:r>
          </a:p>
        </p:txBody>
      </p:sp>
      <p:sp>
        <p:nvSpPr>
          <p:cNvPr id="5" name="Footer Placeholder 4"/>
          <p:cNvSpPr>
            <a:spLocks noGrp="1"/>
          </p:cNvSpPr>
          <p:nvPr>
            <p:ph type="ftr" sz="quarter" idx="11"/>
          </p:nvPr>
        </p:nvSpPr>
        <p:spPr/>
        <p:txBody>
          <a:bodyPr/>
          <a:lstStyle/>
          <a:p>
            <a:pPr>
              <a:defRPr/>
            </a:pPr>
            <a:r>
              <a:rPr lang="fa-IR" altLang="en-US"/>
              <a:t>4- طراحی برنامه موازی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12</a:t>
            </a:fld>
            <a:endParaRPr lang="en-US" altLang="en-US" dirty="0"/>
          </a:p>
        </p:txBody>
      </p:sp>
    </p:spTree>
    <p:extLst>
      <p:ext uri="{BB962C8B-B14F-4D97-AF65-F5344CB8AC3E}">
        <p14:creationId xmlns:p14="http://schemas.microsoft.com/office/powerpoint/2010/main" val="28838275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ارباب-برده</a:t>
            </a:r>
            <a:endParaRPr lang="en-US" dirty="0"/>
          </a:p>
        </p:txBody>
      </p:sp>
      <p:sp>
        <p:nvSpPr>
          <p:cNvPr id="3" name="Content Placeholder 2"/>
          <p:cNvSpPr>
            <a:spLocks noGrp="1"/>
          </p:cNvSpPr>
          <p:nvPr>
            <p:ph sz="quarter" idx="1"/>
          </p:nvPr>
        </p:nvSpPr>
        <p:spPr/>
        <p:txBody>
          <a:bodyPr/>
          <a:lstStyle/>
          <a:p>
            <a:r>
              <a:rPr lang="fa-IR" dirty="0"/>
              <a:t>الگوریتم شامل یک (یا چند) ارباب است که مسئول تولید کار هستند و تعدادی برده موازی که کار را از ارباب تحویل می‌گیرند، انجام می‌دهند و نتایج را به ارباب بازمی‌گردانند.</a:t>
            </a:r>
            <a:endParaRPr lang="en-US" dirty="0"/>
          </a:p>
        </p:txBody>
      </p:sp>
      <p:sp>
        <p:nvSpPr>
          <p:cNvPr id="4" name="Date Placeholder 3"/>
          <p:cNvSpPr>
            <a:spLocks noGrp="1"/>
          </p:cNvSpPr>
          <p:nvPr>
            <p:ph type="dt" sz="half" idx="10"/>
          </p:nvPr>
        </p:nvSpPr>
        <p:spPr/>
        <p:txBody>
          <a:bodyPr/>
          <a:lstStyle/>
          <a:p>
            <a:pPr>
              <a:defRPr/>
            </a:pPr>
            <a:r>
              <a:rPr lang="en-US" altLang="en-US"/>
              <a:t>برنامه‌نویسی چند‌هسته‌ای</a:t>
            </a:r>
          </a:p>
        </p:txBody>
      </p:sp>
      <p:sp>
        <p:nvSpPr>
          <p:cNvPr id="5" name="Footer Placeholder 4"/>
          <p:cNvSpPr>
            <a:spLocks noGrp="1"/>
          </p:cNvSpPr>
          <p:nvPr>
            <p:ph type="ftr" sz="quarter" idx="11"/>
          </p:nvPr>
        </p:nvSpPr>
        <p:spPr/>
        <p:txBody>
          <a:bodyPr/>
          <a:lstStyle/>
          <a:p>
            <a:pPr>
              <a:defRPr/>
            </a:pPr>
            <a:r>
              <a:rPr lang="fa-IR" altLang="en-US"/>
              <a:t>4- طراحی برنامه موازی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13</a:t>
            </a:fld>
            <a:endParaRPr lang="en-US" altLang="en-US" dirty="0"/>
          </a:p>
        </p:txBody>
      </p:sp>
      <p:pic>
        <p:nvPicPr>
          <p:cNvPr id="7"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0523"/>
          <a:stretch/>
        </p:blipFill>
        <p:spPr bwMode="auto">
          <a:xfrm>
            <a:off x="726948" y="3124200"/>
            <a:ext cx="7924800" cy="29718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3167505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نگاشت-کاهش</a:t>
            </a:r>
            <a:endParaRPr lang="en-US" dirty="0"/>
          </a:p>
        </p:txBody>
      </p:sp>
      <p:sp>
        <p:nvSpPr>
          <p:cNvPr id="3" name="Content Placeholder 2"/>
          <p:cNvSpPr>
            <a:spLocks noGrp="1"/>
          </p:cNvSpPr>
          <p:nvPr>
            <p:ph sz="quarter" idx="1"/>
          </p:nvPr>
        </p:nvSpPr>
        <p:spPr/>
        <p:txBody>
          <a:bodyPr/>
          <a:lstStyle/>
          <a:p>
            <a:r>
              <a:rPr lang="fa-IR" dirty="0"/>
              <a:t>نوع خاصی از الگوی ارباب-برده که با پیاده‌سازی در موتور جستجوی گوگل معروف شد. </a:t>
            </a:r>
          </a:p>
          <a:p>
            <a:r>
              <a:rPr lang="fa-IR" dirty="0"/>
              <a:t>ارباب وظیفه هماهنگی را دارد. </a:t>
            </a:r>
          </a:p>
          <a:p>
            <a:r>
              <a:rPr lang="fa-IR" dirty="0"/>
              <a:t>برده‌ها دو نوع‌اند:</a:t>
            </a:r>
          </a:p>
          <a:p>
            <a:pPr lvl="1"/>
            <a:r>
              <a:rPr lang="fa-IR" dirty="0"/>
              <a:t>نگاشت: یک تابع خاص را بر روی ورودی‌ها اعمال می‌کنند و نتایج میانی تولید می‌کنند.</a:t>
            </a:r>
          </a:p>
          <a:p>
            <a:pPr lvl="1"/>
            <a:r>
              <a:rPr lang="fa-IR" dirty="0"/>
              <a:t>کاهش: نتایج میانی را از چند برده نگاشت تحویل گرفته و از روی آن‌ها نتیجه نهایی را تولید می‌کنند.</a:t>
            </a:r>
            <a:endParaRPr lang="en-US" dirty="0"/>
          </a:p>
        </p:txBody>
      </p:sp>
      <p:sp>
        <p:nvSpPr>
          <p:cNvPr id="4" name="Date Placeholder 3"/>
          <p:cNvSpPr>
            <a:spLocks noGrp="1"/>
          </p:cNvSpPr>
          <p:nvPr>
            <p:ph type="dt" sz="half" idx="10"/>
          </p:nvPr>
        </p:nvSpPr>
        <p:spPr/>
        <p:txBody>
          <a:bodyPr/>
          <a:lstStyle/>
          <a:p>
            <a:pPr>
              <a:defRPr/>
            </a:pPr>
            <a:r>
              <a:rPr lang="en-US" altLang="en-US"/>
              <a:t>برنامه‌نویسی چند‌هسته‌ای</a:t>
            </a:r>
          </a:p>
        </p:txBody>
      </p:sp>
      <p:sp>
        <p:nvSpPr>
          <p:cNvPr id="5" name="Footer Placeholder 4"/>
          <p:cNvSpPr>
            <a:spLocks noGrp="1"/>
          </p:cNvSpPr>
          <p:nvPr>
            <p:ph type="ftr" sz="quarter" idx="11"/>
          </p:nvPr>
        </p:nvSpPr>
        <p:spPr/>
        <p:txBody>
          <a:bodyPr/>
          <a:lstStyle/>
          <a:p>
            <a:pPr>
              <a:defRPr/>
            </a:pPr>
            <a:r>
              <a:rPr lang="fa-IR" altLang="en-US"/>
              <a:t>4- طراحی برنامه موازی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14</a:t>
            </a:fld>
            <a:endParaRPr lang="en-US" altLang="en-US" dirty="0"/>
          </a:p>
        </p:txBody>
      </p:sp>
    </p:spTree>
    <p:extLst>
      <p:ext uri="{BB962C8B-B14F-4D97-AF65-F5344CB8AC3E}">
        <p14:creationId xmlns:p14="http://schemas.microsoft.com/office/powerpoint/2010/main" val="827436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نگاشت-کاهش</a:t>
            </a:r>
            <a:endParaRPr lang="en-US" dirty="0"/>
          </a:p>
        </p:txBody>
      </p:sp>
      <p:sp>
        <p:nvSpPr>
          <p:cNvPr id="3" name="Content Placeholder 2"/>
          <p:cNvSpPr>
            <a:spLocks noGrp="1"/>
          </p:cNvSpPr>
          <p:nvPr>
            <p:ph sz="quarter" idx="1"/>
          </p:nvPr>
        </p:nvSpPr>
        <p:spPr/>
        <p:txBody>
          <a:bodyPr/>
          <a:lstStyle/>
          <a:p>
            <a:r>
              <a:rPr lang="fa-IR" dirty="0"/>
              <a:t>مثال: یافتن تعداد تکرار کلمه «موازی» در تعدادی فایل</a:t>
            </a:r>
          </a:p>
          <a:p>
            <a:pPr lvl="1"/>
            <a:r>
              <a:rPr lang="fa-IR" dirty="0"/>
              <a:t>هر برده </a:t>
            </a:r>
            <a:r>
              <a:rPr lang="fa-IR" b="1" dirty="0"/>
              <a:t>نگاشت</a:t>
            </a:r>
            <a:r>
              <a:rPr lang="fa-IR" dirty="0"/>
              <a:t> مسئول یافتن تعداد تکرار کلمه در یک فایل</a:t>
            </a:r>
          </a:p>
          <a:p>
            <a:pPr lvl="1"/>
            <a:r>
              <a:rPr lang="fa-IR" dirty="0"/>
              <a:t>برده </a:t>
            </a:r>
            <a:r>
              <a:rPr lang="fa-IR" b="1" dirty="0"/>
              <a:t>کاهش</a:t>
            </a:r>
            <a:r>
              <a:rPr lang="fa-IR" dirty="0"/>
              <a:t> مسئول محاسبه مجموع فراوانی‌ها</a:t>
            </a:r>
            <a:endParaRPr lang="en-US" dirty="0"/>
          </a:p>
        </p:txBody>
      </p:sp>
      <p:sp>
        <p:nvSpPr>
          <p:cNvPr id="4" name="Date Placeholder 3"/>
          <p:cNvSpPr>
            <a:spLocks noGrp="1"/>
          </p:cNvSpPr>
          <p:nvPr>
            <p:ph type="dt" sz="half" idx="10"/>
          </p:nvPr>
        </p:nvSpPr>
        <p:spPr/>
        <p:txBody>
          <a:bodyPr/>
          <a:lstStyle/>
          <a:p>
            <a:pPr>
              <a:defRPr/>
            </a:pPr>
            <a:r>
              <a:rPr lang="en-US" altLang="en-US"/>
              <a:t>برنامه‌نویسی چند‌هسته‌ای</a:t>
            </a:r>
          </a:p>
        </p:txBody>
      </p:sp>
      <p:sp>
        <p:nvSpPr>
          <p:cNvPr id="5" name="Footer Placeholder 4"/>
          <p:cNvSpPr>
            <a:spLocks noGrp="1"/>
          </p:cNvSpPr>
          <p:nvPr>
            <p:ph type="ftr" sz="quarter" idx="11"/>
          </p:nvPr>
        </p:nvSpPr>
        <p:spPr/>
        <p:txBody>
          <a:bodyPr/>
          <a:lstStyle/>
          <a:p>
            <a:pPr>
              <a:defRPr/>
            </a:pPr>
            <a:r>
              <a:rPr lang="fa-IR" altLang="en-US"/>
              <a:t>4- طراحی برنامه موازی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15</a:t>
            </a:fld>
            <a:endParaRPr lang="en-US" altLang="en-US" dirty="0"/>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0652" y="2923381"/>
            <a:ext cx="6780348" cy="3172619"/>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8493095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تولیدکننده-مصرف‌کننده</a:t>
            </a:r>
            <a:endParaRPr lang="en-US" dirty="0"/>
          </a:p>
        </p:txBody>
      </p:sp>
      <p:sp>
        <p:nvSpPr>
          <p:cNvPr id="3" name="Content Placeholder 2"/>
          <p:cNvSpPr>
            <a:spLocks noGrp="1"/>
          </p:cNvSpPr>
          <p:nvPr>
            <p:ph sz="quarter" idx="1"/>
          </p:nvPr>
        </p:nvSpPr>
        <p:spPr/>
        <p:txBody>
          <a:bodyPr/>
          <a:lstStyle/>
          <a:p>
            <a:r>
              <a:rPr lang="fa-IR" dirty="0"/>
              <a:t>یک یا چند تولید‌کننده در حال پردازش و تولید داده هستند و داده را در یک صف قرار می‌دهند. </a:t>
            </a:r>
          </a:p>
          <a:p>
            <a:r>
              <a:rPr lang="fa-IR" dirty="0"/>
              <a:t>یک یا چند مصرف کننده در حال سرکشی به صف هستند و در صورت وجود داده آن را پردازش و اصطلاحاً مصرف می‌کنند. </a:t>
            </a:r>
            <a:endParaRPr lang="en-US" dirty="0"/>
          </a:p>
        </p:txBody>
      </p:sp>
      <p:sp>
        <p:nvSpPr>
          <p:cNvPr id="4" name="Date Placeholder 3"/>
          <p:cNvSpPr>
            <a:spLocks noGrp="1"/>
          </p:cNvSpPr>
          <p:nvPr>
            <p:ph type="dt" sz="half" idx="10"/>
          </p:nvPr>
        </p:nvSpPr>
        <p:spPr/>
        <p:txBody>
          <a:bodyPr/>
          <a:lstStyle/>
          <a:p>
            <a:pPr>
              <a:defRPr/>
            </a:pPr>
            <a:r>
              <a:rPr lang="en-US" altLang="en-US"/>
              <a:t>برنامه‌نویسی چند‌هسته‌ای</a:t>
            </a:r>
          </a:p>
        </p:txBody>
      </p:sp>
      <p:sp>
        <p:nvSpPr>
          <p:cNvPr id="5" name="Footer Placeholder 4"/>
          <p:cNvSpPr>
            <a:spLocks noGrp="1"/>
          </p:cNvSpPr>
          <p:nvPr>
            <p:ph type="ftr" sz="quarter" idx="11"/>
          </p:nvPr>
        </p:nvSpPr>
        <p:spPr/>
        <p:txBody>
          <a:bodyPr/>
          <a:lstStyle/>
          <a:p>
            <a:pPr>
              <a:defRPr/>
            </a:pPr>
            <a:r>
              <a:rPr lang="fa-IR" altLang="en-US"/>
              <a:t>4- طراحی برنامه موازی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16</a:t>
            </a:fld>
            <a:endParaRPr lang="en-US" altLang="en-US" dirty="0"/>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8526" y="3377638"/>
            <a:ext cx="6918674" cy="2856206"/>
          </a:xfrm>
          <a:prstGeom prst="rect">
            <a:avLst/>
          </a:prstGeom>
        </p:spPr>
      </p:pic>
    </p:spTree>
    <p:extLst>
      <p:ext uri="{BB962C8B-B14F-4D97-AF65-F5344CB8AC3E}">
        <p14:creationId xmlns:p14="http://schemas.microsoft.com/office/powerpoint/2010/main" val="23409269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خط‌لوله</a:t>
            </a:r>
            <a:endParaRPr lang="en-US" dirty="0"/>
          </a:p>
        </p:txBody>
      </p:sp>
      <p:sp>
        <p:nvSpPr>
          <p:cNvPr id="3" name="Content Placeholder 2"/>
          <p:cNvSpPr>
            <a:spLocks noGrp="1"/>
          </p:cNvSpPr>
          <p:nvPr>
            <p:ph sz="quarter" idx="1"/>
          </p:nvPr>
        </p:nvSpPr>
        <p:spPr/>
        <p:txBody>
          <a:bodyPr/>
          <a:lstStyle/>
          <a:p>
            <a:r>
              <a:rPr lang="fa-IR" dirty="0"/>
              <a:t>حالت خاصی از تولیدکننده-مصرف‌کننده که هر مصرف‌کننده برای واحد بعدی نقش تولید‌کننده را بازی می‌کند. </a:t>
            </a:r>
            <a:endParaRPr lang="en-US" dirty="0"/>
          </a:p>
        </p:txBody>
      </p:sp>
      <p:sp>
        <p:nvSpPr>
          <p:cNvPr id="4" name="Date Placeholder 3"/>
          <p:cNvSpPr>
            <a:spLocks noGrp="1"/>
          </p:cNvSpPr>
          <p:nvPr>
            <p:ph type="dt" sz="half" idx="10"/>
          </p:nvPr>
        </p:nvSpPr>
        <p:spPr/>
        <p:txBody>
          <a:bodyPr/>
          <a:lstStyle/>
          <a:p>
            <a:pPr>
              <a:defRPr/>
            </a:pPr>
            <a:r>
              <a:rPr lang="en-US" altLang="en-US"/>
              <a:t>برنامه‌نویسی چند‌هسته‌ای</a:t>
            </a:r>
          </a:p>
        </p:txBody>
      </p:sp>
      <p:sp>
        <p:nvSpPr>
          <p:cNvPr id="5" name="Footer Placeholder 4"/>
          <p:cNvSpPr>
            <a:spLocks noGrp="1"/>
          </p:cNvSpPr>
          <p:nvPr>
            <p:ph type="ftr" sz="quarter" idx="11"/>
          </p:nvPr>
        </p:nvSpPr>
        <p:spPr/>
        <p:txBody>
          <a:bodyPr/>
          <a:lstStyle/>
          <a:p>
            <a:pPr>
              <a:defRPr/>
            </a:pPr>
            <a:r>
              <a:rPr lang="fa-IR" altLang="en-US"/>
              <a:t>4- طراحی برنامه موازی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17</a:t>
            </a:fld>
            <a:endParaRPr lang="en-US" altLang="en-US" dirty="0"/>
          </a:p>
        </p:txBody>
      </p:sp>
      <p:sp>
        <p:nvSpPr>
          <p:cNvPr id="7" name="Oval 6"/>
          <p:cNvSpPr/>
          <p:nvPr/>
        </p:nvSpPr>
        <p:spPr>
          <a:xfrm>
            <a:off x="2033588" y="3276600"/>
            <a:ext cx="1243012"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FFT</a:t>
            </a:r>
          </a:p>
        </p:txBody>
      </p:sp>
      <p:sp>
        <p:nvSpPr>
          <p:cNvPr id="8" name="Oval 7"/>
          <p:cNvSpPr/>
          <p:nvPr/>
        </p:nvSpPr>
        <p:spPr>
          <a:xfrm>
            <a:off x="4167188" y="3260333"/>
            <a:ext cx="1243012"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Digital Filter</a:t>
            </a:r>
          </a:p>
        </p:txBody>
      </p:sp>
      <p:sp>
        <p:nvSpPr>
          <p:cNvPr id="9" name="Oval 8"/>
          <p:cNvSpPr/>
          <p:nvPr/>
        </p:nvSpPr>
        <p:spPr>
          <a:xfrm>
            <a:off x="6300788" y="3260333"/>
            <a:ext cx="1243012"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IFFT</a:t>
            </a:r>
          </a:p>
        </p:txBody>
      </p:sp>
      <p:cxnSp>
        <p:nvCxnSpPr>
          <p:cNvPr id="10" name="Straight Arrow Connector 9"/>
          <p:cNvCxnSpPr>
            <a:stCxn id="7" idx="6"/>
            <a:endCxn id="8" idx="2"/>
          </p:cNvCxnSpPr>
          <p:nvPr/>
        </p:nvCxnSpPr>
        <p:spPr>
          <a:xfrm flipV="1">
            <a:off x="3276600" y="3717533"/>
            <a:ext cx="890588" cy="1626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8" idx="6"/>
            <a:endCxn id="9" idx="2"/>
          </p:cNvCxnSpPr>
          <p:nvPr/>
        </p:nvCxnSpPr>
        <p:spPr>
          <a:xfrm>
            <a:off x="5410200" y="3717533"/>
            <a:ext cx="89058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41838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انشعاب-پیوند</a:t>
            </a:r>
            <a:endParaRPr lang="en-US" dirty="0"/>
          </a:p>
        </p:txBody>
      </p:sp>
      <p:sp>
        <p:nvSpPr>
          <p:cNvPr id="3" name="Content Placeholder 2"/>
          <p:cNvSpPr>
            <a:spLocks noGrp="1"/>
          </p:cNvSpPr>
          <p:nvPr>
            <p:ph sz="quarter" idx="1"/>
          </p:nvPr>
        </p:nvSpPr>
        <p:spPr/>
        <p:txBody>
          <a:bodyPr/>
          <a:lstStyle/>
          <a:p>
            <a:r>
              <a:rPr lang="fa-IR" dirty="0"/>
              <a:t>یک نخ اصلی وجود دارد که مسئول اجرای قسمت‌های سریال برنامه است.</a:t>
            </a:r>
          </a:p>
          <a:p>
            <a:r>
              <a:rPr lang="fa-IR" dirty="0"/>
              <a:t>در هر بار رسیدن به یک قسمت موازی، یک تیم از نخ‌ها ایجاد می‌کند (یا تیم نخ‌هایی که قبلا یک‌بار ایجاد شده را دوباره بیدار می‌کند).</a:t>
            </a:r>
          </a:p>
          <a:p>
            <a:endParaRPr lang="fa-IR" dirty="0"/>
          </a:p>
          <a:p>
            <a:endParaRPr lang="en-US" dirty="0"/>
          </a:p>
        </p:txBody>
      </p:sp>
      <p:sp>
        <p:nvSpPr>
          <p:cNvPr id="4" name="Date Placeholder 3"/>
          <p:cNvSpPr>
            <a:spLocks noGrp="1"/>
          </p:cNvSpPr>
          <p:nvPr>
            <p:ph type="dt" sz="half" idx="10"/>
          </p:nvPr>
        </p:nvSpPr>
        <p:spPr/>
        <p:txBody>
          <a:bodyPr/>
          <a:lstStyle/>
          <a:p>
            <a:pPr>
              <a:defRPr/>
            </a:pPr>
            <a:r>
              <a:rPr lang="en-US" altLang="en-US"/>
              <a:t>برنامه‌نویسی چند‌هسته‌ای</a:t>
            </a:r>
          </a:p>
        </p:txBody>
      </p:sp>
      <p:sp>
        <p:nvSpPr>
          <p:cNvPr id="5" name="Footer Placeholder 4"/>
          <p:cNvSpPr>
            <a:spLocks noGrp="1"/>
          </p:cNvSpPr>
          <p:nvPr>
            <p:ph type="ftr" sz="quarter" idx="11"/>
          </p:nvPr>
        </p:nvSpPr>
        <p:spPr/>
        <p:txBody>
          <a:bodyPr/>
          <a:lstStyle/>
          <a:p>
            <a:pPr>
              <a:defRPr/>
            </a:pPr>
            <a:r>
              <a:rPr lang="fa-IR" altLang="en-US"/>
              <a:t>4- طراحی برنامه موازی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18</a:t>
            </a:fld>
            <a:endParaRPr lang="en-US" altLang="en-US" dirty="0"/>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4425" y="3657600"/>
            <a:ext cx="7038975" cy="2428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8" name="Group 7"/>
          <p:cNvGrpSpPr/>
          <p:nvPr/>
        </p:nvGrpSpPr>
        <p:grpSpPr>
          <a:xfrm>
            <a:off x="5943600" y="5023194"/>
            <a:ext cx="1388852" cy="781101"/>
            <a:chOff x="5943600" y="5023194"/>
            <a:chExt cx="1388852" cy="781101"/>
          </a:xfrm>
        </p:grpSpPr>
        <p:pic>
          <p:nvPicPr>
            <p:cNvPr id="9"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7166" t="6965" r="72273" b="35940"/>
            <a:stretch/>
          </p:blipFill>
          <p:spPr bwMode="auto">
            <a:xfrm>
              <a:off x="6231148" y="5023194"/>
              <a:ext cx="815196" cy="7811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0" name="Straight Arrow Connector 9"/>
            <p:cNvCxnSpPr/>
            <p:nvPr/>
          </p:nvCxnSpPr>
          <p:spPr>
            <a:xfrm>
              <a:off x="5943600" y="5207478"/>
              <a:ext cx="304800" cy="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7027652" y="5207478"/>
              <a:ext cx="304800" cy="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6400800" y="5148530"/>
              <a:ext cx="457200" cy="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30825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موازی‌سازی حلقه</a:t>
            </a:r>
            <a:endParaRPr lang="en-US" dirty="0"/>
          </a:p>
        </p:txBody>
      </p:sp>
      <p:sp>
        <p:nvSpPr>
          <p:cNvPr id="3" name="Content Placeholder 2"/>
          <p:cNvSpPr>
            <a:spLocks noGrp="1"/>
          </p:cNvSpPr>
          <p:nvPr>
            <p:ph sz="quarter" idx="1"/>
          </p:nvPr>
        </p:nvSpPr>
        <p:spPr/>
        <p:txBody>
          <a:bodyPr/>
          <a:lstStyle/>
          <a:p>
            <a:r>
              <a:rPr lang="fa-IR" dirty="0"/>
              <a:t>معمولاً در مسائلی که یک کار واحد و مستقل بر روی یک ماتریس یا بردار انجام می‌شود، در برنامه یک یا چند حلقه داریم که هر تکرار آن از دیگری مستقل است.</a:t>
            </a:r>
          </a:p>
          <a:p>
            <a:r>
              <a:rPr lang="fa-IR" dirty="0"/>
              <a:t>در این الگو، اجرای هر یک یا چند تکرار حلقه به یک نخ سپرده می‌شود. </a:t>
            </a:r>
            <a:endParaRPr lang="en-US" dirty="0"/>
          </a:p>
        </p:txBody>
      </p:sp>
      <p:sp>
        <p:nvSpPr>
          <p:cNvPr id="4" name="Date Placeholder 3"/>
          <p:cNvSpPr>
            <a:spLocks noGrp="1"/>
          </p:cNvSpPr>
          <p:nvPr>
            <p:ph type="dt" sz="half" idx="10"/>
          </p:nvPr>
        </p:nvSpPr>
        <p:spPr/>
        <p:txBody>
          <a:bodyPr/>
          <a:lstStyle/>
          <a:p>
            <a:pPr>
              <a:defRPr/>
            </a:pPr>
            <a:r>
              <a:rPr lang="en-US" altLang="en-US"/>
              <a:t>برنامه‌نویسی چند‌هسته‌ای</a:t>
            </a:r>
          </a:p>
        </p:txBody>
      </p:sp>
      <p:sp>
        <p:nvSpPr>
          <p:cNvPr id="5" name="Footer Placeholder 4"/>
          <p:cNvSpPr>
            <a:spLocks noGrp="1"/>
          </p:cNvSpPr>
          <p:nvPr>
            <p:ph type="ftr" sz="quarter" idx="11"/>
          </p:nvPr>
        </p:nvSpPr>
        <p:spPr/>
        <p:txBody>
          <a:bodyPr/>
          <a:lstStyle/>
          <a:p>
            <a:pPr>
              <a:defRPr/>
            </a:pPr>
            <a:r>
              <a:rPr lang="fa-IR" altLang="en-US"/>
              <a:t>4- طراحی برنامه موازی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19</a:t>
            </a:fld>
            <a:endParaRPr lang="en-US" altLang="en-US" dirty="0"/>
          </a:p>
        </p:txBody>
      </p:sp>
    </p:spTree>
    <p:extLst>
      <p:ext uri="{BB962C8B-B14F-4D97-AF65-F5344CB8AC3E}">
        <p14:creationId xmlns:p14="http://schemas.microsoft.com/office/powerpoint/2010/main" val="9744656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چک-لیست مرحله تجزیه</a:t>
            </a:r>
            <a:endParaRPr lang="en-US" dirty="0"/>
          </a:p>
        </p:txBody>
      </p:sp>
      <p:sp>
        <p:nvSpPr>
          <p:cNvPr id="3" name="Content Placeholder 2"/>
          <p:cNvSpPr>
            <a:spLocks noGrp="1"/>
          </p:cNvSpPr>
          <p:nvPr>
            <p:ph sz="quarter" idx="1"/>
          </p:nvPr>
        </p:nvSpPr>
        <p:spPr/>
        <p:txBody>
          <a:bodyPr/>
          <a:lstStyle/>
          <a:p>
            <a:r>
              <a:rPr lang="fa-IR" sz="2400" dirty="0"/>
              <a:t>آیا تعداد وظایف تولید شده در مرحله تجزیه، یک مرتبه بزرگ‌تر از تعداد واحدهای پردازشی است؟ اگر خیر، انعطاف‌پذیری کمی در مراحل بعدی طراحی خواهید داشت.</a:t>
            </a:r>
          </a:p>
          <a:p>
            <a:r>
              <a:rPr lang="fa-IR" sz="2400" dirty="0"/>
              <a:t>آیا تجزیه شما از محاسبات و ذخیره داده افزونه اجتناب می‌کند؟ اگر خیر، تجزیه شما ممکن است در مواجهه با مسائل بزرگ‌تر مقیاس‌پذیر نباشد.</a:t>
            </a:r>
          </a:p>
          <a:p>
            <a:r>
              <a:rPr lang="fa-IR" sz="2400" dirty="0"/>
              <a:t>آیا اندازه وظایف مشابه و در یک محدوده است؟ اگر خیر، ممکن است تخصیص کار مساوی به پردازنده‌ها پیچیده شود.</a:t>
            </a:r>
          </a:p>
          <a:p>
            <a:r>
              <a:rPr lang="fa-IR" sz="2400" dirty="0"/>
              <a:t>آیا تعداد وظایف با بزرگ شدن اندازه مسئله، بیشتر می‌‎شود؟ اگر خیر، الگوریتم شما ممکن است در مواجهه با مسائل بزرگتر وقتی پردازنده‌های بیشتری در دسترس است  دچار مشکل شود.</a:t>
            </a:r>
          </a:p>
          <a:p>
            <a:r>
              <a:rPr lang="fa-IR" sz="2400" dirty="0"/>
              <a:t>آیا چندین روش تجزیه را امتحان کرده‌اید؟ اعم از تجزیه دامنه و تجزیه عملیاتی. تجزیه مناسب انعطاف‌پذیری در مراحل بعدی را بالا می‌برد.</a:t>
            </a:r>
            <a:endParaRPr lang="fa-IR" dirty="0"/>
          </a:p>
          <a:p>
            <a:endParaRPr lang="en-US" dirty="0"/>
          </a:p>
        </p:txBody>
      </p:sp>
      <p:sp>
        <p:nvSpPr>
          <p:cNvPr id="4" name="Date Placeholder 3"/>
          <p:cNvSpPr>
            <a:spLocks noGrp="1"/>
          </p:cNvSpPr>
          <p:nvPr>
            <p:ph type="dt" sz="half" idx="10"/>
          </p:nvPr>
        </p:nvSpPr>
        <p:spPr/>
        <p:txBody>
          <a:bodyPr/>
          <a:lstStyle/>
          <a:p>
            <a:pPr>
              <a:defRPr/>
            </a:pPr>
            <a:r>
              <a:rPr lang="en-US" altLang="en-US"/>
              <a:t>برنامه‌نویسی چند‌هسته‌ای</a:t>
            </a:r>
          </a:p>
        </p:txBody>
      </p:sp>
      <p:sp>
        <p:nvSpPr>
          <p:cNvPr id="5" name="Footer Placeholder 4"/>
          <p:cNvSpPr>
            <a:spLocks noGrp="1"/>
          </p:cNvSpPr>
          <p:nvPr>
            <p:ph type="ftr" sz="quarter" idx="11"/>
          </p:nvPr>
        </p:nvSpPr>
        <p:spPr/>
        <p:txBody>
          <a:bodyPr/>
          <a:lstStyle/>
          <a:p>
            <a:pPr>
              <a:defRPr/>
            </a:pPr>
            <a:r>
              <a:rPr lang="fa-IR" altLang="en-US"/>
              <a:t>4- طراحی برنامه موازی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20</a:t>
            </a:fld>
            <a:endParaRPr lang="en-US" altLang="en-US" dirty="0"/>
          </a:p>
        </p:txBody>
      </p:sp>
    </p:spTree>
    <p:extLst>
      <p:ext uri="{BB962C8B-B14F-4D97-AF65-F5344CB8AC3E}">
        <p14:creationId xmlns:p14="http://schemas.microsoft.com/office/powerpoint/2010/main" val="21980896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چک-لیست مرحله ارتباط</a:t>
            </a:r>
            <a:endParaRPr lang="en-US" dirty="0"/>
          </a:p>
        </p:txBody>
      </p:sp>
      <p:sp>
        <p:nvSpPr>
          <p:cNvPr id="3" name="Content Placeholder 2"/>
          <p:cNvSpPr>
            <a:spLocks noGrp="1"/>
          </p:cNvSpPr>
          <p:nvPr>
            <p:ph sz="quarter" idx="1"/>
          </p:nvPr>
        </p:nvSpPr>
        <p:spPr/>
        <p:txBody>
          <a:bodyPr/>
          <a:lstStyle/>
          <a:p>
            <a:r>
              <a:rPr lang="fa-IR" sz="2400" dirty="0"/>
              <a:t>آیا همه وظایف تقریباً به تعداد مساوی ارتباط را انجام می‌دهند؟ برای افزایش مقیاس‌پذیری بهتر است ارتباطات بین همه وظایف تقسیم شده باشد. مثلاً اگر یک مجموعه داده فقط در اختیار یک وظیفه است و به دفعات درخواست می‌شود، بهتر است آن را بین وظایف تقسیم کنیم (یا کل آن را در همه وظایف کپی کنیم).</a:t>
            </a:r>
          </a:p>
          <a:p>
            <a:r>
              <a:rPr lang="fa-IR" sz="2400" dirty="0"/>
              <a:t>آیا هر وظیفه فقط با تعداد محدودی از همسایگانش ارتباط دارد؟ اگر هر وظیفه نیاز است ارتباطات همگانی داشته باشد، شاید بتوان ارتباط همگانی را به صورت مجموعه‌ای از ارتباطات محلی توزیع‌شده انجام داد (مثال محاسبه مجموع درایه‌های یک آرایه به صورت درختی).</a:t>
            </a:r>
          </a:p>
          <a:p>
            <a:r>
              <a:rPr lang="fa-IR" sz="2400" dirty="0"/>
              <a:t>آیا ارتباطات قابلیت اجرای موازی و همزمان دارند؟ اگر خیر، الگوریتم احتمالاً مقیاس‌پذیر نیست. سعی کنید با روش تقسیم و غلبه همزمانی ایجاد کنید (مثال محاسبه مجموع درایه‌های یک آرایه)</a:t>
            </a:r>
          </a:p>
          <a:p>
            <a:r>
              <a:rPr lang="fa-IR" sz="2400" dirty="0"/>
              <a:t>آیا محاسبات وظایف مختلف را می‌توان به صورت همزمان انجام داد؟ شاید بتوان با تغییر ترتیب اجرای محاسبات و ارتباطات به این مسئله کمک کرد. </a:t>
            </a:r>
          </a:p>
          <a:p>
            <a:endParaRPr lang="fa-IR" sz="2400" dirty="0"/>
          </a:p>
          <a:p>
            <a:endParaRPr lang="fa-IR" dirty="0"/>
          </a:p>
          <a:p>
            <a:endParaRPr lang="en-US" dirty="0"/>
          </a:p>
        </p:txBody>
      </p:sp>
      <p:sp>
        <p:nvSpPr>
          <p:cNvPr id="4" name="Date Placeholder 3"/>
          <p:cNvSpPr>
            <a:spLocks noGrp="1"/>
          </p:cNvSpPr>
          <p:nvPr>
            <p:ph type="dt" sz="half" idx="10"/>
          </p:nvPr>
        </p:nvSpPr>
        <p:spPr/>
        <p:txBody>
          <a:bodyPr/>
          <a:lstStyle/>
          <a:p>
            <a:pPr>
              <a:defRPr/>
            </a:pPr>
            <a:r>
              <a:rPr lang="en-US" altLang="en-US"/>
              <a:t>برنامه‌نویسی چند‌هسته‌ای</a:t>
            </a:r>
          </a:p>
        </p:txBody>
      </p:sp>
      <p:sp>
        <p:nvSpPr>
          <p:cNvPr id="5" name="Footer Placeholder 4"/>
          <p:cNvSpPr>
            <a:spLocks noGrp="1"/>
          </p:cNvSpPr>
          <p:nvPr>
            <p:ph type="ftr" sz="quarter" idx="11"/>
          </p:nvPr>
        </p:nvSpPr>
        <p:spPr/>
        <p:txBody>
          <a:bodyPr/>
          <a:lstStyle/>
          <a:p>
            <a:pPr>
              <a:defRPr/>
            </a:pPr>
            <a:r>
              <a:rPr lang="fa-IR" altLang="en-US"/>
              <a:t>4- طراحی برنامه موازی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21</a:t>
            </a:fld>
            <a:endParaRPr lang="en-US" altLang="en-US" dirty="0"/>
          </a:p>
        </p:txBody>
      </p:sp>
    </p:spTree>
    <p:extLst>
      <p:ext uri="{BB962C8B-B14F-4D97-AF65-F5344CB8AC3E}">
        <p14:creationId xmlns:p14="http://schemas.microsoft.com/office/powerpoint/2010/main" val="26989202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چک-لیست مرحله انباشت</a:t>
            </a:r>
            <a:endParaRPr lang="en-US" dirty="0"/>
          </a:p>
        </p:txBody>
      </p:sp>
      <p:sp>
        <p:nvSpPr>
          <p:cNvPr id="3" name="Content Placeholder 2"/>
          <p:cNvSpPr>
            <a:spLocks noGrp="1"/>
          </p:cNvSpPr>
          <p:nvPr>
            <p:ph sz="quarter" idx="1"/>
          </p:nvPr>
        </p:nvSpPr>
        <p:spPr/>
        <p:txBody>
          <a:bodyPr/>
          <a:lstStyle/>
          <a:p>
            <a:r>
              <a:rPr lang="fa-IR" sz="2400" dirty="0"/>
              <a:t>آیا انباشت با افزایش محلی‌بودن ارتباطات به کاهش هزینه آن کمک کرده است؟</a:t>
            </a:r>
          </a:p>
          <a:p>
            <a:r>
              <a:rPr lang="fa-IR" sz="2400" dirty="0"/>
              <a:t>اگر در مرحله انباشت تصمیم گرفته‌اید محاسباتی به صورت افزونه انجام شود، آیا به ازای مقادیر مختلف اندازه مسئله و تعداد پردازنده مزیت این کار را بررسی کرده‌اید؟</a:t>
            </a:r>
          </a:p>
          <a:p>
            <a:r>
              <a:rPr lang="fa-IR" sz="2400" dirty="0"/>
              <a:t>اگر در مرحله انباشت تصمیم گرفته‌اید داده‌ای به صورت افزونه ذخیره شود، اثر آن را بر مقیاس‌پذیری در نظر گرفته‌اید؟</a:t>
            </a:r>
          </a:p>
          <a:p>
            <a:r>
              <a:rPr lang="fa-IR" sz="2400" dirty="0"/>
              <a:t>آیا هزینه ارتباطی و محاسباتی وظایف تولید شده در این مرحله مشابه و در یک محدوده است؟ اگر خیر، ممکن است بار کاری پردازنده‌ها متعادل نباشد.</a:t>
            </a:r>
          </a:p>
          <a:p>
            <a:r>
              <a:rPr lang="fa-IR" sz="2400" dirty="0"/>
              <a:t>آیا هنوز تعداد وظایف با افزایش اندازه مسئله افزایش می‌یابد؟ (مقیاس‌پذیری) </a:t>
            </a:r>
          </a:p>
          <a:p>
            <a:r>
              <a:rPr lang="fa-IR" sz="2400" dirty="0"/>
              <a:t>آیا هنوز بدون کاهش مقیاس‌پذیری و تعادل بار کاری می‌توان تعداد وظایف را کاهش داد؟ اگر بله بهتر است این کار انجام شود.</a:t>
            </a:r>
          </a:p>
          <a:p>
            <a:r>
              <a:rPr lang="fa-IR" sz="2400" dirty="0"/>
              <a:t>آیا هزینه تغییر کد سریال را در نظر گرفته‌اید؟ انباشتی که به کمترین تغییر بیانجامد ارجح است. </a:t>
            </a:r>
          </a:p>
          <a:p>
            <a:endParaRPr lang="en-US" dirty="0"/>
          </a:p>
        </p:txBody>
      </p:sp>
      <p:sp>
        <p:nvSpPr>
          <p:cNvPr id="4" name="Date Placeholder 3"/>
          <p:cNvSpPr>
            <a:spLocks noGrp="1"/>
          </p:cNvSpPr>
          <p:nvPr>
            <p:ph type="dt" sz="half" idx="10"/>
          </p:nvPr>
        </p:nvSpPr>
        <p:spPr/>
        <p:txBody>
          <a:bodyPr/>
          <a:lstStyle/>
          <a:p>
            <a:pPr>
              <a:defRPr/>
            </a:pPr>
            <a:r>
              <a:rPr lang="en-US" altLang="en-US"/>
              <a:t>برنامه‌نویسی چند‌هسته‌ای</a:t>
            </a:r>
          </a:p>
        </p:txBody>
      </p:sp>
      <p:sp>
        <p:nvSpPr>
          <p:cNvPr id="5" name="Footer Placeholder 4"/>
          <p:cNvSpPr>
            <a:spLocks noGrp="1"/>
          </p:cNvSpPr>
          <p:nvPr>
            <p:ph type="ftr" sz="quarter" idx="11"/>
          </p:nvPr>
        </p:nvSpPr>
        <p:spPr/>
        <p:txBody>
          <a:bodyPr/>
          <a:lstStyle/>
          <a:p>
            <a:pPr>
              <a:defRPr/>
            </a:pPr>
            <a:r>
              <a:rPr lang="fa-IR" altLang="en-US"/>
              <a:t>4- طراحی برنامه موازی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22</a:t>
            </a:fld>
            <a:endParaRPr lang="en-US" altLang="en-US" dirty="0"/>
          </a:p>
        </p:txBody>
      </p:sp>
    </p:spTree>
    <p:extLst>
      <p:ext uri="{BB962C8B-B14F-4D97-AF65-F5344CB8AC3E}">
        <p14:creationId xmlns:p14="http://schemas.microsoft.com/office/powerpoint/2010/main" val="2977442473"/>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6592</TotalTime>
  <Words>2151</Words>
  <Application>Microsoft Office PowerPoint</Application>
  <PresentationFormat>On-screen Show (4:3)</PresentationFormat>
  <Paragraphs>246</Paragraphs>
  <Slides>22</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Calibri</vt:lpstr>
      <vt:lpstr>Cambria Math</vt:lpstr>
      <vt:lpstr>Droid Sans Mono</vt:lpstr>
      <vt:lpstr>Wingdings</vt:lpstr>
      <vt:lpstr>Wingdings 2</vt:lpstr>
      <vt:lpstr>Median</vt:lpstr>
      <vt:lpstr>برنامه‌نویسی چندهسته‌ای  4- طراحی برنامه موازی (بخش دوم)  محمود ممتازپور  </vt:lpstr>
      <vt:lpstr>فهرست</vt:lpstr>
      <vt:lpstr>الگوهای تجزیه</vt:lpstr>
      <vt:lpstr>Recursive Data Decomposition</vt:lpstr>
      <vt:lpstr>Recursive Data Decomposition</vt:lpstr>
      <vt:lpstr>Recursive Data Decomposition</vt:lpstr>
      <vt:lpstr>Pipeline Decomposition</vt:lpstr>
      <vt:lpstr>Pipeline Decomposition</vt:lpstr>
      <vt:lpstr>Event-based Coordination</vt:lpstr>
      <vt:lpstr>Event-based Coordination</vt:lpstr>
      <vt:lpstr>مثال‌هایی از تجزیه</vt:lpstr>
      <vt:lpstr>الگوهای برنامه موازی</vt:lpstr>
      <vt:lpstr>ارباب-برده</vt:lpstr>
      <vt:lpstr>نگاشت-کاهش</vt:lpstr>
      <vt:lpstr>نگاشت-کاهش</vt:lpstr>
      <vt:lpstr>تولیدکننده-مصرف‌کننده</vt:lpstr>
      <vt:lpstr>خط‌لوله</vt:lpstr>
      <vt:lpstr>انشعاب-پیوند</vt:lpstr>
      <vt:lpstr>موازی‌سازی حلقه</vt:lpstr>
      <vt:lpstr>چک-لیست مرحله تجزیه</vt:lpstr>
      <vt:lpstr>چک-لیست مرحله ارتباط</vt:lpstr>
      <vt:lpstr>چک-لیست مرحله انباشت</vt:lpstr>
    </vt:vector>
  </TitlesOfParts>
  <Company>Purdue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Overview</dc:title>
  <dc:creator>rf</dc:creator>
  <cp:lastModifiedBy>M</cp:lastModifiedBy>
  <cp:revision>468</cp:revision>
  <dcterms:created xsi:type="dcterms:W3CDTF">2005-06-03T08:24:32Z</dcterms:created>
  <dcterms:modified xsi:type="dcterms:W3CDTF">2021-03-08T08:08:37Z</dcterms:modified>
</cp:coreProperties>
</file>