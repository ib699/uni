
<file path=[Content_Types].xml><?xml version="1.0" encoding="utf-8"?>
<Types xmlns="http://schemas.openxmlformats.org/package/2006/content-types">
  <Default Extension="png" ContentType="image/png"/>
  <Default Extension="vsd" ContentType="application/vnd.visio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37"/>
  </p:notesMasterIdLst>
  <p:sldIdLst>
    <p:sldId id="256" r:id="rId2"/>
    <p:sldId id="257" r:id="rId3"/>
    <p:sldId id="258" r:id="rId4"/>
    <p:sldId id="307" r:id="rId5"/>
    <p:sldId id="302" r:id="rId6"/>
    <p:sldId id="316" r:id="rId7"/>
    <p:sldId id="315" r:id="rId8"/>
    <p:sldId id="303" r:id="rId9"/>
    <p:sldId id="304" r:id="rId10"/>
    <p:sldId id="322" r:id="rId11"/>
    <p:sldId id="323" r:id="rId12"/>
    <p:sldId id="306" r:id="rId13"/>
    <p:sldId id="259" r:id="rId14"/>
    <p:sldId id="272" r:id="rId15"/>
    <p:sldId id="273" r:id="rId16"/>
    <p:sldId id="274" r:id="rId17"/>
    <p:sldId id="275" r:id="rId18"/>
    <p:sldId id="276" r:id="rId19"/>
    <p:sldId id="277" r:id="rId20"/>
    <p:sldId id="319" r:id="rId21"/>
    <p:sldId id="32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92" r:id="rId30"/>
    <p:sldId id="293" r:id="rId31"/>
    <p:sldId id="294" r:id="rId32"/>
    <p:sldId id="288" r:id="rId33"/>
    <p:sldId id="317" r:id="rId34"/>
    <p:sldId id="289" r:id="rId35"/>
    <p:sldId id="290" r:id="rId3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0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6600"/>
    <a:srgbClr val="669900"/>
    <a:srgbClr val="0033CC"/>
    <a:srgbClr val="CCFFCC"/>
    <a:srgbClr val="990000"/>
    <a:srgbClr val="66FFCC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34" autoAdjust="0"/>
    <p:restoredTop sz="67863" autoAdjust="0"/>
  </p:normalViewPr>
  <p:slideViewPr>
    <p:cSldViewPr>
      <p:cViewPr>
        <p:scale>
          <a:sx n="70" d="100"/>
          <a:sy n="70" d="100"/>
        </p:scale>
        <p:origin x="19" y="-70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2842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A32F992-441D-475A-B6AD-031FE75193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97216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3059DFF-0F38-4655-AE4C-F539E59A122E}" type="slidenum">
              <a:rPr lang="en-US" altLang="en-US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1</a:t>
            </a:fld>
            <a:endParaRPr lang="en-US" altLang="en-US" smtClean="0">
              <a:cs typeface="Lotus" panose="00000400000000000000" pitchFamily="2" charset="-78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90931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170F015-9EC2-4ACC-8D72-E7547CB3336B}" type="slidenum">
              <a:rPr lang="en-US" altLang="en-US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2</a:t>
            </a:fld>
            <a:endParaRPr lang="en-US" altLang="en-US" smtClean="0">
              <a:cs typeface="Lotus" panose="00000400000000000000" pitchFamily="2" charset="-78"/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0719792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F4A4A26-0A7B-4D11-9DF3-DD9A9566EA81}" type="slidenum">
              <a:rPr lang="en-US" altLang="en-US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3</a:t>
            </a:fld>
            <a:endParaRPr lang="en-US" altLang="en-US" smtClean="0">
              <a:cs typeface="Lotus" panose="00000400000000000000" pitchFamily="2" charset="-78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875746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331A363-2573-40EA-B9B2-0616A0204B19}" type="slidenum">
              <a:rPr lang="en-US" altLang="en-US" smtClean="0">
                <a:solidFill>
                  <a:srgbClr val="000000"/>
                </a:solidFill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4</a:t>
            </a:fld>
            <a:endParaRPr lang="en-US" altLang="en-US" smtClean="0">
              <a:solidFill>
                <a:srgbClr val="000000"/>
              </a:solidFill>
              <a:cs typeface="Lotus" panose="00000400000000000000" pitchFamily="2" charset="-78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248422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8C8EFC5-331E-492A-BDEF-A9F9F23471C2}" type="slidenum">
              <a:rPr lang="en-US" altLang="fa-IR"/>
              <a:pPr>
                <a:spcBef>
                  <a:spcPct val="0"/>
                </a:spcBef>
              </a:pPr>
              <a:t>10</a:t>
            </a:fld>
            <a:endParaRPr lang="en-US" altLang="fa-IR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a-IR" altLang="fa-IR" smtClean="0"/>
          </a:p>
        </p:txBody>
      </p:sp>
    </p:spTree>
    <p:extLst>
      <p:ext uri="{BB962C8B-B14F-4D97-AF65-F5344CB8AC3E}">
        <p14:creationId xmlns:p14="http://schemas.microsoft.com/office/powerpoint/2010/main" val="28078984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1044DE1-7DDF-4F51-B207-3E9F0B7790B4}" type="slidenum">
              <a:rPr lang="en-US" altLang="fa-IR"/>
              <a:pPr>
                <a:spcBef>
                  <a:spcPct val="0"/>
                </a:spcBef>
              </a:pPr>
              <a:t>11</a:t>
            </a:fld>
            <a:endParaRPr lang="en-US" altLang="fa-IR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a-IR" altLang="fa-IR" smtClean="0"/>
          </a:p>
        </p:txBody>
      </p:sp>
    </p:spTree>
    <p:extLst>
      <p:ext uri="{BB962C8B-B14F-4D97-AF65-F5344CB8AC3E}">
        <p14:creationId xmlns:p14="http://schemas.microsoft.com/office/powerpoint/2010/main" val="37499667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83AD335-20D8-44E5-A55B-9B552FD6F257}" type="slidenum">
              <a:rPr lang="en-US" altLang="en-US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13</a:t>
            </a:fld>
            <a:endParaRPr lang="en-US" altLang="en-US" smtClean="0">
              <a:cs typeface="Lotus" panose="00000400000000000000" pitchFamily="2" charset="-78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6770759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B1B7AFB-D164-45FA-B45B-5119A3C5B4A2}" type="slidenum">
              <a:rPr lang="en-US" altLang="en-US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14</a:t>
            </a:fld>
            <a:endParaRPr lang="en-US" altLang="en-US" smtClean="0">
              <a:cs typeface="Lotus" panose="00000400000000000000" pitchFamily="2" charset="-78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9584116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15FB460-43C4-4458-9812-7F656CC7555D}" type="slidenum">
              <a:rPr lang="en-US" altLang="en-US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15</a:t>
            </a:fld>
            <a:endParaRPr lang="en-US" altLang="en-US" smtClean="0">
              <a:cs typeface="Lotus" panose="00000400000000000000" pitchFamily="2" charset="-78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9295465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9790391-FF1F-4F43-8D98-FFF771B58CD5}" type="slidenum">
              <a:rPr lang="en-US" altLang="en-US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16</a:t>
            </a:fld>
            <a:endParaRPr lang="en-US" altLang="en-US" smtClean="0">
              <a:cs typeface="Lotus" panose="00000400000000000000" pitchFamily="2" charset="-78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2734276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4D12135-F788-4E6D-88D9-E0042368A090}" type="slidenum">
              <a:rPr lang="en-US" altLang="en-US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17</a:t>
            </a:fld>
            <a:endParaRPr lang="en-US" altLang="en-US" smtClean="0">
              <a:cs typeface="Lotus" panose="00000400000000000000" pitchFamily="2" charset="-78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2527828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1A93525-B21F-4FC5-B775-4F30CF0D9006}" type="slidenum">
              <a:rPr lang="en-US" altLang="en-US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18</a:t>
            </a:fld>
            <a:endParaRPr lang="en-US" altLang="en-US" smtClean="0">
              <a:cs typeface="Lotus" panose="00000400000000000000" pitchFamily="2" charset="-78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3360010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16E5574-8E09-48C4-B084-222CB5AF4111}" type="slidenum">
              <a:rPr lang="en-US" altLang="en-US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19</a:t>
            </a:fld>
            <a:endParaRPr lang="en-US" altLang="en-US" smtClean="0">
              <a:cs typeface="Lotus" panose="00000400000000000000" pitchFamily="2" charset="-78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6453073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16E5574-8E09-48C4-B084-222CB5AF4111}" type="slidenum">
              <a:rPr lang="en-US" altLang="en-US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20</a:t>
            </a:fld>
            <a:endParaRPr lang="en-US" altLang="en-US" smtClean="0">
              <a:cs typeface="Lotus" panose="00000400000000000000" pitchFamily="2" charset="-78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6972924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E752D55-914C-4C10-A0B5-00161B62D272}" type="slidenum">
              <a:rPr lang="en-US" altLang="en-US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21</a:t>
            </a:fld>
            <a:endParaRPr lang="en-US" altLang="en-US" smtClean="0">
              <a:cs typeface="Lotus" panose="00000400000000000000" pitchFamily="2" charset="-78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6979685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93CCFC6-3201-4743-8007-300A8083835A}" type="slidenum">
              <a:rPr lang="en-US" altLang="en-US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22</a:t>
            </a:fld>
            <a:endParaRPr lang="en-US" altLang="en-US" smtClean="0">
              <a:cs typeface="Lotus" panose="00000400000000000000" pitchFamily="2" charset="-78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6397706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91A422C-469C-427E-8499-1B68B9DFD782}" type="slidenum">
              <a:rPr lang="en-US" altLang="en-US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23</a:t>
            </a:fld>
            <a:endParaRPr lang="en-US" altLang="en-US" smtClean="0">
              <a:cs typeface="Lotus" panose="00000400000000000000" pitchFamily="2" charset="-78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1695816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BCB84F8-C6F9-4C06-B2DA-B87F06E550D4}" type="slidenum">
              <a:rPr lang="en-US" altLang="en-US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24</a:t>
            </a:fld>
            <a:endParaRPr lang="en-US" altLang="en-US" smtClean="0">
              <a:cs typeface="Lotus" panose="00000400000000000000" pitchFamily="2" charset="-78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1089446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180EEBE-AC45-464E-B02B-31A71098EFB0}" type="slidenum">
              <a:rPr lang="en-US" altLang="en-US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25</a:t>
            </a:fld>
            <a:endParaRPr lang="en-US" altLang="en-US" smtClean="0">
              <a:cs typeface="Lotus" panose="00000400000000000000" pitchFamily="2" charset="-78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099888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EC4B5D0-6F61-455C-A4F9-441B7BB3511C}" type="slidenum">
              <a:rPr lang="en-US" altLang="en-US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26</a:t>
            </a:fld>
            <a:endParaRPr lang="en-US" altLang="en-US" smtClean="0">
              <a:cs typeface="Lotus" panose="00000400000000000000" pitchFamily="2" charset="-78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9226547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0AA8D15-B2E1-486C-8A60-1A4507A409EA}" type="slidenum">
              <a:rPr lang="en-US" altLang="en-US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27</a:t>
            </a:fld>
            <a:endParaRPr lang="en-US" altLang="en-US" smtClean="0">
              <a:cs typeface="Lotus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140465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75ADD0D-48D7-4647-ACA7-88833BD70BAE}" type="slidenum">
              <a:rPr lang="en-US" altLang="en-US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28</a:t>
            </a:fld>
            <a:endParaRPr lang="en-US" altLang="en-US" smtClean="0">
              <a:cs typeface="Lotus" panose="00000400000000000000" pitchFamily="2" charset="-78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007576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95E052-6EFE-4B53-859B-E0AA7D686BDE}" type="slidenum">
              <a:rPr lang="en-US" altLang="en-US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32</a:t>
            </a:fld>
            <a:endParaRPr lang="en-US" altLang="en-US" smtClean="0">
              <a:cs typeface="Lotus" panose="00000400000000000000" pitchFamily="2" charset="-78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8760298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EC4B5D0-6F61-455C-A4F9-441B7BB3511C}" type="slidenum">
              <a:rPr lang="en-US" altLang="en-US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33</a:t>
            </a:fld>
            <a:endParaRPr lang="en-US" altLang="en-US" smtClean="0">
              <a:cs typeface="Lotus" panose="00000400000000000000" pitchFamily="2" charset="-78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4937517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45B971C-5726-4ECB-9F62-534A601144BA}" type="slidenum">
              <a:rPr lang="en-US" altLang="en-US" smtClean="0"/>
              <a:pPr>
                <a:spcBef>
                  <a:spcPct val="0"/>
                </a:spcBef>
              </a:pPr>
              <a:t>34</a:t>
            </a:fld>
            <a:endParaRPr lang="en-US" altLang="en-US" smtClean="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506426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9B6CC47-3E4A-40C7-90E1-6837A7CA0AE5}" type="slidenum">
              <a:rPr lang="en-US" altLang="en-US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35</a:t>
            </a:fld>
            <a:endParaRPr lang="en-US" altLang="en-US" smtClean="0">
              <a:cs typeface="Lotus" panose="00000400000000000000" pitchFamily="2" charset="-78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55349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/>
          <p:cNvSpPr>
            <a:spLocks noChangeArrowheads="1"/>
          </p:cNvSpPr>
          <p:nvPr/>
        </p:nvSpPr>
        <p:spPr bwMode="auto">
          <a:xfrm>
            <a:off x="304800" y="304800"/>
            <a:ext cx="8534400" cy="6096000"/>
          </a:xfrm>
          <a:prstGeom prst="roundRect">
            <a:avLst>
              <a:gd name="adj" fmla="val 9644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838200" y="6400800"/>
            <a:ext cx="365760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828" tIns="50914" rIns="101828" bIns="50914"/>
          <a:lstStyle>
            <a:lvl1pPr defTabSz="1019175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85800" y="1219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828" tIns="50914" rIns="101828" bIns="50914"/>
          <a:lstStyle>
            <a:lvl1pPr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2400" smtClean="0"/>
          </a:p>
        </p:txBody>
      </p:sp>
      <p:sp>
        <p:nvSpPr>
          <p:cNvPr id="183302" name="Rectangle 6"/>
          <p:cNvSpPr>
            <a:spLocks noGrp="1" noChangeArrowheads="1"/>
          </p:cNvSpPr>
          <p:nvPr>
            <p:ph type="ctrTitle" sz="quarter"/>
          </p:nvPr>
        </p:nvSpPr>
        <p:spPr>
          <a:xfrm>
            <a:off x="692150" y="2286000"/>
            <a:ext cx="7759700" cy="1143000"/>
          </a:xfrm>
          <a:ln w="12700"/>
        </p:spPr>
        <p:txBody>
          <a:bodyPr wrap="none" lIns="82030" tIns="41015" rIns="82030" bIns="41015"/>
          <a:lstStyle>
            <a:lvl1pPr>
              <a:defRPr>
                <a:cs typeface="B Titr" pitchFamily="2" charset="-78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3303" name="Rectangle 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85888" y="3898900"/>
            <a:ext cx="6372225" cy="1749425"/>
          </a:xfrm>
          <a:ln w="12700"/>
        </p:spPr>
        <p:txBody>
          <a:bodyPr wrap="none" lIns="82030" tIns="41015" rIns="82030" bIns="41015"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47529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cs typeface="Titr" pitchFamily="2" charset="-78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cs typeface="Lotus" panose="00000400000000000000" pitchFamily="2" charset="-78"/>
              </a:defRPr>
            </a:lvl1pPr>
            <a:lvl2pPr>
              <a:defRPr baseline="0">
                <a:cs typeface="Lotus" panose="00000400000000000000" pitchFamily="2" charset="-78"/>
              </a:defRPr>
            </a:lvl2pPr>
            <a:lvl3pPr>
              <a:defRPr baseline="0">
                <a:cs typeface="Lotus" panose="00000400000000000000" pitchFamily="2" charset="-78"/>
              </a:defRPr>
            </a:lvl3pPr>
            <a:lvl4pPr>
              <a:defRPr baseline="0">
                <a:cs typeface="Lotus" panose="00000400000000000000" pitchFamily="2" charset="-78"/>
              </a:defRPr>
            </a:lvl4pPr>
            <a:lvl5pPr>
              <a:defRPr baseline="0">
                <a:cs typeface="Lotus" panose="00000400000000000000" pitchFamily="2" charset="-78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A30F57-A5DE-4192-BE14-C17E9483B13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056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206808-1E62-48EE-9B25-0DA47DFDB1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5503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DF7515-776B-445A-84D3-808E0CD574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6544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240F3F-E08F-4753-B18E-98CFEF9F813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4943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 defTabSz="1019175" rtl="0" eaLnBrk="0" fontAlgn="base" hangingPunct="0">
              <a:spcBef>
                <a:spcPct val="0"/>
              </a:spcBef>
              <a:spcAft>
                <a:spcPct val="0"/>
              </a:spcAft>
              <a:defRPr lang="en-US" sz="3100" b="1" baseline="0" dirty="0">
                <a:solidFill>
                  <a:srgbClr val="E44EE4"/>
                </a:solidFill>
                <a:latin typeface="+mj-lt"/>
                <a:ea typeface="+mj-ea"/>
                <a:cs typeface="Titr" pitchFamily="2" charset="-78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1A4513-46DC-41CD-AF5F-43F28D408E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2581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2B4DF7-72D6-413D-8C62-10407545142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439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989156-FBAE-49E7-82A5-E6E57A1F73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553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38FFE2-08F7-4972-9B3D-BB175414743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0038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06ADF1-3656-43B9-B256-800760A0DB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7541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1450" y="403225"/>
            <a:ext cx="1944688" cy="54641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03225"/>
            <a:ext cx="5683250" cy="54641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4C812D-F2E4-4006-89FB-45C00648534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6387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19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  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92150" y="403225"/>
            <a:ext cx="7773988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304800" y="304800"/>
            <a:ext cx="8534400" cy="6096000"/>
          </a:xfrm>
          <a:prstGeom prst="roundRect">
            <a:avLst>
              <a:gd name="adj" fmla="val 9644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182281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43888" y="6388100"/>
            <a:ext cx="554037" cy="334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82030" tIns="41015" rIns="82030" bIns="41015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1AEB03F-F162-4196-8150-0B625CC53D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24" r:id="rId1"/>
    <p:sldLayoutId id="2147484704" r:id="rId2"/>
    <p:sldLayoutId id="2147484705" r:id="rId3"/>
    <p:sldLayoutId id="2147484706" r:id="rId4"/>
    <p:sldLayoutId id="2147484707" r:id="rId5"/>
    <p:sldLayoutId id="2147484708" r:id="rId6"/>
    <p:sldLayoutId id="2147484709" r:id="rId7"/>
    <p:sldLayoutId id="2147484710" r:id="rId8"/>
    <p:sldLayoutId id="2147484711" r:id="rId9"/>
    <p:sldLayoutId id="2147484712" r:id="rId10"/>
    <p:sldLayoutId id="2147484713" r:id="rId11"/>
  </p:sldLayoutIdLst>
  <p:hf hdr="0" ftr="0" dt="0"/>
  <p:txStyles>
    <p:titleStyle>
      <a:lvl1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+mj-lt"/>
          <a:ea typeface="+mj-ea"/>
          <a:cs typeface="+mj-cs"/>
        </a:defRPr>
      </a:lvl1pPr>
      <a:lvl2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2pPr>
      <a:lvl3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3pPr>
      <a:lvl4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4pPr>
      <a:lvl5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5pPr>
      <a:lvl6pPr marL="4572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6pPr>
      <a:lvl7pPr marL="9144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7pPr>
      <a:lvl8pPr marL="13716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8pPr>
      <a:lvl9pPr marL="18288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FF5050"/>
          </a:solidFill>
          <a:latin typeface="+mn-lt"/>
          <a:ea typeface="+mn-ea"/>
          <a:cs typeface="+mn-cs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Ø"/>
        <a:defRPr sz="2200">
          <a:solidFill>
            <a:srgbClr val="0000FF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1600">
          <a:solidFill>
            <a:schemeClr val="tx1"/>
          </a:solidFill>
          <a:latin typeface="+mn-lt"/>
          <a:cs typeface="+mn-cs"/>
        </a:defRPr>
      </a:lvl4pPr>
      <a:lvl5pPr marL="2057400" indent="-23177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5pPr>
      <a:lvl6pPr marL="25146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6pPr>
      <a:lvl7pPr marL="29718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7pPr>
      <a:lvl8pPr marL="34290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8pPr>
      <a:lvl9pPr marL="38862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Visio_2003-2010_Drawing1.vsd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8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Visio_2003-2010_Drawing2.vsd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9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1.emf"/><Relationship Id="rId4" Type="http://schemas.openxmlformats.org/officeDocument/2006/relationships/oleObject" Target="../embeddings/oleObject1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Slide Number Placeholder 5"/>
          <p:cNvSpPr>
            <a:spLocks noGrp="1"/>
          </p:cNvSpPr>
          <p:nvPr>
            <p:ph type="sldNum" sz="quarter" idx="429496729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8FAA185-6A01-4A1D-A1A6-CE73503B2339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ln w="9525"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fa-IR" altLang="en-US" smtClean="0"/>
              <a:t>طراحی سيستم های ديجيتال برنامه پذير</a:t>
            </a: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6156325" y="6443663"/>
            <a:ext cx="2303463" cy="27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a-IR" altLang="en-US" sz="16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مرتضي صاحب الزماني</a:t>
            </a:r>
            <a:r>
              <a:rPr lang="en-US" altLang="en-US" sz="1400" b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             </a:t>
            </a:r>
            <a:r>
              <a:rPr lang="fa-IR" altLang="en-US" sz="1400" b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 </a:t>
            </a:r>
            <a:endParaRPr lang="en-US" altLang="en-US" sz="1400" b="0">
              <a:solidFill>
                <a:schemeClr val="tx1"/>
              </a:solidFill>
              <a:latin typeface="Times New Roman" panose="02020603050405020304" pitchFamily="18" charset="0"/>
              <a:cs typeface="Lotus" panose="00000400000000000000" pitchFamily="2" charset="-78"/>
            </a:endParaRP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BE36631-DCD3-4D17-827E-DF20C22A97CE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9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772400" cy="1143000"/>
          </a:xfrm>
        </p:spPr>
        <p:txBody>
          <a:bodyPr/>
          <a:lstStyle/>
          <a:p>
            <a:pPr rtl="1" eaLnBrk="1" hangingPunct="1"/>
            <a:r>
              <a:rPr lang="fa-IR" altLang="en-US" smtClean="0"/>
              <a:t>طراحی سيستم های ديجيتال برنامه پذير</a:t>
            </a:r>
            <a:endParaRPr altLang="en-US" smtClean="0"/>
          </a:p>
        </p:txBody>
      </p:sp>
      <p:sp>
        <p:nvSpPr>
          <p:cNvPr id="8197" name="Text Box 1040"/>
          <p:cNvSpPr txBox="1">
            <a:spLocks noChangeArrowheads="1"/>
          </p:cNvSpPr>
          <p:nvPr/>
        </p:nvSpPr>
        <p:spPr bwMode="auto">
          <a:xfrm>
            <a:off x="304800" y="914400"/>
            <a:ext cx="7543800" cy="438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Text Book:</a:t>
            </a:r>
          </a:p>
          <a:p>
            <a:pPr algn="r" rtl="1" eaLnBrk="1" hangingPunct="1">
              <a:spcBef>
                <a:spcPct val="50000"/>
              </a:spcBef>
              <a:buFontTx/>
              <a:buNone/>
            </a:pPr>
            <a:r>
              <a:rPr lang="fa-IR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م. صاحب‌الزمانی، طراحی کامپیوتری سیستم‌های دیجیتال، نشر شیخ بهایی، 1398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B Nazanin" panose="00000400000000000000" pitchFamily="2" charset="-78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References:</a:t>
            </a:r>
            <a:endParaRPr lang="fa-IR" altLang="en-US" sz="1800" dirty="0">
              <a:solidFill>
                <a:schemeClr val="tx1"/>
              </a:solidFill>
              <a:latin typeface="Times New Roman" panose="02020603050405020304" pitchFamily="18" charset="0"/>
              <a:cs typeface="Lotus" panose="00000400000000000000" pitchFamily="2" charset="-78"/>
            </a:endParaRP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 P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. Simpson, FPGA Design: Best Practices for Team-Based Reuse, Springer, 2</a:t>
            </a:r>
            <a:r>
              <a:rPr lang="en-US" altLang="en-US" sz="180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nd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 Edition, 2015.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 U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.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Heinkel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 et</a:t>
            </a:r>
            <a:r>
              <a:rPr lang="fa-IR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.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 al, The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VHDL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 Reference: A Practical Guide to Computer-Aided Integrated Circuit Design including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VHDL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-AMS, Wiley, 2000.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 Clive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Maxfield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, The Design Warrior’s Guide to FPGA, Elsevier, 2004.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 E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.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Stavinov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, 100 Power Tips for FPGA Designers, 2011.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 Z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.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Salcic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, A.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Smailagic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, Digital Systems Design and Prototyping Using Field-Programmable Logic and Hardware Description Languages, 2</a:t>
            </a:r>
            <a:r>
              <a:rPr lang="en-US" altLang="en-US" sz="180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nd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 Edition, 2000.</a:t>
            </a:r>
          </a:p>
        </p:txBody>
      </p:sp>
      <p:sp>
        <p:nvSpPr>
          <p:cNvPr id="265235" name="Text Box 1043"/>
          <p:cNvSpPr txBox="1">
            <a:spLocks noChangeArrowheads="1"/>
          </p:cNvSpPr>
          <p:nvPr/>
        </p:nvSpPr>
        <p:spPr bwMode="auto">
          <a:xfrm>
            <a:off x="304800" y="5862638"/>
            <a:ext cx="7772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	Datasheets + References given in the slides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5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35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B70B122-BDCB-40C9-A2F4-638390A39155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43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772400" cy="1143000"/>
          </a:xfrm>
        </p:spPr>
        <p:txBody>
          <a:bodyPr/>
          <a:lstStyle/>
          <a:p>
            <a:pPr rtl="1" eaLnBrk="1" hangingPunct="1"/>
            <a:r>
              <a:rPr lang="fa-IR" altLang="en-US" smtClean="0"/>
              <a:t>تراشه‌هاي منطقي برنامه‌پذير</a:t>
            </a:r>
            <a:endParaRPr altLang="en-US" smtClean="0"/>
          </a:p>
        </p:txBody>
      </p:sp>
      <p:sp>
        <p:nvSpPr>
          <p:cNvPr id="265233" name="Text Box 1041"/>
          <p:cNvSpPr txBox="1">
            <a:spLocks noChangeArrowheads="1"/>
          </p:cNvSpPr>
          <p:nvPr/>
        </p:nvSpPr>
        <p:spPr bwMode="auto">
          <a:xfrm>
            <a:off x="304800" y="1268760"/>
            <a:ext cx="7772400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085850" indent="-34290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Marking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Homework </a:t>
            </a:r>
            <a:r>
              <a:rPr lang="en-US" altLang="en-US" smtClean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sets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Lotus" panose="00000400000000000000" pitchFamily="2" charset="-78"/>
            </a:endParaRPr>
          </a:p>
          <a:p>
            <a:pPr lvl="1" eaLnBrk="1" hangingPunct="1">
              <a:spcBef>
                <a:spcPct val="50000"/>
              </a:spcBef>
            </a:pP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 </a:t>
            </a:r>
            <a:r>
              <a:rPr lang="en-US" altLang="en-US" smtClean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Quizzes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Lotus" panose="00000400000000000000" pitchFamily="2" charset="-78"/>
            </a:endParaRPr>
          </a:p>
          <a:p>
            <a:pPr lvl="1" eaLnBrk="1" hangingPunct="1">
              <a:spcBef>
                <a:spcPct val="50000"/>
              </a:spcBef>
            </a:pPr>
            <a:r>
              <a:rPr lang="en-US" altLang="en-US" smtClean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Project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Lotus" panose="00000400000000000000" pitchFamily="2" charset="-78"/>
            </a:endParaRPr>
          </a:p>
          <a:p>
            <a:pPr lvl="1" eaLnBrk="1" hangingPunct="1">
              <a:spcBef>
                <a:spcPct val="50000"/>
              </a:spcBef>
            </a:pP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Midterm </a:t>
            </a:r>
            <a:r>
              <a:rPr lang="en-US" altLang="en-US" smtClean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Exam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Lotus" panose="00000400000000000000" pitchFamily="2" charset="-78"/>
            </a:endParaRPr>
          </a:p>
          <a:p>
            <a:pPr lvl="1" eaLnBrk="1" hangingPunct="1">
              <a:spcBef>
                <a:spcPct val="50000"/>
              </a:spcBef>
            </a:pP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Final </a:t>
            </a:r>
            <a:r>
              <a:rPr lang="en-US" altLang="en-US" smtClean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Exam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Lotus" panose="00000400000000000000" pitchFamily="2" charset="-78"/>
            </a:endParaRPr>
          </a:p>
        </p:txBody>
      </p:sp>
      <p:sp>
        <p:nvSpPr>
          <p:cNvPr id="265234" name="Text Box 1042"/>
          <p:cNvSpPr txBox="1">
            <a:spLocks noChangeArrowheads="1"/>
          </p:cNvSpPr>
          <p:nvPr/>
        </p:nvSpPr>
        <p:spPr bwMode="auto">
          <a:xfrm>
            <a:off x="324907" y="4269135"/>
            <a:ext cx="75438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085850" indent="-34290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Software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en-US" smtClean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Vivado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en-US" smtClean="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ModelSim</a:t>
            </a:r>
            <a:endParaRPr lang="en-US" altLang="en-US">
              <a:solidFill>
                <a:schemeClr val="tx1"/>
              </a:solidFill>
              <a:latin typeface="Times New Roman" panose="02020603050405020304" pitchFamily="18" charset="0"/>
              <a:cs typeface="Lotus" panose="00000400000000000000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5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5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33" grpId="0" autoUpdateAnimBg="0"/>
      <p:bldP spid="265234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171C8EB-E20A-4420-BAEF-E5D90A861627}" type="slidenum">
              <a:rPr lang="en-US" altLang="en-US" sz="1400" b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 b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95039"/>
            <a:ext cx="7772400" cy="1143000"/>
          </a:xfrm>
        </p:spPr>
        <p:txBody>
          <a:bodyPr/>
          <a:lstStyle/>
          <a:p>
            <a:pPr rtl="1" eaLnBrk="1" hangingPunct="1"/>
            <a:r>
              <a:rPr altLang="en-US" smtClean="0"/>
              <a:t>Digital Systems</a:t>
            </a:r>
          </a:p>
        </p:txBody>
      </p:sp>
      <p:sp>
        <p:nvSpPr>
          <p:cNvPr id="12293" name="Text Box 4"/>
          <p:cNvSpPr txBox="1">
            <a:spLocks noChangeArrowheads="1"/>
          </p:cNvSpPr>
          <p:nvPr/>
        </p:nvSpPr>
        <p:spPr bwMode="auto">
          <a:xfrm>
            <a:off x="547688" y="1490439"/>
            <a:ext cx="7696200" cy="431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200" dirty="0">
                <a:solidFill>
                  <a:srgbClr val="FF0000"/>
                </a:solidFill>
                <a:latin typeface="+mn-lt"/>
                <a:cs typeface="Lotus" panose="00000400000000000000" pitchFamily="2" charset="-78"/>
              </a:rPr>
              <a:t> Digital systems implementation: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en-US" sz="2600" b="1" dirty="0" smtClean="0">
                <a:latin typeface="+mn-lt"/>
                <a:cs typeface="Lotus" panose="00000400000000000000" pitchFamily="2" charset="-78"/>
              </a:rPr>
              <a:t>Conventionally </a:t>
            </a:r>
            <a:r>
              <a:rPr lang="en-US" altLang="en-US" sz="2600" b="1" dirty="0">
                <a:latin typeface="+mn-lt"/>
                <a:cs typeface="Lotus" panose="00000400000000000000" pitchFamily="2" charset="-78"/>
              </a:rPr>
              <a:t>on CPU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en-US" sz="2600" b="1" dirty="0">
                <a:latin typeface="+mn-lt"/>
                <a:cs typeface="Lotus" panose="00000400000000000000" pitchFamily="2" charset="-78"/>
              </a:rPr>
              <a:t>Need for high speed</a:t>
            </a:r>
          </a:p>
          <a:p>
            <a:pPr lvl="2"/>
            <a:r>
              <a:rPr lang="en-US" altLang="en-US" dirty="0">
                <a:latin typeface="+mn-lt"/>
                <a:sym typeface="Wingdings" panose="05000000000000000000" pitchFamily="2" charset="2"/>
              </a:rPr>
              <a:t> Increase frequency </a:t>
            </a:r>
          </a:p>
          <a:p>
            <a:pPr lvl="2"/>
            <a:r>
              <a:rPr lang="en-US" altLang="en-US" dirty="0">
                <a:latin typeface="+mn-lt"/>
                <a:sym typeface="Wingdings" panose="05000000000000000000" pitchFamily="2" charset="2"/>
              </a:rPr>
              <a:t> Multi-core</a:t>
            </a:r>
          </a:p>
          <a:p>
            <a:pPr lvl="2"/>
            <a:r>
              <a:rPr lang="en-US" altLang="en-US" dirty="0">
                <a:latin typeface="+mn-lt"/>
                <a:sym typeface="Wingdings" panose="05000000000000000000" pitchFamily="2" charset="2"/>
              </a:rPr>
              <a:t> Many-core (GPU)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en-US" sz="2600" b="1" dirty="0">
                <a:latin typeface="+mn-lt"/>
                <a:cs typeface="Lotus" panose="00000400000000000000" pitchFamily="2" charset="-78"/>
                <a:sym typeface="Wingdings" panose="05000000000000000000" pitchFamily="2" charset="2"/>
              </a:rPr>
              <a:t>Not enough speed for some applications 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en-US" sz="2600" b="1" dirty="0">
                <a:latin typeface="+mn-lt"/>
                <a:cs typeface="Lotus" panose="00000400000000000000" pitchFamily="2" charset="-78"/>
                <a:sym typeface="Wingdings" panose="05000000000000000000" pitchFamily="2" charset="2"/>
              </a:rPr>
              <a:t>High power consumption </a:t>
            </a:r>
            <a:endParaRPr lang="en-US" altLang="en-US" sz="2600" b="1" dirty="0">
              <a:latin typeface="+mn-lt"/>
              <a:cs typeface="Lotus" panose="00000400000000000000" pitchFamily="2" charset="-7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Technology Trend</a:t>
            </a:r>
            <a:endParaRPr altLang="en-US" dirty="0" smtClean="0"/>
          </a:p>
        </p:txBody>
      </p:sp>
      <p:sp>
        <p:nvSpPr>
          <p:cNvPr id="14339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AF0FA5F-9D73-42A2-ABDB-938E4E1F2338}" type="slidenum">
              <a:rPr lang="en-US" altLang="en-US" sz="1300" b="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300" b="0" smtClean="0">
              <a:solidFill>
                <a:schemeClr val="tx1"/>
              </a:solidFill>
            </a:endParaRPr>
          </a:p>
        </p:txBody>
      </p:sp>
      <p:sp>
        <p:nvSpPr>
          <p:cNvPr id="14340" name="Text Box 1041"/>
          <p:cNvSpPr txBox="1">
            <a:spLocks noChangeArrowheads="1"/>
          </p:cNvSpPr>
          <p:nvPr/>
        </p:nvSpPr>
        <p:spPr bwMode="auto">
          <a:xfrm>
            <a:off x="304800" y="962025"/>
            <a:ext cx="88392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085850" indent="-34290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en-US" sz="2800" b="0" dirty="0">
                <a:solidFill>
                  <a:schemeClr val="accent2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Till 2005, transistor counts increased by Moore law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50" y="1052736"/>
            <a:ext cx="7322400" cy="5417594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Technology Trend</a:t>
            </a:r>
            <a:endParaRPr altLang="en-US" smtClean="0"/>
          </a:p>
        </p:txBody>
      </p:sp>
      <p:sp>
        <p:nvSpPr>
          <p:cNvPr id="15363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06C99F5-6BBF-4978-BD20-3162ED27B8D8}" type="slidenum">
              <a:rPr lang="en-US" altLang="en-US" sz="1300" b="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300" b="0" smtClean="0">
              <a:solidFill>
                <a:schemeClr val="tx1"/>
              </a:solidFill>
            </a:endParaRPr>
          </a:p>
        </p:txBody>
      </p:sp>
      <p:pic>
        <p:nvPicPr>
          <p:cNvPr id="1536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957263"/>
            <a:ext cx="6842125" cy="547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Technology Trend</a:t>
            </a:r>
            <a:endParaRPr altLang="en-US" smtClean="0"/>
          </a:p>
        </p:txBody>
      </p:sp>
      <p:sp>
        <p:nvSpPr>
          <p:cNvPr id="16387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5F91C15-8987-4E75-8B28-5EB8976D27BB}" type="slidenum">
              <a:rPr lang="en-US" altLang="en-US" sz="1300" b="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300" b="0" smtClean="0">
              <a:solidFill>
                <a:schemeClr val="tx1"/>
              </a:solidFill>
            </a:endParaRPr>
          </a:p>
        </p:txBody>
      </p:sp>
      <p:sp>
        <p:nvSpPr>
          <p:cNvPr id="16388" name="Text Box 1041"/>
          <p:cNvSpPr txBox="1">
            <a:spLocks noChangeArrowheads="1"/>
          </p:cNvSpPr>
          <p:nvPr/>
        </p:nvSpPr>
        <p:spPr bwMode="auto">
          <a:xfrm>
            <a:off x="304800" y="1292225"/>
            <a:ext cx="8370888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085850" indent="-34290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en-US" sz="3200" b="0" dirty="0">
                <a:solidFill>
                  <a:schemeClr val="accent2"/>
                </a:solidFill>
                <a:latin typeface="+mn-lt"/>
                <a:cs typeface="Lotus" panose="00000400000000000000" pitchFamily="2" charset="-78"/>
              </a:rPr>
              <a:t>Till 2005, transistor counts increased by Moore law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en-US" sz="3200" b="0" dirty="0">
                <a:solidFill>
                  <a:schemeClr val="accent2"/>
                </a:solidFill>
                <a:latin typeface="+mn-lt"/>
                <a:cs typeface="Lotus" panose="00000400000000000000" pitchFamily="2" charset="-78"/>
              </a:rPr>
              <a:t>Increasing number of cores instead of transistors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en-US" sz="3200" b="0" dirty="0">
                <a:solidFill>
                  <a:schemeClr val="accent2"/>
                </a:solidFill>
                <a:latin typeface="+mn-lt"/>
                <a:cs typeface="Lotus" panose="00000400000000000000" pitchFamily="2" charset="-78"/>
              </a:rPr>
              <a:t>Predicted that multicore scaling may stop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altLang="en-US" smtClean="0"/>
              <a:t>Hardware vs. Software</a:t>
            </a:r>
          </a:p>
        </p:txBody>
      </p:sp>
      <p:sp>
        <p:nvSpPr>
          <p:cNvPr id="17411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7F319F1-9BC2-4E43-9AE9-929D37D465F3}" type="slidenum">
              <a:rPr lang="en-US" altLang="en-US" sz="1300" b="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300" b="0" smtClean="0">
              <a:solidFill>
                <a:schemeClr val="tx1"/>
              </a:solidFill>
            </a:endParaRPr>
          </a:p>
        </p:txBody>
      </p:sp>
      <p:sp>
        <p:nvSpPr>
          <p:cNvPr id="4" name="Content Placeholder 1"/>
          <p:cNvSpPr txBox="1">
            <a:spLocks/>
          </p:cNvSpPr>
          <p:nvPr/>
        </p:nvSpPr>
        <p:spPr>
          <a:xfrm>
            <a:off x="311150" y="1892300"/>
            <a:ext cx="8229600" cy="345122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FF5050"/>
                </a:solidFill>
                <a:latin typeface="+mn-lt"/>
                <a:ea typeface="+mn-ea"/>
                <a:cs typeface="+mn-cs"/>
              </a:defRPr>
            </a:lvl1pPr>
            <a:lvl2pPr marL="741363" indent="-284163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31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  <a:defRPr/>
            </a:pPr>
            <a:r>
              <a:rPr lang="en-US" sz="3200" kern="0" dirty="0" smtClean="0"/>
              <a:t> Software</a:t>
            </a:r>
          </a:p>
          <a:p>
            <a:pPr lvl="1">
              <a:defRPr/>
            </a:pPr>
            <a:r>
              <a:rPr lang="en-US" sz="3000" kern="0" dirty="0" smtClean="0"/>
              <a:t> </a:t>
            </a:r>
            <a:r>
              <a:rPr lang="en-US" sz="2800" kern="0" dirty="0" smtClean="0"/>
              <a:t>Slow:</a:t>
            </a:r>
          </a:p>
          <a:p>
            <a:pPr lvl="2">
              <a:defRPr/>
            </a:pPr>
            <a:r>
              <a:rPr lang="en-US" kern="0" dirty="0" smtClean="0"/>
              <a:t>Sequential</a:t>
            </a:r>
            <a:r>
              <a:rPr lang="en-US" kern="0" dirty="0"/>
              <a:t>: one instruction/operation at a time</a:t>
            </a:r>
          </a:p>
          <a:p>
            <a:pPr lvl="2">
              <a:defRPr/>
            </a:pPr>
            <a:r>
              <a:rPr lang="en-US" kern="0" dirty="0" smtClean="0"/>
              <a:t>Must </a:t>
            </a:r>
            <a:r>
              <a:rPr lang="en-US" kern="0" dirty="0"/>
              <a:t>fetch and execute each instruction</a:t>
            </a:r>
          </a:p>
          <a:p>
            <a:pPr lvl="2">
              <a:defRPr/>
            </a:pPr>
            <a:r>
              <a:rPr lang="en-US" kern="0" dirty="0" smtClean="0"/>
              <a:t>Memory bottleneck</a:t>
            </a:r>
          </a:p>
          <a:p>
            <a:pPr lvl="3">
              <a:buFont typeface="Wingdings" panose="05000000000000000000" pitchFamily="2" charset="2"/>
              <a:buChar char="Ø"/>
              <a:defRPr/>
            </a:pPr>
            <a:r>
              <a:rPr lang="en-US" sz="2200" kern="0" smtClean="0"/>
              <a:t> Caches </a:t>
            </a:r>
            <a:r>
              <a:rPr lang="en-US" sz="2200" kern="0" dirty="0" smtClean="0"/>
              <a:t>only mitigate the bottleneck</a:t>
            </a:r>
            <a:endParaRPr lang="en-US" kern="0" dirty="0" smtClean="0"/>
          </a:p>
          <a:p>
            <a:pPr lvl="1">
              <a:defRPr/>
            </a:pPr>
            <a:r>
              <a:rPr lang="en-US" sz="2800" kern="0" dirty="0" smtClean="0"/>
              <a:t> Easy to write, easy to debug, easy to modify</a:t>
            </a:r>
            <a:endParaRPr lang="en-US" sz="2800" kern="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altLang="en-US" smtClean="0"/>
              <a:t>Hardware vs. Software</a:t>
            </a:r>
          </a:p>
        </p:txBody>
      </p:sp>
      <p:sp>
        <p:nvSpPr>
          <p:cNvPr id="18435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2642D2E-A6B7-4508-895A-606704B32DCD}" type="slidenum">
              <a:rPr lang="en-US" altLang="en-US" sz="1300" b="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300" b="0" smtClean="0">
              <a:solidFill>
                <a:schemeClr val="tx1"/>
              </a:solidFill>
            </a:endParaRPr>
          </a:p>
        </p:txBody>
      </p:sp>
      <p:sp>
        <p:nvSpPr>
          <p:cNvPr id="4" name="Content Placeholder 1"/>
          <p:cNvSpPr txBox="1">
            <a:spLocks/>
          </p:cNvSpPr>
          <p:nvPr/>
        </p:nvSpPr>
        <p:spPr>
          <a:xfrm>
            <a:off x="465138" y="1892300"/>
            <a:ext cx="8228012" cy="345122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FF5050"/>
                </a:solidFill>
                <a:latin typeface="+mn-lt"/>
                <a:ea typeface="+mn-ea"/>
                <a:cs typeface="+mn-cs"/>
              </a:defRPr>
            </a:lvl1pPr>
            <a:lvl2pPr marL="741363" indent="-284163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31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  <a:defRPr/>
            </a:pPr>
            <a:r>
              <a:rPr lang="en-US" sz="3200" kern="0" dirty="0" smtClean="0"/>
              <a:t>Hardware</a:t>
            </a:r>
          </a:p>
          <a:p>
            <a:pPr lvl="1">
              <a:defRPr/>
            </a:pPr>
            <a:r>
              <a:rPr lang="fa-IR" sz="2800" kern="0" dirty="0" smtClean="0"/>
              <a:t> </a:t>
            </a:r>
            <a:r>
              <a:rPr lang="en-US" sz="2800" kern="0" dirty="0" smtClean="0"/>
              <a:t>Fast; no instruction fetch, decode, …</a:t>
            </a:r>
          </a:p>
          <a:p>
            <a:pPr lvl="1">
              <a:defRPr/>
            </a:pPr>
            <a:r>
              <a:rPr lang="en-US" sz="2800" kern="0" dirty="0" smtClean="0"/>
              <a:t> Can easily expose parallelism</a:t>
            </a:r>
          </a:p>
          <a:p>
            <a:pPr lvl="1">
              <a:defRPr/>
            </a:pPr>
            <a:r>
              <a:rPr lang="en-US" sz="2800" kern="0" dirty="0" smtClean="0"/>
              <a:t> More difficult to design,</a:t>
            </a:r>
            <a:r>
              <a:rPr lang="fa-IR" sz="2800" kern="0" dirty="0" smtClean="0"/>
              <a:t> </a:t>
            </a:r>
            <a:r>
              <a:rPr lang="en-US" sz="2800" kern="0" dirty="0" smtClean="0"/>
              <a:t>debug and modify</a:t>
            </a:r>
          </a:p>
          <a:p>
            <a:pPr>
              <a:defRPr/>
            </a:pPr>
            <a:endParaRPr lang="en-US" kern="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20738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820738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820738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820738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820738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820738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820738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820738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820738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1238453-2DC3-45CE-BC00-A8FD32685D91}" type="slidenum">
              <a:rPr lang="en-US" altLang="fa-IR" sz="1300" b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fa-IR" sz="1300" b="0">
              <a:solidFill>
                <a:schemeClr val="tx1"/>
              </a:solidFill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160" tIns="46080" rIns="92160" bIns="46080"/>
          <a:lstStyle/>
          <a:p>
            <a:pPr eaLnBrk="1" hangingPunct="1"/>
            <a:r>
              <a:rPr lang="en-GB" altLang="fa-IR" smtClean="0"/>
              <a:t>The Von Neumann Computer</a:t>
            </a:r>
            <a:endParaRPr lang="de-DE" altLang="fa-IR" smtClean="0"/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55588" y="1219200"/>
            <a:ext cx="7772400" cy="5378450"/>
          </a:xfrm>
        </p:spPr>
        <p:txBody>
          <a:bodyPr lIns="92160" tIns="46080" rIns="92160" bIns="46080"/>
          <a:lstStyle/>
          <a:p>
            <a:pPr marL="174625" indent="-174625" defTabSz="449263" eaLnBrk="1" hangingPunct="1">
              <a:lnSpc>
                <a:spcPct val="93000"/>
              </a:lnSpc>
            </a:pPr>
            <a:r>
              <a:rPr lang="en-GB" altLang="fa-IR" sz="2800" dirty="0" smtClean="0"/>
              <a:t>Sequential execution</a:t>
            </a:r>
          </a:p>
          <a:p>
            <a:pPr marL="806450" lvl="1" indent="-285750" defTabSz="449263" eaLnBrk="1" hangingPunct="1">
              <a:lnSpc>
                <a:spcPct val="93000"/>
              </a:lnSpc>
            </a:pPr>
            <a:r>
              <a:rPr lang="en-GB" altLang="fa-IR" dirty="0" err="1" smtClean="0"/>
              <a:t>t</a:t>
            </a:r>
            <a:r>
              <a:rPr lang="en-GB" altLang="fa-IR" baseline="-33000" dirty="0" err="1" smtClean="0"/>
              <a:t>cycle</a:t>
            </a:r>
            <a:r>
              <a:rPr lang="en-GB" altLang="fa-IR" dirty="0" smtClean="0"/>
              <a:t> = cycle execution time</a:t>
            </a:r>
          </a:p>
          <a:p>
            <a:pPr marL="174625" indent="-174625" defTabSz="449263" eaLnBrk="1" hangingPunct="1">
              <a:lnSpc>
                <a:spcPct val="93000"/>
              </a:lnSpc>
              <a:buSzPct val="45000"/>
              <a:buFont typeface="StarSymbol" charset="0"/>
              <a:buChar char="➢"/>
            </a:pPr>
            <a:r>
              <a:rPr lang="en-GB" altLang="fa-IR" sz="1800" dirty="0" smtClean="0">
                <a:solidFill>
                  <a:srgbClr val="0000FF"/>
                </a:solidFill>
              </a:rPr>
              <a:t>One instruction needs </a:t>
            </a:r>
            <a:r>
              <a:rPr lang="en-GB" altLang="fa-IR" sz="1800" dirty="0" err="1" smtClean="0">
                <a:solidFill>
                  <a:srgbClr val="0000FF"/>
                </a:solidFill>
              </a:rPr>
              <a:t>t</a:t>
            </a:r>
            <a:r>
              <a:rPr lang="en-GB" altLang="fa-IR" sz="1800" baseline="-33000" dirty="0" err="1" smtClean="0">
                <a:solidFill>
                  <a:srgbClr val="0000FF"/>
                </a:solidFill>
              </a:rPr>
              <a:t>instruction</a:t>
            </a:r>
            <a:r>
              <a:rPr lang="en-GB" altLang="fa-IR" sz="1800" dirty="0" smtClean="0">
                <a:solidFill>
                  <a:srgbClr val="0000FF"/>
                </a:solidFill>
              </a:rPr>
              <a:t> = 5*</a:t>
            </a:r>
            <a:r>
              <a:rPr lang="en-GB" altLang="fa-IR" sz="1800" dirty="0" err="1" smtClean="0">
                <a:solidFill>
                  <a:srgbClr val="0000FF"/>
                </a:solidFill>
              </a:rPr>
              <a:t>t</a:t>
            </a:r>
            <a:r>
              <a:rPr lang="en-GB" altLang="fa-IR" sz="1800" baseline="-33000" dirty="0" err="1" smtClean="0">
                <a:solidFill>
                  <a:srgbClr val="0000FF"/>
                </a:solidFill>
              </a:rPr>
              <a:t>cycle</a:t>
            </a:r>
            <a:r>
              <a:rPr lang="en-GB" altLang="fa-IR" sz="1800" baseline="-33000" dirty="0" smtClean="0">
                <a:solidFill>
                  <a:srgbClr val="0000FF"/>
                </a:solidFill>
              </a:rPr>
              <a:t>	</a:t>
            </a:r>
          </a:p>
          <a:p>
            <a:pPr marL="174625" indent="-174625" defTabSz="449263" eaLnBrk="1" hangingPunct="1">
              <a:lnSpc>
                <a:spcPct val="93000"/>
              </a:lnSpc>
              <a:buSzPct val="45000"/>
              <a:buFont typeface="StarSymbol" charset="0"/>
              <a:buChar char="➢"/>
            </a:pPr>
            <a:r>
              <a:rPr lang="en-GB" altLang="fa-IR" sz="1800" dirty="0" smtClean="0">
                <a:solidFill>
                  <a:srgbClr val="0000FF"/>
                </a:solidFill>
              </a:rPr>
              <a:t>3 instructions: in 15*</a:t>
            </a:r>
            <a:r>
              <a:rPr lang="en-GB" altLang="fa-IR" sz="1800" dirty="0" err="1" smtClean="0">
                <a:solidFill>
                  <a:srgbClr val="0000FF"/>
                </a:solidFill>
              </a:rPr>
              <a:t>t</a:t>
            </a:r>
            <a:r>
              <a:rPr lang="en-GB" altLang="fa-IR" sz="1800" baseline="-33000" dirty="0" err="1" smtClean="0">
                <a:solidFill>
                  <a:srgbClr val="0000FF"/>
                </a:solidFill>
              </a:rPr>
              <a:t>cycle</a:t>
            </a:r>
            <a:endParaRPr lang="en-GB" altLang="fa-IR" sz="1800" baseline="-33000" dirty="0" smtClean="0">
              <a:solidFill>
                <a:srgbClr val="0000FF"/>
              </a:solidFill>
            </a:endParaRPr>
          </a:p>
          <a:p>
            <a:pPr marL="174625" indent="-174625" defTabSz="449263" eaLnBrk="1" hangingPunct="1">
              <a:lnSpc>
                <a:spcPct val="93000"/>
              </a:lnSpc>
            </a:pPr>
            <a:endParaRPr lang="en-GB" altLang="fa-IR" sz="1000" dirty="0" smtClean="0">
              <a:solidFill>
                <a:srgbClr val="0000FF"/>
              </a:solidFill>
            </a:endParaRPr>
          </a:p>
          <a:p>
            <a:pPr marL="174625" indent="-174625" defTabSz="449263" eaLnBrk="1" hangingPunct="1">
              <a:lnSpc>
                <a:spcPct val="93000"/>
              </a:lnSpc>
            </a:pPr>
            <a:r>
              <a:rPr lang="en-GB" altLang="fa-IR" sz="2800" dirty="0" smtClean="0"/>
              <a:t>Pipelining:</a:t>
            </a:r>
          </a:p>
          <a:p>
            <a:pPr marL="174625" indent="-174625" defTabSz="449263" eaLnBrk="1" hangingPunct="1">
              <a:lnSpc>
                <a:spcPct val="93000"/>
              </a:lnSpc>
            </a:pPr>
            <a:r>
              <a:rPr lang="en-GB" altLang="fa-IR" sz="1800" dirty="0" smtClean="0">
                <a:solidFill>
                  <a:srgbClr val="0000FF"/>
                </a:solidFill>
              </a:rPr>
              <a:t>One instruction needs </a:t>
            </a:r>
            <a:r>
              <a:rPr lang="en-GB" altLang="fa-IR" sz="1800" dirty="0" err="1" smtClean="0">
                <a:solidFill>
                  <a:srgbClr val="0000FF"/>
                </a:solidFill>
              </a:rPr>
              <a:t>t</a:t>
            </a:r>
            <a:r>
              <a:rPr lang="en-GB" altLang="fa-IR" sz="1800" baseline="-33000" dirty="0" err="1" smtClean="0">
                <a:solidFill>
                  <a:srgbClr val="0000FF"/>
                </a:solidFill>
              </a:rPr>
              <a:t>instruction</a:t>
            </a:r>
            <a:r>
              <a:rPr lang="en-GB" altLang="fa-IR" sz="1800" dirty="0" smtClean="0">
                <a:solidFill>
                  <a:srgbClr val="0000FF"/>
                </a:solidFill>
              </a:rPr>
              <a:t> = 5*</a:t>
            </a:r>
            <a:r>
              <a:rPr lang="en-GB" altLang="fa-IR" sz="1800" dirty="0" err="1" smtClean="0">
                <a:solidFill>
                  <a:srgbClr val="0000FF"/>
                </a:solidFill>
              </a:rPr>
              <a:t>t</a:t>
            </a:r>
            <a:r>
              <a:rPr lang="en-GB" altLang="fa-IR" sz="1800" baseline="-33000" dirty="0" err="1" smtClean="0">
                <a:solidFill>
                  <a:srgbClr val="0000FF"/>
                </a:solidFill>
              </a:rPr>
              <a:t>cycle</a:t>
            </a:r>
            <a:endParaRPr lang="en-GB" altLang="fa-IR" sz="1800" baseline="-33000" dirty="0" smtClean="0">
              <a:solidFill>
                <a:srgbClr val="0000FF"/>
              </a:solidFill>
            </a:endParaRPr>
          </a:p>
          <a:p>
            <a:pPr marL="806450" lvl="1" indent="-285750" defTabSz="449263" eaLnBrk="1" hangingPunct="1">
              <a:lnSpc>
                <a:spcPct val="93000"/>
              </a:lnSpc>
            </a:pPr>
            <a:r>
              <a:rPr lang="en-GB" altLang="fa-IR" sz="1800" dirty="0" smtClean="0"/>
              <a:t>no improvement</a:t>
            </a:r>
            <a:endParaRPr lang="en-GB" altLang="fa-IR" sz="2500" dirty="0" smtClean="0"/>
          </a:p>
          <a:p>
            <a:pPr marL="174625" indent="-174625" defTabSz="449263" eaLnBrk="1" hangingPunct="1">
              <a:lnSpc>
                <a:spcPct val="93000"/>
              </a:lnSpc>
            </a:pPr>
            <a:r>
              <a:rPr lang="en-GB" altLang="fa-IR" sz="1800" dirty="0" smtClean="0">
                <a:solidFill>
                  <a:srgbClr val="0000FF"/>
                </a:solidFill>
              </a:rPr>
              <a:t>3 instructions: in 7*</a:t>
            </a:r>
            <a:r>
              <a:rPr lang="en-GB" altLang="fa-IR" sz="1800" dirty="0" err="1" smtClean="0">
                <a:solidFill>
                  <a:srgbClr val="0000FF"/>
                </a:solidFill>
              </a:rPr>
              <a:t>t</a:t>
            </a:r>
            <a:r>
              <a:rPr lang="en-GB" altLang="fa-IR" sz="1800" baseline="-33000" dirty="0" err="1" smtClean="0">
                <a:solidFill>
                  <a:srgbClr val="0000FF"/>
                </a:solidFill>
              </a:rPr>
              <a:t>cycle</a:t>
            </a:r>
            <a:r>
              <a:rPr lang="en-GB" altLang="fa-IR" sz="1800" baseline="-33000" dirty="0" smtClean="0">
                <a:solidFill>
                  <a:srgbClr val="0000FF"/>
                </a:solidFill>
              </a:rPr>
              <a:t> </a:t>
            </a:r>
            <a:r>
              <a:rPr lang="en-GB" altLang="fa-IR" sz="1800" dirty="0" smtClean="0">
                <a:solidFill>
                  <a:srgbClr val="0000FF"/>
                </a:solidFill>
              </a:rPr>
              <a:t>in the </a:t>
            </a:r>
          </a:p>
          <a:p>
            <a:pPr marL="174625" indent="-174625" defTabSz="449263" eaLnBrk="1" hangingPunct="1">
              <a:lnSpc>
                <a:spcPct val="93000"/>
              </a:lnSpc>
              <a:buFontTx/>
              <a:buNone/>
            </a:pPr>
            <a:r>
              <a:rPr lang="en-GB" altLang="fa-IR" sz="1800" dirty="0" smtClean="0">
                <a:solidFill>
                  <a:srgbClr val="0000FF"/>
                </a:solidFill>
              </a:rPr>
              <a:t>    ideal case. </a:t>
            </a:r>
          </a:p>
          <a:p>
            <a:pPr marL="174625" indent="-174625" defTabSz="449263" eaLnBrk="1" hangingPunct="1">
              <a:lnSpc>
                <a:spcPct val="93000"/>
              </a:lnSpc>
            </a:pPr>
            <a:endParaRPr lang="en-GB" altLang="fa-IR" sz="1800" dirty="0" smtClean="0">
              <a:solidFill>
                <a:srgbClr val="0000FF"/>
              </a:solidFill>
            </a:endParaRPr>
          </a:p>
          <a:p>
            <a:pPr marL="174625" indent="-174625" defTabSz="449263" eaLnBrk="1" hangingPunct="1">
              <a:lnSpc>
                <a:spcPct val="93000"/>
              </a:lnSpc>
            </a:pPr>
            <a:r>
              <a:rPr lang="en-GB" altLang="fa-IR" sz="1800" dirty="0" smtClean="0">
                <a:solidFill>
                  <a:srgbClr val="008000"/>
                </a:solidFill>
                <a:sym typeface="Wingdings" panose="05000000000000000000" pitchFamily="2" charset="2"/>
              </a:rPr>
              <a:t> </a:t>
            </a:r>
            <a:r>
              <a:rPr lang="en-GB" altLang="fa-IR" sz="1800" dirty="0" smtClean="0">
                <a:solidFill>
                  <a:srgbClr val="008000"/>
                </a:solidFill>
              </a:rPr>
              <a:t>Increased throughput</a:t>
            </a:r>
          </a:p>
          <a:p>
            <a:pPr marL="174625" indent="-174625" defTabSz="449263" eaLnBrk="1" hangingPunct="1">
              <a:lnSpc>
                <a:spcPct val="93000"/>
              </a:lnSpc>
            </a:pPr>
            <a:endParaRPr lang="en-GB" altLang="fa-IR" sz="1800" smtClean="0">
              <a:solidFill>
                <a:srgbClr val="008000"/>
              </a:solidFill>
            </a:endParaRPr>
          </a:p>
          <a:p>
            <a:pPr marL="174625" indent="-174625" defTabSz="449263" eaLnBrk="1" hangingPunct="1">
              <a:lnSpc>
                <a:spcPct val="93000"/>
              </a:lnSpc>
            </a:pPr>
            <a:endParaRPr lang="en-GB" altLang="fa-IR" sz="1800" dirty="0" smtClean="0">
              <a:solidFill>
                <a:srgbClr val="008000"/>
              </a:solidFill>
            </a:endParaRPr>
          </a:p>
          <a:p>
            <a:pPr marL="174625" indent="-174625" defTabSz="449263" eaLnBrk="1" hangingPunct="1">
              <a:lnSpc>
                <a:spcPct val="93000"/>
              </a:lnSpc>
            </a:pPr>
            <a:r>
              <a:rPr lang="en-GB" altLang="fa-IR" sz="1800" dirty="0" smtClean="0">
                <a:solidFill>
                  <a:srgbClr val="DC2300"/>
                </a:solidFill>
              </a:rPr>
              <a:t>Even with pipeline, cache, etc., execution remains </a:t>
            </a:r>
            <a:r>
              <a:rPr lang="en-GB" altLang="fa-IR" sz="2000" dirty="0" smtClean="0">
                <a:solidFill>
                  <a:srgbClr val="DC2300"/>
                </a:solidFill>
              </a:rPr>
              <a:t>sequential</a:t>
            </a:r>
            <a:r>
              <a:rPr lang="en-GB" altLang="fa-IR" sz="1800" dirty="0" smtClean="0">
                <a:solidFill>
                  <a:srgbClr val="DC2300"/>
                </a:solidFill>
              </a:rPr>
              <a:t>.</a:t>
            </a:r>
            <a:endParaRPr lang="de-DE" altLang="fa-IR" sz="1800" dirty="0" smtClean="0">
              <a:solidFill>
                <a:srgbClr val="DC2300"/>
              </a:solidFill>
            </a:endParaRPr>
          </a:p>
        </p:txBody>
      </p:sp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081088"/>
            <a:ext cx="4392612" cy="436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4" name="Rectangle 5"/>
          <p:cNvSpPr>
            <a:spLocks noChangeArrowheads="1"/>
          </p:cNvSpPr>
          <p:nvPr/>
        </p:nvSpPr>
        <p:spPr bwMode="auto">
          <a:xfrm>
            <a:off x="4284663" y="4005263"/>
            <a:ext cx="4608512" cy="14398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a-IR" altLang="fa-IR" sz="21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811152" y="3795394"/>
            <a:ext cx="4572000" cy="2225994"/>
          </a:xfrm>
          <a:prstGeom prst="rect">
            <a:avLst/>
          </a:prstGeom>
        </p:spPr>
        <p:txBody>
          <a:bodyPr>
            <a:spAutoFit/>
          </a:bodyPr>
          <a:lstStyle/>
          <a:p>
            <a:pPr marL="879475" lvl="1" indent="-457200" defTabSz="449263" eaLnBrk="1" hangingPunct="1">
              <a:lnSpc>
                <a:spcPct val="89000"/>
              </a:lnSpc>
              <a:buFont typeface="Wingdings" panose="05000000000000000000" pitchFamily="2" charset="2"/>
              <a:buNone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altLang="fa-IR" sz="1600" b="1">
                <a:latin typeface="Courier New" panose="02070309020205020404" pitchFamily="49" charset="0"/>
              </a:rPr>
              <a:t>if (a &lt; b) then</a:t>
            </a:r>
          </a:p>
          <a:p>
            <a:pPr marL="879475" lvl="1" indent="-457200" defTabSz="449263" eaLnBrk="1" hangingPunct="1">
              <a:lnSpc>
                <a:spcPct val="89000"/>
              </a:lnSpc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altLang="fa-IR" sz="1600" b="1" i="1">
                <a:latin typeface="Courier New" panose="02070309020205020404" pitchFamily="49" charset="0"/>
              </a:rPr>
              <a:t>{</a:t>
            </a:r>
          </a:p>
          <a:p>
            <a:pPr marL="1108075" lvl="2" indent="-280988" defTabSz="449263" eaLnBrk="1" hangingPunct="1">
              <a:lnSpc>
                <a:spcPct val="95000"/>
              </a:lnSpc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altLang="fa-IR" sz="1400" b="1" i="1">
                <a:latin typeface="Courier New" panose="02070309020205020404" pitchFamily="49" charset="0"/>
              </a:rPr>
              <a:t>d = a+b;</a:t>
            </a:r>
          </a:p>
          <a:p>
            <a:pPr marL="1108075" lvl="2" indent="-280988" defTabSz="449263" eaLnBrk="1" hangingPunct="1">
              <a:lnSpc>
                <a:spcPct val="95000"/>
              </a:lnSpc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altLang="fa-IR" sz="1400" b="1" i="1">
                <a:latin typeface="Courier New" panose="02070309020205020404" pitchFamily="49" charset="0"/>
              </a:rPr>
              <a:t>c = a*b;</a:t>
            </a:r>
          </a:p>
          <a:p>
            <a:pPr marL="879475" lvl="1" indent="-457200" defTabSz="449263" eaLnBrk="1" hangingPunct="1">
              <a:lnSpc>
                <a:spcPct val="89000"/>
              </a:lnSpc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altLang="fa-IR" sz="1600" b="1" i="1">
                <a:latin typeface="Courier New" panose="02070309020205020404" pitchFamily="49" charset="0"/>
              </a:rPr>
              <a:t>}</a:t>
            </a:r>
          </a:p>
          <a:p>
            <a:pPr marL="879475" lvl="1" indent="-457200" defTabSz="449263" eaLnBrk="1" hangingPunct="1">
              <a:lnSpc>
                <a:spcPct val="89000"/>
              </a:lnSpc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altLang="fa-IR" sz="1600" b="1" i="1">
                <a:latin typeface="Courier New" panose="02070309020205020404" pitchFamily="49" charset="0"/>
              </a:rPr>
              <a:t>else</a:t>
            </a:r>
          </a:p>
          <a:p>
            <a:pPr marL="879475" lvl="1" indent="-457200" defTabSz="449263" eaLnBrk="1" hangingPunct="1">
              <a:lnSpc>
                <a:spcPct val="89000"/>
              </a:lnSpc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altLang="fa-IR" sz="1600" b="1" i="1">
                <a:latin typeface="Courier New" panose="02070309020205020404" pitchFamily="49" charset="0"/>
              </a:rPr>
              <a:t>{</a:t>
            </a:r>
          </a:p>
          <a:p>
            <a:pPr marL="1108075" lvl="2" indent="-280988" defTabSz="449263" eaLnBrk="1" hangingPunct="1">
              <a:lnSpc>
                <a:spcPct val="95000"/>
              </a:lnSpc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altLang="fa-IR" sz="1400" b="1" i="1">
                <a:latin typeface="Courier New" panose="02070309020205020404" pitchFamily="49" charset="0"/>
              </a:rPr>
              <a:t>d = a+1;</a:t>
            </a:r>
          </a:p>
          <a:p>
            <a:pPr marL="1108075" lvl="2" indent="-280988" defTabSz="449263" eaLnBrk="1" hangingPunct="1">
              <a:lnSpc>
                <a:spcPct val="95000"/>
              </a:lnSpc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altLang="fa-IR" sz="1400" b="1" i="1">
                <a:latin typeface="Courier New" panose="02070309020205020404" pitchFamily="49" charset="0"/>
              </a:rPr>
              <a:t>c = b-1;</a:t>
            </a:r>
          </a:p>
          <a:p>
            <a:pPr marL="879475" lvl="1" indent="-457200" defTabSz="449263" eaLnBrk="1" hangingPunct="1">
              <a:lnSpc>
                <a:spcPct val="89000"/>
              </a:lnSpc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altLang="fa-IR" sz="1600" b="1" i="1">
                <a:latin typeface="Courier New" panose="02070309020205020404" pitchFamily="49" charset="0"/>
              </a:rPr>
              <a:t>}</a:t>
            </a:r>
            <a:endParaRPr lang="en-GB" altLang="fa-IR" sz="1600" b="1" i="1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946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20738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820738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820738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820738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820738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820738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820738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820738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820738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8F9065B-1AD5-44AC-B1EB-4C4D8EFC8E4D}" type="slidenum">
              <a:rPr lang="en-US" altLang="fa-IR" sz="1300" b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fa-IR" sz="1300" b="0">
              <a:solidFill>
                <a:schemeClr val="tx1"/>
              </a:solidFill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160" tIns="46080" rIns="92160" bIns="46080"/>
          <a:lstStyle/>
          <a:p>
            <a:pPr eaLnBrk="1" hangingPunct="1"/>
            <a:r>
              <a:rPr lang="en-GB" altLang="fa-IR" smtClean="0"/>
              <a:t>Hardware Implementation</a:t>
            </a:r>
            <a:endParaRPr lang="de-DE" altLang="fa-IR" dirty="0" smtClean="0"/>
          </a:p>
        </p:txBody>
      </p:sp>
      <p:sp>
        <p:nvSpPr>
          <p:cNvPr id="31748" name="Rectangle 9"/>
          <p:cNvSpPr>
            <a:spLocks noGrp="1" noChangeArrowheads="1"/>
          </p:cNvSpPr>
          <p:nvPr>
            <p:ph type="body" idx="4294967295"/>
          </p:nvPr>
        </p:nvSpPr>
        <p:spPr>
          <a:xfrm>
            <a:off x="762000" y="1214438"/>
            <a:ext cx="4054475" cy="4662834"/>
          </a:xfrm>
        </p:spPr>
        <p:txBody>
          <a:bodyPr lIns="92160" tIns="46080" rIns="92160" bIns="46080"/>
          <a:lstStyle/>
          <a:p>
            <a:pPr marL="457200" indent="-457200" defTabSz="449263" eaLnBrk="1" hangingPunct="1">
              <a:lnSpc>
                <a:spcPct val="93000"/>
              </a:lnSpc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altLang="fa-IR" smtClean="0">
                <a:solidFill>
                  <a:srgbClr val="0000FF"/>
                </a:solidFill>
              </a:rPr>
              <a:t>Hardware</a:t>
            </a:r>
            <a:r>
              <a:rPr lang="en-GB" altLang="fa-IR" smtClean="0"/>
              <a:t> </a:t>
            </a:r>
            <a:r>
              <a:rPr lang="en-GB" altLang="fa-IR" dirty="0" smtClean="0">
                <a:solidFill>
                  <a:srgbClr val="0000FF"/>
                </a:solidFill>
              </a:rPr>
              <a:t>Example:</a:t>
            </a:r>
          </a:p>
          <a:p>
            <a:pPr marL="457200" indent="-457200" defTabSz="449263" eaLnBrk="1" hangingPunct="1">
              <a:lnSpc>
                <a:spcPct val="93000"/>
              </a:lnSpc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endParaRPr lang="en-GB" altLang="fa-IR" sz="800" dirty="0" smtClean="0">
              <a:solidFill>
                <a:srgbClr val="0000FF"/>
              </a:solidFill>
            </a:endParaRPr>
          </a:p>
          <a:p>
            <a:pPr marL="457200" indent="-457200" defTabSz="449263" eaLnBrk="1" hangingPunct="1">
              <a:lnSpc>
                <a:spcPct val="93000"/>
              </a:lnSpc>
              <a:spcBef>
                <a:spcPct val="0"/>
              </a:spcBef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altLang="fa-IR" sz="1800" dirty="0" smtClean="0">
                <a:solidFill>
                  <a:srgbClr val="008000"/>
                </a:solidFill>
              </a:rPr>
              <a:t>Implementation of a </a:t>
            </a:r>
            <a:r>
              <a:rPr lang="en-GB" altLang="fa-IR" sz="1800" dirty="0" err="1" smtClean="0">
                <a:solidFill>
                  <a:srgbClr val="008000"/>
                </a:solidFill>
              </a:rPr>
              <a:t>VN</a:t>
            </a:r>
            <a:r>
              <a:rPr lang="en-GB" altLang="fa-IR" sz="1800" dirty="0" smtClean="0">
                <a:solidFill>
                  <a:srgbClr val="008000"/>
                </a:solidFill>
              </a:rPr>
              <a:t> computer:</a:t>
            </a:r>
          </a:p>
          <a:p>
            <a:pPr marL="457200" indent="-457200" defTabSz="449263" eaLnBrk="1" hangingPunct="1">
              <a:lnSpc>
                <a:spcPct val="93000"/>
              </a:lnSpc>
              <a:spcBef>
                <a:spcPct val="0"/>
              </a:spcBef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endParaRPr lang="en-GB" altLang="fa-IR" sz="1800" dirty="0" smtClean="0">
              <a:solidFill>
                <a:srgbClr val="008000"/>
              </a:solidFill>
            </a:endParaRPr>
          </a:p>
          <a:p>
            <a:pPr marL="879475" lvl="1" indent="-457200" defTabSz="449263" eaLnBrk="1" hangingPunct="1">
              <a:lnSpc>
                <a:spcPct val="89000"/>
              </a:lnSpc>
              <a:buFont typeface="Wingdings" panose="05000000000000000000" pitchFamily="2" charset="2"/>
              <a:buNone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altLang="fa-IR" sz="1600" b="1" dirty="0" smtClean="0">
                <a:latin typeface="Courier New" panose="02070309020205020404" pitchFamily="49" charset="0"/>
              </a:rPr>
              <a:t>if (a &lt; b) then</a:t>
            </a:r>
          </a:p>
          <a:p>
            <a:pPr marL="879475" lvl="1" indent="-457200" defTabSz="449263" eaLnBrk="1" hangingPunct="1">
              <a:lnSpc>
                <a:spcPct val="89000"/>
              </a:lnSpc>
              <a:spcBef>
                <a:spcPct val="0"/>
              </a:spcBef>
              <a:buFont typeface="Wingdings" panose="05000000000000000000" pitchFamily="2" charset="2"/>
              <a:buNone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altLang="fa-IR" sz="1600" b="1" i="1" dirty="0" smtClean="0">
                <a:latin typeface="Courier New" panose="02070309020205020404" pitchFamily="49" charset="0"/>
              </a:rPr>
              <a:t>{</a:t>
            </a:r>
          </a:p>
          <a:p>
            <a:pPr marL="1108075" lvl="2" indent="-280988" defTabSz="449263" eaLnBrk="1" hangingPunct="1">
              <a:lnSpc>
                <a:spcPct val="95000"/>
              </a:lnSpc>
              <a:spcBef>
                <a:spcPct val="0"/>
              </a:spcBef>
              <a:buFont typeface="Arial" panose="020B0604020202020204" pitchFamily="34" charset="0"/>
              <a:buNone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altLang="fa-IR" sz="1400" b="1" i="1" dirty="0" smtClean="0">
                <a:latin typeface="Courier New" panose="02070309020205020404" pitchFamily="49" charset="0"/>
              </a:rPr>
              <a:t>d = </a:t>
            </a:r>
            <a:r>
              <a:rPr lang="en-GB" altLang="fa-IR" sz="1400" b="1" i="1" dirty="0" err="1" smtClean="0">
                <a:latin typeface="Courier New" panose="02070309020205020404" pitchFamily="49" charset="0"/>
              </a:rPr>
              <a:t>a+b</a:t>
            </a:r>
            <a:r>
              <a:rPr lang="en-GB" altLang="fa-IR" sz="1400" b="1" i="1" dirty="0" smtClean="0">
                <a:latin typeface="Courier New" panose="02070309020205020404" pitchFamily="49" charset="0"/>
              </a:rPr>
              <a:t>;</a:t>
            </a:r>
          </a:p>
          <a:p>
            <a:pPr marL="1108075" lvl="2" indent="-280988" defTabSz="449263" eaLnBrk="1" hangingPunct="1">
              <a:lnSpc>
                <a:spcPct val="95000"/>
              </a:lnSpc>
              <a:spcBef>
                <a:spcPct val="0"/>
              </a:spcBef>
              <a:buFont typeface="Arial" panose="020B0604020202020204" pitchFamily="34" charset="0"/>
              <a:buNone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altLang="fa-IR" sz="1400" b="1" i="1" dirty="0" smtClean="0">
                <a:latin typeface="Courier New" panose="02070309020205020404" pitchFamily="49" charset="0"/>
              </a:rPr>
              <a:t>c = a*b;</a:t>
            </a:r>
          </a:p>
          <a:p>
            <a:pPr marL="879475" lvl="1" indent="-457200" defTabSz="449263" eaLnBrk="1" hangingPunct="1">
              <a:lnSpc>
                <a:spcPct val="89000"/>
              </a:lnSpc>
              <a:spcBef>
                <a:spcPct val="0"/>
              </a:spcBef>
              <a:buFont typeface="Wingdings" panose="05000000000000000000" pitchFamily="2" charset="2"/>
              <a:buNone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altLang="fa-IR" sz="1600" b="1" i="1" dirty="0" smtClean="0">
                <a:latin typeface="Courier New" panose="02070309020205020404" pitchFamily="49" charset="0"/>
              </a:rPr>
              <a:t>}</a:t>
            </a:r>
          </a:p>
          <a:p>
            <a:pPr marL="879475" lvl="1" indent="-457200" defTabSz="449263" eaLnBrk="1" hangingPunct="1">
              <a:lnSpc>
                <a:spcPct val="89000"/>
              </a:lnSpc>
              <a:spcBef>
                <a:spcPct val="0"/>
              </a:spcBef>
              <a:buFont typeface="Wingdings" panose="05000000000000000000" pitchFamily="2" charset="2"/>
              <a:buNone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altLang="fa-IR" sz="1600" b="1" i="1" dirty="0" smtClean="0">
                <a:latin typeface="Courier New" panose="02070309020205020404" pitchFamily="49" charset="0"/>
              </a:rPr>
              <a:t>else</a:t>
            </a:r>
          </a:p>
          <a:p>
            <a:pPr marL="879475" lvl="1" indent="-457200" defTabSz="449263" eaLnBrk="1" hangingPunct="1">
              <a:lnSpc>
                <a:spcPct val="89000"/>
              </a:lnSpc>
              <a:spcBef>
                <a:spcPct val="0"/>
              </a:spcBef>
              <a:buFont typeface="Wingdings" panose="05000000000000000000" pitchFamily="2" charset="2"/>
              <a:buNone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altLang="fa-IR" sz="1600" b="1" i="1" dirty="0" smtClean="0">
                <a:latin typeface="Courier New" panose="02070309020205020404" pitchFamily="49" charset="0"/>
              </a:rPr>
              <a:t>{</a:t>
            </a:r>
          </a:p>
          <a:p>
            <a:pPr marL="1108075" lvl="2" indent="-280988" defTabSz="449263" eaLnBrk="1" hangingPunct="1">
              <a:lnSpc>
                <a:spcPct val="95000"/>
              </a:lnSpc>
              <a:spcBef>
                <a:spcPct val="0"/>
              </a:spcBef>
              <a:buFont typeface="Arial" panose="020B0604020202020204" pitchFamily="34" charset="0"/>
              <a:buNone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altLang="fa-IR" sz="1400" b="1" i="1" dirty="0" smtClean="0">
                <a:latin typeface="Courier New" panose="02070309020205020404" pitchFamily="49" charset="0"/>
              </a:rPr>
              <a:t>d = </a:t>
            </a:r>
            <a:r>
              <a:rPr lang="en-GB" altLang="fa-IR" sz="1400" b="1" i="1" dirty="0" err="1" smtClean="0">
                <a:latin typeface="Courier New" panose="02070309020205020404" pitchFamily="49" charset="0"/>
              </a:rPr>
              <a:t>a+1</a:t>
            </a:r>
            <a:r>
              <a:rPr lang="en-GB" altLang="fa-IR" sz="1400" b="1" i="1" dirty="0" smtClean="0">
                <a:latin typeface="Courier New" panose="02070309020205020404" pitchFamily="49" charset="0"/>
              </a:rPr>
              <a:t>;</a:t>
            </a:r>
          </a:p>
          <a:p>
            <a:pPr marL="1108075" lvl="2" indent="-280988" defTabSz="449263" eaLnBrk="1" hangingPunct="1">
              <a:lnSpc>
                <a:spcPct val="95000"/>
              </a:lnSpc>
              <a:spcBef>
                <a:spcPct val="0"/>
              </a:spcBef>
              <a:buFont typeface="Arial" panose="020B0604020202020204" pitchFamily="34" charset="0"/>
              <a:buNone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altLang="fa-IR" sz="1400" b="1" i="1" dirty="0" smtClean="0">
                <a:latin typeface="Courier New" panose="02070309020205020404" pitchFamily="49" charset="0"/>
              </a:rPr>
              <a:t>c = b-1;</a:t>
            </a:r>
          </a:p>
          <a:p>
            <a:pPr marL="879475" lvl="1" indent="-457200" defTabSz="449263" eaLnBrk="1" hangingPunct="1">
              <a:lnSpc>
                <a:spcPct val="89000"/>
              </a:lnSpc>
              <a:spcBef>
                <a:spcPct val="0"/>
              </a:spcBef>
              <a:buFont typeface="Wingdings" panose="05000000000000000000" pitchFamily="2" charset="2"/>
              <a:buNone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altLang="fa-IR" sz="1600" b="1" i="1" dirty="0" smtClean="0">
                <a:latin typeface="Courier New" panose="02070309020205020404" pitchFamily="49" charset="0"/>
              </a:rPr>
              <a:t>}</a:t>
            </a:r>
          </a:p>
          <a:p>
            <a:pPr marL="457200" indent="-457200" defTabSz="449263" eaLnBrk="1" hangingPunct="1">
              <a:lnSpc>
                <a:spcPct val="89000"/>
              </a:lnSpc>
              <a:spcBef>
                <a:spcPct val="0"/>
              </a:spcBef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endParaRPr lang="en-GB" altLang="fa-IR" sz="1600" i="1" dirty="0" smtClean="0">
              <a:latin typeface="Courier New" panose="02070309020205020404" pitchFamily="49" charset="0"/>
            </a:endParaRPr>
          </a:p>
          <a:p>
            <a:pPr marL="457200" indent="-457200" defTabSz="449263" eaLnBrk="1" hangingPunct="1">
              <a:lnSpc>
                <a:spcPct val="93000"/>
              </a:lnSpc>
              <a:spcBef>
                <a:spcPct val="0"/>
              </a:spcBef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altLang="fa-IR" sz="1800" dirty="0" smtClean="0"/>
              <a:t>At least 3 instructions</a:t>
            </a:r>
          </a:p>
          <a:p>
            <a:pPr marL="457200" indent="-457200" defTabSz="449263" eaLnBrk="1" hangingPunct="1">
              <a:lnSpc>
                <a:spcPct val="93000"/>
              </a:lnSpc>
              <a:spcBef>
                <a:spcPts val="38"/>
              </a:spcBef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</a:pPr>
            <a:r>
              <a:rPr lang="en-GB" altLang="fa-IR" sz="1800" dirty="0" smtClean="0">
                <a:solidFill>
                  <a:srgbClr val="0000FF"/>
                </a:solidFill>
              </a:rPr>
              <a:t>run-time &gt;= 3*</a:t>
            </a:r>
            <a:r>
              <a:rPr lang="en-GB" altLang="fa-IR" sz="1800" dirty="0" err="1" smtClean="0">
                <a:solidFill>
                  <a:srgbClr val="0000FF"/>
                </a:solidFill>
              </a:rPr>
              <a:t>t</a:t>
            </a:r>
            <a:r>
              <a:rPr lang="en-GB" altLang="fa-IR" sz="1800" baseline="-33000" dirty="0" err="1" smtClean="0">
                <a:solidFill>
                  <a:srgbClr val="0000FF"/>
                </a:solidFill>
              </a:rPr>
              <a:t>instruction</a:t>
            </a:r>
            <a:endParaRPr lang="en-GB" altLang="fa-IR" sz="1800" baseline="-33000" dirty="0" smtClean="0">
              <a:solidFill>
                <a:srgbClr val="0000FF"/>
              </a:solidFill>
            </a:endParaRPr>
          </a:p>
        </p:txBody>
      </p:sp>
      <p:sp>
        <p:nvSpPr>
          <p:cNvPr id="31749" name="Text Box 11"/>
          <p:cNvSpPr txBox="1">
            <a:spLocks noChangeArrowheads="1"/>
          </p:cNvSpPr>
          <p:nvPr/>
        </p:nvSpPr>
        <p:spPr bwMode="auto">
          <a:xfrm>
            <a:off x="4808538" y="1052513"/>
            <a:ext cx="4300537" cy="1237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160" tIns="46080" rIns="92160" bIns="46080">
            <a:spAutoFit/>
          </a:bodyPr>
          <a:lstStyle>
            <a:lvl1pPr marL="457200" indent="-457200">
              <a:spcBef>
                <a:spcPct val="20000"/>
              </a:spcBef>
              <a:buChar char="•"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tabLst>
                <a:tab pos="565150" algn="l"/>
                <a:tab pos="1014413" algn="l"/>
                <a:tab pos="1463675" algn="l"/>
                <a:tab pos="1912938" algn="l"/>
                <a:tab pos="2362200" algn="l"/>
                <a:tab pos="2811463" algn="l"/>
                <a:tab pos="3260725" algn="l"/>
                <a:tab pos="3709988" algn="l"/>
                <a:tab pos="4159250" algn="l"/>
                <a:tab pos="4608513" algn="l"/>
                <a:tab pos="5057775" algn="l"/>
                <a:tab pos="5507038" algn="l"/>
                <a:tab pos="5956300" algn="l"/>
                <a:tab pos="6405563" algn="l"/>
                <a:tab pos="6854825" algn="l"/>
                <a:tab pos="7304088" algn="l"/>
                <a:tab pos="7753350" algn="l"/>
                <a:tab pos="8202613" algn="l"/>
                <a:tab pos="8651875" algn="l"/>
                <a:tab pos="9101138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GB" altLang="fa-IR" sz="2000" b="0" smtClean="0">
                <a:solidFill>
                  <a:srgbClr val="000000"/>
                </a:solidFill>
                <a:cs typeface="Lucida Sans Unicode" panose="020B0602030504020204" pitchFamily="34" charset="0"/>
              </a:rPr>
              <a:t>Complete </a:t>
            </a:r>
            <a:r>
              <a:rPr lang="en-GB" altLang="fa-IR" sz="2000" b="0" dirty="0" smtClean="0">
                <a:solidFill>
                  <a:srgbClr val="000000"/>
                </a:solidFill>
                <a:cs typeface="Lucida Sans Unicode" panose="020B0602030504020204" pitchFamily="34" charset="0"/>
              </a:rPr>
              <a:t>execution in 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GB" altLang="fa-IR" sz="2000" b="0" dirty="0" smtClean="0">
                <a:solidFill>
                  <a:srgbClr val="000000"/>
                </a:solidFill>
                <a:cs typeface="Lucida Sans Unicode" panose="020B0602030504020204" pitchFamily="34" charset="0"/>
              </a:rPr>
              <a:t>parallel </a:t>
            </a:r>
            <a:r>
              <a:rPr lang="en-GB" altLang="fa-IR" sz="2000" b="0" dirty="0">
                <a:solidFill>
                  <a:srgbClr val="000000"/>
                </a:solidFill>
                <a:cs typeface="Lucida Sans Unicode" panose="020B0602030504020204" pitchFamily="34" charset="0"/>
              </a:rPr>
              <a:t>in one clock cycle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GB" altLang="fa-IR" sz="2000" b="0" dirty="0">
                <a:solidFill>
                  <a:srgbClr val="0000FF"/>
                </a:solidFill>
                <a:cs typeface="Lucida Sans Unicode" panose="020B0602030504020204" pitchFamily="34" charset="0"/>
              </a:rPr>
              <a:t>run-time = </a:t>
            </a:r>
            <a:r>
              <a:rPr lang="en-GB" altLang="fa-IR" sz="2000" b="0" dirty="0" err="1">
                <a:solidFill>
                  <a:srgbClr val="0000FF"/>
                </a:solidFill>
                <a:cs typeface="Lucida Sans Unicode" panose="020B0602030504020204" pitchFamily="34" charset="0"/>
              </a:rPr>
              <a:t>t</a:t>
            </a:r>
            <a:r>
              <a:rPr lang="en-GB" altLang="fa-IR" sz="2000" b="0" baseline="-33000" dirty="0" err="1">
                <a:solidFill>
                  <a:srgbClr val="0000FF"/>
                </a:solidFill>
                <a:cs typeface="Lucida Sans Unicode" panose="020B0602030504020204" pitchFamily="34" charset="0"/>
              </a:rPr>
              <a:t>clock</a:t>
            </a:r>
            <a:r>
              <a:rPr lang="en-GB" altLang="fa-IR" sz="2000" b="0" dirty="0">
                <a:solidFill>
                  <a:srgbClr val="0000FF"/>
                </a:solidFill>
                <a:cs typeface="Lucida Sans Unicode" panose="020B0602030504020204" pitchFamily="34" charset="0"/>
              </a:rPr>
              <a:t>= delay </a:t>
            </a:r>
            <a:r>
              <a:rPr lang="en-GB" altLang="fa-IR" sz="2000" b="0" dirty="0" smtClean="0">
                <a:solidFill>
                  <a:srgbClr val="0000FF"/>
                </a:solidFill>
                <a:cs typeface="Lucida Sans Unicode" panose="020B0602030504020204" pitchFamily="34" charset="0"/>
              </a:rPr>
              <a:t>of longest </a:t>
            </a:r>
            <a:r>
              <a:rPr lang="en-GB" altLang="fa-IR" sz="2000" b="0" dirty="0">
                <a:solidFill>
                  <a:srgbClr val="0000FF"/>
                </a:solidFill>
                <a:cs typeface="Lucida Sans Unicode" panose="020B0602030504020204" pitchFamily="34" charset="0"/>
              </a:rPr>
              <a:t>path </a:t>
            </a:r>
            <a:r>
              <a:rPr lang="en-GB" altLang="fa-IR" sz="2000" b="0" dirty="0" smtClean="0">
                <a:solidFill>
                  <a:srgbClr val="0000FF"/>
                </a:solidFill>
                <a:cs typeface="Lucida Sans Unicode" panose="020B0602030504020204" pitchFamily="34" charset="0"/>
              </a:rPr>
              <a:t>from </a:t>
            </a:r>
            <a:r>
              <a:rPr lang="en-GB" altLang="fa-IR" sz="2000" b="0" dirty="0">
                <a:solidFill>
                  <a:srgbClr val="0000FF"/>
                </a:solidFill>
                <a:cs typeface="Lucida Sans Unicode" panose="020B0602030504020204" pitchFamily="34" charset="0"/>
              </a:rPr>
              <a:t>input to output</a:t>
            </a:r>
          </a:p>
        </p:txBody>
      </p:sp>
      <p:sp>
        <p:nvSpPr>
          <p:cNvPr id="31750" name="Text Box 12"/>
          <p:cNvSpPr txBox="1">
            <a:spLocks noChangeArrowheads="1"/>
          </p:cNvSpPr>
          <p:nvPr/>
        </p:nvSpPr>
        <p:spPr bwMode="auto">
          <a:xfrm>
            <a:off x="241300" y="5354638"/>
            <a:ext cx="4516438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de-DE" altLang="fa-IR" b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1751" name="Picture 14" descr="asic_co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825" y="2784475"/>
            <a:ext cx="3529013" cy="345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7649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altLang="en-US" smtClean="0"/>
              <a:t>HW vs. SW Implementation Example</a:t>
            </a:r>
          </a:p>
        </p:txBody>
      </p:sp>
      <p:sp>
        <p:nvSpPr>
          <p:cNvPr id="20483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221C4B-CE3D-4A8E-BF72-CCED8498019C}" type="slidenum">
              <a:rPr lang="en-US" altLang="en-US" sz="1300" b="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300" b="0" smtClean="0">
              <a:solidFill>
                <a:schemeClr val="tx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" y="2553295"/>
            <a:ext cx="314325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2553295"/>
            <a:ext cx="3143250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" y="4642445"/>
            <a:ext cx="3162300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4639270"/>
            <a:ext cx="3152775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7" t="11163" r="4636" b="36745"/>
          <a:stretch>
            <a:fillRect/>
          </a:stretch>
        </p:blipFill>
        <p:spPr bwMode="auto">
          <a:xfrm>
            <a:off x="539552" y="1294603"/>
            <a:ext cx="4478015" cy="895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" name="Straight Arrow Connector 1"/>
          <p:cNvCxnSpPr/>
          <p:nvPr/>
        </p:nvCxnSpPr>
        <p:spPr bwMode="auto">
          <a:xfrm>
            <a:off x="5652120" y="1484784"/>
            <a:ext cx="144016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Arrow Connector 11"/>
          <p:cNvCxnSpPr/>
          <p:nvPr/>
        </p:nvCxnSpPr>
        <p:spPr bwMode="auto">
          <a:xfrm>
            <a:off x="5652120" y="1988840"/>
            <a:ext cx="144016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Straight Arrow Connector 12"/>
          <p:cNvCxnSpPr/>
          <p:nvPr/>
        </p:nvCxnSpPr>
        <p:spPr bwMode="auto">
          <a:xfrm>
            <a:off x="6444208" y="1484784"/>
            <a:ext cx="0" cy="5040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Oval 16"/>
          <p:cNvSpPr/>
          <p:nvPr/>
        </p:nvSpPr>
        <p:spPr bwMode="auto">
          <a:xfrm>
            <a:off x="6428232" y="1463040"/>
            <a:ext cx="50304" cy="50912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a-IR" sz="2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Arial" pitchFamily="34" charset="0"/>
            </a:endParaRPr>
          </a:p>
        </p:txBody>
      </p:sp>
      <p:sp>
        <p:nvSpPr>
          <p:cNvPr id="20" name="Oval 19"/>
          <p:cNvSpPr/>
          <p:nvPr/>
        </p:nvSpPr>
        <p:spPr bwMode="auto">
          <a:xfrm>
            <a:off x="6428232" y="1947672"/>
            <a:ext cx="50304" cy="50912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marR="0" indent="0" algn="l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a-IR" sz="2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Arial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DE71F67-D9ED-44A3-966A-3D7C2479B165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09600"/>
            <a:ext cx="7772400" cy="1143000"/>
          </a:xfrm>
        </p:spPr>
        <p:txBody>
          <a:bodyPr/>
          <a:lstStyle/>
          <a:p>
            <a:pPr rtl="1" eaLnBrk="1" hangingPunct="1"/>
            <a:r>
              <a:rPr lang="fa-IR" altLang="en-US" smtClean="0"/>
              <a:t>مدارهاي ديجيتال</a:t>
            </a:r>
            <a:endParaRPr altLang="en-US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2276872"/>
            <a:ext cx="6308480" cy="31614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4C1545A-6248-40C1-900A-91E29187F450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09600"/>
            <a:ext cx="7772400" cy="1143000"/>
          </a:xfrm>
        </p:spPr>
        <p:txBody>
          <a:bodyPr/>
          <a:lstStyle/>
          <a:p>
            <a:pPr rtl="1" eaLnBrk="1" hangingPunct="1"/>
            <a:r>
              <a:rPr altLang="en-US" smtClean="0"/>
              <a:t>Programmable Logic Array</a:t>
            </a:r>
            <a:br>
              <a:rPr altLang="en-US" smtClean="0"/>
            </a:br>
            <a:r>
              <a:rPr altLang="en-US" smtClean="0"/>
              <a:t>(PLA)</a:t>
            </a:r>
          </a:p>
        </p:txBody>
      </p:sp>
      <p:pic>
        <p:nvPicPr>
          <p:cNvPr id="4403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800225"/>
            <a:ext cx="3981450" cy="444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172947-904C-44FF-9685-22D358E11509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09600"/>
            <a:ext cx="7772400" cy="1143000"/>
          </a:xfrm>
        </p:spPr>
        <p:txBody>
          <a:bodyPr/>
          <a:lstStyle/>
          <a:p>
            <a:pPr rtl="1" eaLnBrk="1" hangingPunct="1"/>
            <a:r>
              <a:rPr altLang="en-US" smtClean="0"/>
              <a:t>PLA</a:t>
            </a:r>
          </a:p>
        </p:txBody>
      </p:sp>
      <p:pic>
        <p:nvPicPr>
          <p:cNvPr id="4608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600200"/>
            <a:ext cx="4476750" cy="482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753993-884D-42CA-B45F-C37C6E874617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813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828800"/>
            <a:ext cx="4810125" cy="444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altLang="en-US" smtClean="0"/>
              <a:t>PLA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35BF9BC-5F3D-49B8-BA10-CC35933B1FB3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18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3200" smtClean="0"/>
              <a:t>PAL</a:t>
            </a:r>
          </a:p>
        </p:txBody>
      </p:sp>
      <p:pic>
        <p:nvPicPr>
          <p:cNvPr id="50181" name="Picture 4" descr="figure_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450" y="1522413"/>
            <a:ext cx="38100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2" name="Text Box 5"/>
          <p:cNvSpPr txBox="1">
            <a:spLocks noChangeArrowheads="1"/>
          </p:cNvSpPr>
          <p:nvPr/>
        </p:nvSpPr>
        <p:spPr bwMode="auto">
          <a:xfrm>
            <a:off x="395288" y="5392738"/>
            <a:ext cx="556260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 i="1" dirty="0">
                <a:solidFill>
                  <a:schemeClr val="tx1"/>
                </a:solidFill>
              </a:rPr>
              <a:t>W = </a:t>
            </a:r>
            <a:r>
              <a:rPr lang="en-US" altLang="en-US" sz="1800" b="0" i="1" dirty="0" smtClean="0">
                <a:solidFill>
                  <a:schemeClr val="tx1"/>
                </a:solidFill>
              </a:rPr>
              <a:t>AB’ </a:t>
            </a:r>
            <a:r>
              <a:rPr lang="en-US" altLang="en-US" sz="1800" b="0" i="1" dirty="0" smtClean="0">
                <a:solidFill>
                  <a:schemeClr val="tx1"/>
                </a:solidFill>
                <a:sym typeface="Symbol" panose="05050102010706020507" pitchFamily="18" charset="2"/>
              </a:rPr>
              <a:t>C’</a:t>
            </a:r>
            <a:r>
              <a:rPr lang="en-US" altLang="en-US" sz="1800" b="0" dirty="0" smtClean="0">
                <a:solidFill>
                  <a:schemeClr val="tx1"/>
                </a:solidFill>
                <a:sym typeface="Symbol" panose="05050102010706020507" pitchFamily="18" charset="2"/>
              </a:rPr>
              <a:t></a:t>
            </a:r>
            <a:r>
              <a:rPr lang="en-US" altLang="en-US" sz="1800" b="0" i="1" dirty="0" smtClean="0">
                <a:solidFill>
                  <a:schemeClr val="tx1"/>
                </a:solidFill>
                <a:sym typeface="Symbol" panose="05050102010706020507" pitchFamily="18" charset="2"/>
              </a:rPr>
              <a:t>  </a:t>
            </a:r>
            <a:r>
              <a:rPr lang="en-US" altLang="en-US" sz="1800" b="0" i="1" dirty="0">
                <a:solidFill>
                  <a:schemeClr val="tx1"/>
                </a:solidFill>
                <a:sym typeface="Symbol" panose="05050102010706020507" pitchFamily="18" charset="2"/>
              </a:rPr>
              <a:t>+ CD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 i="1" dirty="0">
                <a:solidFill>
                  <a:schemeClr val="tx1"/>
                </a:solidFill>
                <a:sym typeface="Symbol" panose="05050102010706020507" pitchFamily="18" charset="2"/>
              </a:rPr>
              <a:t>X = </a:t>
            </a:r>
            <a:r>
              <a:rPr lang="en-US" altLang="en-US" sz="1800" b="0" i="1" dirty="0" err="1" smtClean="0">
                <a:solidFill>
                  <a:schemeClr val="tx1"/>
                </a:solidFill>
              </a:rPr>
              <a:t>A’</a:t>
            </a:r>
            <a:r>
              <a:rPr lang="en-US" altLang="en-US" sz="1800" b="0" i="1" dirty="0" err="1" smtClean="0">
                <a:solidFill>
                  <a:schemeClr val="tx1"/>
                </a:solidFill>
                <a:sym typeface="Symbol" panose="05050102010706020507" pitchFamily="18" charset="2"/>
              </a:rPr>
              <a:t>BC</a:t>
            </a:r>
            <a:r>
              <a:rPr lang="en-US" altLang="en-US" sz="1800" b="0" i="1" dirty="0" smtClean="0">
                <a:solidFill>
                  <a:schemeClr val="tx1"/>
                </a:solidFill>
                <a:sym typeface="Symbol" panose="05050102010706020507" pitchFamily="18" charset="2"/>
              </a:rPr>
              <a:t>’</a:t>
            </a:r>
            <a:r>
              <a:rPr lang="en-US" altLang="en-US" sz="1800" b="0" dirty="0" smtClean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en-US" sz="1800" b="0" i="1" dirty="0" smtClean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en-US" sz="1800" b="0" i="1" dirty="0">
                <a:solidFill>
                  <a:schemeClr val="tx1"/>
                </a:solidFill>
                <a:sym typeface="Symbol" panose="05050102010706020507" pitchFamily="18" charset="2"/>
              </a:rPr>
              <a:t>+ </a:t>
            </a:r>
            <a:r>
              <a:rPr lang="en-US" altLang="en-US" sz="1800" b="0" i="1" dirty="0" err="1" smtClean="0">
                <a:solidFill>
                  <a:schemeClr val="tx1"/>
                </a:solidFill>
                <a:sym typeface="Symbol" panose="05050102010706020507" pitchFamily="18" charset="2"/>
              </a:rPr>
              <a:t>A’CD</a:t>
            </a:r>
            <a:r>
              <a:rPr lang="en-US" altLang="en-US" sz="1800" b="0" i="1" dirty="0" smtClean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en-US" sz="1800" b="0" i="1" dirty="0">
                <a:solidFill>
                  <a:schemeClr val="tx1"/>
                </a:solidFill>
                <a:sym typeface="Symbol" panose="05050102010706020507" pitchFamily="18" charset="2"/>
              </a:rPr>
              <a:t>+ </a:t>
            </a:r>
            <a:r>
              <a:rPr lang="en-US" altLang="en-US" sz="1800" b="0" i="1" dirty="0" err="1" smtClean="0">
                <a:solidFill>
                  <a:schemeClr val="tx1"/>
                </a:solidFill>
                <a:sym typeface="Symbol" panose="05050102010706020507" pitchFamily="18" charset="2"/>
              </a:rPr>
              <a:t>ACD</a:t>
            </a:r>
            <a:r>
              <a:rPr lang="en-US" altLang="en-US" sz="1800" b="0" i="1" dirty="0" smtClean="0">
                <a:solidFill>
                  <a:schemeClr val="tx1"/>
                </a:solidFill>
                <a:sym typeface="Symbol" panose="05050102010706020507" pitchFamily="18" charset="2"/>
              </a:rPr>
              <a:t>’ </a:t>
            </a:r>
            <a:r>
              <a:rPr lang="en-US" altLang="en-US" sz="1800" b="0" i="1" dirty="0">
                <a:solidFill>
                  <a:schemeClr val="tx1"/>
                </a:solidFill>
                <a:sym typeface="Symbol" panose="05050102010706020507" pitchFamily="18" charset="2"/>
              </a:rPr>
              <a:t>+ </a:t>
            </a:r>
            <a:r>
              <a:rPr lang="en-US" altLang="en-US" sz="1800" b="0" i="1" dirty="0" smtClean="0">
                <a:solidFill>
                  <a:schemeClr val="tx1"/>
                </a:solidFill>
                <a:sym typeface="Symbol" panose="05050102010706020507" pitchFamily="18" charset="2"/>
              </a:rPr>
              <a:t>BCD </a:t>
            </a:r>
            <a:endParaRPr lang="en-US" altLang="en-US" sz="1800" b="0" i="1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 i="1" dirty="0">
                <a:solidFill>
                  <a:schemeClr val="tx1"/>
                </a:solidFill>
                <a:sym typeface="Symbol" panose="05050102010706020507" pitchFamily="18" charset="2"/>
              </a:rPr>
              <a:t>Y = </a:t>
            </a:r>
            <a:r>
              <a:rPr lang="en-US" altLang="en-US" sz="1800" b="0" i="1" dirty="0" err="1" smtClean="0">
                <a:solidFill>
                  <a:schemeClr val="tx1"/>
                </a:solidFill>
                <a:sym typeface="Symbol" panose="05050102010706020507" pitchFamily="18" charset="2"/>
              </a:rPr>
              <a:t>A’C’D</a:t>
            </a:r>
            <a:r>
              <a:rPr lang="en-US" altLang="en-US" sz="1800" b="0" i="1" dirty="0" smtClean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en-US" sz="1800" b="0" i="1" dirty="0">
                <a:solidFill>
                  <a:schemeClr val="tx1"/>
                </a:solidFill>
                <a:sym typeface="Symbol" panose="05050102010706020507" pitchFamily="18" charset="2"/>
              </a:rPr>
              <a:t>+ </a:t>
            </a:r>
            <a:r>
              <a:rPr lang="en-US" altLang="en-US" sz="1800" b="0" i="1" dirty="0" err="1">
                <a:solidFill>
                  <a:schemeClr val="tx1"/>
                </a:solidFill>
                <a:sym typeface="Symbol" panose="05050102010706020507" pitchFamily="18" charset="2"/>
              </a:rPr>
              <a:t>ACD</a:t>
            </a:r>
            <a:r>
              <a:rPr lang="en-US" altLang="en-US" sz="1800" b="0" i="1" dirty="0">
                <a:solidFill>
                  <a:schemeClr val="tx1"/>
                </a:solidFill>
                <a:sym typeface="Symbol" panose="05050102010706020507" pitchFamily="18" charset="2"/>
              </a:rPr>
              <a:t> + </a:t>
            </a:r>
            <a:r>
              <a:rPr lang="en-US" altLang="en-US" sz="1800" b="0" i="1" dirty="0" err="1" smtClean="0">
                <a:solidFill>
                  <a:schemeClr val="tx1"/>
                </a:solidFill>
                <a:sym typeface="Symbol" panose="05050102010706020507" pitchFamily="18" charset="2"/>
              </a:rPr>
              <a:t>A’BD</a:t>
            </a:r>
            <a:r>
              <a:rPr lang="en-US" altLang="en-US" sz="1800" b="0" i="1" dirty="0" smtClean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endParaRPr lang="en-US" altLang="en-US" sz="1800" b="0" i="1" dirty="0">
              <a:solidFill>
                <a:srgbClr val="CC0099"/>
              </a:solidFill>
              <a:sym typeface="Symbol" panose="05050102010706020507" pitchFamily="18" charset="2"/>
            </a:endParaRPr>
          </a:p>
        </p:txBody>
      </p:sp>
      <p:sp>
        <p:nvSpPr>
          <p:cNvPr id="50183" name="Text Box 6"/>
          <p:cNvSpPr txBox="1">
            <a:spLocks noChangeArrowheads="1"/>
          </p:cNvSpPr>
          <p:nvPr/>
        </p:nvSpPr>
        <p:spPr bwMode="auto">
          <a:xfrm>
            <a:off x="685800" y="1066800"/>
            <a:ext cx="7162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fa-IR" altLang="en-US" sz="18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 فقط </a:t>
            </a: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AN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cs typeface="Titr" pitchFamily="2" charset="-78"/>
              </a:rPr>
              <a:t>D Plane</a:t>
            </a:r>
            <a:r>
              <a:rPr lang="fa-IR" altLang="en-US" sz="1800">
                <a:solidFill>
                  <a:schemeClr val="tx2"/>
                </a:solidFill>
                <a:latin typeface="Times New Roman" panose="02020603050405020304" pitchFamily="18" charset="0"/>
                <a:cs typeface="Titr" pitchFamily="2" charset="-78"/>
              </a:rPr>
              <a:t> </a:t>
            </a: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 </a:t>
            </a:r>
            <a:r>
              <a:rPr lang="fa-IR" altLang="en-US" sz="18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قابل برنامه ريزي.</a:t>
            </a:r>
            <a:endParaRPr lang="en-US" altLang="en-US" sz="1800">
              <a:solidFill>
                <a:schemeClr val="tx1"/>
              </a:solidFill>
              <a:latin typeface="Times New Roman" panose="02020603050405020304" pitchFamily="18" charset="0"/>
              <a:cs typeface="Lotus" panose="00000400000000000000" pitchFamily="2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22642DE-C6E9-41CC-90BE-4718600818FE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2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altLang="en-US" smtClean="0"/>
              <a:t>Programmable Array Logic (PAL)</a:t>
            </a:r>
          </a:p>
        </p:txBody>
      </p:sp>
      <p:pic>
        <p:nvPicPr>
          <p:cNvPr id="52229" name="Picture 4" descr="pal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5400" y="2144613"/>
            <a:ext cx="3201988" cy="387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Text Box 5"/>
          <p:cNvSpPr txBox="1">
            <a:spLocks noChangeArrowheads="1"/>
          </p:cNvSpPr>
          <p:nvPr/>
        </p:nvSpPr>
        <p:spPr bwMode="auto">
          <a:xfrm>
            <a:off x="533400" y="289708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PAL 16R8</a:t>
            </a:r>
          </a:p>
        </p:txBody>
      </p:sp>
      <p:sp>
        <p:nvSpPr>
          <p:cNvPr id="52231" name="Text Box 7"/>
          <p:cNvSpPr txBox="1">
            <a:spLocks noChangeArrowheads="1"/>
          </p:cNvSpPr>
          <p:nvPr/>
        </p:nvSpPr>
        <p:spPr bwMode="auto">
          <a:xfrm>
            <a:off x="685800" y="1449288"/>
            <a:ext cx="71628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fa-IR" altLang="en-US" sz="28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 براي پياده‌سازي مدارهاي ترتيبي معمولا در خروجي، </a:t>
            </a: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FF</a:t>
            </a:r>
            <a:r>
              <a:rPr lang="fa-IR" altLang="en-US" sz="2800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 قرار دارد.</a:t>
            </a:r>
            <a:endParaRPr lang="en-US" altLang="en-US" sz="2800">
              <a:solidFill>
                <a:schemeClr val="tx1"/>
              </a:solidFill>
              <a:latin typeface="Times New Roman" panose="02020603050405020304" pitchFamily="18" charset="0"/>
              <a:cs typeface="Lotus" panose="00000400000000000000" pitchFamily="2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14EF9A3-20A5-4B13-B0D2-8DC2A6F360A5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altLang="en-US" smtClean="0"/>
              <a:t>PAL 16R8</a:t>
            </a:r>
          </a:p>
        </p:txBody>
      </p:sp>
      <p:pic>
        <p:nvPicPr>
          <p:cNvPr id="54277" name="Picture 3" descr="pal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513" y="1100286"/>
            <a:ext cx="4154487" cy="535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14EF9A3-20A5-4B13-B0D2-8DC2A6F360A5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altLang="en-US" smtClean="0"/>
              <a:t>PAL 16R8</a:t>
            </a:r>
          </a:p>
        </p:txBody>
      </p:sp>
      <p:pic>
        <p:nvPicPr>
          <p:cNvPr id="54277" name="Picture 3" descr="pal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513" y="1447800"/>
            <a:ext cx="4154487" cy="535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al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3" y="3581400"/>
            <a:ext cx="7685087" cy="176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1922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400" b="0">
              <a:solidFill>
                <a:schemeClr val="tx1"/>
              </a:solidFill>
              <a:latin typeface="Times New Roman" panose="02020603050405020304" pitchFamily="18" charset="0"/>
              <a:cs typeface="Lotus" panose="00000400000000000000" pitchFamily="2" charset="-78"/>
            </a:endParaRPr>
          </a:p>
        </p:txBody>
      </p:sp>
      <p:sp>
        <p:nvSpPr>
          <p:cNvPr id="56323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920BCAE-31DB-486B-B534-23E9AA3562CA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32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88640"/>
            <a:ext cx="1719263" cy="2952279"/>
          </a:xfrm>
        </p:spPr>
        <p:txBody>
          <a:bodyPr/>
          <a:lstStyle/>
          <a:p>
            <a:pPr eaLnBrk="1" hangingPunct="1"/>
            <a:r>
              <a:rPr altLang="en-US" dirty="0" smtClean="0"/>
              <a:t>Simple </a:t>
            </a:r>
            <a:r>
              <a:rPr altLang="en-US" dirty="0" err="1" smtClean="0"/>
              <a:t>PLD</a:t>
            </a:r>
            <a:r>
              <a:rPr altLang="en-US" dirty="0" smtClean="0"/>
              <a:t> (</a:t>
            </a:r>
            <a:r>
              <a:rPr altLang="en-US" dirty="0" err="1" smtClean="0"/>
              <a:t>SPLD</a:t>
            </a:r>
            <a:r>
              <a:rPr altLang="en-US" dirty="0" smtClean="0"/>
              <a:t>) (</a:t>
            </a:r>
            <a:r>
              <a:rPr altLang="en-US" dirty="0" err="1" smtClean="0"/>
              <a:t>22V10</a:t>
            </a:r>
            <a:r>
              <a:rPr altLang="en-US" dirty="0" smtClean="0"/>
              <a:t>)</a:t>
            </a:r>
          </a:p>
        </p:txBody>
      </p:sp>
      <p:pic>
        <p:nvPicPr>
          <p:cNvPr id="32461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313" y="93663"/>
            <a:ext cx="5243512" cy="662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3776663"/>
            <a:ext cx="8458200" cy="132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3703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E7C813C-B7FB-4F46-953F-12A6C49E85DE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8372" name="Picture 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778000"/>
            <a:ext cx="6553200" cy="431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3" name="Rectangle 26"/>
          <p:cNvSpPr>
            <a:spLocks noChangeArrowheads="1"/>
          </p:cNvSpPr>
          <p:nvPr/>
        </p:nvSpPr>
        <p:spPr bwMode="auto">
          <a:xfrm>
            <a:off x="3352800" y="1981200"/>
            <a:ext cx="2895600" cy="3733800"/>
          </a:xfrm>
          <a:prstGeom prst="rect">
            <a:avLst/>
          </a:prstGeom>
          <a:noFill/>
          <a:ln w="38100">
            <a:solidFill>
              <a:srgbClr val="9933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1"/>
              </a:solidFill>
              <a:latin typeface="Times New Roman" panose="02020603050405020304" pitchFamily="18" charset="0"/>
              <a:cs typeface="Lotus" panose="00000400000000000000" pitchFamily="2" charset="-78"/>
            </a:endParaRPr>
          </a:p>
        </p:txBody>
      </p:sp>
      <p:sp>
        <p:nvSpPr>
          <p:cNvPr id="583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altLang="en-US" smtClean="0"/>
              <a:t>SPLD Macrocell</a:t>
            </a:r>
          </a:p>
        </p:txBody>
      </p:sp>
      <p:sp>
        <p:nvSpPr>
          <p:cNvPr id="7" name="Trapezoid 6"/>
          <p:cNvSpPr/>
          <p:nvPr/>
        </p:nvSpPr>
        <p:spPr bwMode="auto">
          <a:xfrm rot="5400000">
            <a:off x="4686300" y="3009900"/>
            <a:ext cx="2057400" cy="914400"/>
          </a:xfrm>
          <a:prstGeom prst="trapezoid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Trapezoid 7"/>
          <p:cNvSpPr/>
          <p:nvPr/>
        </p:nvSpPr>
        <p:spPr bwMode="auto">
          <a:xfrm rot="16200000">
            <a:off x="3200400" y="4665713"/>
            <a:ext cx="1371600" cy="914400"/>
          </a:xfrm>
          <a:prstGeom prst="trapezoid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A2204C0-6D03-40A4-812D-FA8E304B29F5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4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altLang="en-US" smtClean="0"/>
              <a:t>CPLD</a:t>
            </a:r>
          </a:p>
        </p:txBody>
      </p:sp>
      <p:pic>
        <p:nvPicPr>
          <p:cNvPr id="60421" name="Picture 3" descr="CPL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3" y="1828800"/>
            <a:ext cx="5043487" cy="396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22" name="Text Box 4"/>
          <p:cNvSpPr txBox="1">
            <a:spLocks noChangeArrowheads="1"/>
          </p:cNvSpPr>
          <p:nvPr/>
        </p:nvSpPr>
        <p:spPr bwMode="auto">
          <a:xfrm>
            <a:off x="3124200" y="3505200"/>
            <a:ext cx="274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600">
                <a:solidFill>
                  <a:srgbClr val="FF0000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Interconection</a:t>
            </a:r>
            <a:r>
              <a:rPr lang="en-US" altLang="en-US">
                <a:solidFill>
                  <a:srgbClr val="FF0000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 </a:t>
            </a:r>
            <a:r>
              <a:rPr lang="en-US" altLang="en-US" sz="1600">
                <a:solidFill>
                  <a:srgbClr val="FF0000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Wires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75F7ED-D578-4B43-AEA9-7EE26A51981E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4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1" eaLnBrk="1" hangingPunct="1"/>
            <a:r>
              <a:rPr lang="fa-IR" altLang="en-US" smtClean="0"/>
              <a:t>بخشي از </a:t>
            </a:r>
            <a:r>
              <a:rPr altLang="en-US" smtClean="0"/>
              <a:t>CPLD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1404675"/>
            <a:ext cx="5184576" cy="47016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75B3198-74BA-4AC9-944F-CC6D7CF1259D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4516" name="Picture 1027" descr="img00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647700"/>
            <a:ext cx="6858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7" name="Rectangle 1029"/>
          <p:cNvSpPr>
            <a:spLocks noChangeArrowheads="1"/>
          </p:cNvSpPr>
          <p:nvPr/>
        </p:nvSpPr>
        <p:spPr bwMode="auto">
          <a:xfrm>
            <a:off x="152400" y="533400"/>
            <a:ext cx="7391400" cy="1600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1"/>
              </a:solidFill>
              <a:latin typeface="Times New Roman" panose="02020603050405020304" pitchFamily="18" charset="0"/>
              <a:cs typeface="Lotus" panose="00000400000000000000" pitchFamily="2" charset="-78"/>
            </a:endParaRPr>
          </a:p>
        </p:txBody>
      </p:sp>
      <p:sp>
        <p:nvSpPr>
          <p:cNvPr id="64518" name="Rectangle 1030"/>
          <p:cNvSpPr>
            <a:spLocks noChangeArrowheads="1"/>
          </p:cNvSpPr>
          <p:nvPr/>
        </p:nvSpPr>
        <p:spPr bwMode="auto">
          <a:xfrm>
            <a:off x="152400" y="1981200"/>
            <a:ext cx="1828800" cy="3810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1"/>
              </a:solidFill>
              <a:latin typeface="Times New Roman" panose="02020603050405020304" pitchFamily="18" charset="0"/>
              <a:cs typeface="Lotus" panose="00000400000000000000" pitchFamily="2" charset="-78"/>
            </a:endParaRPr>
          </a:p>
        </p:txBody>
      </p:sp>
      <p:sp>
        <p:nvSpPr>
          <p:cNvPr id="64519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1" eaLnBrk="1" hangingPunct="1"/>
            <a:r>
              <a:rPr lang="fa-IR" altLang="en-US" smtClean="0"/>
              <a:t>ساختار </a:t>
            </a:r>
            <a:r>
              <a:rPr altLang="en-US" smtClean="0"/>
              <a:t>FPGA</a:t>
            </a:r>
          </a:p>
        </p:txBody>
      </p:sp>
      <p:sp>
        <p:nvSpPr>
          <p:cNvPr id="64520" name="Rectangle 1028"/>
          <p:cNvSpPr>
            <a:spLocks noChangeArrowheads="1"/>
          </p:cNvSpPr>
          <p:nvPr/>
        </p:nvSpPr>
        <p:spPr bwMode="auto">
          <a:xfrm>
            <a:off x="1143000" y="857250"/>
            <a:ext cx="8504238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1"/>
              </a:solidFill>
              <a:latin typeface="Times New Roman" panose="02020603050405020304" pitchFamily="18" charset="0"/>
              <a:cs typeface="Lotus" panose="00000400000000000000" pitchFamily="2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69F3F1A-4D92-4DCD-A12D-6A6627D44DE8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56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1" eaLnBrk="1" hangingPunct="1"/>
            <a:r>
              <a:rPr lang="fa-IR" altLang="en-US" smtClean="0"/>
              <a:t>ساختار </a:t>
            </a:r>
            <a:r>
              <a:rPr altLang="en-US" smtClean="0"/>
              <a:t>FPGA</a:t>
            </a:r>
          </a:p>
        </p:txBody>
      </p:sp>
      <p:pic>
        <p:nvPicPr>
          <p:cNvPr id="66565" name="Picture 10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600200"/>
            <a:ext cx="4733925" cy="464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altLang="en-US" smtClean="0"/>
              <a:t>Logic Cell</a:t>
            </a:r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7CA60D6-3853-481F-BE6B-AE637607BE68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9894" y="2443924"/>
            <a:ext cx="3804211" cy="19701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CCF3C18-D54B-4A04-B050-0A6BD8A5483B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6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altLang="en-US" smtClean="0"/>
              <a:t>LUT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2648792"/>
            <a:ext cx="2627369" cy="156041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976" y="2428559"/>
            <a:ext cx="2907654" cy="28726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fa-IR" smtClean="0"/>
              <a:t>مثال</a:t>
            </a:r>
          </a:p>
        </p:txBody>
      </p:sp>
      <p:sp>
        <p:nvSpPr>
          <p:cNvPr id="72707" name="Content Placeholder 4"/>
          <p:cNvSpPr>
            <a:spLocks noGrp="1"/>
          </p:cNvSpPr>
          <p:nvPr>
            <p:ph idx="1"/>
          </p:nvPr>
        </p:nvSpPr>
        <p:spPr>
          <a:xfrm>
            <a:off x="971550" y="981075"/>
            <a:ext cx="7772400" cy="719138"/>
          </a:xfrm>
        </p:spPr>
        <p:txBody>
          <a:bodyPr/>
          <a:lstStyle/>
          <a:p>
            <a:pPr algn="r" rtl="1"/>
            <a:r>
              <a:rPr lang="fa-IR" altLang="fa-IR" sz="3600" dirty="0" smtClean="0"/>
              <a:t>با </a:t>
            </a:r>
            <a:r>
              <a:rPr lang="en-US" altLang="fa-IR" sz="3600" dirty="0" err="1" smtClean="0"/>
              <a:t>LUT</a:t>
            </a:r>
            <a:r>
              <a:rPr lang="fa-IR" altLang="fa-IR" sz="3600" dirty="0" smtClean="0"/>
              <a:t>های سه ورودی</a:t>
            </a:r>
          </a:p>
        </p:txBody>
      </p:sp>
      <p:sp>
        <p:nvSpPr>
          <p:cNvPr id="72708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E4DFD2F-45B9-49E3-8944-B4FDF2F12551}" type="slidenum">
              <a:rPr lang="en-US" altLang="en-US" sz="1300" b="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300" b="0" smtClean="0">
              <a:solidFill>
                <a:schemeClr val="tx1"/>
              </a:solidFill>
            </a:endParaRPr>
          </a:p>
        </p:txBody>
      </p:sp>
      <p:sp>
        <p:nvSpPr>
          <p:cNvPr id="72709" name="Rectangle 3"/>
          <p:cNvSpPr>
            <a:spLocks noChangeArrowheads="1"/>
          </p:cNvSpPr>
          <p:nvPr/>
        </p:nvSpPr>
        <p:spPr bwMode="auto">
          <a:xfrm>
            <a:off x="1042988" y="1773238"/>
            <a:ext cx="4575175" cy="51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US" altLang="fa-IR" b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F(a, b, c, d, e) = (a + b) . (c + d' . e')</a:t>
            </a:r>
            <a:endParaRPr lang="en-US" altLang="fa-IR" sz="1800" b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187450" y="2492375"/>
            <a:ext cx="4572000" cy="162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US" altLang="fa-IR" b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F</a:t>
            </a:r>
            <a:r>
              <a:rPr lang="en-US" altLang="fa-IR" b="0" baseline="-2500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1</a:t>
            </a:r>
            <a:r>
              <a:rPr lang="en-US" altLang="fa-IR" b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= a + b</a:t>
            </a:r>
            <a:endParaRPr lang="en-US" altLang="fa-IR" sz="1800" b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algn="just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US" altLang="fa-IR" b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F</a:t>
            </a:r>
            <a:r>
              <a:rPr lang="en-US" altLang="fa-IR" b="0" baseline="-2500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2</a:t>
            </a:r>
            <a:r>
              <a:rPr lang="en-US" altLang="fa-IR" b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= c + d' . e'</a:t>
            </a:r>
            <a:endParaRPr lang="en-US" altLang="fa-IR" sz="1800" b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algn="just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US" altLang="fa-IR" b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F = F</a:t>
            </a:r>
            <a:r>
              <a:rPr lang="en-US" altLang="fa-IR" b="0" baseline="-2500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1</a:t>
            </a:r>
            <a:r>
              <a:rPr lang="en-US" altLang="fa-IR" b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. F</a:t>
            </a:r>
            <a:r>
              <a:rPr lang="en-US" altLang="fa-IR" b="0" baseline="-2500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2</a:t>
            </a:r>
            <a:endParaRPr lang="en-US" altLang="fa-IR" sz="1800" b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72711" name="Rectangle 2"/>
          <p:cNvSpPr>
            <a:spLocks noChangeArrowheads="1"/>
          </p:cNvSpPr>
          <p:nvPr/>
        </p:nvSpPr>
        <p:spPr bwMode="auto">
          <a:xfrm>
            <a:off x="3762375" y="27368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fa-IR" altLang="fa-IR" sz="21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2712" name="Object 7"/>
          <p:cNvGraphicFramePr>
            <a:graphicFrameLocks noChangeAspect="1"/>
          </p:cNvGraphicFramePr>
          <p:nvPr/>
        </p:nvGraphicFramePr>
        <p:xfrm>
          <a:off x="3762375" y="2736850"/>
          <a:ext cx="4689475" cy="217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32" name="Visio" r:id="rId3" imgW="28946584" imgH="13401675" progId="Visio.Drawing.11">
                  <p:embed/>
                </p:oleObj>
              </mc:Choice>
              <mc:Fallback>
                <p:oleObj name="Visio" r:id="rId3" imgW="28946584" imgH="13401675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2375" y="2736850"/>
                        <a:ext cx="4689475" cy="217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fa-IR" smtClean="0"/>
              <a:t>مثال</a:t>
            </a:r>
          </a:p>
        </p:txBody>
      </p:sp>
      <p:sp>
        <p:nvSpPr>
          <p:cNvPr id="73731" name="Content Placeholder 4"/>
          <p:cNvSpPr>
            <a:spLocks noGrp="1"/>
          </p:cNvSpPr>
          <p:nvPr>
            <p:ph idx="1"/>
          </p:nvPr>
        </p:nvSpPr>
        <p:spPr>
          <a:xfrm>
            <a:off x="1103313" y="811213"/>
            <a:ext cx="7772400" cy="719137"/>
          </a:xfrm>
        </p:spPr>
        <p:txBody>
          <a:bodyPr/>
          <a:lstStyle/>
          <a:p>
            <a:pPr algn="r" rtl="1"/>
            <a:r>
              <a:rPr lang="fa-IR" altLang="fa-IR" sz="3600" smtClean="0"/>
              <a:t>با </a:t>
            </a:r>
            <a:r>
              <a:rPr lang="en-US" altLang="fa-IR" sz="3600" smtClean="0"/>
              <a:t>LUT</a:t>
            </a:r>
            <a:r>
              <a:rPr lang="fa-IR" altLang="fa-IR" sz="3600" smtClean="0"/>
              <a:t>های سه ورودی</a:t>
            </a:r>
          </a:p>
        </p:txBody>
      </p:sp>
      <p:sp>
        <p:nvSpPr>
          <p:cNvPr id="73732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4BC7933-83C3-4DEA-82DE-BB1544FE9965}" type="slidenum">
              <a:rPr lang="en-US" altLang="en-US" sz="1300" b="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300" b="0" smtClean="0">
              <a:solidFill>
                <a:schemeClr val="tx1"/>
              </a:solidFill>
            </a:endParaRPr>
          </a:p>
        </p:txBody>
      </p:sp>
      <p:sp>
        <p:nvSpPr>
          <p:cNvPr id="73733" name="Rectangle 3"/>
          <p:cNvSpPr>
            <a:spLocks noChangeArrowheads="1"/>
          </p:cNvSpPr>
          <p:nvPr/>
        </p:nvSpPr>
        <p:spPr bwMode="auto">
          <a:xfrm>
            <a:off x="404813" y="1230313"/>
            <a:ext cx="457517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US" altLang="fa-IR" b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F(a, b, c, d, e) = (a + b) . (c + d' . e')</a:t>
            </a:r>
            <a:endParaRPr lang="en-US" altLang="fa-IR" sz="1800" b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187450" y="2492375"/>
            <a:ext cx="4572000" cy="162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US" altLang="fa-IR" b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F</a:t>
            </a:r>
            <a:r>
              <a:rPr lang="en-US" altLang="fa-IR" b="0" baseline="-2500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1</a:t>
            </a:r>
            <a:r>
              <a:rPr lang="en-US" altLang="fa-IR" b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= a + b</a:t>
            </a:r>
            <a:endParaRPr lang="en-US" altLang="fa-IR" sz="1800" b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algn="just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US" altLang="fa-IR" b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F</a:t>
            </a:r>
            <a:r>
              <a:rPr lang="en-US" altLang="fa-IR" b="0" baseline="-2500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2</a:t>
            </a:r>
            <a:r>
              <a:rPr lang="en-US" altLang="fa-IR" b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= c + d' . e'</a:t>
            </a:r>
            <a:endParaRPr lang="en-US" altLang="fa-IR" sz="1800" b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algn="just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US" altLang="fa-IR" b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F = F</a:t>
            </a:r>
            <a:r>
              <a:rPr lang="en-US" altLang="fa-IR" b="0" baseline="-2500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1</a:t>
            </a:r>
            <a:r>
              <a:rPr lang="en-US" altLang="fa-IR" b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. F</a:t>
            </a:r>
            <a:r>
              <a:rPr lang="en-US" altLang="fa-IR" b="0" baseline="-2500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2</a:t>
            </a:r>
            <a:endParaRPr lang="en-US" altLang="fa-IR" sz="1800" b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73735" name="Rectangle 2"/>
          <p:cNvSpPr>
            <a:spLocks noChangeArrowheads="1"/>
          </p:cNvSpPr>
          <p:nvPr/>
        </p:nvSpPr>
        <p:spPr bwMode="auto">
          <a:xfrm>
            <a:off x="3762375" y="27368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fa-IR" altLang="fa-IR" sz="21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736" name="Rectangle 2"/>
          <p:cNvSpPr>
            <a:spLocks noChangeArrowheads="1"/>
          </p:cNvSpPr>
          <p:nvPr/>
        </p:nvSpPr>
        <p:spPr bwMode="auto">
          <a:xfrm>
            <a:off x="3563938" y="1027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fa-IR" altLang="fa-IR" sz="21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3737" name="Object 9"/>
          <p:cNvGraphicFramePr>
            <a:graphicFrameLocks noChangeAspect="1"/>
          </p:cNvGraphicFramePr>
          <p:nvPr/>
        </p:nvGraphicFramePr>
        <p:xfrm>
          <a:off x="4351338" y="1571625"/>
          <a:ext cx="3321050" cy="477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57" name="Visio" r:id="rId3" imgW="25339730" imgH="36541133" progId="Visio.Drawing.11">
                  <p:embed/>
                </p:oleObj>
              </mc:Choice>
              <mc:Fallback>
                <p:oleObj name="Visio" r:id="rId3" imgW="25339730" imgH="36541133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1338" y="1571625"/>
                        <a:ext cx="3321050" cy="477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fa-IR" smtClean="0"/>
              <a:t>مثال</a:t>
            </a:r>
          </a:p>
        </p:txBody>
      </p:sp>
      <p:sp>
        <p:nvSpPr>
          <p:cNvPr id="74755" name="Content Placeholder 4"/>
          <p:cNvSpPr>
            <a:spLocks noGrp="1"/>
          </p:cNvSpPr>
          <p:nvPr>
            <p:ph idx="1"/>
          </p:nvPr>
        </p:nvSpPr>
        <p:spPr>
          <a:xfrm>
            <a:off x="1103313" y="811213"/>
            <a:ext cx="7772400" cy="719137"/>
          </a:xfrm>
        </p:spPr>
        <p:txBody>
          <a:bodyPr/>
          <a:lstStyle/>
          <a:p>
            <a:pPr algn="r" rtl="1"/>
            <a:r>
              <a:rPr lang="fa-IR" altLang="fa-IR" sz="3600" smtClean="0"/>
              <a:t>با </a:t>
            </a:r>
            <a:r>
              <a:rPr lang="en-US" altLang="fa-IR" sz="3600" smtClean="0"/>
              <a:t>LUT</a:t>
            </a:r>
            <a:r>
              <a:rPr lang="fa-IR" altLang="fa-IR" sz="3600" smtClean="0"/>
              <a:t>های سه ورودی</a:t>
            </a:r>
          </a:p>
        </p:txBody>
      </p:sp>
      <p:sp>
        <p:nvSpPr>
          <p:cNvPr id="74756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D7E475-E519-4348-9D78-A865040BE8D5}" type="slidenum">
              <a:rPr lang="en-US" altLang="en-US" sz="1300" b="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300" b="0" smtClean="0">
              <a:solidFill>
                <a:schemeClr val="tx1"/>
              </a:solidFill>
            </a:endParaRPr>
          </a:p>
        </p:txBody>
      </p:sp>
      <p:sp>
        <p:nvSpPr>
          <p:cNvPr id="74757" name="Rectangle 3"/>
          <p:cNvSpPr>
            <a:spLocks noChangeArrowheads="1"/>
          </p:cNvSpPr>
          <p:nvPr/>
        </p:nvSpPr>
        <p:spPr bwMode="auto">
          <a:xfrm>
            <a:off x="404813" y="1230313"/>
            <a:ext cx="457517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US" altLang="fa-IR" b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F(a, b, c, d, e) = (a + b) . (c + d' . e')</a:t>
            </a:r>
            <a:endParaRPr lang="en-US" altLang="fa-IR" sz="1800" b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187450" y="2492375"/>
            <a:ext cx="4572000" cy="1036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US" altLang="fa-IR" b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F1 = c + d' . e'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US" altLang="fa-IR" b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F2 = (a + b).F1</a:t>
            </a:r>
          </a:p>
        </p:txBody>
      </p:sp>
      <p:sp>
        <p:nvSpPr>
          <p:cNvPr id="74759" name="Rectangle 2"/>
          <p:cNvSpPr>
            <a:spLocks noChangeArrowheads="1"/>
          </p:cNvSpPr>
          <p:nvPr/>
        </p:nvSpPr>
        <p:spPr bwMode="auto">
          <a:xfrm>
            <a:off x="3762375" y="27368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fa-IR" altLang="fa-IR" sz="21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760" name="Rectangle 2"/>
          <p:cNvSpPr>
            <a:spLocks noChangeArrowheads="1"/>
          </p:cNvSpPr>
          <p:nvPr/>
        </p:nvSpPr>
        <p:spPr bwMode="auto">
          <a:xfrm>
            <a:off x="3563938" y="1027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fa-IR" altLang="fa-IR" sz="21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4761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638" y="2060575"/>
            <a:ext cx="3762375" cy="355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59CA482-1C7C-481A-9D44-FEB4F4094A32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780" name="Rectangle 5"/>
          <p:cNvSpPr>
            <a:spLocks noChangeArrowheads="1"/>
          </p:cNvSpPr>
          <p:nvPr/>
        </p:nvSpPr>
        <p:spPr bwMode="auto">
          <a:xfrm>
            <a:off x="381000" y="762000"/>
            <a:ext cx="7239000" cy="1066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1"/>
              </a:solidFill>
              <a:latin typeface="Times New Roman" panose="02020603050405020304" pitchFamily="18" charset="0"/>
              <a:cs typeface="Lotus" panose="00000400000000000000" pitchFamily="2" charset="-78"/>
            </a:endParaRPr>
          </a:p>
        </p:txBody>
      </p:sp>
      <p:sp>
        <p:nvSpPr>
          <p:cNvPr id="75781" name="Rectangle 7"/>
          <p:cNvSpPr>
            <a:spLocks noChangeArrowheads="1"/>
          </p:cNvSpPr>
          <p:nvPr/>
        </p:nvSpPr>
        <p:spPr bwMode="auto">
          <a:xfrm>
            <a:off x="1524000" y="5486400"/>
            <a:ext cx="6400800" cy="838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1"/>
              </a:solidFill>
              <a:latin typeface="Times New Roman" panose="02020603050405020304" pitchFamily="18" charset="0"/>
              <a:cs typeface="Lotus" panose="00000400000000000000" pitchFamily="2" charset="-78"/>
            </a:endParaRPr>
          </a:p>
        </p:txBody>
      </p:sp>
      <p:sp>
        <p:nvSpPr>
          <p:cNvPr id="757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1" eaLnBrk="1" hangingPunct="1"/>
            <a:r>
              <a:rPr altLang="en-US" smtClean="0"/>
              <a:t>Logic Cell</a:t>
            </a:r>
            <a:r>
              <a:rPr lang="fa-IR" altLang="en-US" smtClean="0"/>
              <a:t> نمونه</a:t>
            </a:r>
            <a:endParaRPr altLang="en-US" smtClean="0"/>
          </a:p>
        </p:txBody>
      </p:sp>
      <p:sp>
        <p:nvSpPr>
          <p:cNvPr id="75783" name="Rectangle 4"/>
          <p:cNvSpPr>
            <a:spLocks noChangeArrowheads="1"/>
          </p:cNvSpPr>
          <p:nvPr/>
        </p:nvSpPr>
        <p:spPr bwMode="auto">
          <a:xfrm>
            <a:off x="1143000" y="857250"/>
            <a:ext cx="8504238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1"/>
              </a:solidFill>
              <a:latin typeface="Times New Roman" panose="02020603050405020304" pitchFamily="18" charset="0"/>
              <a:cs typeface="Lotus" panose="00000400000000000000" pitchFamily="2" charset="-78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228600" y="1371600"/>
            <a:ext cx="1447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rPr>
              <a:t>Spartan Logic Cell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8293430"/>
              </p:ext>
            </p:extLst>
          </p:nvPr>
        </p:nvGraphicFramePr>
        <p:xfrm>
          <a:off x="1532714" y="476672"/>
          <a:ext cx="6530890" cy="6381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56" name="Visio" r:id="rId4" imgW="27489063" imgH="26860452" progId="Visio.Drawing.15">
                  <p:embed/>
                </p:oleObj>
              </mc:Choice>
              <mc:Fallback>
                <p:oleObj name="Visio" r:id="rId4" imgW="27489063" imgH="26860452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32714" y="476672"/>
                        <a:ext cx="6530890" cy="63813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69F3F1A-4D92-4DCD-A12D-6A6627D44DE8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56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1" eaLnBrk="1" hangingPunct="1"/>
            <a:r>
              <a:rPr lang="fa-IR" altLang="en-US" smtClean="0"/>
              <a:t>ساختار </a:t>
            </a:r>
            <a:r>
              <a:rPr altLang="en-US" smtClean="0"/>
              <a:t>FPGA</a:t>
            </a:r>
          </a:p>
        </p:txBody>
      </p:sp>
      <p:pic>
        <p:nvPicPr>
          <p:cNvPr id="66565" name="Picture 10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600200"/>
            <a:ext cx="4733925" cy="464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7558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685800" y="6248400"/>
            <a:ext cx="1905000" cy="457200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20738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820738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820738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820738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820738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820738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820738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820738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820738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fld id="{CD79A5CA-543C-4A53-9D53-D91EF07ACA1F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l"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827" name="Rectangle 2"/>
          <p:cNvSpPr>
            <a:spLocks noGrp="1" noChangeArrowheads="1"/>
          </p:cNvSpPr>
          <p:nvPr>
            <p:ph type="title"/>
          </p:nvPr>
        </p:nvSpPr>
        <p:spPr>
          <a:xfrm>
            <a:off x="692150" y="698500"/>
            <a:ext cx="7773988" cy="944563"/>
          </a:xfrm>
        </p:spPr>
        <p:txBody>
          <a:bodyPr/>
          <a:lstStyle/>
          <a:p>
            <a:pPr eaLnBrk="1" hangingPunct="1"/>
            <a:r>
              <a:rPr altLang="en-US" smtClean="0"/>
              <a:t>Programmable Switch Matrix </a:t>
            </a:r>
            <a:br>
              <a:rPr altLang="en-US" smtClean="0"/>
            </a:br>
            <a:r>
              <a:rPr altLang="en-US" smtClean="0"/>
              <a:t>(PSM)</a:t>
            </a:r>
          </a:p>
        </p:txBody>
      </p:sp>
      <p:pic>
        <p:nvPicPr>
          <p:cNvPr id="77828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846388"/>
            <a:ext cx="4724400" cy="2487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4"/>
          <p:cNvGrpSpPr>
            <a:grpSpLocks noChangeAspect="1"/>
          </p:cNvGrpSpPr>
          <p:nvPr/>
        </p:nvGrpSpPr>
        <p:grpSpPr bwMode="auto">
          <a:xfrm>
            <a:off x="4800600" y="2819400"/>
            <a:ext cx="2590800" cy="2490788"/>
            <a:chOff x="528" y="1632"/>
            <a:chExt cx="2496" cy="2400"/>
          </a:xfrm>
        </p:grpSpPr>
        <p:grpSp>
          <p:nvGrpSpPr>
            <p:cNvPr id="77830" name="Group 5"/>
            <p:cNvGrpSpPr>
              <a:grpSpLocks noChangeAspect="1"/>
            </p:cNvGrpSpPr>
            <p:nvPr/>
          </p:nvGrpSpPr>
          <p:grpSpPr bwMode="auto">
            <a:xfrm rot="2700000">
              <a:off x="1848" y="2184"/>
              <a:ext cx="768" cy="432"/>
              <a:chOff x="576" y="2784"/>
              <a:chExt cx="768" cy="432"/>
            </a:xfrm>
          </p:grpSpPr>
          <p:sp>
            <p:nvSpPr>
              <p:cNvPr id="77873" name="Line 6"/>
              <p:cNvSpPr>
                <a:spLocks noChangeAspect="1" noChangeShapeType="1"/>
              </p:cNvSpPr>
              <p:nvPr/>
            </p:nvSpPr>
            <p:spPr bwMode="auto">
              <a:xfrm>
                <a:off x="576" y="3216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fa-IR"/>
              </a:p>
            </p:txBody>
          </p:sp>
          <p:sp>
            <p:nvSpPr>
              <p:cNvPr id="77874" name="Line 7"/>
              <p:cNvSpPr>
                <a:spLocks noChangeAspect="1" noChangeShapeType="1"/>
              </p:cNvSpPr>
              <p:nvPr/>
            </p:nvSpPr>
            <p:spPr bwMode="auto">
              <a:xfrm flipV="1">
                <a:off x="864" y="302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fa-IR"/>
              </a:p>
            </p:txBody>
          </p:sp>
          <p:sp>
            <p:nvSpPr>
              <p:cNvPr id="77875" name="Line 8"/>
              <p:cNvSpPr>
                <a:spLocks noChangeAspect="1" noChangeShapeType="1"/>
              </p:cNvSpPr>
              <p:nvPr/>
            </p:nvSpPr>
            <p:spPr bwMode="auto">
              <a:xfrm>
                <a:off x="864" y="3024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fa-IR"/>
              </a:p>
            </p:txBody>
          </p:sp>
          <p:sp>
            <p:nvSpPr>
              <p:cNvPr id="77876" name="Line 9"/>
              <p:cNvSpPr>
                <a:spLocks noChangeAspect="1" noChangeShapeType="1"/>
              </p:cNvSpPr>
              <p:nvPr/>
            </p:nvSpPr>
            <p:spPr bwMode="auto">
              <a:xfrm>
                <a:off x="1104" y="302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fa-IR"/>
              </a:p>
            </p:txBody>
          </p:sp>
          <p:sp>
            <p:nvSpPr>
              <p:cNvPr id="77877" name="Line 10"/>
              <p:cNvSpPr>
                <a:spLocks noChangeAspect="1" noChangeShapeType="1"/>
              </p:cNvSpPr>
              <p:nvPr/>
            </p:nvSpPr>
            <p:spPr bwMode="auto">
              <a:xfrm>
                <a:off x="1104" y="3216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fa-IR"/>
              </a:p>
            </p:txBody>
          </p:sp>
          <p:sp>
            <p:nvSpPr>
              <p:cNvPr id="77878" name="Line 11"/>
              <p:cNvSpPr>
                <a:spLocks noChangeAspect="1" noChangeShapeType="1"/>
              </p:cNvSpPr>
              <p:nvPr/>
            </p:nvSpPr>
            <p:spPr bwMode="auto">
              <a:xfrm>
                <a:off x="864" y="2976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fa-IR"/>
              </a:p>
            </p:txBody>
          </p:sp>
          <p:sp>
            <p:nvSpPr>
              <p:cNvPr id="77879" name="Line 12"/>
              <p:cNvSpPr>
                <a:spLocks noChangeAspect="1" noChangeShapeType="1"/>
              </p:cNvSpPr>
              <p:nvPr/>
            </p:nvSpPr>
            <p:spPr bwMode="auto">
              <a:xfrm flipV="1">
                <a:off x="972" y="278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fa-IR"/>
              </a:p>
            </p:txBody>
          </p:sp>
        </p:grpSp>
        <p:grpSp>
          <p:nvGrpSpPr>
            <p:cNvPr id="77831" name="Group 13"/>
            <p:cNvGrpSpPr>
              <a:grpSpLocks noChangeAspect="1"/>
            </p:cNvGrpSpPr>
            <p:nvPr/>
          </p:nvGrpSpPr>
          <p:grpSpPr bwMode="auto">
            <a:xfrm rot="8100000">
              <a:off x="1824" y="3024"/>
              <a:ext cx="768" cy="432"/>
              <a:chOff x="576" y="2784"/>
              <a:chExt cx="768" cy="432"/>
            </a:xfrm>
          </p:grpSpPr>
          <p:sp>
            <p:nvSpPr>
              <p:cNvPr id="77866" name="Line 14"/>
              <p:cNvSpPr>
                <a:spLocks noChangeAspect="1" noChangeShapeType="1"/>
              </p:cNvSpPr>
              <p:nvPr/>
            </p:nvSpPr>
            <p:spPr bwMode="auto">
              <a:xfrm>
                <a:off x="576" y="3216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fa-IR"/>
              </a:p>
            </p:txBody>
          </p:sp>
          <p:sp>
            <p:nvSpPr>
              <p:cNvPr id="77867" name="Line 15"/>
              <p:cNvSpPr>
                <a:spLocks noChangeAspect="1" noChangeShapeType="1"/>
              </p:cNvSpPr>
              <p:nvPr/>
            </p:nvSpPr>
            <p:spPr bwMode="auto">
              <a:xfrm flipV="1">
                <a:off x="864" y="302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fa-IR"/>
              </a:p>
            </p:txBody>
          </p:sp>
          <p:sp>
            <p:nvSpPr>
              <p:cNvPr id="77868" name="Line 16"/>
              <p:cNvSpPr>
                <a:spLocks noChangeAspect="1" noChangeShapeType="1"/>
              </p:cNvSpPr>
              <p:nvPr/>
            </p:nvSpPr>
            <p:spPr bwMode="auto">
              <a:xfrm>
                <a:off x="864" y="3024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fa-IR"/>
              </a:p>
            </p:txBody>
          </p:sp>
          <p:sp>
            <p:nvSpPr>
              <p:cNvPr id="77869" name="Line 17"/>
              <p:cNvSpPr>
                <a:spLocks noChangeAspect="1" noChangeShapeType="1"/>
              </p:cNvSpPr>
              <p:nvPr/>
            </p:nvSpPr>
            <p:spPr bwMode="auto">
              <a:xfrm>
                <a:off x="1104" y="302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fa-IR"/>
              </a:p>
            </p:txBody>
          </p:sp>
          <p:sp>
            <p:nvSpPr>
              <p:cNvPr id="77870" name="Line 18"/>
              <p:cNvSpPr>
                <a:spLocks noChangeAspect="1" noChangeShapeType="1"/>
              </p:cNvSpPr>
              <p:nvPr/>
            </p:nvSpPr>
            <p:spPr bwMode="auto">
              <a:xfrm>
                <a:off x="1104" y="3216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fa-IR"/>
              </a:p>
            </p:txBody>
          </p:sp>
          <p:sp>
            <p:nvSpPr>
              <p:cNvPr id="77871" name="Line 19"/>
              <p:cNvSpPr>
                <a:spLocks noChangeAspect="1" noChangeShapeType="1"/>
              </p:cNvSpPr>
              <p:nvPr/>
            </p:nvSpPr>
            <p:spPr bwMode="auto">
              <a:xfrm>
                <a:off x="864" y="2976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fa-IR"/>
              </a:p>
            </p:txBody>
          </p:sp>
          <p:sp>
            <p:nvSpPr>
              <p:cNvPr id="77872" name="Line 20"/>
              <p:cNvSpPr>
                <a:spLocks noChangeAspect="1" noChangeShapeType="1"/>
              </p:cNvSpPr>
              <p:nvPr/>
            </p:nvSpPr>
            <p:spPr bwMode="auto">
              <a:xfrm flipV="1">
                <a:off x="972" y="278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fa-IR"/>
              </a:p>
            </p:txBody>
          </p:sp>
        </p:grpSp>
        <p:grpSp>
          <p:nvGrpSpPr>
            <p:cNvPr id="77832" name="Group 21"/>
            <p:cNvGrpSpPr>
              <a:grpSpLocks noChangeAspect="1"/>
            </p:cNvGrpSpPr>
            <p:nvPr/>
          </p:nvGrpSpPr>
          <p:grpSpPr bwMode="auto">
            <a:xfrm rot="-2700000">
              <a:off x="1008" y="2160"/>
              <a:ext cx="768" cy="432"/>
              <a:chOff x="576" y="2784"/>
              <a:chExt cx="768" cy="432"/>
            </a:xfrm>
          </p:grpSpPr>
          <p:sp>
            <p:nvSpPr>
              <p:cNvPr id="77859" name="Line 22"/>
              <p:cNvSpPr>
                <a:spLocks noChangeAspect="1" noChangeShapeType="1"/>
              </p:cNvSpPr>
              <p:nvPr/>
            </p:nvSpPr>
            <p:spPr bwMode="auto">
              <a:xfrm>
                <a:off x="576" y="3216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fa-IR"/>
              </a:p>
            </p:txBody>
          </p:sp>
          <p:sp>
            <p:nvSpPr>
              <p:cNvPr id="77860" name="Line 23"/>
              <p:cNvSpPr>
                <a:spLocks noChangeAspect="1" noChangeShapeType="1"/>
              </p:cNvSpPr>
              <p:nvPr/>
            </p:nvSpPr>
            <p:spPr bwMode="auto">
              <a:xfrm flipV="1">
                <a:off x="864" y="302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fa-IR"/>
              </a:p>
            </p:txBody>
          </p:sp>
          <p:sp>
            <p:nvSpPr>
              <p:cNvPr id="77861" name="Line 24"/>
              <p:cNvSpPr>
                <a:spLocks noChangeAspect="1" noChangeShapeType="1"/>
              </p:cNvSpPr>
              <p:nvPr/>
            </p:nvSpPr>
            <p:spPr bwMode="auto">
              <a:xfrm>
                <a:off x="864" y="3024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fa-IR"/>
              </a:p>
            </p:txBody>
          </p:sp>
          <p:sp>
            <p:nvSpPr>
              <p:cNvPr id="77862" name="Line 25"/>
              <p:cNvSpPr>
                <a:spLocks noChangeAspect="1" noChangeShapeType="1"/>
              </p:cNvSpPr>
              <p:nvPr/>
            </p:nvSpPr>
            <p:spPr bwMode="auto">
              <a:xfrm>
                <a:off x="1104" y="302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fa-IR"/>
              </a:p>
            </p:txBody>
          </p:sp>
          <p:sp>
            <p:nvSpPr>
              <p:cNvPr id="77863" name="Line 26"/>
              <p:cNvSpPr>
                <a:spLocks noChangeAspect="1" noChangeShapeType="1"/>
              </p:cNvSpPr>
              <p:nvPr/>
            </p:nvSpPr>
            <p:spPr bwMode="auto">
              <a:xfrm>
                <a:off x="1104" y="3216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fa-IR"/>
              </a:p>
            </p:txBody>
          </p:sp>
          <p:sp>
            <p:nvSpPr>
              <p:cNvPr id="77864" name="Line 27"/>
              <p:cNvSpPr>
                <a:spLocks noChangeAspect="1" noChangeShapeType="1"/>
              </p:cNvSpPr>
              <p:nvPr/>
            </p:nvSpPr>
            <p:spPr bwMode="auto">
              <a:xfrm>
                <a:off x="864" y="2976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fa-IR"/>
              </a:p>
            </p:txBody>
          </p:sp>
          <p:sp>
            <p:nvSpPr>
              <p:cNvPr id="77865" name="Line 28"/>
              <p:cNvSpPr>
                <a:spLocks noChangeAspect="1" noChangeShapeType="1"/>
              </p:cNvSpPr>
              <p:nvPr/>
            </p:nvSpPr>
            <p:spPr bwMode="auto">
              <a:xfrm flipV="1">
                <a:off x="972" y="278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fa-IR"/>
              </a:p>
            </p:txBody>
          </p:sp>
        </p:grpSp>
        <p:grpSp>
          <p:nvGrpSpPr>
            <p:cNvPr id="77833" name="Group 29"/>
            <p:cNvGrpSpPr>
              <a:grpSpLocks noChangeAspect="1"/>
            </p:cNvGrpSpPr>
            <p:nvPr/>
          </p:nvGrpSpPr>
          <p:grpSpPr bwMode="auto">
            <a:xfrm rot="-8100000">
              <a:off x="984" y="3000"/>
              <a:ext cx="768" cy="432"/>
              <a:chOff x="576" y="2784"/>
              <a:chExt cx="768" cy="432"/>
            </a:xfrm>
          </p:grpSpPr>
          <p:sp>
            <p:nvSpPr>
              <p:cNvPr id="77852" name="Line 30"/>
              <p:cNvSpPr>
                <a:spLocks noChangeAspect="1" noChangeShapeType="1"/>
              </p:cNvSpPr>
              <p:nvPr/>
            </p:nvSpPr>
            <p:spPr bwMode="auto">
              <a:xfrm>
                <a:off x="576" y="3216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fa-IR"/>
              </a:p>
            </p:txBody>
          </p:sp>
          <p:sp>
            <p:nvSpPr>
              <p:cNvPr id="77853" name="Line 31"/>
              <p:cNvSpPr>
                <a:spLocks noChangeAspect="1" noChangeShapeType="1"/>
              </p:cNvSpPr>
              <p:nvPr/>
            </p:nvSpPr>
            <p:spPr bwMode="auto">
              <a:xfrm flipV="1">
                <a:off x="864" y="302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fa-IR"/>
              </a:p>
            </p:txBody>
          </p:sp>
          <p:sp>
            <p:nvSpPr>
              <p:cNvPr id="77854" name="Line 32"/>
              <p:cNvSpPr>
                <a:spLocks noChangeAspect="1" noChangeShapeType="1"/>
              </p:cNvSpPr>
              <p:nvPr/>
            </p:nvSpPr>
            <p:spPr bwMode="auto">
              <a:xfrm>
                <a:off x="864" y="3024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fa-IR"/>
              </a:p>
            </p:txBody>
          </p:sp>
          <p:sp>
            <p:nvSpPr>
              <p:cNvPr id="77855" name="Line 33"/>
              <p:cNvSpPr>
                <a:spLocks noChangeAspect="1" noChangeShapeType="1"/>
              </p:cNvSpPr>
              <p:nvPr/>
            </p:nvSpPr>
            <p:spPr bwMode="auto">
              <a:xfrm>
                <a:off x="1104" y="302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fa-IR"/>
              </a:p>
            </p:txBody>
          </p:sp>
          <p:sp>
            <p:nvSpPr>
              <p:cNvPr id="77856" name="Line 34"/>
              <p:cNvSpPr>
                <a:spLocks noChangeAspect="1" noChangeShapeType="1"/>
              </p:cNvSpPr>
              <p:nvPr/>
            </p:nvSpPr>
            <p:spPr bwMode="auto">
              <a:xfrm>
                <a:off x="1104" y="3216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fa-IR"/>
              </a:p>
            </p:txBody>
          </p:sp>
          <p:sp>
            <p:nvSpPr>
              <p:cNvPr id="77857" name="Line 35"/>
              <p:cNvSpPr>
                <a:spLocks noChangeAspect="1" noChangeShapeType="1"/>
              </p:cNvSpPr>
              <p:nvPr/>
            </p:nvSpPr>
            <p:spPr bwMode="auto">
              <a:xfrm>
                <a:off x="864" y="2976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fa-IR"/>
              </a:p>
            </p:txBody>
          </p:sp>
          <p:sp>
            <p:nvSpPr>
              <p:cNvPr id="77858" name="Line 36"/>
              <p:cNvSpPr>
                <a:spLocks noChangeAspect="1" noChangeShapeType="1"/>
              </p:cNvSpPr>
              <p:nvPr/>
            </p:nvSpPr>
            <p:spPr bwMode="auto">
              <a:xfrm flipV="1">
                <a:off x="972" y="278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fa-IR"/>
              </a:p>
            </p:txBody>
          </p:sp>
        </p:grpSp>
        <p:sp>
          <p:nvSpPr>
            <p:cNvPr id="77834" name="Line 37"/>
            <p:cNvSpPr>
              <a:spLocks noChangeAspect="1" noChangeShapeType="1"/>
            </p:cNvSpPr>
            <p:nvPr/>
          </p:nvSpPr>
          <p:spPr bwMode="auto">
            <a:xfrm>
              <a:off x="1296" y="2832"/>
              <a:ext cx="180" cy="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fa-IR"/>
            </a:p>
          </p:txBody>
        </p:sp>
        <p:sp>
          <p:nvSpPr>
            <p:cNvPr id="77835" name="Line 38"/>
            <p:cNvSpPr>
              <a:spLocks noChangeAspect="1" noChangeShapeType="1"/>
            </p:cNvSpPr>
            <p:nvPr/>
          </p:nvSpPr>
          <p:spPr bwMode="auto">
            <a:xfrm flipV="1">
              <a:off x="1476" y="2725"/>
              <a:ext cx="0" cy="107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fa-IR"/>
            </a:p>
          </p:txBody>
        </p:sp>
        <p:sp>
          <p:nvSpPr>
            <p:cNvPr id="77836" name="Line 39"/>
            <p:cNvSpPr>
              <a:spLocks noChangeAspect="1" noChangeShapeType="1"/>
            </p:cNvSpPr>
            <p:nvPr/>
          </p:nvSpPr>
          <p:spPr bwMode="auto">
            <a:xfrm>
              <a:off x="1476" y="2725"/>
              <a:ext cx="150" cy="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fa-IR"/>
            </a:p>
          </p:txBody>
        </p:sp>
        <p:sp>
          <p:nvSpPr>
            <p:cNvPr id="77837" name="Line 40"/>
            <p:cNvSpPr>
              <a:spLocks noChangeAspect="1" noChangeShapeType="1"/>
            </p:cNvSpPr>
            <p:nvPr/>
          </p:nvSpPr>
          <p:spPr bwMode="auto">
            <a:xfrm>
              <a:off x="1626" y="2725"/>
              <a:ext cx="0" cy="107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fa-IR"/>
            </a:p>
          </p:txBody>
        </p:sp>
        <p:sp>
          <p:nvSpPr>
            <p:cNvPr id="77838" name="Line 41"/>
            <p:cNvSpPr>
              <a:spLocks noChangeAspect="1" noChangeShapeType="1"/>
            </p:cNvSpPr>
            <p:nvPr/>
          </p:nvSpPr>
          <p:spPr bwMode="auto">
            <a:xfrm>
              <a:off x="1626" y="2832"/>
              <a:ext cx="678" cy="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fa-IR"/>
            </a:p>
          </p:txBody>
        </p:sp>
        <p:sp>
          <p:nvSpPr>
            <p:cNvPr id="77839" name="Line 42"/>
            <p:cNvSpPr>
              <a:spLocks noChangeAspect="1" noChangeShapeType="1"/>
            </p:cNvSpPr>
            <p:nvPr/>
          </p:nvSpPr>
          <p:spPr bwMode="auto">
            <a:xfrm>
              <a:off x="1476" y="2699"/>
              <a:ext cx="150" cy="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fa-IR"/>
            </a:p>
          </p:txBody>
        </p:sp>
        <p:sp>
          <p:nvSpPr>
            <p:cNvPr id="77840" name="Line 43"/>
            <p:cNvSpPr>
              <a:spLocks noChangeAspect="1" noChangeShapeType="1"/>
            </p:cNvSpPr>
            <p:nvPr/>
          </p:nvSpPr>
          <p:spPr bwMode="auto">
            <a:xfrm flipV="1">
              <a:off x="1544" y="2592"/>
              <a:ext cx="0" cy="107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fa-IR"/>
            </a:p>
          </p:txBody>
        </p:sp>
        <p:sp>
          <p:nvSpPr>
            <p:cNvPr id="77841" name="Line 44"/>
            <p:cNvSpPr>
              <a:spLocks noChangeAspect="1" noChangeShapeType="1"/>
            </p:cNvSpPr>
            <p:nvPr/>
          </p:nvSpPr>
          <p:spPr bwMode="auto">
            <a:xfrm rot="5400000">
              <a:off x="1679" y="2401"/>
              <a:ext cx="292" cy="1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fa-IR"/>
            </a:p>
          </p:txBody>
        </p:sp>
        <p:sp>
          <p:nvSpPr>
            <p:cNvPr id="77842" name="Line 45"/>
            <p:cNvSpPr>
              <a:spLocks noChangeAspect="1" noChangeShapeType="1"/>
            </p:cNvSpPr>
            <p:nvPr/>
          </p:nvSpPr>
          <p:spPr bwMode="auto">
            <a:xfrm rot="5400000" flipV="1">
              <a:off x="1878" y="2494"/>
              <a:ext cx="0" cy="107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fa-IR"/>
            </a:p>
          </p:txBody>
        </p:sp>
        <p:sp>
          <p:nvSpPr>
            <p:cNvPr id="77843" name="Line 46"/>
            <p:cNvSpPr>
              <a:spLocks noChangeAspect="1" noChangeShapeType="1"/>
            </p:cNvSpPr>
            <p:nvPr/>
          </p:nvSpPr>
          <p:spPr bwMode="auto">
            <a:xfrm rot="5400000">
              <a:off x="1839" y="2640"/>
              <a:ext cx="183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fa-IR"/>
            </a:p>
          </p:txBody>
        </p:sp>
        <p:sp>
          <p:nvSpPr>
            <p:cNvPr id="77844" name="Line 47"/>
            <p:cNvSpPr>
              <a:spLocks noChangeAspect="1" noChangeShapeType="1"/>
            </p:cNvSpPr>
            <p:nvPr/>
          </p:nvSpPr>
          <p:spPr bwMode="auto">
            <a:xfrm rot="5400000">
              <a:off x="1878" y="2677"/>
              <a:ext cx="0" cy="107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fa-IR"/>
            </a:p>
          </p:txBody>
        </p:sp>
        <p:sp>
          <p:nvSpPr>
            <p:cNvPr id="77845" name="Line 48"/>
            <p:cNvSpPr>
              <a:spLocks noChangeAspect="1" noChangeShapeType="1"/>
            </p:cNvSpPr>
            <p:nvPr/>
          </p:nvSpPr>
          <p:spPr bwMode="auto">
            <a:xfrm rot="16200000" flipH="1">
              <a:off x="1509" y="3046"/>
              <a:ext cx="629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fa-IR"/>
            </a:p>
          </p:txBody>
        </p:sp>
        <p:sp>
          <p:nvSpPr>
            <p:cNvPr id="77846" name="Line 49"/>
            <p:cNvSpPr>
              <a:spLocks noChangeAspect="1" noChangeShapeType="1"/>
            </p:cNvSpPr>
            <p:nvPr/>
          </p:nvSpPr>
          <p:spPr bwMode="auto">
            <a:xfrm rot="5400000">
              <a:off x="1865" y="2640"/>
              <a:ext cx="183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fa-IR"/>
            </a:p>
          </p:txBody>
        </p:sp>
        <p:sp>
          <p:nvSpPr>
            <p:cNvPr id="77847" name="Line 50"/>
            <p:cNvSpPr>
              <a:spLocks noChangeAspect="1" noChangeShapeType="1"/>
            </p:cNvSpPr>
            <p:nvPr/>
          </p:nvSpPr>
          <p:spPr bwMode="auto">
            <a:xfrm rot="-5400000">
              <a:off x="2007" y="2572"/>
              <a:ext cx="8" cy="107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fa-IR"/>
            </a:p>
          </p:txBody>
        </p:sp>
        <p:sp>
          <p:nvSpPr>
            <p:cNvPr id="77848" name="Line 51"/>
            <p:cNvSpPr>
              <a:spLocks noChangeAspect="1" noChangeShapeType="1"/>
            </p:cNvSpPr>
            <p:nvPr/>
          </p:nvSpPr>
          <p:spPr bwMode="auto">
            <a:xfrm flipV="1">
              <a:off x="1824" y="1632"/>
              <a:ext cx="0" cy="624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fa-IR"/>
            </a:p>
          </p:txBody>
        </p:sp>
        <p:sp>
          <p:nvSpPr>
            <p:cNvPr id="77849" name="Line 52"/>
            <p:cNvSpPr>
              <a:spLocks noChangeAspect="1" noChangeShapeType="1"/>
            </p:cNvSpPr>
            <p:nvPr/>
          </p:nvSpPr>
          <p:spPr bwMode="auto">
            <a:xfrm flipV="1">
              <a:off x="1824" y="3360"/>
              <a:ext cx="0" cy="672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fa-IR"/>
            </a:p>
          </p:txBody>
        </p:sp>
        <p:sp>
          <p:nvSpPr>
            <p:cNvPr id="77850" name="Line 53"/>
            <p:cNvSpPr>
              <a:spLocks noChangeAspect="1" noChangeShapeType="1"/>
            </p:cNvSpPr>
            <p:nvPr/>
          </p:nvSpPr>
          <p:spPr bwMode="auto">
            <a:xfrm flipV="1">
              <a:off x="2352" y="2784"/>
              <a:ext cx="672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fa-IR"/>
            </a:p>
          </p:txBody>
        </p:sp>
        <p:sp>
          <p:nvSpPr>
            <p:cNvPr id="77851" name="Line 54"/>
            <p:cNvSpPr>
              <a:spLocks noChangeAspect="1" noChangeShapeType="1"/>
            </p:cNvSpPr>
            <p:nvPr/>
          </p:nvSpPr>
          <p:spPr bwMode="auto">
            <a:xfrm flipH="1" flipV="1">
              <a:off x="528" y="2784"/>
              <a:ext cx="720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fa-I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EE20681-0403-49A1-AFEE-18C67695D30F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875" name="Rectangle 3" descr="Dotted grid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592137"/>
          </a:xfrm>
        </p:spPr>
        <p:txBody>
          <a:bodyPr/>
          <a:lstStyle/>
          <a:p>
            <a:pPr eaLnBrk="1" hangingPunct="1"/>
            <a:r>
              <a:rPr altLang="en-US" sz="5400" smtClean="0"/>
              <a:t>SRAM-Based FPGA</a:t>
            </a:r>
          </a:p>
        </p:txBody>
      </p:sp>
      <p:pic>
        <p:nvPicPr>
          <p:cNvPr id="79876" name="Picture 4" descr="High Speed Application board with adc, dac and large virtex FPGA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0" y="1416050"/>
            <a:ext cx="3819525" cy="340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7" name="Text Box 5"/>
          <p:cNvSpPr txBox="1">
            <a:spLocks noChangeArrowheads="1"/>
          </p:cNvSpPr>
          <p:nvPr/>
        </p:nvSpPr>
        <p:spPr bwMode="auto">
          <a:xfrm>
            <a:off x="6477000" y="6446838"/>
            <a:ext cx="1981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Lucida Sans Unicode" panose="020B0602030504020204" pitchFamily="34" charset="0"/>
                <a:cs typeface="Lotus" panose="00000400000000000000" pitchFamily="2" charset="-78"/>
              </a:rPr>
              <a:t>[Entegra]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450850" y="1103313"/>
            <a:ext cx="7596188" cy="3209925"/>
            <a:chOff x="284" y="579"/>
            <a:chExt cx="4785" cy="2022"/>
          </a:xfrm>
        </p:grpSpPr>
        <p:sp>
          <p:nvSpPr>
            <p:cNvPr id="79931" name="Line 7"/>
            <p:cNvSpPr>
              <a:spLocks noChangeShapeType="1"/>
            </p:cNvSpPr>
            <p:nvPr/>
          </p:nvSpPr>
          <p:spPr bwMode="auto">
            <a:xfrm flipH="1" flipV="1">
              <a:off x="2274" y="1131"/>
              <a:ext cx="2019" cy="70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a-IR"/>
            </a:p>
          </p:txBody>
        </p:sp>
        <p:sp>
          <p:nvSpPr>
            <p:cNvPr id="79932" name="Freeform 8"/>
            <p:cNvSpPr>
              <a:spLocks/>
            </p:cNvSpPr>
            <p:nvPr/>
          </p:nvSpPr>
          <p:spPr bwMode="auto">
            <a:xfrm>
              <a:off x="2277" y="579"/>
              <a:ext cx="2790" cy="2022"/>
            </a:xfrm>
            <a:custGeom>
              <a:avLst/>
              <a:gdLst>
                <a:gd name="T0" fmla="*/ 2781 w 2790"/>
                <a:gd name="T1" fmla="*/ 1266 h 2022"/>
                <a:gd name="T2" fmla="*/ 0 w 2790"/>
                <a:gd name="T3" fmla="*/ 0 h 2022"/>
                <a:gd name="T4" fmla="*/ 3 w 2790"/>
                <a:gd name="T5" fmla="*/ 1668 h 2022"/>
                <a:gd name="T6" fmla="*/ 2790 w 2790"/>
                <a:gd name="T7" fmla="*/ 2022 h 2022"/>
                <a:gd name="T8" fmla="*/ 2781 w 2790"/>
                <a:gd name="T9" fmla="*/ 1266 h 20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90"/>
                <a:gd name="T16" fmla="*/ 0 h 2022"/>
                <a:gd name="T17" fmla="*/ 2790 w 2790"/>
                <a:gd name="T18" fmla="*/ 2022 h 202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90" h="2022">
                  <a:moveTo>
                    <a:pt x="2781" y="1266"/>
                  </a:moveTo>
                  <a:lnTo>
                    <a:pt x="0" y="0"/>
                  </a:lnTo>
                  <a:lnTo>
                    <a:pt x="3" y="1668"/>
                  </a:lnTo>
                  <a:lnTo>
                    <a:pt x="2790" y="2022"/>
                  </a:lnTo>
                  <a:lnTo>
                    <a:pt x="2781" y="1266"/>
                  </a:lnTo>
                  <a:close/>
                </a:path>
              </a:pathLst>
            </a:custGeom>
            <a:solidFill>
              <a:srgbClr val="777777">
                <a:alpha val="45882"/>
              </a:srgbClr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a-IR"/>
            </a:p>
          </p:txBody>
        </p:sp>
        <p:sp>
          <p:nvSpPr>
            <p:cNvPr id="79933" name="Freeform 9"/>
            <p:cNvSpPr>
              <a:spLocks/>
            </p:cNvSpPr>
            <p:nvPr/>
          </p:nvSpPr>
          <p:spPr bwMode="auto">
            <a:xfrm>
              <a:off x="711" y="2241"/>
              <a:ext cx="4358" cy="359"/>
            </a:xfrm>
            <a:custGeom>
              <a:avLst/>
              <a:gdLst>
                <a:gd name="T0" fmla="*/ 4358 w 4358"/>
                <a:gd name="T1" fmla="*/ 359 h 359"/>
                <a:gd name="T2" fmla="*/ 1568 w 4358"/>
                <a:gd name="T3" fmla="*/ 8 h 359"/>
                <a:gd name="T4" fmla="*/ 0 w 4358"/>
                <a:gd name="T5" fmla="*/ 0 h 359"/>
                <a:gd name="T6" fmla="*/ 3593 w 4358"/>
                <a:gd name="T7" fmla="*/ 359 h 359"/>
                <a:gd name="T8" fmla="*/ 4358 w 4358"/>
                <a:gd name="T9" fmla="*/ 359 h 3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58"/>
                <a:gd name="T16" fmla="*/ 0 h 359"/>
                <a:gd name="T17" fmla="*/ 4358 w 4358"/>
                <a:gd name="T18" fmla="*/ 359 h 3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58" h="359">
                  <a:moveTo>
                    <a:pt x="4358" y="359"/>
                  </a:moveTo>
                  <a:lnTo>
                    <a:pt x="1568" y="8"/>
                  </a:lnTo>
                  <a:lnTo>
                    <a:pt x="0" y="0"/>
                  </a:lnTo>
                  <a:lnTo>
                    <a:pt x="3593" y="359"/>
                  </a:lnTo>
                  <a:lnTo>
                    <a:pt x="4358" y="359"/>
                  </a:lnTo>
                  <a:close/>
                </a:path>
              </a:pathLst>
            </a:custGeom>
            <a:solidFill>
              <a:srgbClr val="777777">
                <a:alpha val="45882"/>
              </a:srgbClr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a-IR"/>
            </a:p>
          </p:txBody>
        </p:sp>
        <p:grpSp>
          <p:nvGrpSpPr>
            <p:cNvPr id="79934" name="Group 10"/>
            <p:cNvGrpSpPr>
              <a:grpSpLocks/>
            </p:cNvGrpSpPr>
            <p:nvPr/>
          </p:nvGrpSpPr>
          <p:grpSpPr bwMode="auto">
            <a:xfrm>
              <a:off x="284" y="581"/>
              <a:ext cx="2504" cy="1660"/>
              <a:chOff x="319" y="736"/>
              <a:chExt cx="2504" cy="1660"/>
            </a:xfrm>
          </p:grpSpPr>
          <p:sp>
            <p:nvSpPr>
              <p:cNvPr id="79935" name="Rectangle 11"/>
              <p:cNvSpPr>
                <a:spLocks noChangeAspect="1" noChangeArrowheads="1"/>
              </p:cNvSpPr>
              <p:nvPr/>
            </p:nvSpPr>
            <p:spPr bwMode="auto">
              <a:xfrm>
                <a:off x="749" y="738"/>
                <a:ext cx="1568" cy="1658"/>
              </a:xfrm>
              <a:prstGeom prst="rect">
                <a:avLst/>
              </a:prstGeom>
              <a:solidFill>
                <a:srgbClr val="DDDDDD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rgbClr val="FF505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Ø"/>
                  <a:defRPr sz="220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−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−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chemeClr val="tx1"/>
                  </a:solidFill>
                  <a:latin typeface="Times New Roman" panose="02020603050405020304" pitchFamily="18" charset="0"/>
                  <a:cs typeface="Lotus" panose="00000400000000000000" pitchFamily="2" charset="-78"/>
                </a:endParaRPr>
              </a:p>
            </p:txBody>
          </p:sp>
          <p:grpSp>
            <p:nvGrpSpPr>
              <p:cNvPr id="79936" name="Group 12"/>
              <p:cNvGrpSpPr>
                <a:grpSpLocks/>
              </p:cNvGrpSpPr>
              <p:nvPr/>
            </p:nvGrpSpPr>
            <p:grpSpPr bwMode="auto">
              <a:xfrm>
                <a:off x="1016" y="1026"/>
                <a:ext cx="1039" cy="1096"/>
                <a:chOff x="1016" y="1026"/>
                <a:chExt cx="1039" cy="1096"/>
              </a:xfrm>
            </p:grpSpPr>
            <p:sp>
              <p:nvSpPr>
                <p:cNvPr id="80031" name="Rectangle 13"/>
                <p:cNvSpPr>
                  <a:spLocks noChangeAspect="1" noChangeArrowheads="1"/>
                </p:cNvSpPr>
                <p:nvPr/>
              </p:nvSpPr>
              <p:spPr bwMode="auto">
                <a:xfrm>
                  <a:off x="1016" y="1026"/>
                  <a:ext cx="164" cy="174"/>
                </a:xfrm>
                <a:prstGeom prst="rect">
                  <a:avLst/>
                </a:prstGeom>
                <a:solidFill>
                  <a:srgbClr val="66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chemeClr val="tx1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80032" name="Rectangle 14"/>
                <p:cNvSpPr>
                  <a:spLocks noChangeAspect="1" noChangeArrowheads="1"/>
                </p:cNvSpPr>
                <p:nvPr/>
              </p:nvSpPr>
              <p:spPr bwMode="auto">
                <a:xfrm>
                  <a:off x="1454" y="1026"/>
                  <a:ext cx="163" cy="174"/>
                </a:xfrm>
                <a:prstGeom prst="rect">
                  <a:avLst/>
                </a:prstGeom>
                <a:solidFill>
                  <a:srgbClr val="66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600">
                    <a:solidFill>
                      <a:schemeClr val="tx1"/>
                    </a:solidFill>
                    <a:latin typeface="Lucida Sans Unicode" panose="020B0602030504020204" pitchFamily="34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80033" name="Rectangle 15"/>
                <p:cNvSpPr>
                  <a:spLocks noChangeAspect="1" noChangeArrowheads="1"/>
                </p:cNvSpPr>
                <p:nvPr/>
              </p:nvSpPr>
              <p:spPr bwMode="auto">
                <a:xfrm>
                  <a:off x="1891" y="1026"/>
                  <a:ext cx="164" cy="174"/>
                </a:xfrm>
                <a:prstGeom prst="rect">
                  <a:avLst/>
                </a:prstGeom>
                <a:solidFill>
                  <a:srgbClr val="66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chemeClr val="tx1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80034" name="Rectangle 16"/>
                <p:cNvSpPr>
                  <a:spLocks noChangeAspect="1" noChangeArrowheads="1"/>
                </p:cNvSpPr>
                <p:nvPr/>
              </p:nvSpPr>
              <p:spPr bwMode="auto">
                <a:xfrm>
                  <a:off x="1016" y="1488"/>
                  <a:ext cx="164" cy="173"/>
                </a:xfrm>
                <a:prstGeom prst="rect">
                  <a:avLst/>
                </a:prstGeom>
                <a:solidFill>
                  <a:srgbClr val="66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chemeClr val="tx1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80035" name="Rectangle 17"/>
                <p:cNvSpPr>
                  <a:spLocks noChangeAspect="1" noChangeArrowheads="1"/>
                </p:cNvSpPr>
                <p:nvPr/>
              </p:nvSpPr>
              <p:spPr bwMode="auto">
                <a:xfrm>
                  <a:off x="1454" y="1488"/>
                  <a:ext cx="163" cy="173"/>
                </a:xfrm>
                <a:prstGeom prst="rect">
                  <a:avLst/>
                </a:prstGeom>
                <a:solidFill>
                  <a:srgbClr val="66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chemeClr val="tx1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80036" name="Rectangle 18"/>
                <p:cNvSpPr>
                  <a:spLocks noChangeAspect="1" noChangeArrowheads="1"/>
                </p:cNvSpPr>
                <p:nvPr/>
              </p:nvSpPr>
              <p:spPr bwMode="auto">
                <a:xfrm>
                  <a:off x="1891" y="1488"/>
                  <a:ext cx="164" cy="173"/>
                </a:xfrm>
                <a:prstGeom prst="rect">
                  <a:avLst/>
                </a:prstGeom>
                <a:solidFill>
                  <a:srgbClr val="66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chemeClr val="tx1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80037" name="Rectangle 19"/>
                <p:cNvSpPr>
                  <a:spLocks noChangeAspect="1" noChangeArrowheads="1"/>
                </p:cNvSpPr>
                <p:nvPr/>
              </p:nvSpPr>
              <p:spPr bwMode="auto">
                <a:xfrm>
                  <a:off x="1016" y="1950"/>
                  <a:ext cx="164" cy="172"/>
                </a:xfrm>
                <a:prstGeom prst="rect">
                  <a:avLst/>
                </a:prstGeom>
                <a:solidFill>
                  <a:srgbClr val="66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chemeClr val="tx1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80038" name="Rectangle 20"/>
                <p:cNvSpPr>
                  <a:spLocks noChangeAspect="1" noChangeArrowheads="1"/>
                </p:cNvSpPr>
                <p:nvPr/>
              </p:nvSpPr>
              <p:spPr bwMode="auto">
                <a:xfrm>
                  <a:off x="1454" y="1950"/>
                  <a:ext cx="163" cy="172"/>
                </a:xfrm>
                <a:prstGeom prst="rect">
                  <a:avLst/>
                </a:prstGeom>
                <a:solidFill>
                  <a:srgbClr val="66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chemeClr val="tx1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80039" name="Rectangle 21"/>
                <p:cNvSpPr>
                  <a:spLocks noChangeAspect="1" noChangeArrowheads="1"/>
                </p:cNvSpPr>
                <p:nvPr/>
              </p:nvSpPr>
              <p:spPr bwMode="auto">
                <a:xfrm>
                  <a:off x="1891" y="1950"/>
                  <a:ext cx="164" cy="172"/>
                </a:xfrm>
                <a:prstGeom prst="rect">
                  <a:avLst/>
                </a:prstGeom>
                <a:solidFill>
                  <a:srgbClr val="66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chemeClr val="tx1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</p:grpSp>
          <p:sp>
            <p:nvSpPr>
              <p:cNvPr id="196630" name="Rectangle 22"/>
              <p:cNvSpPr>
                <a:spLocks noChangeArrowheads="1"/>
              </p:cNvSpPr>
              <p:nvPr/>
            </p:nvSpPr>
            <p:spPr bwMode="auto">
              <a:xfrm>
                <a:off x="2404" y="915"/>
                <a:ext cx="419" cy="135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eaVert" wrap="none" lIns="0" tIns="0" rIns="0" bIns="0" anchor="ctr">
                <a:spAutoFit/>
              </a:bodyPr>
              <a:lstStyle/>
              <a:p>
                <a:pPr algn="ctr" eaLnBrk="1" hangingPunct="1">
                  <a:lnSpc>
                    <a:spcPct val="90000"/>
                  </a:lnSpc>
                  <a:defRPr/>
                </a:pPr>
                <a:r>
                  <a:rPr lang="en-US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itchFamily="34" charset="0"/>
                  </a:rPr>
                  <a:t>Programmable</a:t>
                </a:r>
                <a:br>
                  <a:rPr lang="en-US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itchFamily="34" charset="0"/>
                  </a:rPr>
                </a:br>
                <a:r>
                  <a:rPr lang="en-US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itchFamily="34" charset="0"/>
                  </a:rPr>
                  <a:t>Logic Blocks</a:t>
                </a:r>
              </a:p>
            </p:txBody>
          </p:sp>
          <p:sp>
            <p:nvSpPr>
              <p:cNvPr id="196631" name="Rectangle 23"/>
              <p:cNvSpPr>
                <a:spLocks noChangeArrowheads="1"/>
              </p:cNvSpPr>
              <p:nvPr/>
            </p:nvSpPr>
            <p:spPr bwMode="auto">
              <a:xfrm>
                <a:off x="319" y="951"/>
                <a:ext cx="346" cy="1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eaVert" wrap="none" lIns="0" tIns="0" rIns="0" bIns="0" anchor="ctr">
                <a:spAutoFit/>
              </a:bodyPr>
              <a:lstStyle/>
              <a:p>
                <a:pPr algn="ctr" eaLnBrk="1" hangingPunct="1">
                  <a:lnSpc>
                    <a:spcPct val="90000"/>
                  </a:lnSpc>
                  <a:defRPr/>
                </a:pPr>
                <a:r>
                  <a:rPr lang="en-US">
                    <a:solidFill>
                      <a:srgbClr val="CC0066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itchFamily="34" charset="0"/>
                  </a:rPr>
                  <a:t>Programmable</a:t>
                </a:r>
                <a:br>
                  <a:rPr lang="en-US">
                    <a:solidFill>
                      <a:srgbClr val="CC0066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itchFamily="34" charset="0"/>
                  </a:rPr>
                </a:br>
                <a:r>
                  <a:rPr lang="en-US">
                    <a:solidFill>
                      <a:srgbClr val="CC0066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itchFamily="34" charset="0"/>
                  </a:rPr>
                  <a:t>routing structure</a:t>
                </a:r>
              </a:p>
            </p:txBody>
          </p:sp>
          <p:grpSp>
            <p:nvGrpSpPr>
              <p:cNvPr id="79939" name="Group 24"/>
              <p:cNvGrpSpPr>
                <a:grpSpLocks/>
              </p:cNvGrpSpPr>
              <p:nvPr/>
            </p:nvGrpSpPr>
            <p:grpSpPr bwMode="auto">
              <a:xfrm>
                <a:off x="749" y="736"/>
                <a:ext cx="1582" cy="1654"/>
                <a:chOff x="749" y="736"/>
                <a:chExt cx="1582" cy="1654"/>
              </a:xfrm>
            </p:grpSpPr>
            <p:sp>
              <p:nvSpPr>
                <p:cNvPr id="79959" name="Line 25"/>
                <p:cNvSpPr>
                  <a:spLocks noChangeAspect="1" noChangeShapeType="1"/>
                </p:cNvSpPr>
                <p:nvPr/>
              </p:nvSpPr>
              <p:spPr bwMode="auto">
                <a:xfrm>
                  <a:off x="1538" y="1199"/>
                  <a:ext cx="0" cy="210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9960" name="Line 26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784" y="951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9961" name="Line 27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784" y="1009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9962" name="Line 28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785" y="1066"/>
                  <a:ext cx="0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9963" name="Line 29"/>
                <p:cNvSpPr>
                  <a:spLocks noChangeAspect="1" noChangeShapeType="1"/>
                </p:cNvSpPr>
                <p:nvPr/>
              </p:nvSpPr>
              <p:spPr bwMode="auto">
                <a:xfrm>
                  <a:off x="1974" y="1199"/>
                  <a:ext cx="0" cy="210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9964" name="Line 30"/>
                <p:cNvSpPr>
                  <a:spLocks noChangeAspect="1" noChangeShapeType="1"/>
                </p:cNvSpPr>
                <p:nvPr/>
              </p:nvSpPr>
              <p:spPr bwMode="auto">
                <a:xfrm>
                  <a:off x="1537" y="1669"/>
                  <a:ext cx="0" cy="210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9965" name="Line 31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785" y="1424"/>
                  <a:ext cx="0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9966" name="Line 32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784" y="1483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9967" name="Line 33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784" y="1540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9968" name="Line 34"/>
                <p:cNvSpPr>
                  <a:spLocks noChangeAspect="1" noChangeShapeType="1"/>
                </p:cNvSpPr>
                <p:nvPr/>
              </p:nvSpPr>
              <p:spPr bwMode="auto">
                <a:xfrm>
                  <a:off x="1974" y="1666"/>
                  <a:ext cx="0" cy="211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9969" name="Line 35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784" y="1888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9970" name="Line 36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784" y="1946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9971" name="Line 37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784" y="2003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9972" name="Line 38"/>
                <p:cNvSpPr>
                  <a:spLocks noChangeAspect="1" noChangeShapeType="1"/>
                </p:cNvSpPr>
                <p:nvPr/>
              </p:nvSpPr>
              <p:spPr bwMode="auto">
                <a:xfrm>
                  <a:off x="1102" y="1199"/>
                  <a:ext cx="0" cy="210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9973" name="Line 39"/>
                <p:cNvSpPr>
                  <a:spLocks noChangeAspect="1" noChangeShapeType="1"/>
                </p:cNvSpPr>
                <p:nvPr/>
              </p:nvSpPr>
              <p:spPr bwMode="auto">
                <a:xfrm>
                  <a:off x="1100" y="1659"/>
                  <a:ext cx="0" cy="23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9974" name="Line 40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910" y="945"/>
                  <a:ext cx="1" cy="206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9975" name="Line 41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910" y="1003"/>
                  <a:ext cx="1" cy="206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9976" name="Line 42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910" y="1060"/>
                  <a:ext cx="1" cy="206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9977" name="Line 43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910" y="1419"/>
                  <a:ext cx="1" cy="206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9978" name="Line 44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911" y="1476"/>
                  <a:ext cx="0" cy="206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9979" name="Line 45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911" y="1533"/>
                  <a:ext cx="0" cy="206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9980" name="Line 46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910" y="1882"/>
                  <a:ext cx="1" cy="206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9981" name="Line 47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910" y="1940"/>
                  <a:ext cx="1" cy="206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9982" name="Line 48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910" y="1997"/>
                  <a:ext cx="1" cy="206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9983" name="Line 49"/>
                <p:cNvSpPr>
                  <a:spLocks noChangeAspect="1" noChangeShapeType="1"/>
                </p:cNvSpPr>
                <p:nvPr/>
              </p:nvSpPr>
              <p:spPr bwMode="auto">
                <a:xfrm>
                  <a:off x="1537" y="2127"/>
                  <a:ext cx="0" cy="210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9984" name="Line 50"/>
                <p:cNvSpPr>
                  <a:spLocks noChangeAspect="1" noChangeShapeType="1"/>
                </p:cNvSpPr>
                <p:nvPr/>
              </p:nvSpPr>
              <p:spPr bwMode="auto">
                <a:xfrm>
                  <a:off x="1973" y="2127"/>
                  <a:ext cx="0" cy="210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9985" name="Line 51"/>
                <p:cNvSpPr>
                  <a:spLocks noChangeAspect="1" noChangeShapeType="1"/>
                </p:cNvSpPr>
                <p:nvPr/>
              </p:nvSpPr>
              <p:spPr bwMode="auto">
                <a:xfrm>
                  <a:off x="1100" y="2127"/>
                  <a:ext cx="0" cy="210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9986" name="Line 52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348" y="951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9987" name="Line 53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348" y="1009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9988" name="Line 54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349" y="1066"/>
                  <a:ext cx="0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9989" name="Line 55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349" y="1424"/>
                  <a:ext cx="0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9990" name="Line 56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348" y="1483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9991" name="Line 57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348" y="1540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9992" name="Line 58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348" y="1888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9993" name="Line 59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348" y="1946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9994" name="Line 60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348" y="2003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grpSp>
              <p:nvGrpSpPr>
                <p:cNvPr id="79995" name="Group 61"/>
                <p:cNvGrpSpPr>
                  <a:grpSpLocks/>
                </p:cNvGrpSpPr>
                <p:nvPr/>
              </p:nvGrpSpPr>
              <p:grpSpPr bwMode="auto">
                <a:xfrm>
                  <a:off x="749" y="736"/>
                  <a:ext cx="1582" cy="1654"/>
                  <a:chOff x="749" y="736"/>
                  <a:chExt cx="1582" cy="1654"/>
                </a:xfrm>
              </p:grpSpPr>
              <p:grpSp>
                <p:nvGrpSpPr>
                  <p:cNvPr id="79996" name="Group 62"/>
                  <p:cNvGrpSpPr>
                    <a:grpSpLocks/>
                  </p:cNvGrpSpPr>
                  <p:nvPr/>
                </p:nvGrpSpPr>
                <p:grpSpPr bwMode="auto">
                  <a:xfrm>
                    <a:off x="823" y="738"/>
                    <a:ext cx="109" cy="1652"/>
                    <a:chOff x="704" y="1184"/>
                    <a:chExt cx="109" cy="1652"/>
                  </a:xfrm>
                </p:grpSpPr>
                <p:sp>
                  <p:nvSpPr>
                    <p:cNvPr id="80028" name="Line 6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704" y="1184"/>
                      <a:ext cx="0" cy="1652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660066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fa-IR"/>
                    </a:p>
                  </p:txBody>
                </p:sp>
                <p:sp>
                  <p:nvSpPr>
                    <p:cNvPr id="80029" name="Line 6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758" y="1184"/>
                      <a:ext cx="0" cy="1652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660066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fa-IR"/>
                    </a:p>
                  </p:txBody>
                </p:sp>
                <p:sp>
                  <p:nvSpPr>
                    <p:cNvPr id="80030" name="Line 6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813" y="1192"/>
                      <a:ext cx="0" cy="16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660066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fa-IR"/>
                    </a:p>
                  </p:txBody>
                </p:sp>
              </p:grpSp>
              <p:grpSp>
                <p:nvGrpSpPr>
                  <p:cNvPr id="79997" name="Group 66"/>
                  <p:cNvGrpSpPr>
                    <a:grpSpLocks/>
                  </p:cNvGrpSpPr>
                  <p:nvPr/>
                </p:nvGrpSpPr>
                <p:grpSpPr bwMode="auto">
                  <a:xfrm>
                    <a:off x="1263" y="737"/>
                    <a:ext cx="109" cy="1652"/>
                    <a:chOff x="704" y="1184"/>
                    <a:chExt cx="109" cy="1652"/>
                  </a:xfrm>
                </p:grpSpPr>
                <p:sp>
                  <p:nvSpPr>
                    <p:cNvPr id="80025" name="Line 6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704" y="1184"/>
                      <a:ext cx="0" cy="1652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660066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fa-IR"/>
                    </a:p>
                  </p:txBody>
                </p:sp>
                <p:sp>
                  <p:nvSpPr>
                    <p:cNvPr id="80026" name="Line 6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758" y="1184"/>
                      <a:ext cx="0" cy="1652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660066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fa-IR"/>
                    </a:p>
                  </p:txBody>
                </p:sp>
                <p:sp>
                  <p:nvSpPr>
                    <p:cNvPr id="80027" name="Line 6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813" y="1192"/>
                      <a:ext cx="0" cy="16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660066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fa-IR"/>
                    </a:p>
                  </p:txBody>
                </p:sp>
              </p:grpSp>
              <p:grpSp>
                <p:nvGrpSpPr>
                  <p:cNvPr id="79998" name="Group 70"/>
                  <p:cNvGrpSpPr>
                    <a:grpSpLocks/>
                  </p:cNvGrpSpPr>
                  <p:nvPr/>
                </p:nvGrpSpPr>
                <p:grpSpPr bwMode="auto">
                  <a:xfrm>
                    <a:off x="1701" y="736"/>
                    <a:ext cx="549" cy="1653"/>
                    <a:chOff x="800" y="1279"/>
                    <a:chExt cx="549" cy="1653"/>
                  </a:xfrm>
                </p:grpSpPr>
                <p:grpSp>
                  <p:nvGrpSpPr>
                    <p:cNvPr id="80017" name="Group 7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00" y="1280"/>
                      <a:ext cx="109" cy="1652"/>
                      <a:chOff x="704" y="1184"/>
                      <a:chExt cx="109" cy="1652"/>
                    </a:xfrm>
                  </p:grpSpPr>
                  <p:sp>
                    <p:nvSpPr>
                      <p:cNvPr id="80022" name="Line 72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H="1" flipV="1">
                        <a:off x="704" y="1184"/>
                        <a:ext cx="0" cy="1652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fa-IR"/>
                      </a:p>
                    </p:txBody>
                  </p:sp>
                  <p:sp>
                    <p:nvSpPr>
                      <p:cNvPr id="80023" name="Line 73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H="1" flipV="1">
                        <a:off x="758" y="1184"/>
                        <a:ext cx="0" cy="1652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fa-IR"/>
                      </a:p>
                    </p:txBody>
                  </p:sp>
                  <p:sp>
                    <p:nvSpPr>
                      <p:cNvPr id="80024" name="Line 74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H="1" flipV="1">
                        <a:off x="813" y="1192"/>
                        <a:ext cx="0" cy="16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fa-IR"/>
                      </a:p>
                    </p:txBody>
                  </p:sp>
                </p:grpSp>
                <p:grpSp>
                  <p:nvGrpSpPr>
                    <p:cNvPr id="80018" name="Group 7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240" y="1279"/>
                      <a:ext cx="109" cy="1652"/>
                      <a:chOff x="704" y="1184"/>
                      <a:chExt cx="109" cy="1652"/>
                    </a:xfrm>
                  </p:grpSpPr>
                  <p:sp>
                    <p:nvSpPr>
                      <p:cNvPr id="80019" name="Line 76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H="1" flipV="1">
                        <a:off x="704" y="1184"/>
                        <a:ext cx="0" cy="1652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fa-IR"/>
                      </a:p>
                    </p:txBody>
                  </p:sp>
                  <p:sp>
                    <p:nvSpPr>
                      <p:cNvPr id="80020" name="Line 77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H="1" flipV="1">
                        <a:off x="758" y="1184"/>
                        <a:ext cx="0" cy="1652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fa-IR"/>
                      </a:p>
                    </p:txBody>
                  </p:sp>
                  <p:sp>
                    <p:nvSpPr>
                      <p:cNvPr id="80021" name="Line 78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H="1" flipV="1">
                        <a:off x="813" y="1192"/>
                        <a:ext cx="0" cy="16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fa-IR"/>
                      </a:p>
                    </p:txBody>
                  </p:sp>
                </p:grpSp>
              </p:grpSp>
              <p:grpSp>
                <p:nvGrpSpPr>
                  <p:cNvPr id="79999" name="Group 79"/>
                  <p:cNvGrpSpPr>
                    <a:grpSpLocks/>
                  </p:cNvGrpSpPr>
                  <p:nvPr/>
                </p:nvGrpSpPr>
                <p:grpSpPr bwMode="auto">
                  <a:xfrm>
                    <a:off x="749" y="822"/>
                    <a:ext cx="1573" cy="587"/>
                    <a:chOff x="630" y="1268"/>
                    <a:chExt cx="1573" cy="587"/>
                  </a:xfrm>
                </p:grpSpPr>
                <p:grpSp>
                  <p:nvGrpSpPr>
                    <p:cNvPr id="80009" name="Group 8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0" y="1268"/>
                      <a:ext cx="1568" cy="117"/>
                      <a:chOff x="629" y="1268"/>
                      <a:chExt cx="409" cy="117"/>
                    </a:xfrm>
                  </p:grpSpPr>
                  <p:sp>
                    <p:nvSpPr>
                      <p:cNvPr id="80014" name="Line 81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rot="-5400000">
                        <a:off x="833" y="1064"/>
                        <a:ext cx="0" cy="40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fa-IR"/>
                      </a:p>
                    </p:txBody>
                  </p:sp>
                  <p:sp>
                    <p:nvSpPr>
                      <p:cNvPr id="80015" name="Line 82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rot="-5400000">
                        <a:off x="834" y="1123"/>
                        <a:ext cx="0" cy="409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fa-IR"/>
                      </a:p>
                    </p:txBody>
                  </p:sp>
                  <p:sp>
                    <p:nvSpPr>
                      <p:cNvPr id="80016" name="Line 83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rot="-5400000">
                        <a:off x="834" y="1181"/>
                        <a:ext cx="0" cy="40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fa-IR"/>
                      </a:p>
                    </p:txBody>
                  </p:sp>
                </p:grpSp>
                <p:grpSp>
                  <p:nvGrpSpPr>
                    <p:cNvPr id="80010" name="Group 8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5" y="1738"/>
                      <a:ext cx="1568" cy="117"/>
                      <a:chOff x="629" y="1268"/>
                      <a:chExt cx="409" cy="117"/>
                    </a:xfrm>
                  </p:grpSpPr>
                  <p:sp>
                    <p:nvSpPr>
                      <p:cNvPr id="80011" name="Line 85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rot="-5400000">
                        <a:off x="833" y="1064"/>
                        <a:ext cx="0" cy="40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fa-IR"/>
                      </a:p>
                    </p:txBody>
                  </p:sp>
                  <p:sp>
                    <p:nvSpPr>
                      <p:cNvPr id="80012" name="Line 86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rot="-5400000">
                        <a:off x="834" y="1123"/>
                        <a:ext cx="0" cy="409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fa-IR"/>
                      </a:p>
                    </p:txBody>
                  </p:sp>
                  <p:sp>
                    <p:nvSpPr>
                      <p:cNvPr id="80013" name="Line 87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rot="-5400000">
                        <a:off x="834" y="1181"/>
                        <a:ext cx="0" cy="40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fa-IR"/>
                      </a:p>
                    </p:txBody>
                  </p:sp>
                </p:grpSp>
              </p:grpSp>
              <p:grpSp>
                <p:nvGrpSpPr>
                  <p:cNvPr id="80000" name="Group 88"/>
                  <p:cNvGrpSpPr>
                    <a:grpSpLocks/>
                  </p:cNvGrpSpPr>
                  <p:nvPr/>
                </p:nvGrpSpPr>
                <p:grpSpPr bwMode="auto">
                  <a:xfrm>
                    <a:off x="758" y="1750"/>
                    <a:ext cx="1573" cy="587"/>
                    <a:chOff x="630" y="1268"/>
                    <a:chExt cx="1573" cy="587"/>
                  </a:xfrm>
                </p:grpSpPr>
                <p:grpSp>
                  <p:nvGrpSpPr>
                    <p:cNvPr id="80001" name="Group 8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0" y="1268"/>
                      <a:ext cx="1568" cy="117"/>
                      <a:chOff x="629" y="1268"/>
                      <a:chExt cx="409" cy="117"/>
                    </a:xfrm>
                  </p:grpSpPr>
                  <p:sp>
                    <p:nvSpPr>
                      <p:cNvPr id="80006" name="Line 90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rot="-5400000">
                        <a:off x="833" y="1064"/>
                        <a:ext cx="0" cy="40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fa-IR"/>
                      </a:p>
                    </p:txBody>
                  </p:sp>
                  <p:sp>
                    <p:nvSpPr>
                      <p:cNvPr id="80007" name="Line 91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rot="-5400000">
                        <a:off x="834" y="1123"/>
                        <a:ext cx="0" cy="409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fa-IR"/>
                      </a:p>
                    </p:txBody>
                  </p:sp>
                  <p:sp>
                    <p:nvSpPr>
                      <p:cNvPr id="80008" name="Line 92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rot="-5400000">
                        <a:off x="834" y="1181"/>
                        <a:ext cx="0" cy="40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fa-IR"/>
                      </a:p>
                    </p:txBody>
                  </p:sp>
                </p:grpSp>
                <p:grpSp>
                  <p:nvGrpSpPr>
                    <p:cNvPr id="80002" name="Group 9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5" y="1738"/>
                      <a:ext cx="1568" cy="117"/>
                      <a:chOff x="629" y="1268"/>
                      <a:chExt cx="409" cy="117"/>
                    </a:xfrm>
                  </p:grpSpPr>
                  <p:sp>
                    <p:nvSpPr>
                      <p:cNvPr id="80003" name="Line 94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rot="-5400000">
                        <a:off x="833" y="1064"/>
                        <a:ext cx="0" cy="40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fa-IR"/>
                      </a:p>
                    </p:txBody>
                  </p:sp>
                  <p:sp>
                    <p:nvSpPr>
                      <p:cNvPr id="80004" name="Line 95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rot="-5400000">
                        <a:off x="834" y="1123"/>
                        <a:ext cx="0" cy="409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fa-IR"/>
                      </a:p>
                    </p:txBody>
                  </p:sp>
                  <p:sp>
                    <p:nvSpPr>
                      <p:cNvPr id="80005" name="Line 96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rot="-5400000">
                        <a:off x="834" y="1181"/>
                        <a:ext cx="0" cy="40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fa-IR"/>
                      </a:p>
                    </p:txBody>
                  </p:sp>
                </p:grpSp>
              </p:grpSp>
            </p:grpSp>
          </p:grpSp>
          <p:grpSp>
            <p:nvGrpSpPr>
              <p:cNvPr id="79940" name="Group 97"/>
              <p:cNvGrpSpPr>
                <a:grpSpLocks/>
              </p:cNvGrpSpPr>
              <p:nvPr/>
            </p:nvGrpSpPr>
            <p:grpSpPr bwMode="auto">
              <a:xfrm>
                <a:off x="795" y="790"/>
                <a:ext cx="1482" cy="1569"/>
                <a:chOff x="676" y="1236"/>
                <a:chExt cx="1482" cy="1569"/>
              </a:xfrm>
            </p:grpSpPr>
            <p:sp>
              <p:nvSpPr>
                <p:cNvPr id="79943" name="Rectangle 98"/>
                <p:cNvSpPr>
                  <a:spLocks noChangeAspect="1" noChangeArrowheads="1"/>
                </p:cNvSpPr>
                <p:nvPr/>
              </p:nvSpPr>
              <p:spPr bwMode="auto">
                <a:xfrm>
                  <a:off x="1116" y="1240"/>
                  <a:ext cx="165" cy="174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chemeClr val="tx1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79944" name="Rectangle 99"/>
                <p:cNvSpPr>
                  <a:spLocks noChangeAspect="1" noChangeArrowheads="1"/>
                </p:cNvSpPr>
                <p:nvPr/>
              </p:nvSpPr>
              <p:spPr bwMode="auto">
                <a:xfrm>
                  <a:off x="1553" y="1237"/>
                  <a:ext cx="165" cy="173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chemeClr val="tx1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79945" name="Rectangle 100"/>
                <p:cNvSpPr>
                  <a:spLocks noChangeAspect="1" noChangeArrowheads="1"/>
                </p:cNvSpPr>
                <p:nvPr/>
              </p:nvSpPr>
              <p:spPr bwMode="auto">
                <a:xfrm>
                  <a:off x="1990" y="1236"/>
                  <a:ext cx="165" cy="174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chemeClr val="tx1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79946" name="Rectangle 101"/>
                <p:cNvSpPr>
                  <a:spLocks noChangeAspect="1" noChangeArrowheads="1"/>
                </p:cNvSpPr>
                <p:nvPr/>
              </p:nvSpPr>
              <p:spPr bwMode="auto">
                <a:xfrm>
                  <a:off x="1116" y="1706"/>
                  <a:ext cx="165" cy="173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chemeClr val="tx1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79947" name="Rectangle 102"/>
                <p:cNvSpPr>
                  <a:spLocks noChangeAspect="1" noChangeArrowheads="1"/>
                </p:cNvSpPr>
                <p:nvPr/>
              </p:nvSpPr>
              <p:spPr bwMode="auto">
                <a:xfrm>
                  <a:off x="1553" y="1702"/>
                  <a:ext cx="165" cy="173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chemeClr val="tx1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79948" name="Rectangle 103"/>
                <p:cNvSpPr>
                  <a:spLocks noChangeAspect="1" noChangeArrowheads="1"/>
                </p:cNvSpPr>
                <p:nvPr/>
              </p:nvSpPr>
              <p:spPr bwMode="auto">
                <a:xfrm>
                  <a:off x="1990" y="1701"/>
                  <a:ext cx="165" cy="173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chemeClr val="tx1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79949" name="Rectangle 104"/>
                <p:cNvSpPr>
                  <a:spLocks noChangeAspect="1" noChangeArrowheads="1"/>
                </p:cNvSpPr>
                <p:nvPr/>
              </p:nvSpPr>
              <p:spPr bwMode="auto">
                <a:xfrm>
                  <a:off x="1117" y="2171"/>
                  <a:ext cx="165" cy="174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chemeClr val="tx1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79950" name="Rectangle 105"/>
                <p:cNvSpPr>
                  <a:spLocks noChangeAspect="1" noChangeArrowheads="1"/>
                </p:cNvSpPr>
                <p:nvPr/>
              </p:nvSpPr>
              <p:spPr bwMode="auto">
                <a:xfrm>
                  <a:off x="1554" y="2167"/>
                  <a:ext cx="165" cy="174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chemeClr val="tx1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79951" name="Rectangle 106"/>
                <p:cNvSpPr>
                  <a:spLocks noChangeAspect="1" noChangeArrowheads="1"/>
                </p:cNvSpPr>
                <p:nvPr/>
              </p:nvSpPr>
              <p:spPr bwMode="auto">
                <a:xfrm>
                  <a:off x="1991" y="2167"/>
                  <a:ext cx="165" cy="173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chemeClr val="tx1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79952" name="Rectangle 107"/>
                <p:cNvSpPr>
                  <a:spLocks noChangeAspect="1" noChangeArrowheads="1"/>
                </p:cNvSpPr>
                <p:nvPr/>
              </p:nvSpPr>
              <p:spPr bwMode="auto">
                <a:xfrm>
                  <a:off x="1120" y="2632"/>
                  <a:ext cx="164" cy="173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chemeClr val="tx1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79953" name="Rectangle 108"/>
                <p:cNvSpPr>
                  <a:spLocks noChangeAspect="1" noChangeArrowheads="1"/>
                </p:cNvSpPr>
                <p:nvPr/>
              </p:nvSpPr>
              <p:spPr bwMode="auto">
                <a:xfrm>
                  <a:off x="1557" y="2628"/>
                  <a:ext cx="164" cy="173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chemeClr val="tx1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79954" name="Rectangle 109"/>
                <p:cNvSpPr>
                  <a:spLocks noChangeAspect="1" noChangeArrowheads="1"/>
                </p:cNvSpPr>
                <p:nvPr/>
              </p:nvSpPr>
              <p:spPr bwMode="auto">
                <a:xfrm>
                  <a:off x="1994" y="2628"/>
                  <a:ext cx="164" cy="173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chemeClr val="tx1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79955" name="Rectangle 110"/>
                <p:cNvSpPr>
                  <a:spLocks noChangeAspect="1" noChangeArrowheads="1"/>
                </p:cNvSpPr>
                <p:nvPr/>
              </p:nvSpPr>
              <p:spPr bwMode="auto">
                <a:xfrm>
                  <a:off x="679" y="2631"/>
                  <a:ext cx="165" cy="174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chemeClr val="tx1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79956" name="Rectangle 111"/>
                <p:cNvSpPr>
                  <a:spLocks noChangeAspect="1" noChangeArrowheads="1"/>
                </p:cNvSpPr>
                <p:nvPr/>
              </p:nvSpPr>
              <p:spPr bwMode="auto">
                <a:xfrm>
                  <a:off x="676" y="2172"/>
                  <a:ext cx="165" cy="174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chemeClr val="tx1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79957" name="Rectangle 112"/>
                <p:cNvSpPr>
                  <a:spLocks noChangeAspect="1" noChangeArrowheads="1"/>
                </p:cNvSpPr>
                <p:nvPr/>
              </p:nvSpPr>
              <p:spPr bwMode="auto">
                <a:xfrm>
                  <a:off x="676" y="1704"/>
                  <a:ext cx="165" cy="174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chemeClr val="tx1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79958" name="Rectangle 113"/>
                <p:cNvSpPr>
                  <a:spLocks noChangeAspect="1" noChangeArrowheads="1"/>
                </p:cNvSpPr>
                <p:nvPr/>
              </p:nvSpPr>
              <p:spPr bwMode="auto">
                <a:xfrm>
                  <a:off x="677" y="1240"/>
                  <a:ext cx="165" cy="174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chemeClr val="tx1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</p:grpSp>
          <p:sp>
            <p:nvSpPr>
              <p:cNvPr id="79941" name="Line 114"/>
              <p:cNvSpPr>
                <a:spLocks noChangeShapeType="1"/>
              </p:cNvSpPr>
              <p:nvPr/>
            </p:nvSpPr>
            <p:spPr bwMode="auto">
              <a:xfrm flipH="1" flipV="1">
                <a:off x="1974" y="1113"/>
                <a:ext cx="454" cy="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 type="none" w="sm" len="sm"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eaVert"/>
              <a:lstStyle/>
              <a:p>
                <a:endParaRPr lang="fa-IR"/>
              </a:p>
            </p:txBody>
          </p:sp>
          <p:sp>
            <p:nvSpPr>
              <p:cNvPr id="79942" name="Line 115"/>
              <p:cNvSpPr>
                <a:spLocks noChangeShapeType="1"/>
              </p:cNvSpPr>
              <p:nvPr/>
            </p:nvSpPr>
            <p:spPr bwMode="auto">
              <a:xfrm flipV="1">
                <a:off x="665" y="1352"/>
                <a:ext cx="652" cy="1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 type="none" w="sm" len="sm"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eaVert"/>
              <a:lstStyle/>
              <a:p>
                <a:endParaRPr lang="fa-IR"/>
              </a:p>
            </p:txBody>
          </p:sp>
        </p:grpSp>
      </p:grpSp>
      <p:grpSp>
        <p:nvGrpSpPr>
          <p:cNvPr id="19" name="Group 116"/>
          <p:cNvGrpSpPr>
            <a:grpSpLocks/>
          </p:cNvGrpSpPr>
          <p:nvPr/>
        </p:nvGrpSpPr>
        <p:grpSpPr bwMode="auto">
          <a:xfrm>
            <a:off x="238125" y="2589213"/>
            <a:ext cx="2014538" cy="3475037"/>
            <a:chOff x="150" y="1515"/>
            <a:chExt cx="1269" cy="2189"/>
          </a:xfrm>
        </p:grpSpPr>
        <p:sp>
          <p:nvSpPr>
            <p:cNvPr id="79919" name="Rectangle 117"/>
            <p:cNvSpPr>
              <a:spLocks noChangeAspect="1" noChangeArrowheads="1"/>
            </p:cNvSpPr>
            <p:nvPr/>
          </p:nvSpPr>
          <p:spPr bwMode="auto">
            <a:xfrm>
              <a:off x="151" y="2588"/>
              <a:ext cx="1096" cy="1113"/>
            </a:xfrm>
            <a:prstGeom prst="rect">
              <a:avLst/>
            </a:prstGeom>
            <a:solidFill>
              <a:srgbClr val="DDDDDD"/>
            </a:solidFill>
            <a:ln w="19050" algn="ctr">
              <a:solidFill>
                <a:srgbClr val="00CC00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Ø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endParaRPr>
            </a:p>
          </p:txBody>
        </p:sp>
        <p:sp>
          <p:nvSpPr>
            <p:cNvPr id="79920" name="Line 118"/>
            <p:cNvSpPr>
              <a:spLocks noChangeShapeType="1"/>
            </p:cNvSpPr>
            <p:nvPr/>
          </p:nvSpPr>
          <p:spPr bwMode="auto">
            <a:xfrm>
              <a:off x="436" y="2588"/>
              <a:ext cx="0" cy="1114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a-IR"/>
            </a:p>
          </p:txBody>
        </p:sp>
        <p:sp>
          <p:nvSpPr>
            <p:cNvPr id="79921" name="Line 119"/>
            <p:cNvSpPr>
              <a:spLocks noChangeShapeType="1"/>
            </p:cNvSpPr>
            <p:nvPr/>
          </p:nvSpPr>
          <p:spPr bwMode="auto">
            <a:xfrm>
              <a:off x="695" y="2588"/>
              <a:ext cx="0" cy="1114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a-IR"/>
            </a:p>
          </p:txBody>
        </p:sp>
        <p:sp>
          <p:nvSpPr>
            <p:cNvPr id="79922" name="Line 120"/>
            <p:cNvSpPr>
              <a:spLocks noChangeShapeType="1"/>
            </p:cNvSpPr>
            <p:nvPr/>
          </p:nvSpPr>
          <p:spPr bwMode="auto">
            <a:xfrm>
              <a:off x="955" y="2588"/>
              <a:ext cx="0" cy="1113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a-IR"/>
            </a:p>
          </p:txBody>
        </p:sp>
        <p:sp>
          <p:nvSpPr>
            <p:cNvPr id="79923" name="Line 121"/>
            <p:cNvSpPr>
              <a:spLocks noChangeShapeType="1"/>
            </p:cNvSpPr>
            <p:nvPr/>
          </p:nvSpPr>
          <p:spPr bwMode="auto">
            <a:xfrm>
              <a:off x="151" y="2917"/>
              <a:ext cx="1101" cy="0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a-IR"/>
            </a:p>
          </p:txBody>
        </p:sp>
        <p:sp>
          <p:nvSpPr>
            <p:cNvPr id="79924" name="Line 122"/>
            <p:cNvSpPr>
              <a:spLocks noChangeShapeType="1"/>
            </p:cNvSpPr>
            <p:nvPr/>
          </p:nvSpPr>
          <p:spPr bwMode="auto">
            <a:xfrm>
              <a:off x="151" y="3114"/>
              <a:ext cx="1101" cy="0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a-IR"/>
            </a:p>
          </p:txBody>
        </p:sp>
        <p:sp>
          <p:nvSpPr>
            <p:cNvPr id="79925" name="Line 123"/>
            <p:cNvSpPr>
              <a:spLocks noChangeShapeType="1"/>
            </p:cNvSpPr>
            <p:nvPr/>
          </p:nvSpPr>
          <p:spPr bwMode="auto">
            <a:xfrm>
              <a:off x="151" y="3309"/>
              <a:ext cx="1098" cy="2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a-IR"/>
            </a:p>
          </p:txBody>
        </p:sp>
        <p:sp>
          <p:nvSpPr>
            <p:cNvPr id="79926" name="Rectangle 124"/>
            <p:cNvSpPr>
              <a:spLocks noChangeArrowheads="1"/>
            </p:cNvSpPr>
            <p:nvPr/>
          </p:nvSpPr>
          <p:spPr bwMode="auto">
            <a:xfrm>
              <a:off x="283" y="2760"/>
              <a:ext cx="809" cy="746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Ø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endParaRPr>
            </a:p>
          </p:txBody>
        </p:sp>
        <p:sp>
          <p:nvSpPr>
            <p:cNvPr id="79927" name="Rectangle 125"/>
            <p:cNvSpPr>
              <a:spLocks noChangeArrowheads="1"/>
            </p:cNvSpPr>
            <p:nvPr/>
          </p:nvSpPr>
          <p:spPr bwMode="auto">
            <a:xfrm>
              <a:off x="1152" y="1515"/>
              <a:ext cx="264" cy="268"/>
            </a:xfrm>
            <a:prstGeom prst="rect">
              <a:avLst/>
            </a:prstGeom>
            <a:noFill/>
            <a:ln w="12700" algn="ctr">
              <a:solidFill>
                <a:srgbClr val="00CC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Ø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endParaRPr>
            </a:p>
          </p:txBody>
        </p:sp>
        <p:sp>
          <p:nvSpPr>
            <p:cNvPr id="79928" name="Freeform 126"/>
            <p:cNvSpPr>
              <a:spLocks/>
            </p:cNvSpPr>
            <p:nvPr/>
          </p:nvSpPr>
          <p:spPr bwMode="auto">
            <a:xfrm>
              <a:off x="1247" y="1521"/>
              <a:ext cx="169" cy="2183"/>
            </a:xfrm>
            <a:custGeom>
              <a:avLst/>
              <a:gdLst>
                <a:gd name="T0" fmla="*/ 168 w 169"/>
                <a:gd name="T1" fmla="*/ 0 h 2183"/>
                <a:gd name="T2" fmla="*/ 0 w 169"/>
                <a:gd name="T3" fmla="*/ 1068 h 2183"/>
                <a:gd name="T4" fmla="*/ 1 w 169"/>
                <a:gd name="T5" fmla="*/ 2183 h 2183"/>
                <a:gd name="T6" fmla="*/ 169 w 169"/>
                <a:gd name="T7" fmla="*/ 258 h 2183"/>
                <a:gd name="T8" fmla="*/ 168 w 169"/>
                <a:gd name="T9" fmla="*/ 0 h 2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183"/>
                <a:gd name="T17" fmla="*/ 169 w 169"/>
                <a:gd name="T18" fmla="*/ 2183 h 21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183">
                  <a:moveTo>
                    <a:pt x="168" y="0"/>
                  </a:moveTo>
                  <a:lnTo>
                    <a:pt x="0" y="1068"/>
                  </a:lnTo>
                  <a:lnTo>
                    <a:pt x="1" y="2183"/>
                  </a:lnTo>
                  <a:lnTo>
                    <a:pt x="169" y="258"/>
                  </a:lnTo>
                  <a:lnTo>
                    <a:pt x="168" y="0"/>
                  </a:lnTo>
                  <a:close/>
                </a:path>
              </a:pathLst>
            </a:custGeom>
            <a:solidFill>
              <a:srgbClr val="00FF99">
                <a:alpha val="45882"/>
              </a:srgbClr>
            </a:solidFill>
            <a:ln w="6350">
              <a:solidFill>
                <a:srgbClr val="00CC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fa-IR"/>
            </a:p>
          </p:txBody>
        </p:sp>
        <p:sp>
          <p:nvSpPr>
            <p:cNvPr id="79929" name="Line 127"/>
            <p:cNvSpPr>
              <a:spLocks noChangeAspect="1" noChangeShapeType="1"/>
            </p:cNvSpPr>
            <p:nvPr/>
          </p:nvSpPr>
          <p:spPr bwMode="auto">
            <a:xfrm flipH="1">
              <a:off x="730" y="1783"/>
              <a:ext cx="422" cy="805"/>
            </a:xfrm>
            <a:prstGeom prst="line">
              <a:avLst/>
            </a:prstGeom>
            <a:noFill/>
            <a:ln w="6350">
              <a:solidFill>
                <a:srgbClr val="00CC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a-IR"/>
            </a:p>
          </p:txBody>
        </p:sp>
        <p:sp>
          <p:nvSpPr>
            <p:cNvPr id="79930" name="Freeform 128"/>
            <p:cNvSpPr>
              <a:spLocks/>
            </p:cNvSpPr>
            <p:nvPr/>
          </p:nvSpPr>
          <p:spPr bwMode="auto">
            <a:xfrm>
              <a:off x="150" y="1517"/>
              <a:ext cx="1269" cy="1072"/>
            </a:xfrm>
            <a:custGeom>
              <a:avLst/>
              <a:gdLst>
                <a:gd name="T0" fmla="*/ 1004 w 1269"/>
                <a:gd name="T1" fmla="*/ 0 h 1072"/>
                <a:gd name="T2" fmla="*/ 0 w 1269"/>
                <a:gd name="T3" fmla="*/ 1071 h 1072"/>
                <a:gd name="T4" fmla="*/ 1098 w 1269"/>
                <a:gd name="T5" fmla="*/ 1072 h 1072"/>
                <a:gd name="T6" fmla="*/ 1269 w 1269"/>
                <a:gd name="T7" fmla="*/ 0 h 1072"/>
                <a:gd name="T8" fmla="*/ 1004 w 1269"/>
                <a:gd name="T9" fmla="*/ 0 h 10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69"/>
                <a:gd name="T16" fmla="*/ 0 h 1072"/>
                <a:gd name="T17" fmla="*/ 1269 w 1269"/>
                <a:gd name="T18" fmla="*/ 1072 h 10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69" h="1072">
                  <a:moveTo>
                    <a:pt x="1004" y="0"/>
                  </a:moveTo>
                  <a:lnTo>
                    <a:pt x="0" y="1071"/>
                  </a:lnTo>
                  <a:lnTo>
                    <a:pt x="1098" y="1072"/>
                  </a:lnTo>
                  <a:lnTo>
                    <a:pt x="1269" y="0"/>
                  </a:lnTo>
                  <a:lnTo>
                    <a:pt x="1004" y="0"/>
                  </a:lnTo>
                  <a:close/>
                </a:path>
              </a:pathLst>
            </a:custGeom>
            <a:solidFill>
              <a:srgbClr val="00FF99">
                <a:alpha val="45882"/>
              </a:srgbClr>
            </a:solidFill>
            <a:ln w="6350">
              <a:solidFill>
                <a:srgbClr val="00CC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fa-IR"/>
            </a:p>
          </p:txBody>
        </p:sp>
      </p:grpSp>
      <p:grpSp>
        <p:nvGrpSpPr>
          <p:cNvPr id="20" name="Group 129"/>
          <p:cNvGrpSpPr>
            <a:grpSpLocks/>
          </p:cNvGrpSpPr>
          <p:nvPr/>
        </p:nvGrpSpPr>
        <p:grpSpPr bwMode="auto">
          <a:xfrm>
            <a:off x="300038" y="4384675"/>
            <a:ext cx="1568450" cy="1597025"/>
            <a:chOff x="189" y="2646"/>
            <a:chExt cx="988" cy="1006"/>
          </a:xfrm>
        </p:grpSpPr>
        <p:sp>
          <p:nvSpPr>
            <p:cNvPr id="79909" name="Rectangle 130"/>
            <p:cNvSpPr>
              <a:spLocks noChangeArrowheads="1"/>
            </p:cNvSpPr>
            <p:nvPr/>
          </p:nvSpPr>
          <p:spPr bwMode="auto">
            <a:xfrm>
              <a:off x="283" y="2760"/>
              <a:ext cx="809" cy="746"/>
            </a:xfrm>
            <a:prstGeom prst="rect">
              <a:avLst/>
            </a:prstGeom>
            <a:solidFill>
              <a:srgbClr val="00B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Ø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endParaRPr>
            </a:p>
          </p:txBody>
        </p:sp>
        <p:sp>
          <p:nvSpPr>
            <p:cNvPr id="79910" name="Line 131"/>
            <p:cNvSpPr>
              <a:spLocks noChangeShapeType="1"/>
            </p:cNvSpPr>
            <p:nvPr/>
          </p:nvSpPr>
          <p:spPr bwMode="auto">
            <a:xfrm>
              <a:off x="436" y="2646"/>
              <a:ext cx="0" cy="988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a-IR"/>
            </a:p>
          </p:txBody>
        </p:sp>
        <p:sp>
          <p:nvSpPr>
            <p:cNvPr id="79911" name="Line 132"/>
            <p:cNvSpPr>
              <a:spLocks noChangeShapeType="1"/>
            </p:cNvSpPr>
            <p:nvPr/>
          </p:nvSpPr>
          <p:spPr bwMode="auto">
            <a:xfrm>
              <a:off x="695" y="2667"/>
              <a:ext cx="0" cy="967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a-IR"/>
            </a:p>
          </p:txBody>
        </p:sp>
        <p:sp>
          <p:nvSpPr>
            <p:cNvPr id="79912" name="Line 133"/>
            <p:cNvSpPr>
              <a:spLocks noChangeShapeType="1"/>
            </p:cNvSpPr>
            <p:nvPr/>
          </p:nvSpPr>
          <p:spPr bwMode="auto">
            <a:xfrm>
              <a:off x="955" y="2667"/>
              <a:ext cx="0" cy="985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a-IR"/>
            </a:p>
          </p:txBody>
        </p:sp>
        <p:sp>
          <p:nvSpPr>
            <p:cNvPr id="79913" name="Line 134"/>
            <p:cNvSpPr>
              <a:spLocks noChangeShapeType="1"/>
            </p:cNvSpPr>
            <p:nvPr/>
          </p:nvSpPr>
          <p:spPr bwMode="auto">
            <a:xfrm>
              <a:off x="252" y="2917"/>
              <a:ext cx="925" cy="0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a-IR"/>
            </a:p>
          </p:txBody>
        </p:sp>
        <p:sp>
          <p:nvSpPr>
            <p:cNvPr id="79914" name="Line 135"/>
            <p:cNvSpPr>
              <a:spLocks noChangeShapeType="1"/>
            </p:cNvSpPr>
            <p:nvPr/>
          </p:nvSpPr>
          <p:spPr bwMode="auto">
            <a:xfrm>
              <a:off x="252" y="3114"/>
              <a:ext cx="900" cy="0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a-IR"/>
            </a:p>
          </p:txBody>
        </p:sp>
        <p:sp>
          <p:nvSpPr>
            <p:cNvPr id="79915" name="Line 136"/>
            <p:cNvSpPr>
              <a:spLocks noChangeShapeType="1"/>
            </p:cNvSpPr>
            <p:nvPr/>
          </p:nvSpPr>
          <p:spPr bwMode="auto">
            <a:xfrm>
              <a:off x="189" y="3309"/>
              <a:ext cx="988" cy="2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a-IR"/>
            </a:p>
          </p:txBody>
        </p:sp>
        <p:sp>
          <p:nvSpPr>
            <p:cNvPr id="79916" name="AutoShape 137"/>
            <p:cNvSpPr>
              <a:spLocks noChangeArrowheads="1"/>
            </p:cNvSpPr>
            <p:nvPr/>
          </p:nvSpPr>
          <p:spPr bwMode="auto">
            <a:xfrm>
              <a:off x="621" y="3035"/>
              <a:ext cx="149" cy="157"/>
            </a:xfrm>
            <a:prstGeom prst="diamond">
              <a:avLst/>
            </a:prstGeom>
            <a:solidFill>
              <a:srgbClr val="FFFF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Ø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endParaRPr>
            </a:p>
          </p:txBody>
        </p:sp>
        <p:sp>
          <p:nvSpPr>
            <p:cNvPr id="79917" name="AutoShape 138"/>
            <p:cNvSpPr>
              <a:spLocks noChangeArrowheads="1"/>
            </p:cNvSpPr>
            <p:nvPr/>
          </p:nvSpPr>
          <p:spPr bwMode="auto">
            <a:xfrm>
              <a:off x="361" y="3232"/>
              <a:ext cx="148" cy="157"/>
            </a:xfrm>
            <a:prstGeom prst="diamond">
              <a:avLst/>
            </a:prstGeom>
            <a:solidFill>
              <a:srgbClr val="FFFF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Ø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endParaRPr>
            </a:p>
          </p:txBody>
        </p:sp>
        <p:sp>
          <p:nvSpPr>
            <p:cNvPr id="79918" name="AutoShape 139"/>
            <p:cNvSpPr>
              <a:spLocks noChangeArrowheads="1"/>
            </p:cNvSpPr>
            <p:nvPr/>
          </p:nvSpPr>
          <p:spPr bwMode="auto">
            <a:xfrm>
              <a:off x="881" y="2838"/>
              <a:ext cx="148" cy="159"/>
            </a:xfrm>
            <a:prstGeom prst="diamond">
              <a:avLst/>
            </a:prstGeom>
            <a:solidFill>
              <a:srgbClr val="FFFF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Ø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endParaRPr>
            </a:p>
          </p:txBody>
        </p:sp>
      </p:grpSp>
      <p:grpSp>
        <p:nvGrpSpPr>
          <p:cNvPr id="21" name="Group 140"/>
          <p:cNvGrpSpPr>
            <a:grpSpLocks/>
          </p:cNvGrpSpPr>
          <p:nvPr/>
        </p:nvGrpSpPr>
        <p:grpSpPr bwMode="auto">
          <a:xfrm>
            <a:off x="866775" y="4916488"/>
            <a:ext cx="3089275" cy="1447800"/>
            <a:chOff x="546" y="2981"/>
            <a:chExt cx="1946" cy="912"/>
          </a:xfrm>
        </p:grpSpPr>
        <p:sp>
          <p:nvSpPr>
            <p:cNvPr id="79895" name="Rectangle 141"/>
            <p:cNvSpPr>
              <a:spLocks noChangeArrowheads="1"/>
            </p:cNvSpPr>
            <p:nvPr/>
          </p:nvSpPr>
          <p:spPr bwMode="auto">
            <a:xfrm>
              <a:off x="551" y="2985"/>
              <a:ext cx="278" cy="268"/>
            </a:xfrm>
            <a:prstGeom prst="rect">
              <a:avLst/>
            </a:prstGeom>
            <a:noFill/>
            <a:ln w="19050" algn="ctr">
              <a:solidFill>
                <a:srgbClr val="FF99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Ø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endParaRPr>
            </a:p>
          </p:txBody>
        </p:sp>
        <p:sp>
          <p:nvSpPr>
            <p:cNvPr id="79896" name="Rectangle 142"/>
            <p:cNvSpPr>
              <a:spLocks noChangeAspect="1" noChangeArrowheads="1"/>
            </p:cNvSpPr>
            <p:nvPr/>
          </p:nvSpPr>
          <p:spPr bwMode="auto">
            <a:xfrm>
              <a:off x="1723" y="3156"/>
              <a:ext cx="768" cy="736"/>
            </a:xfrm>
            <a:prstGeom prst="rect">
              <a:avLst/>
            </a:prstGeom>
            <a:solidFill>
              <a:srgbClr val="00B000"/>
            </a:solidFill>
            <a:ln w="19050" algn="ctr">
              <a:solidFill>
                <a:srgbClr val="FF9900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Ø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endParaRPr>
            </a:p>
          </p:txBody>
        </p:sp>
        <p:sp>
          <p:nvSpPr>
            <p:cNvPr id="79897" name="AutoShape 143"/>
            <p:cNvSpPr>
              <a:spLocks noChangeArrowheads="1"/>
            </p:cNvSpPr>
            <p:nvPr/>
          </p:nvSpPr>
          <p:spPr bwMode="auto">
            <a:xfrm>
              <a:off x="1861" y="3250"/>
              <a:ext cx="522" cy="541"/>
            </a:xfrm>
            <a:prstGeom prst="diamond">
              <a:avLst/>
            </a:prstGeom>
            <a:solidFill>
              <a:srgbClr val="FFFF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Ø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endParaRPr>
            </a:p>
          </p:txBody>
        </p:sp>
        <p:sp>
          <p:nvSpPr>
            <p:cNvPr id="79898" name="Line 144"/>
            <p:cNvSpPr>
              <a:spLocks noChangeShapeType="1"/>
            </p:cNvSpPr>
            <p:nvPr/>
          </p:nvSpPr>
          <p:spPr bwMode="auto">
            <a:xfrm flipH="1">
              <a:off x="2119" y="3156"/>
              <a:ext cx="3" cy="7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a-IR"/>
            </a:p>
          </p:txBody>
        </p:sp>
        <p:sp>
          <p:nvSpPr>
            <p:cNvPr id="79899" name="Line 145"/>
            <p:cNvSpPr>
              <a:spLocks noChangeShapeType="1"/>
            </p:cNvSpPr>
            <p:nvPr/>
          </p:nvSpPr>
          <p:spPr bwMode="auto">
            <a:xfrm flipV="1">
              <a:off x="1724" y="3516"/>
              <a:ext cx="767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a-IR"/>
            </a:p>
          </p:txBody>
        </p:sp>
        <p:sp>
          <p:nvSpPr>
            <p:cNvPr id="79900" name="Oval 146"/>
            <p:cNvSpPr>
              <a:spLocks noChangeArrowheads="1"/>
            </p:cNvSpPr>
            <p:nvPr/>
          </p:nvSpPr>
          <p:spPr bwMode="auto">
            <a:xfrm>
              <a:off x="2209" y="3470"/>
              <a:ext cx="86" cy="92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Ø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endParaRPr>
            </a:p>
          </p:txBody>
        </p:sp>
        <p:sp>
          <p:nvSpPr>
            <p:cNvPr id="79901" name="Oval 147"/>
            <p:cNvSpPr>
              <a:spLocks noChangeArrowheads="1"/>
            </p:cNvSpPr>
            <p:nvPr/>
          </p:nvSpPr>
          <p:spPr bwMode="auto">
            <a:xfrm>
              <a:off x="2079" y="3379"/>
              <a:ext cx="86" cy="91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Ø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endParaRPr>
            </a:p>
          </p:txBody>
        </p:sp>
        <p:sp>
          <p:nvSpPr>
            <p:cNvPr id="79902" name="Oval 148"/>
            <p:cNvSpPr>
              <a:spLocks noChangeArrowheads="1"/>
            </p:cNvSpPr>
            <p:nvPr/>
          </p:nvSpPr>
          <p:spPr bwMode="auto">
            <a:xfrm>
              <a:off x="1949" y="3609"/>
              <a:ext cx="85" cy="90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Ø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endParaRPr>
            </a:p>
          </p:txBody>
        </p:sp>
        <p:sp>
          <p:nvSpPr>
            <p:cNvPr id="79903" name="Oval 149"/>
            <p:cNvSpPr>
              <a:spLocks noChangeArrowheads="1"/>
            </p:cNvSpPr>
            <p:nvPr/>
          </p:nvSpPr>
          <p:spPr bwMode="auto">
            <a:xfrm>
              <a:off x="2209" y="3334"/>
              <a:ext cx="86" cy="91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Ø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endParaRPr>
            </a:p>
          </p:txBody>
        </p:sp>
        <p:sp>
          <p:nvSpPr>
            <p:cNvPr id="79904" name="Oval 150"/>
            <p:cNvSpPr>
              <a:spLocks noChangeArrowheads="1"/>
            </p:cNvSpPr>
            <p:nvPr/>
          </p:nvSpPr>
          <p:spPr bwMode="auto">
            <a:xfrm>
              <a:off x="2209" y="3609"/>
              <a:ext cx="86" cy="90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Ø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endParaRPr>
            </a:p>
          </p:txBody>
        </p:sp>
        <p:sp>
          <p:nvSpPr>
            <p:cNvPr id="79905" name="Oval 151"/>
            <p:cNvSpPr>
              <a:spLocks noChangeArrowheads="1"/>
            </p:cNvSpPr>
            <p:nvPr/>
          </p:nvSpPr>
          <p:spPr bwMode="auto">
            <a:xfrm>
              <a:off x="1949" y="3334"/>
              <a:ext cx="85" cy="91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Ø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endParaRPr>
            </a:p>
          </p:txBody>
        </p:sp>
        <p:sp>
          <p:nvSpPr>
            <p:cNvPr id="79906" name="Freeform 152"/>
            <p:cNvSpPr>
              <a:spLocks/>
            </p:cNvSpPr>
            <p:nvPr/>
          </p:nvSpPr>
          <p:spPr bwMode="auto">
            <a:xfrm>
              <a:off x="548" y="2981"/>
              <a:ext cx="1944" cy="180"/>
            </a:xfrm>
            <a:custGeom>
              <a:avLst/>
              <a:gdLst>
                <a:gd name="T0" fmla="*/ 1944 w 1944"/>
                <a:gd name="T1" fmla="*/ 175 h 180"/>
                <a:gd name="T2" fmla="*/ 280 w 1944"/>
                <a:gd name="T3" fmla="*/ 0 h 180"/>
                <a:gd name="T4" fmla="*/ 0 w 1944"/>
                <a:gd name="T5" fmla="*/ 3 h 180"/>
                <a:gd name="T6" fmla="*/ 1173 w 1944"/>
                <a:gd name="T7" fmla="*/ 180 h 180"/>
                <a:gd name="T8" fmla="*/ 1944 w 1944"/>
                <a:gd name="T9" fmla="*/ 175 h 1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4"/>
                <a:gd name="T16" fmla="*/ 0 h 180"/>
                <a:gd name="T17" fmla="*/ 1944 w 1944"/>
                <a:gd name="T18" fmla="*/ 180 h 18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4" h="180">
                  <a:moveTo>
                    <a:pt x="1944" y="175"/>
                  </a:moveTo>
                  <a:lnTo>
                    <a:pt x="280" y="0"/>
                  </a:lnTo>
                  <a:lnTo>
                    <a:pt x="0" y="3"/>
                  </a:lnTo>
                  <a:lnTo>
                    <a:pt x="1173" y="180"/>
                  </a:lnTo>
                  <a:lnTo>
                    <a:pt x="1944" y="175"/>
                  </a:lnTo>
                  <a:close/>
                </a:path>
              </a:pathLst>
            </a:custGeom>
            <a:solidFill>
              <a:srgbClr val="FF9900">
                <a:alpha val="45882"/>
              </a:srgbClr>
            </a:solidFill>
            <a:ln w="6350">
              <a:solidFill>
                <a:srgbClr val="FF99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fa-IR"/>
            </a:p>
          </p:txBody>
        </p:sp>
        <p:sp>
          <p:nvSpPr>
            <p:cNvPr id="79907" name="Line 153"/>
            <p:cNvSpPr>
              <a:spLocks noChangeAspect="1" noChangeShapeType="1"/>
            </p:cNvSpPr>
            <p:nvPr/>
          </p:nvSpPr>
          <p:spPr bwMode="auto">
            <a:xfrm flipH="1" flipV="1">
              <a:off x="829" y="3253"/>
              <a:ext cx="891" cy="342"/>
            </a:xfrm>
            <a:prstGeom prst="line">
              <a:avLst/>
            </a:prstGeom>
            <a:noFill/>
            <a:ln w="6350">
              <a:solidFill>
                <a:srgbClr val="FF99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a-IR"/>
            </a:p>
          </p:txBody>
        </p:sp>
        <p:sp>
          <p:nvSpPr>
            <p:cNvPr id="79908" name="Freeform 154"/>
            <p:cNvSpPr>
              <a:spLocks/>
            </p:cNvSpPr>
            <p:nvPr/>
          </p:nvSpPr>
          <p:spPr bwMode="auto">
            <a:xfrm>
              <a:off x="546" y="2982"/>
              <a:ext cx="1181" cy="911"/>
            </a:xfrm>
            <a:custGeom>
              <a:avLst/>
              <a:gdLst>
                <a:gd name="T0" fmla="*/ 1181 w 1181"/>
                <a:gd name="T1" fmla="*/ 179 h 911"/>
                <a:gd name="T2" fmla="*/ 0 w 1181"/>
                <a:gd name="T3" fmla="*/ 0 h 911"/>
                <a:gd name="T4" fmla="*/ 0 w 1181"/>
                <a:gd name="T5" fmla="*/ 278 h 911"/>
                <a:gd name="T6" fmla="*/ 1178 w 1181"/>
                <a:gd name="T7" fmla="*/ 911 h 911"/>
                <a:gd name="T8" fmla="*/ 1181 w 1181"/>
                <a:gd name="T9" fmla="*/ 179 h 9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1"/>
                <a:gd name="T16" fmla="*/ 0 h 911"/>
                <a:gd name="T17" fmla="*/ 1181 w 1181"/>
                <a:gd name="T18" fmla="*/ 911 h 9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1" h="911">
                  <a:moveTo>
                    <a:pt x="1181" y="179"/>
                  </a:moveTo>
                  <a:lnTo>
                    <a:pt x="0" y="0"/>
                  </a:lnTo>
                  <a:lnTo>
                    <a:pt x="0" y="278"/>
                  </a:lnTo>
                  <a:lnTo>
                    <a:pt x="1178" y="911"/>
                  </a:lnTo>
                  <a:lnTo>
                    <a:pt x="1181" y="179"/>
                  </a:lnTo>
                  <a:close/>
                </a:path>
              </a:pathLst>
            </a:custGeom>
            <a:solidFill>
              <a:srgbClr val="FF9900">
                <a:alpha val="45882"/>
              </a:srgbClr>
            </a:solidFill>
            <a:ln w="6350">
              <a:solidFill>
                <a:srgbClr val="FF99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fa-IR"/>
            </a:p>
          </p:txBody>
        </p:sp>
      </p:grpSp>
      <p:grpSp>
        <p:nvGrpSpPr>
          <p:cNvPr id="22" name="Group 155"/>
          <p:cNvGrpSpPr>
            <a:grpSpLocks/>
          </p:cNvGrpSpPr>
          <p:nvPr/>
        </p:nvGrpSpPr>
        <p:grpSpPr bwMode="auto">
          <a:xfrm>
            <a:off x="4556125" y="5307013"/>
            <a:ext cx="1084263" cy="1030287"/>
            <a:chOff x="2870" y="3227"/>
            <a:chExt cx="683" cy="649"/>
          </a:xfrm>
        </p:grpSpPr>
        <p:sp>
          <p:nvSpPr>
            <p:cNvPr id="79883" name="Oval 156"/>
            <p:cNvSpPr>
              <a:spLocks noChangeArrowheads="1"/>
            </p:cNvSpPr>
            <p:nvPr/>
          </p:nvSpPr>
          <p:spPr bwMode="auto">
            <a:xfrm>
              <a:off x="2870" y="3227"/>
              <a:ext cx="683" cy="649"/>
            </a:xfrm>
            <a:prstGeom prst="ellipse">
              <a:avLst/>
            </a:prstGeom>
            <a:solidFill>
              <a:srgbClr val="FF3300"/>
            </a:solidFill>
            <a:ln w="9525">
              <a:round/>
              <a:headEnd/>
              <a:tailEnd/>
            </a:ln>
            <a:scene3d>
              <a:camera prst="legacyPerspectiveBottomLeft">
                <a:rot lat="600000" lon="0" rev="0"/>
              </a:camera>
              <a:lightRig rig="legacyFlat2" dir="t"/>
            </a:scene3d>
            <a:sp3d extrusionH="50773000" prstMaterial="legacyMatte">
              <a:bevelT w="13500" h="13500" prst="angle"/>
              <a:bevelB w="13500" h="13500" prst="angle"/>
              <a:extrusionClr>
                <a:srgbClr val="FF3300"/>
              </a:extrusionClr>
              <a:contourClr>
                <a:srgbClr val="FF3300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Ø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endParaRPr>
            </a:p>
          </p:txBody>
        </p:sp>
        <p:grpSp>
          <p:nvGrpSpPr>
            <p:cNvPr id="79884" name="Group 157"/>
            <p:cNvGrpSpPr>
              <a:grpSpLocks/>
            </p:cNvGrpSpPr>
            <p:nvPr/>
          </p:nvGrpSpPr>
          <p:grpSpPr bwMode="auto">
            <a:xfrm>
              <a:off x="2870" y="3298"/>
              <a:ext cx="521" cy="485"/>
              <a:chOff x="2870" y="3298"/>
              <a:chExt cx="521" cy="485"/>
            </a:xfrm>
          </p:grpSpPr>
          <p:sp>
            <p:nvSpPr>
              <p:cNvPr id="79885" name="Line 158"/>
              <p:cNvSpPr>
                <a:spLocks noChangeShapeType="1"/>
              </p:cNvSpPr>
              <p:nvPr/>
            </p:nvSpPr>
            <p:spPr bwMode="auto">
              <a:xfrm rot="2862505" flipH="1">
                <a:off x="3141" y="3513"/>
                <a:ext cx="0" cy="100"/>
              </a:xfrm>
              <a:prstGeom prst="line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a-IR"/>
              </a:p>
            </p:txBody>
          </p:sp>
          <p:sp>
            <p:nvSpPr>
              <p:cNvPr id="79886" name="Line 159"/>
              <p:cNvSpPr>
                <a:spLocks noChangeShapeType="1"/>
              </p:cNvSpPr>
              <p:nvPr/>
            </p:nvSpPr>
            <p:spPr bwMode="auto">
              <a:xfrm rot="2862505" flipH="1">
                <a:off x="3123" y="3493"/>
                <a:ext cx="0" cy="100"/>
              </a:xfrm>
              <a:prstGeom prst="line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a-IR"/>
              </a:p>
            </p:txBody>
          </p:sp>
          <p:sp>
            <p:nvSpPr>
              <p:cNvPr id="79887" name="Line 160"/>
              <p:cNvSpPr>
                <a:spLocks noChangeShapeType="1"/>
              </p:cNvSpPr>
              <p:nvPr/>
            </p:nvSpPr>
            <p:spPr bwMode="auto">
              <a:xfrm rot="2862505" flipH="1">
                <a:off x="3040" y="3557"/>
                <a:ext cx="54" cy="0"/>
              </a:xfrm>
              <a:prstGeom prst="line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a-IR"/>
              </a:p>
            </p:txBody>
          </p:sp>
          <p:sp>
            <p:nvSpPr>
              <p:cNvPr id="79888" name="Line 161"/>
              <p:cNvSpPr>
                <a:spLocks noChangeShapeType="1"/>
              </p:cNvSpPr>
              <p:nvPr/>
            </p:nvSpPr>
            <p:spPr bwMode="auto">
              <a:xfrm rot="2862505" flipH="1">
                <a:off x="3114" y="3489"/>
                <a:ext cx="54" cy="0"/>
              </a:xfrm>
              <a:prstGeom prst="line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a-IR"/>
              </a:p>
            </p:txBody>
          </p:sp>
          <p:sp>
            <p:nvSpPr>
              <p:cNvPr id="79889" name="Line 162"/>
              <p:cNvSpPr>
                <a:spLocks noChangeAspect="1" noChangeShapeType="1"/>
              </p:cNvSpPr>
              <p:nvPr/>
            </p:nvSpPr>
            <p:spPr bwMode="auto">
              <a:xfrm rot="2862505" flipH="1">
                <a:off x="2973" y="3502"/>
                <a:ext cx="0" cy="205"/>
              </a:xfrm>
              <a:prstGeom prst="line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a-IR"/>
              </a:p>
            </p:txBody>
          </p:sp>
          <p:sp>
            <p:nvSpPr>
              <p:cNvPr id="79890" name="Line 163"/>
              <p:cNvSpPr>
                <a:spLocks noChangeShapeType="1"/>
              </p:cNvSpPr>
              <p:nvPr/>
            </p:nvSpPr>
            <p:spPr bwMode="auto">
              <a:xfrm rot="2862505" flipH="1">
                <a:off x="3151" y="3406"/>
                <a:ext cx="0" cy="76"/>
              </a:xfrm>
              <a:prstGeom prst="line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a-IR"/>
              </a:p>
            </p:txBody>
          </p:sp>
          <p:sp>
            <p:nvSpPr>
              <p:cNvPr id="79891" name="Line 164"/>
              <p:cNvSpPr>
                <a:spLocks noChangeShapeType="1"/>
              </p:cNvSpPr>
              <p:nvPr/>
            </p:nvSpPr>
            <p:spPr bwMode="auto">
              <a:xfrm rot="2862505">
                <a:off x="3123" y="3603"/>
                <a:ext cx="107" cy="0"/>
              </a:xfrm>
              <a:prstGeom prst="line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a-IR"/>
              </a:p>
            </p:txBody>
          </p:sp>
          <p:sp>
            <p:nvSpPr>
              <p:cNvPr id="79892" name="Rectangle 165"/>
              <p:cNvSpPr>
                <a:spLocks noChangeArrowheads="1"/>
              </p:cNvSpPr>
              <p:nvPr/>
            </p:nvSpPr>
            <p:spPr bwMode="auto">
              <a:xfrm>
                <a:off x="3220" y="3639"/>
                <a:ext cx="144" cy="144"/>
              </a:xfrm>
              <a:prstGeom prst="rect">
                <a:avLst/>
              </a:prstGeom>
              <a:solidFill>
                <a:srgbClr val="99CC00"/>
              </a:solidFill>
              <a:ln w="2857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rgbClr val="FF505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Ø"/>
                  <a:defRPr sz="220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−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−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chemeClr val="tx1"/>
                  </a:solidFill>
                  <a:latin typeface="Times New Roman" panose="02020603050405020304" pitchFamily="18" charset="0"/>
                  <a:cs typeface="Lotus" panose="00000400000000000000" pitchFamily="2" charset="-78"/>
                </a:endParaRPr>
              </a:p>
            </p:txBody>
          </p:sp>
          <p:sp>
            <p:nvSpPr>
              <p:cNvPr id="79893" name="Line 166"/>
              <p:cNvSpPr>
                <a:spLocks noChangeAspect="1" noChangeShapeType="1"/>
              </p:cNvSpPr>
              <p:nvPr/>
            </p:nvSpPr>
            <p:spPr bwMode="auto">
              <a:xfrm rot="2862505" flipH="1">
                <a:off x="3312" y="3224"/>
                <a:ext cx="0" cy="159"/>
              </a:xfrm>
              <a:prstGeom prst="line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a-IR"/>
              </a:p>
            </p:txBody>
          </p:sp>
          <p:sp>
            <p:nvSpPr>
              <p:cNvPr id="79894" name="AutoShape 167"/>
              <p:cNvSpPr>
                <a:spLocks noChangeArrowheads="1"/>
              </p:cNvSpPr>
              <p:nvPr/>
            </p:nvSpPr>
            <p:spPr bwMode="auto">
              <a:xfrm rot="2725370">
                <a:off x="3165" y="3300"/>
                <a:ext cx="144" cy="140"/>
              </a:xfrm>
              <a:prstGeom prst="triangle">
                <a:avLst>
                  <a:gd name="adj" fmla="val 50000"/>
                </a:avLst>
              </a:prstGeom>
              <a:solidFill>
                <a:srgbClr val="99CC00"/>
              </a:solidFill>
              <a:ln w="28575" algn="ctr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rgbClr val="FF505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Ø"/>
                  <a:defRPr sz="220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−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−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chemeClr val="tx1"/>
                  </a:solidFill>
                  <a:latin typeface="Times New Roman" panose="02020603050405020304" pitchFamily="18" charset="0"/>
                  <a:cs typeface="Lotus" panose="00000400000000000000" pitchFamily="2" charset="-78"/>
                </a:endParaRP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presentation_template">
  <a:themeElements>
    <a:clrScheme name="1_presentation_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presentation_templat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lnDef>
  </a:objectDefaults>
  <a:extraClrSchemeLst>
    <a:extraClrScheme>
      <a:clrScheme name="1_presentation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entation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27147</TotalTime>
  <Words>730</Words>
  <Application>Microsoft Office PowerPoint</Application>
  <PresentationFormat>On-screen Show (4:3)</PresentationFormat>
  <Paragraphs>208</Paragraphs>
  <Slides>35</Slides>
  <Notes>26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9" baseType="lpstr">
      <vt:lpstr>Arial</vt:lpstr>
      <vt:lpstr>B Nazanin</vt:lpstr>
      <vt:lpstr>B Titr</vt:lpstr>
      <vt:lpstr>Calibri</vt:lpstr>
      <vt:lpstr>Courier New</vt:lpstr>
      <vt:lpstr>Lotus</vt:lpstr>
      <vt:lpstr>Lucida Sans Unicode</vt:lpstr>
      <vt:lpstr>StarSymbol</vt:lpstr>
      <vt:lpstr>Symbol</vt:lpstr>
      <vt:lpstr>Times New Roman</vt:lpstr>
      <vt:lpstr>Titr</vt:lpstr>
      <vt:lpstr>Wingdings</vt:lpstr>
      <vt:lpstr>1_presentation_template</vt:lpstr>
      <vt:lpstr>Visio</vt:lpstr>
      <vt:lpstr>طراحی سيستم های ديجيتال برنامه پذير</vt:lpstr>
      <vt:lpstr>طراحی سيستم های ديجيتال برنامه پذير</vt:lpstr>
      <vt:lpstr>تراشه‌هاي منطقي برنامه‌پذير</vt:lpstr>
      <vt:lpstr>Digital Systems</vt:lpstr>
      <vt:lpstr>Technology Trend</vt:lpstr>
      <vt:lpstr>Technology Trend</vt:lpstr>
      <vt:lpstr>Technology Trend</vt:lpstr>
      <vt:lpstr>Hardware vs. Software</vt:lpstr>
      <vt:lpstr>Hardware vs. Software</vt:lpstr>
      <vt:lpstr>The Von Neumann Computer</vt:lpstr>
      <vt:lpstr>Hardware Implementation</vt:lpstr>
      <vt:lpstr>HW vs. SW Implementation Example</vt:lpstr>
      <vt:lpstr>مدارهاي ديجيتال</vt:lpstr>
      <vt:lpstr>Programmable Logic Array (PLA)</vt:lpstr>
      <vt:lpstr>PLA</vt:lpstr>
      <vt:lpstr>PLA</vt:lpstr>
      <vt:lpstr>PAL</vt:lpstr>
      <vt:lpstr>Programmable Array Logic (PAL)</vt:lpstr>
      <vt:lpstr>PAL 16R8</vt:lpstr>
      <vt:lpstr>PAL 16R8</vt:lpstr>
      <vt:lpstr>Simple PLD (SPLD) (22V10)</vt:lpstr>
      <vt:lpstr>SPLD Macrocell</vt:lpstr>
      <vt:lpstr>CPLD</vt:lpstr>
      <vt:lpstr>بخشي از CPLD</vt:lpstr>
      <vt:lpstr>ساختار FPGA</vt:lpstr>
      <vt:lpstr>ساختار FPGA</vt:lpstr>
      <vt:lpstr>Logic Cell</vt:lpstr>
      <vt:lpstr>LUT</vt:lpstr>
      <vt:lpstr>مثال</vt:lpstr>
      <vt:lpstr>مثال</vt:lpstr>
      <vt:lpstr>مثال</vt:lpstr>
      <vt:lpstr>Logic Cell نمونه</vt:lpstr>
      <vt:lpstr>ساختار FPGA</vt:lpstr>
      <vt:lpstr>Programmable Switch Matrix  (PSM)</vt:lpstr>
      <vt:lpstr>SRAM-Based FPGA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 msz</dc:creator>
  <cp:lastModifiedBy>M msz</cp:lastModifiedBy>
  <cp:revision>536</cp:revision>
  <dcterms:created xsi:type="dcterms:W3CDTF">1601-01-01T00:00:00Z</dcterms:created>
  <dcterms:modified xsi:type="dcterms:W3CDTF">2024-02-12T08:54:22Z</dcterms:modified>
</cp:coreProperties>
</file>