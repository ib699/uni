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vsd" ContentType="application/vnd.visio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53"/>
  </p:notesMasterIdLst>
  <p:sldIdLst>
    <p:sldId id="428" r:id="rId3"/>
    <p:sldId id="376" r:id="rId4"/>
    <p:sldId id="444" r:id="rId5"/>
    <p:sldId id="391" r:id="rId6"/>
    <p:sldId id="392" r:id="rId7"/>
    <p:sldId id="393" r:id="rId8"/>
    <p:sldId id="395" r:id="rId9"/>
    <p:sldId id="396" r:id="rId10"/>
    <p:sldId id="397" r:id="rId11"/>
    <p:sldId id="399" r:id="rId12"/>
    <p:sldId id="452" r:id="rId13"/>
    <p:sldId id="398" r:id="rId14"/>
    <p:sldId id="446" r:id="rId15"/>
    <p:sldId id="447" r:id="rId16"/>
    <p:sldId id="448" r:id="rId17"/>
    <p:sldId id="449" r:id="rId18"/>
    <p:sldId id="445" r:id="rId19"/>
    <p:sldId id="400" r:id="rId20"/>
    <p:sldId id="432" r:id="rId21"/>
    <p:sldId id="433" r:id="rId22"/>
    <p:sldId id="401" r:id="rId23"/>
    <p:sldId id="453" r:id="rId24"/>
    <p:sldId id="434" r:id="rId25"/>
    <p:sldId id="435" r:id="rId26"/>
    <p:sldId id="436" r:id="rId27"/>
    <p:sldId id="454" r:id="rId28"/>
    <p:sldId id="455" r:id="rId29"/>
    <p:sldId id="437" r:id="rId30"/>
    <p:sldId id="394" r:id="rId31"/>
    <p:sldId id="405" r:id="rId32"/>
    <p:sldId id="450" r:id="rId33"/>
    <p:sldId id="408" r:id="rId34"/>
    <p:sldId id="409" r:id="rId35"/>
    <p:sldId id="410" r:id="rId36"/>
    <p:sldId id="406" r:id="rId37"/>
    <p:sldId id="423" r:id="rId38"/>
    <p:sldId id="412" r:id="rId39"/>
    <p:sldId id="413" r:id="rId40"/>
    <p:sldId id="414" r:id="rId41"/>
    <p:sldId id="431" r:id="rId42"/>
    <p:sldId id="415" r:id="rId43"/>
    <p:sldId id="451" r:id="rId44"/>
    <p:sldId id="416" r:id="rId45"/>
    <p:sldId id="418" r:id="rId46"/>
    <p:sldId id="419" r:id="rId47"/>
    <p:sldId id="442" r:id="rId48"/>
    <p:sldId id="443" r:id="rId49"/>
    <p:sldId id="440" r:id="rId50"/>
    <p:sldId id="456" r:id="rId51"/>
    <p:sldId id="457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0000"/>
    <a:srgbClr val="C2FFF0"/>
    <a:srgbClr val="CC6600"/>
    <a:srgbClr val="0033CC"/>
    <a:srgbClr val="669900"/>
    <a:srgbClr val="CCFF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65" autoAdjust="0"/>
    <p:restoredTop sz="90495" autoAdjust="0"/>
  </p:normalViewPr>
  <p:slideViewPr>
    <p:cSldViewPr>
      <p:cViewPr varScale="1">
        <p:scale>
          <a:sx n="59" d="100"/>
          <a:sy n="59" d="100"/>
        </p:scale>
        <p:origin x="689" y="29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769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20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F01B13D-4C58-4117-8A77-034C433E3F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193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CE7FDA8-0906-4D1F-9A87-80960A7816F9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6537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CD2FE59-7934-4802-AFC7-CF8CCA9EAB2A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418937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691AD54-A026-4ADD-B133-ACA8BA37778A}" type="slidenum">
              <a:rPr lang="en-US" altLang="en-US" sz="1200" smtClean="0"/>
              <a:pPr/>
              <a:t>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737758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691AD54-A026-4ADD-B133-ACA8BA37778A}" type="slidenum">
              <a:rPr lang="en-US" altLang="en-US" sz="1200" smtClean="0"/>
              <a:pPr/>
              <a:t>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834098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0F3FADE-9637-4F56-97C6-1F17F19B2A58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222385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BF4DE75-9B85-4FE3-B7DB-93B974737A37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764676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9F24C3F-D747-423D-9D67-60AC90E3A078}" type="slidenum">
              <a:rPr lang="en-US" altLang="en-US" sz="1200" smtClean="0"/>
              <a:pPr/>
              <a:t>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024410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0FE6CAE-6405-4DC2-BB67-AC692F63C200}" type="slidenum">
              <a:rPr lang="en-US" altLang="en-US" sz="1200" smtClean="0"/>
              <a:pPr/>
              <a:t>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538580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08461FA-80D1-4EFA-8F3C-74B907F64855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606633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B28A51F-B34B-4360-AE1E-87481245F1EA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605081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C17488E-0097-4FF1-A075-5441711B3412}" type="slidenum">
              <a:rPr lang="en-US" altLang="en-US" sz="1200" smtClean="0"/>
              <a:pPr/>
              <a:t>12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683180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C17488E-0097-4FF1-A075-5441711B3412}" type="slidenum">
              <a:rPr lang="en-US" altLang="en-US" sz="1200" smtClean="0"/>
              <a:pPr/>
              <a:t>13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939196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C17488E-0097-4FF1-A075-5441711B3412}" type="slidenum">
              <a:rPr lang="en-US" altLang="en-US" sz="1200" smtClean="0"/>
              <a:pPr/>
              <a:t>14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037680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C17488E-0097-4FF1-A075-5441711B3412}" type="slidenum">
              <a:rPr lang="en-US" altLang="en-US" sz="1200" smtClean="0"/>
              <a:pPr/>
              <a:t>15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533196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C17488E-0097-4FF1-A075-5441711B3412}" type="slidenum">
              <a:rPr lang="en-US" altLang="en-US" sz="1200" smtClean="0"/>
              <a:pPr/>
              <a:t>16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440712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C17488E-0097-4FF1-A075-5441711B3412}" type="slidenum">
              <a:rPr lang="en-US" altLang="en-US" sz="1200" smtClean="0"/>
              <a:pPr/>
              <a:t>17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82018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446B01-B381-4F21-B0A2-9517DBACBDB1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18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87854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C17488E-0097-4FF1-A075-5441711B3412}" type="slidenum">
              <a:rPr lang="en-US" altLang="en-US" sz="1200" smtClean="0"/>
              <a:pPr/>
              <a:t>19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946047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C17488E-0097-4FF1-A075-5441711B3412}" type="slidenum">
              <a:rPr lang="en-US" altLang="en-US" sz="1200" smtClean="0"/>
              <a:pPr/>
              <a:t>20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261275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94420D7-6B59-4AC4-88B9-595E72F3B8D1}" type="slidenum">
              <a:rPr lang="en-US" altLang="en-US" sz="1200" smtClean="0"/>
              <a:pPr/>
              <a:t>21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6330593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F26C813-B04C-4AD5-967B-2684573C5B06}" type="slidenum">
              <a:rPr lang="en-US" altLang="en-US" sz="1200" smtClean="0"/>
              <a:pPr/>
              <a:t>22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3885131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F26C813-B04C-4AD5-967B-2684573C5B06}" type="slidenum">
              <a:rPr lang="en-US" altLang="en-US" sz="1200" smtClean="0"/>
              <a:pPr/>
              <a:t>23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9026329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F26C813-B04C-4AD5-967B-2684573C5B06}" type="slidenum">
              <a:rPr lang="en-US" altLang="en-US" sz="1200" smtClean="0"/>
              <a:pPr/>
              <a:t>24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5377748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F26C813-B04C-4AD5-967B-2684573C5B06}" type="slidenum">
              <a:rPr lang="en-US" altLang="en-US" sz="1200" smtClean="0"/>
              <a:pPr/>
              <a:t>25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87724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F26C813-B04C-4AD5-967B-2684573C5B06}" type="slidenum">
              <a:rPr lang="en-US" altLang="en-US" sz="1200" smtClean="0"/>
              <a:pPr/>
              <a:t>26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3224223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F26C813-B04C-4AD5-967B-2684573C5B06}" type="slidenum">
              <a:rPr lang="en-US" altLang="en-US" sz="1200" smtClean="0"/>
              <a:pPr/>
              <a:t>27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0636808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F26C813-B04C-4AD5-967B-2684573C5B06}" type="slidenum">
              <a:rPr lang="en-US" altLang="en-US" sz="1200" smtClean="0"/>
              <a:pPr/>
              <a:t>28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1169370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EC6E5C-084B-4202-9D08-A662693D7520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30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664381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6AB136-66C9-4685-B0C4-DE29E1B2CD24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31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085145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2149F8-6502-44B7-AC22-56155801BB82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32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256826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8D8837-12F7-4603-BF23-96BA71DF2404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33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854306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E48EEF4-8AC7-487F-BB07-562B258637D6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34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30754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1785FF-BE04-40D7-AB94-C832192037A0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35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446232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C3A323-0853-4355-87F2-320A395B34C3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37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58281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3E1164-5B95-412C-9F53-CBFF25673190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38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901519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BA65BE9-B2EA-4F7D-9EC3-38068C125DB3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39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693626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7B434BA-7B75-4EAC-B9BC-8FD2E147779A}" type="slidenum">
              <a:rPr lang="en-US" altLang="en-US" sz="1200" smtClean="0"/>
              <a:pPr/>
              <a:t>40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1671663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6F680E-679A-4AA5-A75B-9D583E7E9DA5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41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091074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6F680E-679A-4AA5-A75B-9D583E7E9DA5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42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764771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D9F7DC-E440-416E-8DC1-03780AE786D6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43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827723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E497D2-79BD-49D5-BB67-F2AF15834A3E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44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688169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F7E11F4-B1BC-4B0F-BFAB-3C55497F0DDA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45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846063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EB94B1-E17B-4D18-B14C-FF6474F5F83F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46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489532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F7E11F4-B1BC-4B0F-BFAB-3C55497F0DDA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47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81392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F7E11F4-B1BC-4B0F-BFAB-3C55497F0DDA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48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95542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0429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3200"/>
            </a:lvl3pPr>
            <a:lvl4pPr algn="r" rtl="1">
              <a:defRPr sz="2000"/>
            </a:lvl4pPr>
            <a:lvl5pPr algn="r" rtl="1"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846A9-CC4A-47C7-B8B7-92880D8C1A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340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436501-A0FA-4611-A866-4A81F82238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6351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774A4-0D96-4DA5-ACFC-34EB779F4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53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53B2ED-1AB1-4160-B728-B532A61984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83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7027B-FDD9-422C-A0BC-76C1B2DEA9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9328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B4CC9-18C6-4994-BEDD-8458AA3C4F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2245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A361B-EC60-415F-B6C4-C72556F393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26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12CFE-FD11-4BC8-BF94-A236553C70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0801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569C3-C8FE-4B76-9D8E-5385BE4E94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121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B4CAE-F3C8-44EF-8763-45314CB193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320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40069-8855-45F4-9C79-0FA3D0AAE2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91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86528-8ED8-4C2C-92EB-E5A19CCA76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1661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E0BBC-088B-458F-A630-52AD713E9D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7922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44899-F1BE-457B-A680-66D5533A45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2140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8EF50-1FB0-4EA3-BCB4-BD990B803A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624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E24D9E-1B2C-4F9B-AB1B-28E7578B31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68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668DB-83C6-4A6C-92AF-35406FCD9A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6573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38F60-E2E7-4CF7-9E57-A5AA135A0E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046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0BC76C-97F9-417C-87DC-788B0FE43F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10773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631A6C-4384-47DD-9246-883F9B1AEE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312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84DF-6EB4-4934-BF6A-E8C4DFEBBA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3173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16B4DB4-EE71-4039-808D-A23E9CB2C1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64" r:id="rId1"/>
    <p:sldLayoutId id="2147484843" r:id="rId2"/>
    <p:sldLayoutId id="2147484844" r:id="rId3"/>
    <p:sldLayoutId id="2147484845" r:id="rId4"/>
    <p:sldLayoutId id="2147484846" r:id="rId5"/>
    <p:sldLayoutId id="2147484847" r:id="rId6"/>
    <p:sldLayoutId id="2147484848" r:id="rId7"/>
    <p:sldLayoutId id="2147484849" r:id="rId8"/>
    <p:sldLayoutId id="2147484850" r:id="rId9"/>
    <p:sldLayoutId id="2147484851" r:id="rId10"/>
    <p:sldLayoutId id="2147484852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B7F3605-A81C-42EF-BE4E-F2A0C5C589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53" r:id="rId1"/>
    <p:sldLayoutId id="2147484854" r:id="rId2"/>
    <p:sldLayoutId id="2147484855" r:id="rId3"/>
    <p:sldLayoutId id="2147484856" r:id="rId4"/>
    <p:sldLayoutId id="2147484857" r:id="rId5"/>
    <p:sldLayoutId id="2147484858" r:id="rId6"/>
    <p:sldLayoutId id="2147484859" r:id="rId7"/>
    <p:sldLayoutId id="2147484860" r:id="rId8"/>
    <p:sldLayoutId id="2147484861" r:id="rId9"/>
    <p:sldLayoutId id="2147484862" r:id="rId10"/>
    <p:sldLayoutId id="214748486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Visio_Drawing1.vsdx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5" Type="http://schemas.openxmlformats.org/officeDocument/2006/relationships/oleObject" Target="../embeddings/Microsoft_Visio_2003-2010_Drawing1.vsd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emf"/><Relationship Id="rId5" Type="http://schemas.openxmlformats.org/officeDocument/2006/relationships/oleObject" Target="../embeddings/Microsoft_Visio_2003-2010_Drawing2.vsd"/><Relationship Id="rId4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emf"/><Relationship Id="rId5" Type="http://schemas.openxmlformats.org/officeDocument/2006/relationships/oleObject" Target="../embeddings/Microsoft_Visio_2003-2010_Drawing3.vsd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Visio_2003-2010_Drawing5.vsd"/><Relationship Id="rId3" Type="http://schemas.openxmlformats.org/officeDocument/2006/relationships/notesSlide" Target="../notesSlides/notesSlide27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emf"/><Relationship Id="rId11" Type="http://schemas.openxmlformats.org/officeDocument/2006/relationships/oleObject" Target="../embeddings/Microsoft_Visio_2003-2010_Drawing6.vsd"/><Relationship Id="rId5" Type="http://schemas.openxmlformats.org/officeDocument/2006/relationships/oleObject" Target="../embeddings/Microsoft_Visio_2003-2010_Drawing4.vsd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6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emf"/><Relationship Id="rId5" Type="http://schemas.openxmlformats.org/officeDocument/2006/relationships/oleObject" Target="../embeddings/Microsoft_Visio_2003-2010_Drawing7.vsd"/><Relationship Id="rId4" Type="http://schemas.openxmlformats.org/officeDocument/2006/relationships/oleObject" Target="../embeddings/oleObject8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9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0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smtClean="0"/>
              <a:t>زبان توصیف سخت‌افزار</a:t>
            </a:r>
            <a:endParaRPr lang="en-US" altLang="en-US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smtClean="0"/>
              <a:t>Hardware Description Language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زبان‌ها</a:t>
            </a:r>
            <a:endParaRPr lang="en-US" alt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39750" y="1000125"/>
            <a:ext cx="8032750" cy="5214938"/>
          </a:xfrm>
        </p:spPr>
        <p:txBody>
          <a:bodyPr/>
          <a:lstStyle/>
          <a:p>
            <a:pPr lvl="1"/>
            <a:r>
              <a:rPr lang="en-US" altLang="en-US" dirty="0" err="1" smtClean="0"/>
              <a:t>VHDL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 یادگیری حداقل یک زبان به طور کامل</a:t>
            </a:r>
          </a:p>
          <a:p>
            <a:pPr lvl="3"/>
            <a:r>
              <a:rPr lang="fa-IR" altLang="en-US" sz="2400" dirty="0" smtClean="0"/>
              <a:t>یادگیری ناقص و سعی و خطا </a:t>
            </a:r>
            <a:r>
              <a:rPr lang="fa-IR" altLang="en-US" sz="2400" dirty="0" smtClean="0">
                <a:sym typeface="Wingdings" panose="05000000000000000000" pitchFamily="2" charset="2"/>
              </a:rPr>
              <a:t> سخت شدن توصیف و اشکال‌زدایی</a:t>
            </a:r>
            <a:endParaRPr lang="fa-IR" altLang="en-US" sz="2400" dirty="0" smtClean="0"/>
          </a:p>
          <a:p>
            <a:pPr lvl="2"/>
            <a:endParaRPr lang="fa-IR" altLang="en-US" dirty="0" smtClean="0"/>
          </a:p>
          <a:p>
            <a:pPr lvl="2"/>
            <a:r>
              <a:rPr lang="fa-IR" altLang="en-US" sz="2400" dirty="0" smtClean="0"/>
              <a:t> </a:t>
            </a:r>
            <a:r>
              <a:rPr lang="en-US" altLang="en-US" sz="2400" dirty="0" err="1" smtClean="0"/>
              <a:t>VHDL</a:t>
            </a:r>
            <a:r>
              <a:rPr lang="en-US" altLang="en-US" sz="2400" dirty="0" smtClean="0"/>
              <a:t>/Verilog</a:t>
            </a:r>
            <a:r>
              <a:rPr lang="fa-IR" altLang="en-US" sz="2800" dirty="0" smtClean="0"/>
              <a:t>: اصول یکسان – ساختارهای نحوی متفاوت</a:t>
            </a:r>
          </a:p>
          <a:p>
            <a:pPr lvl="2"/>
            <a:r>
              <a:rPr lang="fa-IR" altLang="en-US" sz="2400" dirty="0" smtClean="0"/>
              <a:t> </a:t>
            </a:r>
            <a:r>
              <a:rPr lang="en-US" altLang="en-US" sz="2400" dirty="0" smtClean="0"/>
              <a:t>VHSIC HDL</a:t>
            </a:r>
            <a:r>
              <a:rPr lang="fa-IR" altLang="en-US" sz="2800" dirty="0" smtClean="0"/>
              <a:t> (اوایل دهة 1980)</a:t>
            </a:r>
          </a:p>
          <a:p>
            <a:pPr lvl="2"/>
            <a:r>
              <a:rPr lang="fa-IR" altLang="en-US" sz="2800" dirty="0" smtClean="0"/>
              <a:t> مبتنی بر زبان </a:t>
            </a:r>
            <a:r>
              <a:rPr lang="en-US" altLang="en-US" sz="2400" dirty="0" smtClean="0"/>
              <a:t>ADA</a:t>
            </a:r>
            <a:endParaRPr lang="fa-IR" altLang="en-US" sz="2800" dirty="0" smtClean="0"/>
          </a:p>
          <a:p>
            <a:pPr lvl="2"/>
            <a:endParaRPr lang="fa-IR" altLang="en-US" dirty="0" smtClean="0"/>
          </a:p>
          <a:p>
            <a:pPr lvl="3"/>
            <a:endParaRPr lang="fa-IR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ED34F6A-B66E-4FF9-93FB-9A43A3A5CFF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VHDL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539750" y="1527175"/>
            <a:ext cx="8032750" cy="3773488"/>
          </a:xfrm>
        </p:spPr>
        <p:txBody>
          <a:bodyPr/>
          <a:lstStyle/>
          <a:p>
            <a:r>
              <a:rPr lang="fa-IR" altLang="en-US" dirty="0" smtClean="0"/>
              <a:t>کاربردها: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مستندسازی (</a:t>
            </a:r>
            <a:r>
              <a:rPr lang="en-US" altLang="en-US" sz="2400" dirty="0" smtClean="0"/>
              <a:t>documentation</a:t>
            </a:r>
            <a:r>
              <a:rPr lang="fa-IR" altLang="en-US" dirty="0" smtClean="0"/>
              <a:t>)</a:t>
            </a:r>
          </a:p>
          <a:p>
            <a:pPr lvl="1"/>
            <a:r>
              <a:rPr lang="fa-IR" altLang="en-US" dirty="0" smtClean="0"/>
              <a:t>مدل‌سازی (</a:t>
            </a:r>
            <a:r>
              <a:rPr lang="en-US" altLang="en-US" sz="2400" dirty="0" smtClean="0"/>
              <a:t>modeling</a:t>
            </a:r>
            <a:r>
              <a:rPr lang="fa-IR" altLang="en-US" dirty="0" smtClean="0"/>
              <a:t>)</a:t>
            </a:r>
          </a:p>
          <a:p>
            <a:pPr lvl="1"/>
            <a:r>
              <a:rPr lang="fa-IR" altLang="en-US" dirty="0" smtClean="0"/>
              <a:t>سنتز و پیاده‌سازی (</a:t>
            </a:r>
            <a:r>
              <a:rPr lang="en-US" altLang="en-US" sz="2400" dirty="0" smtClean="0"/>
              <a:t>synthesis and implementation</a:t>
            </a:r>
            <a:r>
              <a:rPr lang="fa-IR" altLang="en-US" dirty="0" smtClean="0"/>
              <a:t>)</a:t>
            </a:r>
          </a:p>
          <a:p>
            <a:pPr lvl="1"/>
            <a:r>
              <a:rPr lang="fa-IR" altLang="en-US" dirty="0" smtClean="0"/>
              <a:t>درستی‌سنجی (</a:t>
            </a:r>
            <a:r>
              <a:rPr lang="en-US" altLang="en-US" sz="2400" dirty="0" smtClean="0"/>
              <a:t>verification</a:t>
            </a:r>
            <a:r>
              <a:rPr lang="fa-IR" altLang="en-US" dirty="0" smtClean="0"/>
              <a:t>)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4833428-5F54-472B-8E08-1D6D4B2C4DE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21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VHDL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539750" y="1527175"/>
            <a:ext cx="8032750" cy="3773488"/>
          </a:xfrm>
        </p:spPr>
        <p:txBody>
          <a:bodyPr/>
          <a:lstStyle/>
          <a:p>
            <a:r>
              <a:rPr lang="fa-IR" altLang="en-US" dirty="0" smtClean="0"/>
              <a:t>کاربردها: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مستندسازی (طرز کار سخت‌افزار یا تراشه مشخص):</a:t>
            </a:r>
          </a:p>
          <a:p>
            <a:pPr lvl="2"/>
            <a:r>
              <a:rPr lang="fa-IR" altLang="en-US" dirty="0" smtClean="0"/>
              <a:t> به جای توصیف زبان طبیعی:</a:t>
            </a:r>
          </a:p>
          <a:p>
            <a:pPr lvl="3"/>
            <a:r>
              <a:rPr lang="fa-IR" altLang="en-US" sz="2400" dirty="0" smtClean="0"/>
              <a:t>نادقیق (برداشت‌های مختلف)</a:t>
            </a:r>
          </a:p>
          <a:p>
            <a:pPr lvl="3"/>
            <a:r>
              <a:rPr lang="fa-IR" altLang="en-US" sz="2400" dirty="0" smtClean="0"/>
              <a:t>غیر قابل پردازش</a:t>
            </a:r>
          </a:p>
          <a:p>
            <a:pPr lvl="1"/>
            <a:endParaRPr lang="fa-IR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4833428-5F54-472B-8E08-1D6D4B2C4DE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VHDL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9750" y="1000125"/>
            <a:ext cx="8032750" cy="5214938"/>
          </a:xfrm>
        </p:spPr>
        <p:txBody>
          <a:bodyPr/>
          <a:lstStyle/>
          <a:p>
            <a:r>
              <a:rPr lang="fa-IR" altLang="en-US" sz="3600" dirty="0" smtClean="0"/>
              <a:t>کاربردها:</a:t>
            </a:r>
            <a:endParaRPr lang="en-US" altLang="en-US" sz="3600" dirty="0" smtClean="0"/>
          </a:p>
          <a:p>
            <a:pPr lvl="1"/>
            <a:r>
              <a:rPr lang="fa-IR" altLang="en-US" sz="3600" dirty="0" smtClean="0"/>
              <a:t>مدل‌سازی:</a:t>
            </a:r>
          </a:p>
          <a:p>
            <a:pPr lvl="2"/>
            <a:r>
              <a:rPr lang="fa-IR" altLang="en-US" sz="3600" dirty="0" smtClean="0"/>
              <a:t> </a:t>
            </a:r>
            <a:r>
              <a:rPr lang="fa-IR" altLang="en-US" dirty="0" smtClean="0"/>
              <a:t>مراحل اولیة طراحی:</a:t>
            </a:r>
            <a:endParaRPr lang="fa-IR" altLang="en-US" sz="3600" dirty="0" smtClean="0"/>
          </a:p>
          <a:p>
            <a:pPr lvl="3"/>
            <a:r>
              <a:rPr lang="fa-IR" altLang="en-US" sz="2800" dirty="0" smtClean="0"/>
              <a:t> عملکرد و رفتار کلی مشخص است</a:t>
            </a:r>
          </a:p>
          <a:p>
            <a:pPr lvl="3"/>
            <a:r>
              <a:rPr lang="fa-IR" altLang="en-US" sz="2800" dirty="0" smtClean="0"/>
              <a:t> توصیف الگوریتم با دستورهای رفتاری</a:t>
            </a:r>
          </a:p>
          <a:p>
            <a:pPr lvl="3"/>
            <a:r>
              <a:rPr lang="fa-IR" altLang="en-US" sz="2800" dirty="0" smtClean="0"/>
              <a:t> کمک به فهم صورت مسأله</a:t>
            </a:r>
          </a:p>
          <a:p>
            <a:pPr lvl="3"/>
            <a:r>
              <a:rPr lang="fa-IR" altLang="en-US" sz="2800" dirty="0" smtClean="0"/>
              <a:t> جلوگیری از سرایت اشکالات به سطوح پایین طراحی</a:t>
            </a:r>
          </a:p>
          <a:p>
            <a:pPr lvl="1"/>
            <a:endParaRPr lang="fa-IR" altLang="en-US" sz="3200" dirty="0" smtClean="0"/>
          </a:p>
          <a:p>
            <a:pPr lvl="2"/>
            <a:endParaRPr lang="en-US" altLang="en-US" sz="3600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7554D4B-ECBC-4F98-9061-32E1164F845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VHDL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5292725" y="1000125"/>
            <a:ext cx="3640138" cy="5214938"/>
          </a:xfrm>
        </p:spPr>
        <p:txBody>
          <a:bodyPr/>
          <a:lstStyle/>
          <a:p>
            <a:r>
              <a:rPr lang="fa-IR" altLang="en-US" smtClean="0"/>
              <a:t>کاربردها:</a:t>
            </a:r>
            <a:endParaRPr lang="en-US" altLang="en-US" smtClean="0"/>
          </a:p>
          <a:p>
            <a:pPr lvl="1"/>
            <a:r>
              <a:rPr lang="fa-IR" altLang="en-US" smtClean="0"/>
              <a:t>مدل‌سازی:</a:t>
            </a:r>
          </a:p>
          <a:p>
            <a:pPr lvl="2"/>
            <a:r>
              <a:rPr lang="fa-IR" altLang="en-US" sz="2400" smtClean="0"/>
              <a:t>مثال: کنترل‌کنندة آسانسور</a:t>
            </a: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21F4EEB-483D-47CA-B51B-50550C7FDA1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468313" y="2060575"/>
            <a:ext cx="4824412" cy="41544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while (true) loop</a:t>
            </a:r>
            <a:endParaRPr lang="en-US" altLang="en-US" sz="20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  <a:endParaRPr lang="en-US" altLang="en-US" sz="20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...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(REQUEST = true)then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(REQUEST_FLOOR &gt; CURRENT_FLOOR)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MOVE_UP (CURRENT_FLOOR, ...);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MOVE_DOWN (CURRENT_FLOOR, ...);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...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loop;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VHDL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042988" y="548680"/>
            <a:ext cx="7889875" cy="5214938"/>
          </a:xfrm>
        </p:spPr>
        <p:txBody>
          <a:bodyPr/>
          <a:lstStyle/>
          <a:p>
            <a:r>
              <a:rPr lang="fa-IR" altLang="en-US" dirty="0" smtClean="0"/>
              <a:t>کاربردها: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سنتز و پیاده‌سازی</a:t>
            </a:r>
          </a:p>
          <a:p>
            <a:pPr lvl="2"/>
            <a:r>
              <a:rPr lang="fa-IR" altLang="en-US" sz="2800" dirty="0" smtClean="0"/>
              <a:t> تولید خودکار مدار از توصیف</a:t>
            </a:r>
          </a:p>
          <a:p>
            <a:pPr lvl="2"/>
            <a:r>
              <a:rPr lang="fa-IR" altLang="en-US" sz="2800" dirty="0" smtClean="0"/>
              <a:t> زیرمجموعة قابل سنتز</a:t>
            </a:r>
          </a:p>
          <a:p>
            <a:pPr lvl="3"/>
            <a:r>
              <a:rPr lang="fa-IR" altLang="en-US" sz="2400" dirty="0" smtClean="0"/>
              <a:t>لزوم آشنایی با این زیرمجموعه</a:t>
            </a:r>
          </a:p>
          <a:p>
            <a:pPr lvl="3"/>
            <a:r>
              <a:rPr lang="fa-IR" altLang="en-US" sz="2400" dirty="0" smtClean="0"/>
              <a:t>تفاوت ابزارها </a:t>
            </a:r>
            <a:r>
              <a:rPr lang="fa-IR" altLang="en-US" sz="2400" dirty="0" smtClean="0">
                <a:sym typeface="Wingdings" panose="05000000000000000000" pitchFamily="2" charset="2"/>
              </a:rPr>
              <a:t> </a:t>
            </a:r>
            <a:r>
              <a:rPr lang="en-US" altLang="en-US" dirty="0" smtClean="0">
                <a:sym typeface="Wingdings" panose="05000000000000000000" pitchFamily="2" charset="2"/>
              </a:rPr>
              <a:t>portable code</a:t>
            </a:r>
            <a:r>
              <a:rPr lang="fa-IR" altLang="en-US" dirty="0" smtClean="0">
                <a:sym typeface="Wingdings" panose="05000000000000000000" pitchFamily="2" charset="2"/>
              </a:rPr>
              <a:t> </a:t>
            </a:r>
            <a:endParaRPr lang="fa-IR" altLang="en-US" sz="2400" dirty="0" smtClean="0">
              <a:sym typeface="Wingdings" panose="05000000000000000000" pitchFamily="2" charset="2"/>
            </a:endParaRPr>
          </a:p>
          <a:p>
            <a:pPr lvl="4"/>
            <a:r>
              <a:rPr lang="fa-IR" altLang="en-US" sz="2400" dirty="0" smtClean="0">
                <a:sym typeface="Wingdings" panose="05000000000000000000" pitchFamily="2" charset="2"/>
              </a:rPr>
              <a:t>کد غیر قابل سنتز برای دیگری</a:t>
            </a:r>
          </a:p>
          <a:p>
            <a:pPr lvl="4"/>
            <a:r>
              <a:rPr lang="fa-IR" altLang="en-US" sz="2400" dirty="0" smtClean="0">
                <a:sym typeface="Wingdings" panose="05000000000000000000" pitchFamily="2" charset="2"/>
              </a:rPr>
              <a:t>مدار متفاوت</a:t>
            </a:r>
          </a:p>
          <a:p>
            <a:pPr lvl="3"/>
            <a:r>
              <a:rPr lang="fa-IR" altLang="en-US" sz="2400" dirty="0" smtClean="0">
                <a:sym typeface="Wingdings" panose="05000000000000000000" pitchFamily="2" charset="2"/>
              </a:rPr>
              <a:t>کلیات یکسان</a:t>
            </a:r>
          </a:p>
          <a:p>
            <a:pPr lvl="2"/>
            <a:r>
              <a:rPr lang="fa-IR" altLang="en-US" dirty="0" smtClean="0">
                <a:sym typeface="Wingdings" panose="05000000000000000000" pitchFamily="2" charset="2"/>
              </a:rPr>
              <a:t> این درس:</a:t>
            </a:r>
          </a:p>
          <a:p>
            <a:pPr lvl="3"/>
            <a:r>
              <a:rPr lang="fa-IR" altLang="en-US" sz="2400" dirty="0" smtClean="0">
                <a:sym typeface="Wingdings" panose="05000000000000000000" pitchFamily="2" charset="2"/>
              </a:rPr>
              <a:t>موارد کلی مشترک</a:t>
            </a:r>
          </a:p>
          <a:p>
            <a:pPr lvl="3"/>
            <a:r>
              <a:rPr lang="fa-IR" altLang="en-US" sz="2400" dirty="0">
                <a:sym typeface="Wingdings" panose="05000000000000000000" pitchFamily="2" charset="2"/>
              </a:rPr>
              <a:t>ن</a:t>
            </a:r>
            <a:r>
              <a:rPr lang="fa-IR" altLang="en-US" sz="2400" dirty="0" smtClean="0">
                <a:sym typeface="Wingdings" panose="05000000000000000000" pitchFamily="2" charset="2"/>
              </a:rPr>
              <a:t>حوة کدنویسی مناسب</a:t>
            </a:r>
            <a:endParaRPr lang="fa-IR" altLang="en-US" sz="2400" dirty="0" smtClean="0"/>
          </a:p>
          <a:p>
            <a:pPr lvl="3"/>
            <a:endParaRPr lang="fa-IR" altLang="en-US" dirty="0" smtClean="0"/>
          </a:p>
          <a:p>
            <a:pPr lvl="1"/>
            <a:endParaRPr lang="fa-IR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C2FEB48-4F57-41D8-ADAC-A9A46F0D554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VHDL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042988" y="1000125"/>
            <a:ext cx="7889875" cy="5214938"/>
          </a:xfrm>
        </p:spPr>
        <p:txBody>
          <a:bodyPr/>
          <a:lstStyle/>
          <a:p>
            <a:r>
              <a:rPr lang="fa-IR" altLang="en-US" dirty="0" smtClean="0"/>
              <a:t>کاربردها: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درستی‌سنجی</a:t>
            </a:r>
          </a:p>
          <a:p>
            <a:pPr lvl="2"/>
            <a:r>
              <a:rPr lang="fa-IR" altLang="en-US" sz="2800" dirty="0" smtClean="0"/>
              <a:t> محیط درستی‌سنجی: </a:t>
            </a:r>
            <a:r>
              <a:rPr lang="en-US" altLang="en-US" sz="2400" dirty="0" err="1" smtClean="0"/>
              <a:t>testbench</a:t>
            </a:r>
            <a:endParaRPr lang="fa-IR" altLang="en-US" sz="2800" dirty="0" smtClean="0"/>
          </a:p>
          <a:p>
            <a:pPr lvl="3"/>
            <a:endParaRPr lang="fa-IR" altLang="en-US" dirty="0" smtClean="0"/>
          </a:p>
          <a:p>
            <a:pPr lvl="2"/>
            <a:r>
              <a:rPr lang="fa-IR" altLang="en-US" dirty="0" smtClean="0"/>
              <a:t> عناصر اصلی:</a:t>
            </a:r>
          </a:p>
          <a:p>
            <a:pPr lvl="3"/>
            <a:r>
              <a:rPr lang="fa-IR" altLang="en-US" sz="2400" dirty="0" smtClean="0"/>
              <a:t>طرح مورد آزمون</a:t>
            </a:r>
          </a:p>
          <a:p>
            <a:pPr lvl="3"/>
            <a:r>
              <a:rPr lang="fa-IR" altLang="en-US" sz="2400" dirty="0" smtClean="0"/>
              <a:t>تولید و اِعمال بردارهای ورودی</a:t>
            </a:r>
          </a:p>
          <a:p>
            <a:pPr lvl="3"/>
            <a:r>
              <a:rPr lang="fa-IR" altLang="en-US" sz="2400" dirty="0" smtClean="0"/>
              <a:t>مشاهده و تحلیل خروجی‌ها</a:t>
            </a:r>
          </a:p>
          <a:p>
            <a:pPr lvl="2"/>
            <a:endParaRPr lang="en-US" altLang="en-US" dirty="0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E742C28-2A03-47EC-A4BE-0EFB41E39E2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VHDL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1042988" y="1000125"/>
            <a:ext cx="7889875" cy="5214938"/>
          </a:xfrm>
        </p:spPr>
        <p:txBody>
          <a:bodyPr/>
          <a:lstStyle/>
          <a:p>
            <a:pPr>
              <a:defRPr/>
            </a:pPr>
            <a:r>
              <a:rPr lang="fa-IR" altLang="en-US" dirty="0" smtClean="0"/>
              <a:t>کاربردها:</a:t>
            </a:r>
            <a:endParaRPr lang="en-US" altLang="en-US" dirty="0" smtClean="0"/>
          </a:p>
          <a:p>
            <a:pPr lvl="1">
              <a:defRPr/>
            </a:pPr>
            <a:r>
              <a:rPr lang="fa-IR" altLang="en-US" dirty="0" smtClean="0"/>
              <a:t>درستی‌سنجی</a:t>
            </a:r>
          </a:p>
          <a:p>
            <a:pPr lvl="2">
              <a:defRPr/>
            </a:pPr>
            <a:r>
              <a:rPr lang="fa-IR" altLang="en-US" sz="2800" dirty="0" smtClean="0"/>
              <a:t> تولید </a:t>
            </a:r>
            <a:r>
              <a:rPr lang="fa-IR" altLang="en-US" sz="2800" smtClean="0"/>
              <a:t>بردارهای ورودی (بردارهای آزمون یا </a:t>
            </a:r>
            <a:r>
              <a:rPr lang="en-US" altLang="en-US" sz="2400" smtClean="0"/>
              <a:t>test vectors</a:t>
            </a:r>
            <a:r>
              <a:rPr lang="fa-IR" altLang="en-US" sz="2800" smtClean="0"/>
              <a:t>):</a:t>
            </a:r>
            <a:endParaRPr lang="fa-IR" altLang="en-US" sz="2800" dirty="0" smtClean="0"/>
          </a:p>
          <a:p>
            <a:pPr marL="1828800" lvl="3" indent="-457200">
              <a:buFont typeface="+mj-lt"/>
              <a:buAutoNum type="arabicPeriod"/>
              <a:defRPr/>
            </a:pPr>
            <a:r>
              <a:rPr lang="fa-IR" altLang="en-US" sz="2400" dirty="0" smtClean="0"/>
              <a:t>همه ورودی‌های ممکن</a:t>
            </a:r>
          </a:p>
          <a:p>
            <a:pPr marL="1828800" lvl="3" indent="-457200">
              <a:buFont typeface="+mj-lt"/>
              <a:buAutoNum type="arabicPeriod"/>
              <a:defRPr/>
            </a:pPr>
            <a:r>
              <a:rPr lang="fa-IR" altLang="en-US" sz="2400" dirty="0"/>
              <a:t>تصادفی</a:t>
            </a:r>
            <a:endParaRPr lang="fa-IR" altLang="en-US" sz="2400" dirty="0" smtClean="0"/>
          </a:p>
          <a:p>
            <a:pPr marL="1828800" lvl="3" indent="-457200">
              <a:buFont typeface="+mj-lt"/>
              <a:buAutoNum type="arabicPeriod"/>
              <a:defRPr/>
            </a:pPr>
            <a:r>
              <a:rPr lang="fa-IR" altLang="en-US" sz="2400" dirty="0" smtClean="0"/>
              <a:t>انتخاب هوشمندانه با پیاده‌سازی الگوریتم</a:t>
            </a:r>
          </a:p>
          <a:p>
            <a:pPr marL="1828800" lvl="3" indent="-457200">
              <a:buFont typeface="+mj-lt"/>
              <a:buAutoNum type="arabicPeriod"/>
              <a:defRPr/>
            </a:pPr>
            <a:endParaRPr lang="fa-IR" altLang="en-US" dirty="0" smtClean="0"/>
          </a:p>
          <a:p>
            <a:pPr lvl="2">
              <a:defRPr/>
            </a:pPr>
            <a:r>
              <a:rPr lang="fa-IR" altLang="en-US" sz="2800" dirty="0"/>
              <a:t> </a:t>
            </a:r>
            <a:r>
              <a:rPr lang="fa-IR" altLang="en-US" sz="2800" dirty="0" smtClean="0"/>
              <a:t>نیاز به توصیف با کد </a:t>
            </a:r>
            <a:r>
              <a:rPr lang="en-US" altLang="en-US" sz="2400" dirty="0" smtClean="0"/>
              <a:t>VHDL</a:t>
            </a:r>
          </a:p>
          <a:p>
            <a:pPr lvl="3">
              <a:defRPr/>
            </a:pPr>
            <a:r>
              <a:rPr lang="fa-IR" altLang="en-US" sz="2400" dirty="0"/>
              <a:t>برنامه‌نویسی </a:t>
            </a:r>
            <a:r>
              <a:rPr lang="fa-IR" altLang="en-US" sz="2400" dirty="0" smtClean="0"/>
              <a:t>روالی</a:t>
            </a:r>
          </a:p>
          <a:p>
            <a:pPr lvl="3">
              <a:defRPr/>
            </a:pPr>
            <a:r>
              <a:rPr lang="fa-IR" altLang="en-US" sz="2400" dirty="0" smtClean="0"/>
              <a:t>خواندن از فایل</a:t>
            </a:r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fa-IR" altLang="en-US" dirty="0" smtClean="0"/>
              <a:t> </a:t>
            </a:r>
            <a:endParaRPr lang="en-US" altLang="en-US" dirty="0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882568B-B1BF-4DFB-9751-3AE27B2969A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VHDL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2051050" y="908050"/>
            <a:ext cx="6881813" cy="5214938"/>
          </a:xfrm>
        </p:spPr>
        <p:txBody>
          <a:bodyPr/>
          <a:lstStyle/>
          <a:p>
            <a:pPr lvl="1"/>
            <a:r>
              <a:rPr lang="fa-IR" altLang="en-US" dirty="0" smtClean="0"/>
              <a:t>مثال: </a:t>
            </a:r>
            <a:endParaRPr lang="en-US" altLang="en-US" dirty="0" smtClean="0"/>
          </a:p>
          <a:p>
            <a:pPr lvl="2"/>
            <a:r>
              <a:rPr lang="fa-IR" altLang="en-US" sz="2800" dirty="0" smtClean="0"/>
              <a:t> سخت‌افزار محاسبة </a:t>
            </a:r>
            <a:r>
              <a:rPr lang="en-US" altLang="en-US" sz="2800" dirty="0" smtClean="0"/>
              <a:t>(</a:t>
            </a:r>
            <a:r>
              <a:rPr lang="en-US" altLang="en-US" sz="2800" dirty="0" err="1" smtClean="0"/>
              <a:t>x</a:t>
            </a:r>
            <a:r>
              <a:rPr lang="en-US" altLang="en-US" sz="2800" baseline="30000" dirty="0" err="1" smtClean="0"/>
              <a:t>2</a:t>
            </a:r>
            <a:r>
              <a:rPr lang="en-US" altLang="en-US" sz="2800" dirty="0" smtClean="0"/>
              <a:t> + </a:t>
            </a:r>
            <a:r>
              <a:rPr lang="en-US" altLang="en-US" sz="2800" dirty="0" err="1" smtClean="0"/>
              <a:t>y</a:t>
            </a:r>
            <a:r>
              <a:rPr lang="en-US" altLang="en-US" sz="2800" baseline="30000" dirty="0" err="1" smtClean="0"/>
              <a:t>2</a:t>
            </a:r>
            <a:r>
              <a:rPr lang="en-US" altLang="en-US" sz="2800" dirty="0" smtClean="0"/>
              <a:t>)</a:t>
            </a:r>
            <a:endParaRPr lang="en-US" altLang="en-US" sz="2800" baseline="30000" dirty="0" smtClean="0"/>
          </a:p>
          <a:p>
            <a:pPr lvl="2"/>
            <a:r>
              <a:rPr lang="fa-IR" altLang="en-US" sz="2800" dirty="0" smtClean="0"/>
              <a:t> مقایسه با نتیجة رفتاری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BFA1864-C151-46B5-8873-B106A4FE5BAD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557" name="Rectangle 2"/>
          <p:cNvSpPr>
            <a:spLocks noChangeArrowheads="1"/>
          </p:cNvSpPr>
          <p:nvPr/>
        </p:nvSpPr>
        <p:spPr bwMode="auto">
          <a:xfrm>
            <a:off x="468313" y="2616200"/>
            <a:ext cx="6767512" cy="36004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TBENCH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of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ENT_BENCH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procedure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WAVE_GEN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(signal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X:out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integer, signal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Y:out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variable I integer:= 0;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for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VX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 0 to 63 loop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for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VY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 0 to 63 loop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X &lt;=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VX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after I*10 ns;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Y &lt;=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VY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after I*10 ns;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I:= I + 1;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end loop;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end procedure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WAVE_GEN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WAVE_GEN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(X, Y);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L1:L_MODULE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map(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X,Y,L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L_BEHAVE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&lt;= (X**2 + Y**</a:t>
            </a:r>
            <a:r>
              <a:rPr lang="en-US" altLang="en-US" sz="1200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2);</a:t>
            </a:r>
            <a:endParaRPr lang="en-US" altLang="en-US" sz="1200" dirty="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ERROR_SIG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&lt;=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L_BEHAVE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xor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end architecture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TBENCH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smtClean="0"/>
              <a:t>نصب نرم‌افزار ویوادو</a:t>
            </a:r>
          </a:p>
          <a:p>
            <a:pPr lvl="1"/>
            <a:r>
              <a:rPr lang="en-US" smtClean="0"/>
              <a:t>h.malakouty@gmail.com</a:t>
            </a:r>
          </a:p>
          <a:p>
            <a:pPr lvl="1"/>
            <a:r>
              <a:rPr lang="fa-IR" smtClean="0"/>
              <a:t>نصب تا سه شنبه آینده</a:t>
            </a:r>
          </a:p>
          <a:p>
            <a:pPr lvl="1"/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0846A9-CC4A-47C7-B8B7-92880D8C1A1D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8334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 (</a:t>
            </a:r>
            <a:r>
              <a:rPr lang="en-US" altLang="en-US" smtClean="0"/>
              <a:t>Levels of Abstraction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1365824-A3E2-485E-9110-4506CF48A17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5605" name="Picture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1" t="28603" r="29784"/>
          <a:stretch/>
        </p:blipFill>
        <p:spPr bwMode="auto">
          <a:xfrm>
            <a:off x="1043609" y="1196752"/>
            <a:ext cx="2448272" cy="341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 (</a:t>
            </a:r>
            <a:r>
              <a:rPr lang="en-US" altLang="en-US" smtClean="0"/>
              <a:t>Levels of Abstraction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1365824-A3E2-485E-9110-4506CF48A17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5605" name="Picture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1" t="28603" r="29784"/>
          <a:stretch/>
        </p:blipFill>
        <p:spPr bwMode="auto">
          <a:xfrm>
            <a:off x="1043609" y="1196752"/>
            <a:ext cx="2448272" cy="341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4" name="Picture 2" descr="drawing guides for horse draw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448" y="1124744"/>
            <a:ext cx="3528392" cy="282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89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 (</a:t>
            </a:r>
            <a:r>
              <a:rPr lang="en-US" altLang="en-US" smtClean="0"/>
              <a:t>Levels of Abstraction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1365824-A3E2-485E-9110-4506CF48A17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5605" name="Picture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1" t="28603" r="29784"/>
          <a:stretch/>
        </p:blipFill>
        <p:spPr bwMode="auto">
          <a:xfrm>
            <a:off x="1043609" y="1196752"/>
            <a:ext cx="2448272" cy="341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6" name="Picture 2" descr="add tail to horse draw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340768"/>
            <a:ext cx="3408313" cy="2709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02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 (</a:t>
            </a:r>
            <a:r>
              <a:rPr lang="en-US" altLang="en-US" smtClean="0"/>
              <a:t>Levels of Abstraction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1365824-A3E2-485E-9110-4506CF48A17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5605" name="Picture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1" t="28603" r="29784"/>
          <a:stretch/>
        </p:blipFill>
        <p:spPr bwMode="auto">
          <a:xfrm>
            <a:off x="1043609" y="1196752"/>
            <a:ext cx="2448272" cy="341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2" name="Picture 2" descr="easy horse drawing black and whit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370262"/>
            <a:ext cx="3408314" cy="28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69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 (</a:t>
            </a:r>
            <a:r>
              <a:rPr lang="en-US" altLang="en-US" smtClean="0"/>
              <a:t>Levels of Abstraction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1365824-A3E2-485E-9110-4506CF48A17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5605" name="Picture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1" t="28603" r="29784"/>
          <a:stretch/>
        </p:blipFill>
        <p:spPr bwMode="auto">
          <a:xfrm>
            <a:off x="1043609" y="1196752"/>
            <a:ext cx="2448272" cy="341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232" y="1579174"/>
            <a:ext cx="3946152" cy="304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6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 (</a:t>
            </a:r>
            <a:r>
              <a:rPr lang="en-US" altLang="en-US" smtClean="0"/>
              <a:t>Levels of Abstraction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419872" y="1000125"/>
            <a:ext cx="5512991" cy="5214938"/>
          </a:xfrm>
        </p:spPr>
        <p:txBody>
          <a:bodyPr/>
          <a:lstStyle/>
          <a:p>
            <a:r>
              <a:rPr lang="fa-IR" altLang="en-US" dirty="0" smtClean="0"/>
              <a:t>رفتاری: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 توصیف عملکرد مطلوب (الگوریتمی)</a:t>
            </a:r>
          </a:p>
          <a:p>
            <a:pPr lvl="2"/>
            <a:r>
              <a:rPr lang="fa-IR" altLang="en-US" dirty="0" smtClean="0"/>
              <a:t> بدون پرداختن به مدار</a:t>
            </a:r>
          </a:p>
          <a:p>
            <a:pPr lvl="2"/>
            <a:r>
              <a:rPr lang="fa-IR" altLang="en-US" dirty="0" smtClean="0"/>
              <a:t> همة امکانات </a:t>
            </a:r>
            <a:r>
              <a:rPr lang="en-US" altLang="en-US" sz="2800" dirty="0" err="1" smtClean="0"/>
              <a:t>VHDL</a:t>
            </a:r>
            <a:endParaRPr lang="fa-IR" altLang="en-US" dirty="0" smtClean="0"/>
          </a:p>
          <a:p>
            <a:pPr lvl="2"/>
            <a:r>
              <a:rPr lang="fa-IR" altLang="en-US" dirty="0" smtClean="0"/>
              <a:t> قابل نمایش با روندنما (</a:t>
            </a:r>
            <a:r>
              <a:rPr lang="en-US" altLang="en-US" sz="2400" dirty="0" smtClean="0"/>
              <a:t>flow chart</a:t>
            </a:r>
            <a:r>
              <a:rPr lang="fa-IR" altLang="en-US" dirty="0" smtClean="0"/>
              <a:t>)</a:t>
            </a:r>
            <a:endParaRPr lang="en-US" altLang="en-US" dirty="0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1365824-A3E2-485E-9110-4506CF48A17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5605" name="Picture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1" t="28603" r="29784"/>
          <a:stretch/>
        </p:blipFill>
        <p:spPr bwMode="auto">
          <a:xfrm>
            <a:off x="1043609" y="1196752"/>
            <a:ext cx="2448272" cy="341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959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B2B5E033-A8F7-4883-92BA-8CD4A62B7821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fa-IR" altLang="en-US" smtClean="0"/>
              <a:t>سطوح تجرید: سطح رفتاری</a:t>
            </a:r>
            <a:endParaRPr lang="en-US" altLang="en-US" smtClean="0"/>
          </a:p>
        </p:txBody>
      </p:sp>
      <p:pic>
        <p:nvPicPr>
          <p:cNvPr id="2765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77963"/>
            <a:ext cx="6019800" cy="267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44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54513"/>
            <a:ext cx="2590800" cy="227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3995738" y="1000125"/>
            <a:ext cx="4937125" cy="5214938"/>
          </a:xfrm>
          <a:prstGeom prst="rect">
            <a:avLst/>
          </a:prstGeom>
        </p:spPr>
        <p:txBody>
          <a:bodyPr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895350" indent="-4381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fa-IR" altLang="en-US" kern="0" dirty="0" smtClean="0"/>
              <a:t>رفتاری:</a:t>
            </a:r>
            <a:endParaRPr lang="en-US" altLang="en-US" kern="0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610256" y="3811611"/>
            <a:ext cx="4937125" cy="913855"/>
          </a:xfrm>
          <a:prstGeom prst="rect">
            <a:avLst/>
          </a:prstGeom>
        </p:spPr>
        <p:txBody>
          <a:bodyPr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895350" indent="-4381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en-US" altLang="en-US" kern="0" dirty="0" smtClean="0"/>
          </a:p>
          <a:p>
            <a:pPr lvl="2"/>
            <a:r>
              <a:rPr lang="fa-IR" altLang="en-US" kern="0" dirty="0" smtClean="0"/>
              <a:t> تولید سیگنال ساعت </a:t>
            </a:r>
            <a:r>
              <a:rPr lang="en-US" altLang="en-US" kern="0" dirty="0" err="1" smtClean="0"/>
              <a:t>c2</a:t>
            </a:r>
            <a:r>
              <a:rPr lang="fa-IR" altLang="en-US" kern="0" dirty="0" smtClean="0"/>
              <a:t> از ساعت </a:t>
            </a:r>
            <a:r>
              <a:rPr lang="en-US" altLang="en-US" kern="0" dirty="0" err="1" smtClean="0"/>
              <a:t>c1</a:t>
            </a:r>
            <a:r>
              <a:rPr lang="fa-IR" altLang="en-US" kern="0" dirty="0" smtClean="0"/>
              <a:t> برای ساعت‌زنی ناهمپوشان دوفازی</a:t>
            </a:r>
            <a:endParaRPr lang="en-US" altLang="en-US" kern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تجرید: </a:t>
            </a:r>
            <a:r>
              <a:rPr lang="fa-IR" altLang="en-US"/>
              <a:t>سطح رفتاری</a:t>
            </a:r>
            <a:endParaRPr lang="en-US" altLang="en-US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23528" y="1000125"/>
            <a:ext cx="8609335" cy="3076947"/>
          </a:xfrm>
        </p:spPr>
        <p:txBody>
          <a:bodyPr/>
          <a:lstStyle/>
          <a:p>
            <a:r>
              <a:rPr lang="fa-IR" altLang="en-US" dirty="0" smtClean="0"/>
              <a:t>رفتاری:</a:t>
            </a:r>
          </a:p>
          <a:p>
            <a:pPr lvl="1"/>
            <a:r>
              <a:rPr lang="fa-IR" altLang="en-US" dirty="0" smtClean="0"/>
              <a:t>کد </a:t>
            </a:r>
            <a:r>
              <a:rPr lang="en-US" altLang="en-US" sz="2400" dirty="0" err="1" smtClean="0"/>
              <a:t>FM0</a:t>
            </a:r>
            <a:r>
              <a:rPr lang="fa-IR" altLang="en-US" dirty="0" smtClean="0"/>
              <a:t> برای </a:t>
            </a:r>
            <a:r>
              <a:rPr lang="en-US" altLang="en-US" sz="2400" dirty="0" smtClean="0"/>
              <a:t>RFID</a:t>
            </a:r>
            <a:r>
              <a:rPr lang="fa-IR" altLang="en-US" dirty="0" smtClean="0"/>
              <a:t> (</a:t>
            </a:r>
            <a:r>
              <a:rPr lang="en-US" altLang="en-US" sz="2400" dirty="0" smtClean="0"/>
              <a:t>Differential Manchester Encoding</a:t>
            </a:r>
            <a:r>
              <a:rPr lang="fa-IR" altLang="en-US" dirty="0" smtClean="0"/>
              <a:t>)</a:t>
            </a:r>
          </a:p>
          <a:p>
            <a:pPr lvl="2"/>
            <a:r>
              <a:rPr lang="fa-IR" altLang="en-US" dirty="0"/>
              <a:t> </a:t>
            </a:r>
            <a:r>
              <a:rPr lang="fa-IR" altLang="en-US" dirty="0" smtClean="0"/>
              <a:t>ارسال و دریافت با خطای کمتر و بازیابی کلاک:</a:t>
            </a:r>
          </a:p>
          <a:p>
            <a:pPr lvl="2"/>
            <a:r>
              <a:rPr lang="fa-IR" altLang="en-US" sz="2400" dirty="0"/>
              <a:t> </a:t>
            </a:r>
            <a:r>
              <a:rPr lang="en-US" altLang="en-US" sz="2000" dirty="0" smtClean="0"/>
              <a:t>din = 1</a:t>
            </a:r>
            <a:r>
              <a:rPr lang="fa-IR" altLang="en-US" sz="2000" dirty="0" smtClean="0"/>
              <a:t> </a:t>
            </a:r>
            <a:r>
              <a:rPr lang="fa-IR" altLang="en-US" sz="2000" dirty="0" smtClean="0">
                <a:sym typeface="Wingdings" panose="05000000000000000000" pitchFamily="2" charset="2"/>
              </a:rPr>
              <a:t>  </a:t>
            </a:r>
            <a:r>
              <a:rPr lang="fa-IR" altLang="en-US" sz="2400" dirty="0" smtClean="0">
                <a:sym typeface="Wingdings" panose="05000000000000000000" pitchFamily="2" charset="2"/>
              </a:rPr>
              <a:t>تغییر حالت خروجی +</a:t>
            </a:r>
            <a:r>
              <a:rPr lang="en-US" altLang="en-US" sz="2000" dirty="0" err="1" smtClean="0">
                <a:sym typeface="Wingdings" panose="05000000000000000000" pitchFamily="2" charset="2"/>
              </a:rPr>
              <a:t>ms</a:t>
            </a:r>
            <a:r>
              <a:rPr lang="en-US" altLang="en-US" sz="2000" dirty="0" smtClean="0">
                <a:sym typeface="Wingdings" panose="05000000000000000000" pitchFamily="2" charset="2"/>
              </a:rPr>
              <a:t> </a:t>
            </a:r>
            <a:r>
              <a:rPr lang="fa-IR" altLang="en-US" sz="2000" dirty="0" smtClean="0">
                <a:sym typeface="Wingdings" panose="05000000000000000000" pitchFamily="2" charset="2"/>
              </a:rPr>
              <a:t> </a:t>
            </a:r>
            <a:r>
              <a:rPr lang="fa-IR" altLang="en-US" sz="2400" dirty="0" smtClean="0">
                <a:sym typeface="Wingdings" panose="05000000000000000000" pitchFamily="2" charset="2"/>
              </a:rPr>
              <a:t>10 ثابت</a:t>
            </a:r>
          </a:p>
          <a:p>
            <a:pPr lvl="2"/>
            <a:r>
              <a:rPr lang="fa-IR" altLang="en-US" sz="2400" dirty="0"/>
              <a:t> </a:t>
            </a:r>
            <a:r>
              <a:rPr lang="en-US" altLang="en-US" sz="2000" dirty="0"/>
              <a:t>din = </a:t>
            </a:r>
            <a:r>
              <a:rPr lang="en-US" altLang="en-US" sz="2000" dirty="0" smtClean="0"/>
              <a:t>0</a:t>
            </a:r>
            <a:r>
              <a:rPr lang="fa-IR" altLang="en-US" sz="2000" dirty="0" smtClean="0"/>
              <a:t> </a:t>
            </a:r>
            <a:r>
              <a:rPr lang="fa-IR" altLang="en-US" sz="2000" dirty="0">
                <a:sym typeface="Wingdings" panose="05000000000000000000" pitchFamily="2" charset="2"/>
              </a:rPr>
              <a:t>  </a:t>
            </a:r>
            <a:r>
              <a:rPr lang="fa-IR" altLang="en-US" sz="2400" dirty="0" smtClean="0">
                <a:sym typeface="Wingdings" panose="05000000000000000000" pitchFamily="2" charset="2"/>
              </a:rPr>
              <a:t>تغییر </a:t>
            </a:r>
            <a:r>
              <a:rPr lang="fa-IR" altLang="en-US" sz="2400" dirty="0">
                <a:sym typeface="Wingdings" panose="05000000000000000000" pitchFamily="2" charset="2"/>
              </a:rPr>
              <a:t>حالت خروجی </a:t>
            </a:r>
            <a:r>
              <a:rPr lang="fa-IR" altLang="en-US" sz="2400" dirty="0" smtClean="0">
                <a:sym typeface="Wingdings" panose="05000000000000000000" pitchFamily="2" charset="2"/>
              </a:rPr>
              <a:t>+</a:t>
            </a:r>
            <a:r>
              <a:rPr lang="en-US" altLang="en-US" sz="2000" dirty="0" err="1" smtClean="0">
                <a:sym typeface="Wingdings" panose="05000000000000000000" pitchFamily="2" charset="2"/>
              </a:rPr>
              <a:t>ms</a:t>
            </a:r>
            <a:r>
              <a:rPr lang="en-US" altLang="en-US" sz="2000" dirty="0" smtClean="0">
                <a:sym typeface="Wingdings" panose="05000000000000000000" pitchFamily="2" charset="2"/>
              </a:rPr>
              <a:t> </a:t>
            </a:r>
            <a:r>
              <a:rPr lang="fa-IR" altLang="en-US" sz="2000" dirty="0" smtClean="0">
                <a:sym typeface="Wingdings" panose="05000000000000000000" pitchFamily="2" charset="2"/>
              </a:rPr>
              <a:t> </a:t>
            </a:r>
            <a:r>
              <a:rPr lang="fa-IR" altLang="en-US" sz="2400" dirty="0" smtClean="0">
                <a:sym typeface="Wingdings" panose="05000000000000000000" pitchFamily="2" charset="2"/>
              </a:rPr>
              <a:t>5 ثابت + </a:t>
            </a:r>
            <a:r>
              <a:rPr lang="fa-IR" altLang="en-US" sz="2400" dirty="0">
                <a:sym typeface="Wingdings" panose="05000000000000000000" pitchFamily="2" charset="2"/>
              </a:rPr>
              <a:t>تغییر حالت خروجی + </a:t>
            </a:r>
            <a:r>
              <a:rPr lang="en-US" altLang="en-US" sz="2000" dirty="0" err="1" smtClean="0">
                <a:sym typeface="Wingdings" panose="05000000000000000000" pitchFamily="2" charset="2"/>
              </a:rPr>
              <a:t>ms</a:t>
            </a:r>
            <a:r>
              <a:rPr lang="en-US" altLang="en-US" sz="2000" dirty="0" smtClean="0">
                <a:sym typeface="Wingdings" panose="05000000000000000000" pitchFamily="2" charset="2"/>
              </a:rPr>
              <a:t> </a:t>
            </a:r>
            <a:r>
              <a:rPr lang="fa-IR" altLang="en-US" sz="2000" dirty="0" smtClean="0">
                <a:sym typeface="Wingdings" panose="05000000000000000000" pitchFamily="2" charset="2"/>
              </a:rPr>
              <a:t> </a:t>
            </a:r>
            <a:r>
              <a:rPr lang="fa-IR" altLang="en-US" sz="2400" dirty="0">
                <a:sym typeface="Wingdings" panose="05000000000000000000" pitchFamily="2" charset="2"/>
              </a:rPr>
              <a:t>5 ثابت </a:t>
            </a:r>
          </a:p>
          <a:p>
            <a:pPr lvl="2"/>
            <a:endParaRPr lang="fa-IR" altLang="en-US" sz="2400" dirty="0" smtClean="0"/>
          </a:p>
          <a:p>
            <a:pPr lvl="2"/>
            <a:endParaRPr lang="en-US" altLang="en-US" sz="2400" dirty="0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1365824-A3E2-485E-9110-4506CF48A17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816256"/>
              </p:ext>
            </p:extLst>
          </p:nvPr>
        </p:nvGraphicFramePr>
        <p:xfrm>
          <a:off x="107504" y="3933056"/>
          <a:ext cx="8589610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32" name="Visio" r:id="rId5" imgW="6845198" imgH="1549230" progId="Visio.Drawing.15">
                  <p:embed/>
                </p:oleObj>
              </mc:Choice>
              <mc:Fallback>
                <p:oleObj name="Visio" r:id="rId5" imgW="6845198" imgH="154923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504" y="3933056"/>
                        <a:ext cx="8589610" cy="1944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476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تجرید: </a:t>
            </a:r>
            <a:r>
              <a:rPr lang="fa-IR" altLang="en-US"/>
              <a:t>سطح رفتاری</a:t>
            </a:r>
            <a:endParaRPr lang="en-US" altLang="en-US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73071" y="928117"/>
            <a:ext cx="4414954" cy="3076947"/>
          </a:xfrm>
        </p:spPr>
        <p:txBody>
          <a:bodyPr/>
          <a:lstStyle/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while (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END_OF_DATA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(...)) loop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READ_DATA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(DIN);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if (DIN = '1') then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 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DOUT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&lt;= not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DOUT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  wait for 10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ms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else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 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DOUT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&lt;= not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DOUT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  wait for 5 ns;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 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DOUT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&lt;= not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DOUT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  wait for 5 ns;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end if;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end loop;</a:t>
            </a:r>
            <a:endParaRPr lang="en-US" sz="1600" dirty="0">
              <a:solidFill>
                <a:schemeClr val="accent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1365824-A3E2-485E-9110-4506CF48A17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083" y="1733621"/>
            <a:ext cx="4406317" cy="450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6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تجرید: سطح انتقال ثبات</a:t>
            </a:r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3995738" y="1000125"/>
            <a:ext cx="4937125" cy="5214938"/>
          </a:xfrm>
        </p:spPr>
        <p:txBody>
          <a:bodyPr/>
          <a:lstStyle/>
          <a:p>
            <a:r>
              <a:rPr lang="fa-IR" altLang="en-US" smtClean="0"/>
              <a:t>سطح انتقال </a:t>
            </a:r>
            <a:r>
              <a:rPr lang="fa-IR" altLang="en-US" dirty="0" smtClean="0"/>
              <a:t>ثبات (</a:t>
            </a:r>
            <a:r>
              <a:rPr lang="en-US" altLang="en-US" sz="2400" dirty="0" smtClean="0"/>
              <a:t>Register-Transfer Level</a:t>
            </a:r>
            <a:r>
              <a:rPr lang="fa-IR" altLang="en-US" dirty="0" smtClean="0"/>
              <a:t>) </a:t>
            </a:r>
            <a:r>
              <a:rPr lang="en-US" altLang="en-US" sz="2400" dirty="0" smtClean="0"/>
              <a:t>RTL</a:t>
            </a:r>
            <a:r>
              <a:rPr lang="fa-IR" altLang="en-US" dirty="0" smtClean="0"/>
              <a:t>: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 مسیر داده</a:t>
            </a:r>
          </a:p>
          <a:p>
            <a:pPr lvl="2"/>
            <a:r>
              <a:rPr lang="fa-IR" altLang="en-US" sz="2400" dirty="0" smtClean="0"/>
              <a:t> ثبات‌ها</a:t>
            </a:r>
          </a:p>
          <a:p>
            <a:pPr lvl="2"/>
            <a:r>
              <a:rPr lang="fa-IR" altLang="en-US" sz="2400" dirty="0" smtClean="0"/>
              <a:t> </a:t>
            </a:r>
            <a:r>
              <a:rPr lang="fa-IR" altLang="en-US" sz="2400" smtClean="0"/>
              <a:t>مدارهای ترکیبی (محاسباتی و منطقی)</a:t>
            </a:r>
            <a:endParaRPr lang="fa-IR" altLang="en-US" sz="2400" dirty="0" smtClean="0"/>
          </a:p>
          <a:p>
            <a:pPr lvl="2"/>
            <a:r>
              <a:rPr lang="fa-IR" altLang="en-US" sz="2400" dirty="0" smtClean="0"/>
              <a:t> منابع ارتباط دهنده‌ بین آنها</a:t>
            </a:r>
          </a:p>
          <a:p>
            <a:pPr lvl="3"/>
            <a:r>
              <a:rPr lang="fa-IR" altLang="en-US" dirty="0" smtClean="0"/>
              <a:t>گذرگاه</a:t>
            </a:r>
          </a:p>
          <a:p>
            <a:pPr lvl="3"/>
            <a:r>
              <a:rPr lang="fa-IR" altLang="en-US" dirty="0" smtClean="0"/>
              <a:t>مالتی‌پلکسر</a:t>
            </a:r>
          </a:p>
          <a:p>
            <a:pPr lvl="3"/>
            <a:r>
              <a:rPr lang="fa-IR" altLang="en-US" dirty="0" smtClean="0"/>
              <a:t>سیم</a:t>
            </a:r>
          </a:p>
          <a:p>
            <a:pPr lvl="3"/>
            <a:r>
              <a:rPr lang="fa-IR" altLang="en-US" dirty="0" smtClean="0"/>
              <a:t>...</a:t>
            </a:r>
          </a:p>
          <a:p>
            <a:pPr lvl="1"/>
            <a:r>
              <a:rPr lang="fa-IR" altLang="en-US" dirty="0" smtClean="0"/>
              <a:t> کنترل‌کننده (مسیر کنترل)</a:t>
            </a:r>
          </a:p>
          <a:p>
            <a:pPr lvl="2"/>
            <a:r>
              <a:rPr lang="fa-IR" altLang="en-US" sz="2400" dirty="0" smtClean="0"/>
              <a:t> ماشین حالت متناهی </a:t>
            </a:r>
            <a:r>
              <a:rPr lang="en-US" altLang="en-US" sz="2400" dirty="0" smtClean="0"/>
              <a:t>FSM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17320F2-1540-481D-817B-271F4447380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a-IR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527305"/>
              </p:ext>
            </p:extLst>
          </p:nvPr>
        </p:nvGraphicFramePr>
        <p:xfrm>
          <a:off x="246266" y="625475"/>
          <a:ext cx="4392488" cy="5779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19" name="Visio" r:id="rId5" imgW="14722602" imgH="19471640" progId="Visio.Drawing.11">
                  <p:embed/>
                </p:oleObj>
              </mc:Choice>
              <mc:Fallback>
                <p:oleObj name="Visio" r:id="rId5" imgW="14722602" imgH="1947164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66" y="625475"/>
                        <a:ext cx="4392488" cy="57799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urved Left Arrow 3"/>
          <p:cNvSpPr/>
          <p:nvPr/>
        </p:nvSpPr>
        <p:spPr bwMode="auto">
          <a:xfrm>
            <a:off x="4334408" y="2348880"/>
            <a:ext cx="576064" cy="2520280"/>
          </a:xfrm>
          <a:prstGeom prst="curved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a-IR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7" name="Curved Right Arrow 6"/>
          <p:cNvSpPr/>
          <p:nvPr/>
        </p:nvSpPr>
        <p:spPr bwMode="auto">
          <a:xfrm rot="10800000" flipH="1">
            <a:off x="517985" y="2276872"/>
            <a:ext cx="453615" cy="2304256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a-IR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تجرید: </a:t>
            </a:r>
            <a:r>
              <a:rPr lang="fa-IR" altLang="en-US"/>
              <a:t>سطح انتقال ثبات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995738" y="1000125"/>
            <a:ext cx="4937125" cy="5214938"/>
          </a:xfrm>
        </p:spPr>
        <p:txBody>
          <a:bodyPr/>
          <a:lstStyle/>
          <a:p>
            <a:r>
              <a:rPr lang="fa-IR" altLang="en-US" smtClean="0"/>
              <a:t>انتقال ثبات:</a:t>
            </a:r>
            <a:endParaRPr lang="en-US" altLang="en-US" smtClean="0"/>
          </a:p>
          <a:p>
            <a:pPr marL="457200" lvl="1" indent="0">
              <a:buFont typeface="Wingdings" pitchFamily="2" charset="2"/>
              <a:buNone/>
            </a:pPr>
            <a:endParaRPr lang="en-US" altLang="en-US" sz="2400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96EE4BA-9EFF-4918-BEB8-88518BA9966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1749" name="Rectangle 2"/>
          <p:cNvSpPr>
            <a:spLocks noChangeArrowheads="1"/>
          </p:cNvSpPr>
          <p:nvPr/>
        </p:nvSpPr>
        <p:spPr bwMode="auto">
          <a:xfrm>
            <a:off x="539750" y="1757363"/>
            <a:ext cx="4319588" cy="13843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(CLK’event and CLK = ’1’)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Z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539750" y="3078163"/>
            <a:ext cx="4319588" cy="18161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(A, B, M)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(M = '1‘)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D &lt;= A *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D &lt;= A –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</p:spTree>
    <p:extLst>
      <p:ext uri="{BB962C8B-B14F-4D97-AF65-F5344CB8AC3E}">
        <p14:creationId xmlns:p14="http://schemas.microsoft.com/office/powerpoint/2010/main" val="219216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تجرید: </a:t>
            </a:r>
            <a:r>
              <a:rPr lang="fa-IR" altLang="en-US"/>
              <a:t>سطح انتقال ثبات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6444208" y="1000125"/>
            <a:ext cx="2488655" cy="5214938"/>
          </a:xfrm>
        </p:spPr>
        <p:txBody>
          <a:bodyPr/>
          <a:lstStyle/>
          <a:p>
            <a:r>
              <a:rPr lang="fa-IR" altLang="en-US" dirty="0" smtClean="0"/>
              <a:t>انتقال ثبات:</a:t>
            </a:r>
            <a:endParaRPr lang="fa-IR" altLang="en-US" dirty="0"/>
          </a:p>
          <a:p>
            <a:pPr lvl="1"/>
            <a:r>
              <a:rPr lang="fa-IR" altLang="en-US" dirty="0" smtClean="0"/>
              <a:t>کد </a:t>
            </a:r>
            <a:r>
              <a:rPr lang="en-US" altLang="en-US" dirty="0" err="1" smtClean="0"/>
              <a:t>FM0</a:t>
            </a:r>
            <a:endParaRPr lang="en-US" altLang="en-US" dirty="0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96EE4BA-9EFF-4918-BEB8-88518BA9966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604167"/>
              </p:ext>
            </p:extLst>
          </p:nvPr>
        </p:nvGraphicFramePr>
        <p:xfrm>
          <a:off x="1907704" y="1367411"/>
          <a:ext cx="5544616" cy="4480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79" name="Visio" r:id="rId5" imgW="10714611" imgH="8657119" progId="Visio.Drawing.11">
                  <p:embed/>
                </p:oleObj>
              </mc:Choice>
              <mc:Fallback>
                <p:oleObj name="Visio" r:id="rId5" imgW="10714611" imgH="8657119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7704" y="1367411"/>
                        <a:ext cx="5544616" cy="4480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134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تجرید: </a:t>
            </a:r>
            <a:r>
              <a:rPr lang="fa-IR" altLang="en-US"/>
              <a:t>سطح انتقال ثبات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6444208" y="1000125"/>
            <a:ext cx="2488655" cy="5214938"/>
          </a:xfrm>
        </p:spPr>
        <p:txBody>
          <a:bodyPr/>
          <a:lstStyle/>
          <a:p>
            <a:r>
              <a:rPr lang="fa-IR" altLang="en-US" dirty="0" smtClean="0"/>
              <a:t>انتقال ثبات:</a:t>
            </a:r>
            <a:endParaRPr lang="fa-IR" altLang="en-US" dirty="0"/>
          </a:p>
          <a:p>
            <a:pPr lvl="1"/>
            <a:r>
              <a:rPr lang="fa-IR" altLang="en-US" dirty="0" smtClean="0"/>
              <a:t>کد </a:t>
            </a:r>
            <a:r>
              <a:rPr lang="en-US" altLang="en-US" dirty="0" err="1" smtClean="0"/>
              <a:t>FM0</a:t>
            </a:r>
            <a:endParaRPr lang="en-US" altLang="en-US" dirty="0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96EE4BA-9EFF-4918-BEB8-88518BA9966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99489"/>
              </p:ext>
            </p:extLst>
          </p:nvPr>
        </p:nvGraphicFramePr>
        <p:xfrm>
          <a:off x="467545" y="2071763"/>
          <a:ext cx="6120680" cy="3661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3" name="Visio" r:id="rId5" imgW="5698095" imgH="3407770" progId="Visio.Drawing.11">
                  <p:embed/>
                </p:oleObj>
              </mc:Choice>
              <mc:Fallback>
                <p:oleObj name="Visio" r:id="rId5" imgW="5698095" imgH="3407770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45" y="2071763"/>
                        <a:ext cx="6120680" cy="36614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779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تجرید: </a:t>
            </a:r>
            <a:r>
              <a:rPr lang="fa-IR" altLang="en-US"/>
              <a:t>سطح انتقال ثبات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6444208" y="1000125"/>
            <a:ext cx="2488655" cy="5214938"/>
          </a:xfrm>
        </p:spPr>
        <p:txBody>
          <a:bodyPr/>
          <a:lstStyle/>
          <a:p>
            <a:r>
              <a:rPr lang="fa-IR" altLang="en-US" dirty="0" smtClean="0"/>
              <a:t>انتقال ثبات:</a:t>
            </a:r>
            <a:endParaRPr lang="fa-IR" altLang="en-US" dirty="0"/>
          </a:p>
          <a:p>
            <a:pPr lvl="1"/>
            <a:r>
              <a:rPr lang="fa-IR" altLang="en-US" dirty="0" smtClean="0"/>
              <a:t>کد </a:t>
            </a:r>
            <a:r>
              <a:rPr lang="en-US" altLang="en-US" dirty="0" err="1" smtClean="0"/>
              <a:t>FM0</a:t>
            </a:r>
            <a:endParaRPr lang="en-US" altLang="en-US" dirty="0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96EE4BA-9EFF-4918-BEB8-88518BA9966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3528" y="618238"/>
            <a:ext cx="4572000" cy="56251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 err="1" smtClean="0">
                <a:latin typeface="Courier New" panose="02070309020205020404" pitchFamily="49" charset="0"/>
                <a:ea typeface="Calibri" panose="020F0502020204030204" pitchFamily="34" charset="0"/>
              </a:rPr>
              <a:t>CONTROL_P:process</a:t>
            </a:r>
            <a:r>
              <a:rPr lang="en-US" sz="1600" b="1" dirty="0" smtClean="0">
                <a:latin typeface="Courier New" panose="02070309020205020404" pitchFamily="49" charset="0"/>
                <a:ea typeface="Calibri" panose="020F0502020204030204" pitchFamily="34" charset="0"/>
              </a:rPr>
              <a:t>(</a:t>
            </a:r>
            <a:r>
              <a:rPr lang="en-US" sz="1600" b="1" dirty="0" err="1" smtClean="0">
                <a:latin typeface="Courier New" panose="02070309020205020404" pitchFamily="49" charset="0"/>
                <a:ea typeface="Calibri" panose="020F0502020204030204" pitchFamily="34" charset="0"/>
              </a:rPr>
              <a:t>CLK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begin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if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rising_edge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CLK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) then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if RST = '1' then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   STATE &lt;=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S11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else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   case STATE is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      when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S11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=&gt;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         if DIN = '0' then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            STATE &lt;=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S01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         else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            STATE &lt;=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S00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         end if;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      when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S01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=&gt;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1600" b="1" dirty="0" smtClean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 smtClean="0">
                <a:latin typeface="Courier New" panose="02070309020205020404" pitchFamily="49" charset="0"/>
                <a:ea typeface="Calibri" panose="020F0502020204030204" pitchFamily="34" charset="0"/>
              </a:rPr>
              <a:t>		…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   end case;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end if;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end if;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end process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CONTROL_P</a:t>
            </a:r>
            <a:r>
              <a:rPr lang="en-US" sz="1600" b="1" dirty="0" smtClean="0">
                <a:latin typeface="Courier New" panose="02070309020205020404" pitchFamily="49" charset="0"/>
                <a:ea typeface="Calibri" panose="020F0502020204030204" pitchFamily="34" charset="0"/>
              </a:rPr>
              <a:t>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32040" y="2276872"/>
            <a:ext cx="3744416" cy="2182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 err="1" smtClean="0">
                <a:latin typeface="Courier New" panose="02070309020205020404" pitchFamily="49" charset="0"/>
                <a:ea typeface="Calibri" panose="020F0502020204030204" pitchFamily="34" charset="0"/>
              </a:rPr>
              <a:t>DATA_P:process</a:t>
            </a:r>
            <a:r>
              <a:rPr lang="en-US" sz="1600" b="1" dirty="0" smtClean="0">
                <a:latin typeface="Courier New" panose="02070309020205020404" pitchFamily="49" charset="0"/>
                <a:ea typeface="Calibri" panose="020F0502020204030204" pitchFamily="34" charset="0"/>
              </a:rPr>
              <a:t>(STATE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,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CLK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begin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if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CLK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= '0' then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DOUT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&lt;= STATE(0);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else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DOUT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&lt;= STATE(1);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end if;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end process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DATA_P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;</a:t>
            </a:r>
            <a:endParaRPr lang="fa-IR" sz="1600" dirty="0"/>
          </a:p>
        </p:txBody>
      </p:sp>
    </p:spTree>
    <p:extLst>
      <p:ext uri="{BB962C8B-B14F-4D97-AF65-F5344CB8AC3E}">
        <p14:creationId xmlns:p14="http://schemas.microsoft.com/office/powerpoint/2010/main" val="218298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سطح </a:t>
            </a:r>
            <a:r>
              <a:rPr lang="fa-IR" altLang="en-US"/>
              <a:t>انتقال </a:t>
            </a:r>
            <a:r>
              <a:rPr lang="fa-IR" altLang="en-US" smtClean="0"/>
              <a:t>ثبات: مثال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1547664" y="1000125"/>
            <a:ext cx="7385199" cy="628675"/>
          </a:xfrm>
        </p:spPr>
        <p:txBody>
          <a:bodyPr/>
          <a:lstStyle/>
          <a:p>
            <a:r>
              <a:rPr lang="fa-IR" altLang="en-US" smtClean="0"/>
              <a:t>محاسبه ب.م.م در سطح انتقال ثبات:</a:t>
            </a:r>
            <a:endParaRPr lang="en-US" altLang="en-US" smtClean="0"/>
          </a:p>
          <a:p>
            <a:pPr marL="457200" lvl="1" indent="0">
              <a:buFont typeface="Wingdings" pitchFamily="2" charset="2"/>
              <a:buNone/>
            </a:pPr>
            <a:endParaRPr lang="en-US" altLang="en-US" sz="2400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96EE4BA-9EFF-4918-BEB8-88518BA9966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563" y="1844824"/>
            <a:ext cx="4632325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932040" y="5215861"/>
            <a:ext cx="302433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800" b="1" smtClean="0">
                <a:cs typeface="B Nazanin" panose="00000400000000000000" pitchFamily="2" charset="-78"/>
              </a:rPr>
              <a:t>مسیر داده</a:t>
            </a:r>
            <a:endParaRPr lang="fa-IR" sz="2800" b="1">
              <a:cs typeface="B Nazanin" panose="00000400000000000000" pitchFamily="2" charset="-78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5536" y="1802620"/>
            <a:ext cx="3024336" cy="2516073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2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int gcd(int x, int y)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{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fin = false;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while (!fin)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{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   if (x &gt; y)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      x = x – y;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   else if (x &lt; y)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      y = y – x;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   else 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ar-SA" altLang="fa-IR" sz="140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ourier New" panose="02070309020205020404" pitchFamily="49" charset="0"/>
              </a:rPr>
              <a:t>         </a:t>
            </a: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fin = true;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}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return x;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}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0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سطح </a:t>
            </a:r>
            <a:r>
              <a:rPr lang="fa-IR" altLang="en-US"/>
              <a:t>انتقال </a:t>
            </a:r>
            <a:r>
              <a:rPr lang="fa-IR" altLang="en-US" smtClean="0"/>
              <a:t>ثبات: مثال</a:t>
            </a:r>
            <a:endParaRPr lang="en-US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96EE4BA-9EFF-4918-BEB8-88518BA9966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13" y="3280777"/>
            <a:ext cx="4307566" cy="2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67544" y="764704"/>
            <a:ext cx="2736304" cy="2516073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2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int gcd(int x, int y)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{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fin = false;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while (!fin)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{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   if (x &gt; y)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      x = x – y;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   else if (x &lt; y)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      y = y – x;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   else 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ar-SA" altLang="fa-IR" sz="140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ourier New" panose="02070309020205020404" pitchFamily="49" charset="0"/>
              </a:rPr>
              <a:t>         </a:t>
            </a: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fin = true;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}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   return x;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fa-IR" sz="1400">
                <a:solidFill>
                  <a:srgbClr val="0000FF"/>
                </a:solidFill>
                <a:latin typeface="Courier New" panose="02070309020205020404" pitchFamily="49" charset="0"/>
                <a:cs typeface="Calibri" panose="020F0502020204030204" pitchFamily="34" charset="0"/>
              </a:rPr>
              <a:t>}</a:t>
            </a:r>
            <a:endParaRPr lang="en-US" altLang="fa-IR" sz="1400" b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043052"/>
            <a:ext cx="4179396" cy="3881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69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تجرید: سطح گیت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5868144" y="1000125"/>
            <a:ext cx="3064719" cy="844699"/>
          </a:xfrm>
        </p:spPr>
        <p:txBody>
          <a:bodyPr/>
          <a:lstStyle/>
          <a:p>
            <a:r>
              <a:rPr lang="fa-IR" altLang="en-US" dirty="0" smtClean="0"/>
              <a:t>گیت:</a:t>
            </a:r>
            <a:endParaRPr lang="en-US" altLang="en-US" dirty="0" smtClean="0"/>
          </a:p>
          <a:p>
            <a:pPr marL="457200" lvl="1" indent="0">
              <a:buFont typeface="Wingdings" pitchFamily="2" charset="2"/>
              <a:buNone/>
            </a:pPr>
            <a:endParaRPr lang="en-US" altLang="en-US" sz="2400" dirty="0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96EE4BA-9EFF-4918-BEB8-88518BA9966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4644008" y="1844824"/>
            <a:ext cx="0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H="1">
            <a:off x="467544" y="2276872"/>
            <a:ext cx="417646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467544" y="2276872"/>
            <a:ext cx="0" cy="115212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467544" y="3429000"/>
            <a:ext cx="57606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>
            <a:off x="4572000" y="5157192"/>
            <a:ext cx="0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 flipH="1">
            <a:off x="395536" y="5589240"/>
            <a:ext cx="417646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395536" y="5589240"/>
            <a:ext cx="0" cy="5040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>
            <a:off x="395536" y="6093296"/>
            <a:ext cx="7920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4572000" y="3501008"/>
            <a:ext cx="0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395536" y="3933056"/>
            <a:ext cx="417646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>
            <a:off x="395536" y="3933056"/>
            <a:ext cx="0" cy="115212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395536" y="5085184"/>
            <a:ext cx="57606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5086654" y="2176612"/>
            <a:ext cx="3576464" cy="2462213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GATE_LEVEL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of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ADDER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</a:t>
            </a:r>
            <a:r>
              <a:rPr lang="en-US" altLang="en-US" sz="1400" b="0" dirty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….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L1:XORG port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map(X1,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Y1,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T1);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L2:ANDG port map(X1, Y1, T2);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  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L3:XORG 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map(T1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,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Z, S1);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  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L4:ANDG 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map(T1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,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Z, T3);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  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L5:ORG 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map(T3, T2, C1);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 ….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GATE_LEVEL;</a:t>
            </a:r>
            <a:endParaRPr lang="en-US" altLang="en-US" sz="1400" b="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367817"/>
              </p:ext>
            </p:extLst>
          </p:nvPr>
        </p:nvGraphicFramePr>
        <p:xfrm>
          <a:off x="611560" y="643210"/>
          <a:ext cx="4567238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59" name="Visio" r:id="rId5" imgW="4567920" imgH="1418007" progId="Visio.Drawing.11">
                  <p:embed/>
                </p:oleObj>
              </mc:Choice>
              <mc:Fallback>
                <p:oleObj name="Visio" r:id="rId5" imgW="4567920" imgH="1418007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560" y="643210"/>
                        <a:ext cx="4567238" cy="1417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496028"/>
              </p:ext>
            </p:extLst>
          </p:nvPr>
        </p:nvGraphicFramePr>
        <p:xfrm>
          <a:off x="528052" y="2299394"/>
          <a:ext cx="4567238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0" name="Visio" r:id="rId8" imgW="4567920" imgH="1418007" progId="Visio.Drawing.11">
                  <p:embed/>
                </p:oleObj>
              </mc:Choice>
              <mc:Fallback>
                <p:oleObj name="Visio" r:id="rId8" imgW="4567920" imgH="1418007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8052" y="2299394"/>
                        <a:ext cx="4567238" cy="1417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852520"/>
              </p:ext>
            </p:extLst>
          </p:nvPr>
        </p:nvGraphicFramePr>
        <p:xfrm>
          <a:off x="539552" y="3955578"/>
          <a:ext cx="4567238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1" name="Visio" r:id="rId11" imgW="4567920" imgH="1418007" progId="Visio.Drawing.11">
                  <p:embed/>
                </p:oleObj>
              </mc:Choice>
              <mc:Fallback>
                <p:oleObj name="Visio" r:id="rId11" imgW="4567920" imgH="1418007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9552" y="3955578"/>
                        <a:ext cx="4567238" cy="1417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745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سخت‌افزار با </a:t>
            </a:r>
            <a:r>
              <a:rPr lang="en-US" altLang="en-US" smtClean="0"/>
              <a:t>VHDL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dirty="0" smtClean="0"/>
              <a:t>جزئیات:</a:t>
            </a:r>
          </a:p>
          <a:p>
            <a:pPr lvl="1"/>
            <a:r>
              <a:rPr lang="en-US" altLang="en-US" dirty="0" smtClean="0"/>
              <a:t>Language Reference Manual</a:t>
            </a:r>
          </a:p>
          <a:p>
            <a:pPr lvl="2"/>
            <a:r>
              <a:rPr lang="fa-IR" altLang="en-US" dirty="0" smtClean="0"/>
              <a:t> به عنوان مرجع اصلی</a:t>
            </a:r>
            <a:endParaRPr lang="en-US" altLang="en-US" dirty="0" smtClean="0"/>
          </a:p>
          <a:p>
            <a:pPr lvl="2"/>
            <a:r>
              <a:rPr lang="en-US" altLang="en-US" sz="2400" dirty="0" smtClean="0"/>
              <a:t>1076 LRM </a:t>
            </a:r>
            <a:r>
              <a:rPr lang="en-US" altLang="en-US" sz="2400" dirty="0" err="1" smtClean="0"/>
              <a:t>Ieee</a:t>
            </a:r>
            <a:r>
              <a:rPr lang="en-US" altLang="en-US" sz="2400" dirty="0" smtClean="0"/>
              <a:t> Standard </a:t>
            </a:r>
            <a:r>
              <a:rPr lang="en-US" altLang="en-US" sz="2400" dirty="0" err="1" smtClean="0"/>
              <a:t>Vhdl</a:t>
            </a:r>
            <a:r>
              <a:rPr lang="en-US" altLang="en-US" sz="2400" dirty="0" smtClean="0"/>
              <a:t> Language Reference Manual.pdf</a:t>
            </a:r>
            <a:endParaRPr lang="fa-IR" altLang="en-US" sz="2400" dirty="0" smtClean="0"/>
          </a:p>
          <a:p>
            <a:pPr lvl="1" eaLnBrk="1" hangingPunct="1">
              <a:buFontTx/>
              <a:buChar char="•"/>
            </a:pPr>
            <a:r>
              <a:rPr lang="en-US" altLang="en-US" smtClean="0"/>
              <a:t>VHDL-AMS </a:t>
            </a:r>
            <a:r>
              <a:rPr lang="en-US" altLang="en-US" dirty="0" smtClean="0"/>
              <a:t>1076.1</a:t>
            </a:r>
          </a:p>
          <a:p>
            <a:pPr lvl="2" eaLnBrk="1" hangingPunct="1">
              <a:buFontTx/>
              <a:buChar char="•"/>
            </a:pPr>
            <a:r>
              <a:rPr lang="fa-IR" altLang="en-US" sz="2400" dirty="0" smtClean="0"/>
              <a:t>فقط شبیه‌سازی</a:t>
            </a:r>
          </a:p>
          <a:p>
            <a:pPr lvl="2" eaLnBrk="1" hangingPunct="1">
              <a:buFontTx/>
              <a:buChar char="•"/>
            </a:pPr>
            <a:r>
              <a:rPr lang="fa-IR" altLang="en-US" sz="2400" dirty="0" smtClean="0"/>
              <a:t>نحوة شبیه‌سازی: معادلات دیفرانسیل</a:t>
            </a:r>
          </a:p>
          <a:p>
            <a:pPr lvl="2"/>
            <a:endParaRPr lang="en-US" altLang="en-US" dirty="0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8B9FF8D-4733-45FA-9CC9-6D86B80BC4D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C79FE503-ED64-489C-8A84-E13F3018C240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VHDL Structural Elements</a:t>
            </a:r>
          </a:p>
        </p:txBody>
      </p:sp>
      <p:sp>
        <p:nvSpPr>
          <p:cNvPr id="535557" name="Text Box 5"/>
          <p:cNvSpPr txBox="1">
            <a:spLocks noChangeArrowheads="1"/>
          </p:cNvSpPr>
          <p:nvPr/>
        </p:nvSpPr>
        <p:spPr bwMode="auto">
          <a:xfrm>
            <a:off x="179512" y="1484784"/>
            <a:ext cx="8424664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0500" indent="-1905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en-US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Entity</a:t>
            </a:r>
            <a:r>
              <a:rPr lang="fa-IR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:		</a:t>
            </a:r>
            <a:r>
              <a:rPr lang="fa-IR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نحوه ارتباط با ساير پودمان‌ها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0" indent="0" algn="r" eaLnBrk="1" hangingPunct="1">
              <a:spcBef>
                <a:spcPct val="0"/>
              </a:spcBef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algn="r" eaLnBrk="1" hangingPunct="1">
              <a:spcBef>
                <a:spcPct val="0"/>
              </a:spcBef>
            </a:pPr>
            <a:r>
              <a:rPr lang="en-US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Architecture</a:t>
            </a:r>
            <a:r>
              <a:rPr lang="fa-IR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:	</a:t>
            </a:r>
            <a:r>
              <a:rPr lang="fa-IR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عملکرد یا بدنه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algn="r" eaLnBrk="1" hangingPunct="1">
              <a:spcBef>
                <a:spcPct val="0"/>
              </a:spcBef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algn="r" eaLnBrk="1" hangingPunct="1">
              <a:spcBef>
                <a:spcPct val="0"/>
              </a:spcBef>
            </a:pPr>
            <a:r>
              <a:rPr lang="en-US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Configuration</a:t>
            </a:r>
            <a:r>
              <a:rPr lang="fa-IR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:</a:t>
            </a:r>
            <a:r>
              <a:rPr lang="fa-I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	ایجاد ارتباط با عناصر کتابخانه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algn="r" eaLnBrk="1" hangingPunct="1">
              <a:spcBef>
                <a:spcPct val="0"/>
              </a:spcBef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algn="r" eaLnBrk="1" hangingPunct="1">
              <a:spcBef>
                <a:spcPct val="0"/>
              </a:spcBef>
            </a:pPr>
            <a:r>
              <a:rPr lang="en-US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Process</a:t>
            </a:r>
            <a:r>
              <a:rPr lang="fa-IR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:</a:t>
            </a:r>
            <a:r>
              <a:rPr lang="fa-I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	اجرای ترتیبی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algn="r" eaLnBrk="1" hangingPunct="1">
              <a:spcBef>
                <a:spcPct val="0"/>
              </a:spcBef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algn="r" eaLnBrk="1" hangingPunct="1">
              <a:spcBef>
                <a:spcPct val="0"/>
              </a:spcBef>
            </a:pPr>
            <a:r>
              <a:rPr lang="en-US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Package</a:t>
            </a:r>
            <a:r>
              <a:rPr lang="fa-IR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:</a:t>
            </a:r>
            <a:r>
              <a:rPr lang="fa-I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	</a:t>
            </a:r>
            <a:r>
              <a:rPr lang="fa-I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مجموعه اجزای سخت‌افزاری، مجموعه ثابت‌ها و انواع داده یا زیربرنامه‌ها</a:t>
            </a:r>
          </a:p>
          <a:p>
            <a:pPr algn="r" eaLnBrk="1" hangingPunct="1">
              <a:spcBef>
                <a:spcPct val="0"/>
              </a:spcBef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algn="r" eaLnBrk="1" hangingPunct="1">
              <a:spcBef>
                <a:spcPct val="0"/>
              </a:spcBef>
            </a:pPr>
            <a:r>
              <a:rPr lang="en-US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Library</a:t>
            </a:r>
            <a:r>
              <a:rPr lang="fa-IR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:</a:t>
            </a:r>
            <a:r>
              <a:rPr lang="fa-I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	گروهی از واحدهای کامپایل شده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5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5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5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5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5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55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7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E3B4183E-FCEE-45E0-A38C-CD226AEE79D3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Entity</a:t>
            </a:r>
          </a:p>
        </p:txBody>
      </p:sp>
      <p:sp>
        <p:nvSpPr>
          <p:cNvPr id="38917" name="Text Box 4"/>
          <p:cNvSpPr txBox="1">
            <a:spLocks noChangeArrowheads="1"/>
          </p:cNvSpPr>
          <p:nvPr/>
        </p:nvSpPr>
        <p:spPr bwMode="auto">
          <a:xfrm>
            <a:off x="646112" y="1600200"/>
            <a:ext cx="4573959" cy="830997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</a:t>
            </a:r>
            <a:r>
              <a:rPr lang="en-US" altLang="en-US" sz="1600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HALF_ADDER</a:t>
            </a:r>
            <a: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is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	port (A, B: in bit; S, </a:t>
            </a:r>
            <a:r>
              <a:rPr lang="en-US" altLang="en-US" sz="1600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Cout</a:t>
            </a:r>
            <a: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 out bit);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entity </a:t>
            </a:r>
            <a:r>
              <a:rPr lang="en-US" altLang="en-US" sz="1600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HALF_ADDER</a:t>
            </a:r>
            <a:r>
              <a:rPr lang="en-US" altLang="en-US" sz="160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;</a:t>
            </a:r>
            <a:endParaRPr lang="en-US" altLang="en-US" sz="160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</p:txBody>
      </p:sp>
      <p:sp>
        <p:nvSpPr>
          <p:cNvPr id="537613" name="Text Box 13"/>
          <p:cNvSpPr txBox="1">
            <a:spLocks noChangeArrowheads="1"/>
          </p:cNvSpPr>
          <p:nvPr/>
        </p:nvSpPr>
        <p:spPr bwMode="auto">
          <a:xfrm>
            <a:off x="5364088" y="3510178"/>
            <a:ext cx="352839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Interface description 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No behavior/implementation definition </a:t>
            </a:r>
          </a:p>
        </p:txBody>
      </p:sp>
      <p:sp>
        <p:nvSpPr>
          <p:cNvPr id="537614" name="Text Box 14"/>
          <p:cNvSpPr txBox="1">
            <a:spLocks noChangeArrowheads="1"/>
          </p:cNvSpPr>
          <p:nvPr/>
        </p:nvSpPr>
        <p:spPr bwMode="auto">
          <a:xfrm>
            <a:off x="349250" y="3587532"/>
            <a:ext cx="4942830" cy="156966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ADDER is</a:t>
            </a:r>
            <a:b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port(</a:t>
            </a:r>
            <a:b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A, B:</a:t>
            </a:r>
            <a:r>
              <a:rPr lang="en-US" altLang="en-US" sz="16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in</a:t>
            </a: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6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 (3 downto 0);</a:t>
            </a: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SUM:</a:t>
            </a:r>
            <a:r>
              <a:rPr lang="en-US" altLang="en-US" sz="16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   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 (3 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downto 0);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CARRY: </a:t>
            </a:r>
            <a:r>
              <a:rPr lang="en-US" altLang="en-US" sz="16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 </a:t>
            </a: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bit</a:t>
            </a:r>
            <a: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);</a:t>
            </a:r>
            <a:br>
              <a:rPr lang="en-US" altLang="en-US" sz="16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ADDER</a:t>
            </a:r>
            <a:r>
              <a:rPr lang="en-US" altLang="en-US" sz="16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;</a:t>
            </a:r>
            <a:endParaRPr lang="en-US" altLang="en-US" sz="1600" b="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</p:txBody>
      </p:sp>
      <p:sp>
        <p:nvSpPr>
          <p:cNvPr id="537615" name="Text Box 15"/>
          <p:cNvSpPr txBox="1">
            <a:spLocks noChangeArrowheads="1"/>
          </p:cNvSpPr>
          <p:nvPr/>
        </p:nvSpPr>
        <p:spPr bwMode="auto">
          <a:xfrm>
            <a:off x="4900756" y="4669053"/>
            <a:ext cx="370369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914400" indent="-45720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Linking via port signals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data types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signal width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signal direction 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1692274" y="3554413"/>
            <a:ext cx="4031853" cy="73866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defRPr/>
            </a:pPr>
            <a:r>
              <a:rPr lang="en-US" sz="1400" b="0" dirty="0">
                <a:solidFill>
                  <a:schemeClr val="accent1">
                    <a:lumMod val="75000"/>
                  </a:schemeClr>
                </a:solidFill>
              </a:rPr>
              <a:t>          </a:t>
            </a:r>
            <a:r>
              <a:rPr lang="en-US" sz="140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 </a:t>
            </a:r>
            <a:r>
              <a:rPr lang="en-US" sz="1400" smtClean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i</a:t>
            </a:r>
            <a:r>
              <a:rPr lang="en-US" sz="140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n     integer range 15 downto 0;</a:t>
            </a:r>
            <a:r>
              <a:rPr lang="en-US" sz="1400" b="0" smtClean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/>
            </a:r>
            <a:br>
              <a:rPr lang="en-US" sz="1400" b="0" smtClean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1">
                    <a:lumMod val="75000"/>
                  </a:schemeClr>
                </a:solidFill>
              </a:rPr>
              <a:t>           </a:t>
            </a:r>
            <a:r>
              <a:rPr lang="en-US" sz="140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out   integer range 15 downto 0;</a:t>
            </a:r>
            <a:r>
              <a:rPr lang="en-US" sz="1400" b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/>
            </a:r>
            <a:br>
              <a:rPr lang="en-US" sz="1400" b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</a:br>
            <a:endParaRPr lang="en-US" sz="1400" dirty="0">
              <a:solidFill>
                <a:schemeClr val="accent1">
                  <a:lumMod val="75000"/>
                </a:schemeClr>
              </a:solidFill>
              <a:latin typeface="Helvetica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770232"/>
              </p:ext>
            </p:extLst>
          </p:nvPr>
        </p:nvGraphicFramePr>
        <p:xfrm>
          <a:off x="5508104" y="764704"/>
          <a:ext cx="2382290" cy="2789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7" name="Visio" r:id="rId5" imgW="2552583" imgH="2988661" progId="Visio.Drawing.11">
                  <p:embed/>
                </p:oleObj>
              </mc:Choice>
              <mc:Fallback>
                <p:oleObj name="Visio" r:id="rId5" imgW="2552583" imgH="2988661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08104" y="764704"/>
                        <a:ext cx="2382290" cy="2789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49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7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7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7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7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7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7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7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13" grpId="0" build="p" bldLvl="3" autoUpdateAnimBg="0"/>
      <p:bldP spid="537614" grpId="0" animBg="1" autoUpdateAnimBg="0"/>
      <p:bldP spid="537615" grpId="0" build="p" bldLvl="3" autoUpdateAnimBg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92B074D5-0FCD-48E5-8916-068EC432A8CA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Architecture</a:t>
            </a:r>
          </a:p>
        </p:txBody>
      </p:sp>
      <p:sp>
        <p:nvSpPr>
          <p:cNvPr id="40965" name="Text Box 3"/>
          <p:cNvSpPr txBox="1">
            <a:spLocks noChangeArrowheads="1"/>
          </p:cNvSpPr>
          <p:nvPr/>
        </p:nvSpPr>
        <p:spPr bwMode="auto">
          <a:xfrm>
            <a:off x="395536" y="1988840"/>
            <a:ext cx="4230439" cy="2554545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</a:t>
            </a:r>
            <a:r>
              <a:rPr lang="en-US" altLang="en-US" sz="1600" b="0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HALF_ADDER</a:t>
            </a: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is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	port (A, B: in bit; S, </a:t>
            </a:r>
            <a:r>
              <a:rPr lang="en-US" altLang="en-US" sz="1600" b="0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Cout</a:t>
            </a: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 out bit);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entity </a:t>
            </a:r>
            <a:r>
              <a:rPr lang="en-US" altLang="en-US" sz="1600" b="0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HALF_ADDER</a:t>
            </a: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 RTL of </a:t>
            </a:r>
            <a:r>
              <a:rPr lang="en-US" altLang="en-US" sz="1600" b="0" dirty="0" err="1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HALF_ADDER</a:t>
            </a:r>
            <a:r>
              <a:rPr lang="en-US" altLang="en-US" sz="16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is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endParaRPr lang="en-US" altLang="en-US" sz="1600" b="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SUM &lt;= A </a:t>
            </a:r>
            <a:r>
              <a:rPr lang="en-US" altLang="en-US" sz="1600" b="0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xor</a:t>
            </a: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B;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CARRY &lt;= A and B;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architecture RTL;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4625975" y="1952625"/>
            <a:ext cx="42672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868363" indent="-19050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Implementation of the design 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Always connected with a specific entity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one entity can have several architectures </a:t>
            </a:r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entity ports are available as signals within the architecture 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Contains concurrent statements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0F9DED6F-1C3D-4D9B-B578-3386E4267B1D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Architecture Structure</a:t>
            </a:r>
          </a:p>
        </p:txBody>
      </p:sp>
      <p:sp>
        <p:nvSpPr>
          <p:cNvPr id="43013" name="Text Box 3"/>
          <p:cNvSpPr txBox="1">
            <a:spLocks noChangeArrowheads="1"/>
          </p:cNvSpPr>
          <p:nvPr/>
        </p:nvSpPr>
        <p:spPr bwMode="auto">
          <a:xfrm>
            <a:off x="531813" y="1579563"/>
            <a:ext cx="4648200" cy="3046988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RTL</a:t>
            </a: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of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STRUCTURE</a:t>
            </a: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is</a:t>
            </a:r>
            <a:br>
              <a:rPr lang="en-US" altLang="en-US" sz="160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constant BASE: integer := 10;</a:t>
            </a:r>
            <a:b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subtype DIGIT is integer range 0 to 9;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signal DIGIT_A, DIGIT_B: DIGIT;</a:t>
            </a:r>
            <a:b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signal CARRY:</a:t>
            </a: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 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DIGIT;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DIGIT_A &lt;= 3;</a:t>
            </a:r>
            <a:b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 &lt;= DIGIT_A + DIGIT_B;</a:t>
            </a:r>
            <a:b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DIGIT_B &lt;= 7;</a:t>
            </a:r>
            <a:b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 &lt;= 0 when SUM &lt; BASE else</a:t>
            </a:r>
            <a:b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 smtClean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    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1;</a:t>
            </a:r>
            <a:b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6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EXAMPLE</a:t>
            </a:r>
            <a:r>
              <a:rPr lang="en-US" altLang="en-US" sz="160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;</a:t>
            </a:r>
            <a:endParaRPr lang="en-US" altLang="en-US" sz="1600" b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</p:txBody>
      </p:sp>
      <p:sp>
        <p:nvSpPr>
          <p:cNvPr id="43014" name="Text Box 4"/>
          <p:cNvSpPr txBox="1">
            <a:spLocks noChangeArrowheads="1"/>
          </p:cNvSpPr>
          <p:nvPr/>
        </p:nvSpPr>
        <p:spPr bwMode="auto">
          <a:xfrm>
            <a:off x="5103813" y="1517650"/>
            <a:ext cx="3429000" cy="442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571500" indent="-19050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15000"/>
              </a:spcBef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Declarative part: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data types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constants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intermediate signals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... 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algn="l" rtl="0" eaLnBrk="1" hangingPunct="1">
              <a:spcBef>
                <a:spcPct val="15000"/>
              </a:spcBef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Statement part (after 'begin'):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signal assignments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processes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component instantiations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concurrent statements: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order not important </a:t>
            </a:r>
          </a:p>
          <a:p>
            <a:pPr lvl="1" algn="l" rtl="0" eaLnBrk="1" hangingPunct="1">
              <a:spcBef>
                <a:spcPct val="1500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 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  <a:sym typeface="Wingdings" panose="05000000000000000000" pitchFamily="2" charset="2"/>
              </a:rPr>
              <a:t> Simulator recalculates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  <a:sym typeface="Wingdings" panose="05000000000000000000" pitchFamily="2" charset="2"/>
              </a:rPr>
              <a:t>sum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  <a:sym typeface="Wingdings" panose="05000000000000000000" pitchFamily="2" charset="2"/>
              </a:rPr>
              <a:t>  any time an operand changes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539667" name="Text Box 19"/>
          <p:cNvSpPr txBox="1">
            <a:spLocks noChangeArrowheads="1"/>
          </p:cNvSpPr>
          <p:nvPr/>
        </p:nvSpPr>
        <p:spPr bwMode="auto">
          <a:xfrm>
            <a:off x="989013" y="5851525"/>
            <a:ext cx="426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Port is a kind of signal.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67" grpId="0" build="p" bldLvl="3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Entity Port Modes</a:t>
            </a:r>
          </a:p>
        </p:txBody>
      </p:sp>
      <p:sp>
        <p:nvSpPr>
          <p:cNvPr id="540676" name="Text Box 4"/>
          <p:cNvSpPr txBox="1">
            <a:spLocks noChangeArrowheads="1"/>
          </p:cNvSpPr>
          <p:nvPr/>
        </p:nvSpPr>
        <p:spPr bwMode="auto">
          <a:xfrm>
            <a:off x="4344988" y="904875"/>
            <a:ext cx="4403725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914400" indent="-45720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in: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signal values are read-only </a:t>
            </a:r>
          </a:p>
          <a:p>
            <a:pPr algn="l" rtl="0" eaLnBrk="1" hangingPunct="1">
              <a:spcBef>
                <a:spcPct val="10000"/>
              </a:spcBef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out: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signal values are write-only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multiple drivers </a:t>
            </a:r>
          </a:p>
          <a:p>
            <a:pPr algn="l" rtl="0" eaLnBrk="1" hangingPunct="1">
              <a:spcBef>
                <a:spcPct val="10000"/>
              </a:spcBef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buffer: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similar to out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signal values may be read from inside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only 1 driver </a:t>
            </a:r>
          </a:p>
          <a:p>
            <a:pPr algn="l" rtl="0" eaLnBrk="1" hangingPunct="1">
              <a:spcBef>
                <a:spcPct val="10000"/>
              </a:spcBef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inout: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bidirectional port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algn="l" rtl="0" eaLnBrk="1" hangingPunct="1">
              <a:spcBef>
                <a:spcPct val="10000"/>
              </a:spcBef>
            </a:pPr>
            <a:r>
              <a:rPr lang="en-US" altLang="en-US" sz="2000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Output port modes have to match.</a:t>
            </a:r>
            <a:endParaRPr lang="fa-IR" altLang="en-US" sz="20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spcBef>
                <a:spcPct val="10000"/>
              </a:spcBef>
            </a:pPr>
            <a:endParaRPr lang="en-US" altLang="en-US" sz="2000" b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45061" name="Rectangle 1"/>
          <p:cNvSpPr>
            <a:spLocks noChangeArrowheads="1"/>
          </p:cNvSpPr>
          <p:nvPr/>
        </p:nvSpPr>
        <p:spPr bwMode="auto">
          <a:xfrm>
            <a:off x="1692275" y="1323975"/>
            <a:ext cx="1800225" cy="9525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45062" name="Straight Arrow Connector 3"/>
          <p:cNvCxnSpPr>
            <a:cxnSpLocks noChangeShapeType="1"/>
          </p:cNvCxnSpPr>
          <p:nvPr/>
        </p:nvCxnSpPr>
        <p:spPr bwMode="auto">
          <a:xfrm flipH="1">
            <a:off x="3492500" y="1628775"/>
            <a:ext cx="6477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3" name="Straight Arrow Connector 12"/>
          <p:cNvCxnSpPr>
            <a:cxnSpLocks noChangeShapeType="1"/>
          </p:cNvCxnSpPr>
          <p:nvPr/>
        </p:nvCxnSpPr>
        <p:spPr bwMode="auto">
          <a:xfrm flipH="1">
            <a:off x="2843213" y="1628775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4" name="Rectangle 4"/>
          <p:cNvSpPr>
            <a:spLocks noChangeArrowheads="1"/>
          </p:cNvSpPr>
          <p:nvPr/>
        </p:nvSpPr>
        <p:spPr bwMode="auto">
          <a:xfrm>
            <a:off x="3482975" y="1585913"/>
            <a:ext cx="73025" cy="71437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5065" name="Rectangle 14"/>
          <p:cNvSpPr>
            <a:spLocks noChangeArrowheads="1"/>
          </p:cNvSpPr>
          <p:nvPr/>
        </p:nvSpPr>
        <p:spPr bwMode="auto">
          <a:xfrm>
            <a:off x="1692275" y="2492375"/>
            <a:ext cx="1800225" cy="9525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45066" name="Straight Arrow Connector 15"/>
          <p:cNvCxnSpPr>
            <a:cxnSpLocks noChangeShapeType="1"/>
          </p:cNvCxnSpPr>
          <p:nvPr/>
        </p:nvCxnSpPr>
        <p:spPr bwMode="auto">
          <a:xfrm>
            <a:off x="2843213" y="2797175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7" name="Straight Arrow Connector 16"/>
          <p:cNvCxnSpPr>
            <a:cxnSpLocks noChangeShapeType="1"/>
          </p:cNvCxnSpPr>
          <p:nvPr/>
        </p:nvCxnSpPr>
        <p:spPr bwMode="auto">
          <a:xfrm>
            <a:off x="3492500" y="2797175"/>
            <a:ext cx="6477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8" name="Rectangle 17"/>
          <p:cNvSpPr>
            <a:spLocks noChangeArrowheads="1"/>
          </p:cNvSpPr>
          <p:nvPr/>
        </p:nvSpPr>
        <p:spPr bwMode="auto">
          <a:xfrm>
            <a:off x="3482975" y="2754313"/>
            <a:ext cx="73025" cy="71437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5069" name="Rectangle 21"/>
          <p:cNvSpPr>
            <a:spLocks noChangeArrowheads="1"/>
          </p:cNvSpPr>
          <p:nvPr/>
        </p:nvSpPr>
        <p:spPr bwMode="auto">
          <a:xfrm>
            <a:off x="1692275" y="3700463"/>
            <a:ext cx="1800225" cy="9525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45070" name="Straight Arrow Connector 22"/>
          <p:cNvCxnSpPr>
            <a:cxnSpLocks noChangeShapeType="1"/>
          </p:cNvCxnSpPr>
          <p:nvPr/>
        </p:nvCxnSpPr>
        <p:spPr bwMode="auto">
          <a:xfrm>
            <a:off x="2843213" y="4005263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1" name="Straight Arrow Connector 23"/>
          <p:cNvCxnSpPr>
            <a:cxnSpLocks noChangeShapeType="1"/>
          </p:cNvCxnSpPr>
          <p:nvPr/>
        </p:nvCxnSpPr>
        <p:spPr bwMode="auto">
          <a:xfrm>
            <a:off x="3492500" y="4005263"/>
            <a:ext cx="6477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72" name="Rectangle 24"/>
          <p:cNvSpPr>
            <a:spLocks noChangeArrowheads="1"/>
          </p:cNvSpPr>
          <p:nvPr/>
        </p:nvSpPr>
        <p:spPr bwMode="auto">
          <a:xfrm>
            <a:off x="3482975" y="3962400"/>
            <a:ext cx="73025" cy="71438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45073" name="Elbow Connector 9"/>
          <p:cNvCxnSpPr>
            <a:cxnSpLocks noChangeShapeType="1"/>
          </p:cNvCxnSpPr>
          <p:nvPr/>
        </p:nvCxnSpPr>
        <p:spPr bwMode="auto">
          <a:xfrm rot="10800000" flipV="1">
            <a:off x="2951163" y="4005263"/>
            <a:ext cx="325437" cy="265112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74" name="Rectangle 27"/>
          <p:cNvSpPr>
            <a:spLocks noChangeArrowheads="1"/>
          </p:cNvSpPr>
          <p:nvPr/>
        </p:nvSpPr>
        <p:spPr bwMode="auto">
          <a:xfrm>
            <a:off x="1692275" y="4941888"/>
            <a:ext cx="1800225" cy="95091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45075" name="Straight Arrow Connector 28"/>
          <p:cNvCxnSpPr>
            <a:cxnSpLocks noChangeShapeType="1"/>
          </p:cNvCxnSpPr>
          <p:nvPr/>
        </p:nvCxnSpPr>
        <p:spPr bwMode="auto">
          <a:xfrm>
            <a:off x="2843213" y="5084763"/>
            <a:ext cx="649287" cy="23177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6" name="Straight Arrow Connector 29"/>
          <p:cNvCxnSpPr>
            <a:cxnSpLocks noChangeShapeType="1"/>
          </p:cNvCxnSpPr>
          <p:nvPr/>
        </p:nvCxnSpPr>
        <p:spPr bwMode="auto">
          <a:xfrm flipV="1">
            <a:off x="3492500" y="5084763"/>
            <a:ext cx="647700" cy="23177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77" name="Rectangle 30"/>
          <p:cNvSpPr>
            <a:spLocks noChangeArrowheads="1"/>
          </p:cNvSpPr>
          <p:nvPr/>
        </p:nvSpPr>
        <p:spPr bwMode="auto">
          <a:xfrm>
            <a:off x="3482975" y="5273675"/>
            <a:ext cx="73025" cy="73025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45078" name="Straight Arrow Connector 33"/>
          <p:cNvCxnSpPr>
            <a:cxnSpLocks noChangeShapeType="1"/>
          </p:cNvCxnSpPr>
          <p:nvPr/>
        </p:nvCxnSpPr>
        <p:spPr bwMode="auto">
          <a:xfrm flipH="1">
            <a:off x="2840038" y="5300663"/>
            <a:ext cx="652462" cy="2349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Straight Arrow Connector 37"/>
          <p:cNvCxnSpPr>
            <a:cxnSpLocks noChangeShapeType="1"/>
            <a:endCxn id="45077" idx="1"/>
          </p:cNvCxnSpPr>
          <p:nvPr/>
        </p:nvCxnSpPr>
        <p:spPr bwMode="auto">
          <a:xfrm flipH="1" flipV="1">
            <a:off x="3482975" y="5310188"/>
            <a:ext cx="657225" cy="25241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0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40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0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0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0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40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40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0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40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406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406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06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676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6CD8F36C-7C01-4F30-98F1-5B26324F11DB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Use of VHDL Objects</a:t>
            </a:r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auto">
          <a:xfrm>
            <a:off x="0" y="-4763"/>
            <a:ext cx="9144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lang="fa-IR" altLang="en-US" sz="7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a-IR" altLang="en-US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a-IR" altLang="en-US" sz="21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7110" name="Object 8"/>
          <p:cNvGraphicFramePr>
            <a:graphicFrameLocks noChangeAspect="1"/>
          </p:cNvGraphicFramePr>
          <p:nvPr/>
        </p:nvGraphicFramePr>
        <p:xfrm>
          <a:off x="539750" y="1773238"/>
          <a:ext cx="7981950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4" name="Visio" r:id="rId4" imgW="13535076" imgH="5477036" progId="Visio.Drawing.11">
                  <p:embed/>
                </p:oleObj>
              </mc:Choice>
              <mc:Fallback>
                <p:oleObj name="Visio" r:id="rId4" imgW="13535076" imgH="5477036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773238"/>
                        <a:ext cx="7981950" cy="324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Structural Model</a:t>
            </a:r>
          </a:p>
        </p:txBody>
      </p:sp>
      <p:sp>
        <p:nvSpPr>
          <p:cNvPr id="4915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DC0F915-8FB6-40E6-99EA-1C962CD19E7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49157" name="Picture 3" descr="t_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1268413"/>
            <a:ext cx="754697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9C2B4942-DD9B-49C2-97D7-9E1356C61855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Component Declaration</a:t>
            </a:r>
          </a:p>
        </p:txBody>
      </p:sp>
      <p:sp>
        <p:nvSpPr>
          <p:cNvPr id="50181" name="Text Box 3"/>
          <p:cNvSpPr txBox="1">
            <a:spLocks noChangeArrowheads="1"/>
          </p:cNvSpPr>
          <p:nvPr/>
        </p:nvSpPr>
        <p:spPr bwMode="auto">
          <a:xfrm>
            <a:off x="395288" y="1447800"/>
            <a:ext cx="4724400" cy="50165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FULLADDER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(A,B,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CARRY_IN: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CARRY: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bit);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FULLADDER;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STRUCT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of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FULLADDER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component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HALFADDER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(X,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Y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bit);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end</a:t>
            </a:r>
            <a:r>
              <a:rPr lang="en-US" altLang="en-US" sz="16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component;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component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ORGATE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(X,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Y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RES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bit);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end</a:t>
            </a:r>
            <a:r>
              <a:rPr lang="en-US" altLang="en-US" sz="16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component;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endParaRPr lang="en-US" altLang="en-US" sz="160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signal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W_SUM,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W_CARRY1,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W_CARRY2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.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.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.</a:t>
            </a:r>
          </a:p>
        </p:txBody>
      </p:sp>
      <p:sp>
        <p:nvSpPr>
          <p:cNvPr id="50182" name="Rectangle 4"/>
          <p:cNvSpPr>
            <a:spLocks noChangeArrowheads="1"/>
          </p:cNvSpPr>
          <p:nvPr/>
        </p:nvSpPr>
        <p:spPr bwMode="auto">
          <a:xfrm>
            <a:off x="611188" y="3195638"/>
            <a:ext cx="2971800" cy="11430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0183" name="Rectangle 5"/>
          <p:cNvSpPr>
            <a:spLocks noChangeArrowheads="1"/>
          </p:cNvSpPr>
          <p:nvPr/>
        </p:nvSpPr>
        <p:spPr bwMode="auto">
          <a:xfrm>
            <a:off x="611188" y="4454525"/>
            <a:ext cx="2971800" cy="9906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0184" name="Text Box 6"/>
          <p:cNvSpPr txBox="1">
            <a:spLocks noChangeArrowheads="1"/>
          </p:cNvSpPr>
          <p:nvPr/>
        </p:nvSpPr>
        <p:spPr bwMode="auto">
          <a:xfrm>
            <a:off x="5314950" y="3067050"/>
            <a:ext cx="3200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In declarative part of architecture </a:t>
            </a:r>
          </a:p>
        </p:txBody>
      </p:sp>
      <p:pic>
        <p:nvPicPr>
          <p:cNvPr id="50185" name="Picture 6" descr="t_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4856163"/>
            <a:ext cx="4038600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6" name="Text Box 4"/>
          <p:cNvSpPr txBox="1">
            <a:spLocks noChangeArrowheads="1"/>
          </p:cNvSpPr>
          <p:nvPr/>
        </p:nvSpPr>
        <p:spPr bwMode="auto">
          <a:xfrm>
            <a:off x="5391150" y="838200"/>
            <a:ext cx="3124200" cy="10160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HALFADDER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port(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X, Y: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   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 CARRY: out bit);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HALFADDER;</a:t>
            </a:r>
          </a:p>
        </p:txBody>
      </p:sp>
      <p:sp>
        <p:nvSpPr>
          <p:cNvPr id="50187" name="Text Box 4"/>
          <p:cNvSpPr txBox="1">
            <a:spLocks noChangeArrowheads="1"/>
          </p:cNvSpPr>
          <p:nvPr/>
        </p:nvSpPr>
        <p:spPr bwMode="auto">
          <a:xfrm>
            <a:off x="5391150" y="1885950"/>
            <a:ext cx="3124200" cy="10160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ORGATE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port(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X, Y: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   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RES: out bit);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ORGATE;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6" descr="t_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856163"/>
            <a:ext cx="4038600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Component Instantiation</a:t>
            </a:r>
          </a:p>
        </p:txBody>
      </p:sp>
      <p:sp>
        <p:nvSpPr>
          <p:cNvPr id="52229" name="Text Box 4"/>
          <p:cNvSpPr txBox="1">
            <a:spLocks noChangeArrowheads="1"/>
          </p:cNvSpPr>
          <p:nvPr/>
        </p:nvSpPr>
        <p:spPr bwMode="auto">
          <a:xfrm>
            <a:off x="374650" y="1235075"/>
            <a:ext cx="4800600" cy="440055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STRUCT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of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FULLADDER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component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HALFADDER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(X,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Y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bit);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component;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component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ORGATE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(X,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Y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RES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bit);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component;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signal W_SUM, W_CARRY1, W_CARRY2: bit;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MODULE1: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HALFADDER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port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map(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A,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W_SUM,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W_CARRY1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);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MODULE2: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HALFADDER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port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map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W_SUM,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CARRY_IN,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W_CARRY2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);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MODULE3: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ORGATE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port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map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W_CARRY2,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W_CARRY1,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);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STRUCT;</a:t>
            </a:r>
          </a:p>
        </p:txBody>
      </p:sp>
      <p:sp>
        <p:nvSpPr>
          <p:cNvPr id="543749" name="Text Box 5"/>
          <p:cNvSpPr txBox="1">
            <a:spLocks noChangeArrowheads="1"/>
          </p:cNvSpPr>
          <p:nvPr/>
        </p:nvSpPr>
        <p:spPr bwMode="auto">
          <a:xfrm>
            <a:off x="5243513" y="1052513"/>
            <a:ext cx="350520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914400" indent="-45720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May need many of each </a:t>
            </a:r>
          </a:p>
          <a:p>
            <a:pPr algn="l" rtl="0" eaLnBrk="1" hangingPunct="1">
              <a:spcBef>
                <a:spcPct val="1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Instantiation in statement part of architecture (after 'begin') </a:t>
            </a:r>
          </a:p>
          <a:p>
            <a:pPr algn="l" rtl="0" eaLnBrk="1" hangingPunct="1">
              <a:spcBef>
                <a:spcPct val="1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Wires signals together: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default: positional association </a:t>
            </a:r>
          </a:p>
        </p:txBody>
      </p:sp>
      <p:sp>
        <p:nvSpPr>
          <p:cNvPr id="543752" name="Line 8"/>
          <p:cNvSpPr>
            <a:spLocks noChangeShapeType="1"/>
          </p:cNvSpPr>
          <p:nvPr/>
        </p:nvSpPr>
        <p:spPr bwMode="auto">
          <a:xfrm>
            <a:off x="1974850" y="4100513"/>
            <a:ext cx="609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3753" name="Line 9"/>
          <p:cNvSpPr>
            <a:spLocks noChangeShapeType="1"/>
          </p:cNvSpPr>
          <p:nvPr/>
        </p:nvSpPr>
        <p:spPr bwMode="auto">
          <a:xfrm>
            <a:off x="1593850" y="4710113"/>
            <a:ext cx="609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2235" name="TextBox 1"/>
          <p:cNvSpPr txBox="1">
            <a:spLocks noChangeArrowheads="1"/>
          </p:cNvSpPr>
          <p:nvPr/>
        </p:nvSpPr>
        <p:spPr bwMode="auto">
          <a:xfrm>
            <a:off x="5724525" y="4941888"/>
            <a:ext cx="1428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9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2236" name="TextBox 12"/>
          <p:cNvSpPr txBox="1">
            <a:spLocks noChangeArrowheads="1"/>
          </p:cNvSpPr>
          <p:nvPr/>
        </p:nvSpPr>
        <p:spPr bwMode="auto">
          <a:xfrm>
            <a:off x="5724525" y="5229225"/>
            <a:ext cx="1428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9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52237" name="TextBox 13"/>
          <p:cNvSpPr txBox="1">
            <a:spLocks noChangeArrowheads="1"/>
          </p:cNvSpPr>
          <p:nvPr/>
        </p:nvSpPr>
        <p:spPr bwMode="auto">
          <a:xfrm>
            <a:off x="6732588" y="4941888"/>
            <a:ext cx="14287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8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2238" name="TextBox 14"/>
          <p:cNvSpPr txBox="1">
            <a:spLocks noChangeArrowheads="1"/>
          </p:cNvSpPr>
          <p:nvPr/>
        </p:nvSpPr>
        <p:spPr bwMode="auto">
          <a:xfrm>
            <a:off x="6732588" y="5229225"/>
            <a:ext cx="1428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8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52239" name="TextBox 15"/>
          <p:cNvSpPr txBox="1">
            <a:spLocks noChangeArrowheads="1"/>
          </p:cNvSpPr>
          <p:nvPr/>
        </p:nvSpPr>
        <p:spPr bwMode="auto">
          <a:xfrm>
            <a:off x="6011863" y="5013325"/>
            <a:ext cx="36036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SUM</a:t>
            </a:r>
          </a:p>
        </p:txBody>
      </p:sp>
      <p:sp>
        <p:nvSpPr>
          <p:cNvPr id="52240" name="TextBox 16"/>
          <p:cNvSpPr txBox="1">
            <a:spLocks noChangeArrowheads="1"/>
          </p:cNvSpPr>
          <p:nvPr/>
        </p:nvSpPr>
        <p:spPr bwMode="auto">
          <a:xfrm>
            <a:off x="5940425" y="5260975"/>
            <a:ext cx="50323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CARRY</a:t>
            </a:r>
          </a:p>
        </p:txBody>
      </p:sp>
      <p:sp>
        <p:nvSpPr>
          <p:cNvPr id="52241" name="TextBox 17"/>
          <p:cNvSpPr txBox="1">
            <a:spLocks noChangeArrowheads="1"/>
          </p:cNvSpPr>
          <p:nvPr/>
        </p:nvSpPr>
        <p:spPr bwMode="auto">
          <a:xfrm>
            <a:off x="6969125" y="5035550"/>
            <a:ext cx="3587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SUM</a:t>
            </a:r>
          </a:p>
        </p:txBody>
      </p:sp>
      <p:sp>
        <p:nvSpPr>
          <p:cNvPr id="52242" name="TextBox 18"/>
          <p:cNvSpPr txBox="1">
            <a:spLocks noChangeArrowheads="1"/>
          </p:cNvSpPr>
          <p:nvPr/>
        </p:nvSpPr>
        <p:spPr bwMode="auto">
          <a:xfrm>
            <a:off x="6896100" y="5283200"/>
            <a:ext cx="5048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CARRY</a:t>
            </a:r>
          </a:p>
        </p:txBody>
      </p:sp>
      <p:sp>
        <p:nvSpPr>
          <p:cNvPr id="52243" name="TextBox 19"/>
          <p:cNvSpPr txBox="1">
            <a:spLocks noChangeArrowheads="1"/>
          </p:cNvSpPr>
          <p:nvPr/>
        </p:nvSpPr>
        <p:spPr bwMode="auto">
          <a:xfrm>
            <a:off x="7451725" y="5635625"/>
            <a:ext cx="3603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2244" name="TextBox 20"/>
          <p:cNvSpPr txBox="1">
            <a:spLocks noChangeArrowheads="1"/>
          </p:cNvSpPr>
          <p:nvPr/>
        </p:nvSpPr>
        <p:spPr bwMode="auto">
          <a:xfrm>
            <a:off x="7451725" y="5883275"/>
            <a:ext cx="5048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52245" name="TextBox 21"/>
          <p:cNvSpPr txBox="1">
            <a:spLocks noChangeArrowheads="1"/>
          </p:cNvSpPr>
          <p:nvPr/>
        </p:nvSpPr>
        <p:spPr bwMode="auto">
          <a:xfrm>
            <a:off x="7885113" y="5764213"/>
            <a:ext cx="503237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RES</a:t>
            </a:r>
          </a:p>
        </p:txBody>
      </p:sp>
      <p:sp>
        <p:nvSpPr>
          <p:cNvPr id="21" name="Rounded Rectangle 20"/>
          <p:cNvSpPr/>
          <p:nvPr/>
        </p:nvSpPr>
        <p:spPr bwMode="auto">
          <a:xfrm>
            <a:off x="467544" y="1507780"/>
            <a:ext cx="2520280" cy="822959"/>
          </a:xfrm>
          <a:prstGeom prst="roundRect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algn="r" rtl="1" eaLnBrk="1" hangingPunct="1">
              <a:spcBef>
                <a:spcPct val="50000"/>
              </a:spcBef>
              <a:defRPr/>
            </a:pPr>
            <a:endParaRPr lang="en-US" sz="2400" b="1">
              <a:cs typeface="Lotus" pitchFamily="2" charset="-78"/>
            </a:endParaRPr>
          </a:p>
        </p:txBody>
      </p:sp>
      <p:sp>
        <p:nvSpPr>
          <p:cNvPr id="22" name="Rounded Rectangle 21"/>
          <p:cNvSpPr>
            <a:spLocks/>
          </p:cNvSpPr>
          <p:nvPr/>
        </p:nvSpPr>
        <p:spPr bwMode="auto">
          <a:xfrm>
            <a:off x="467544" y="2332824"/>
            <a:ext cx="2520280" cy="880152"/>
          </a:xfrm>
          <a:prstGeom prst="roundRect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algn="r" rtl="1" eaLnBrk="1" hangingPunct="1">
              <a:spcBef>
                <a:spcPct val="50000"/>
              </a:spcBef>
              <a:defRPr/>
            </a:pPr>
            <a:endParaRPr lang="en-US" sz="2400" b="1">
              <a:cs typeface="Lotus" pitchFamily="2" charset="-78"/>
            </a:endParaRPr>
          </a:p>
        </p:txBody>
      </p:sp>
      <p:sp>
        <p:nvSpPr>
          <p:cNvPr id="23" name="Rounded Rectangle 22"/>
          <p:cNvSpPr>
            <a:spLocks/>
          </p:cNvSpPr>
          <p:nvPr/>
        </p:nvSpPr>
        <p:spPr bwMode="auto">
          <a:xfrm>
            <a:off x="467544" y="3200062"/>
            <a:ext cx="3888432" cy="228938"/>
          </a:xfrm>
          <a:prstGeom prst="roundRect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algn="r" rtl="1" eaLnBrk="1" hangingPunct="1">
              <a:spcBef>
                <a:spcPct val="50000"/>
              </a:spcBef>
              <a:defRPr/>
            </a:pPr>
            <a:endParaRPr lang="en-US" sz="2400" b="1">
              <a:cs typeface="Lotus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3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3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43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43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4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49" grpId="0" build="p" autoUpdateAnimBg="0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A84A35FE-7F0E-40B9-AA3D-DCAD1453F760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Named Signal Association</a:t>
            </a:r>
          </a:p>
        </p:txBody>
      </p:sp>
      <p:sp>
        <p:nvSpPr>
          <p:cNvPr id="54277" name="Text Box 3"/>
          <p:cNvSpPr txBox="1">
            <a:spLocks noChangeArrowheads="1"/>
          </p:cNvSpPr>
          <p:nvPr/>
        </p:nvSpPr>
        <p:spPr bwMode="auto">
          <a:xfrm>
            <a:off x="395288" y="1484313"/>
            <a:ext cx="4303712" cy="4587875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FULLADDER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(A,B,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CARRY_IN: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bit);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FULLADDER;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STRUCT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of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FULLADDER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component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HALFADDER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(X,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Y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bit);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component;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. . .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signal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W_SUM,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W_CARRY1,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W_CARRY2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MODULE1: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HALFADDER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map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X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=&gt;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A,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=&gt;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W_SUM,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Y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=&gt;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B,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=&gt;</a:t>
            </a:r>
            <a:r>
              <a:rPr lang="en-US" altLang="en-US" sz="140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W_CARRY1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);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. . .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STRUCT;</a:t>
            </a:r>
          </a:p>
        </p:txBody>
      </p:sp>
      <p:sp>
        <p:nvSpPr>
          <p:cNvPr id="544772" name="Text Box 4"/>
          <p:cNvSpPr txBox="1">
            <a:spLocks noChangeArrowheads="1"/>
          </p:cNvSpPr>
          <p:nvPr/>
        </p:nvSpPr>
        <p:spPr bwMode="auto">
          <a:xfrm>
            <a:off x="4800600" y="2057400"/>
            <a:ext cx="3276600" cy="26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571500" indent="-19050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Named association: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left side: "formals"</a:t>
            </a:r>
            <a:b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</a:b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(port names from component declaration)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right side: "actuals"</a:t>
            </a:r>
            <a:b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</a:b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(architecture signals) </a:t>
            </a:r>
          </a:p>
          <a:p>
            <a:pPr algn="l" rtl="0" eaLnBrk="1" hangingPunct="1">
              <a:spcBef>
                <a:spcPct val="1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Independent of order in component declaration </a:t>
            </a:r>
          </a:p>
          <a:p>
            <a:pPr algn="l" rtl="0" eaLnBrk="1" hangingPunct="1">
              <a:spcBef>
                <a:spcPct val="10000"/>
              </a:spcBef>
            </a:pPr>
            <a:endParaRPr lang="en-US" altLang="en-US" sz="1800" b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pic>
        <p:nvPicPr>
          <p:cNvPr id="54279" name="Picture 6" descr="t_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748213"/>
            <a:ext cx="4038600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0" name="TextBox 9"/>
          <p:cNvSpPr txBox="1">
            <a:spLocks noChangeArrowheads="1"/>
          </p:cNvSpPr>
          <p:nvPr/>
        </p:nvSpPr>
        <p:spPr bwMode="auto">
          <a:xfrm>
            <a:off x="5724525" y="4814888"/>
            <a:ext cx="14287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9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4281" name="TextBox 10"/>
          <p:cNvSpPr txBox="1">
            <a:spLocks noChangeArrowheads="1"/>
          </p:cNvSpPr>
          <p:nvPr/>
        </p:nvSpPr>
        <p:spPr bwMode="auto">
          <a:xfrm>
            <a:off x="5724525" y="5103813"/>
            <a:ext cx="1428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9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54282" name="TextBox 11"/>
          <p:cNvSpPr txBox="1">
            <a:spLocks noChangeArrowheads="1"/>
          </p:cNvSpPr>
          <p:nvPr/>
        </p:nvSpPr>
        <p:spPr bwMode="auto">
          <a:xfrm>
            <a:off x="6732588" y="4814888"/>
            <a:ext cx="1428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8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4283" name="TextBox 12"/>
          <p:cNvSpPr txBox="1">
            <a:spLocks noChangeArrowheads="1"/>
          </p:cNvSpPr>
          <p:nvPr/>
        </p:nvSpPr>
        <p:spPr bwMode="auto">
          <a:xfrm>
            <a:off x="6732588" y="5103813"/>
            <a:ext cx="1428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8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54284" name="TextBox 13"/>
          <p:cNvSpPr txBox="1">
            <a:spLocks noChangeArrowheads="1"/>
          </p:cNvSpPr>
          <p:nvPr/>
        </p:nvSpPr>
        <p:spPr bwMode="auto">
          <a:xfrm>
            <a:off x="6011863" y="4887913"/>
            <a:ext cx="36036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SUM</a:t>
            </a:r>
          </a:p>
        </p:txBody>
      </p:sp>
      <p:sp>
        <p:nvSpPr>
          <p:cNvPr id="54285" name="TextBox 14"/>
          <p:cNvSpPr txBox="1">
            <a:spLocks noChangeArrowheads="1"/>
          </p:cNvSpPr>
          <p:nvPr/>
        </p:nvSpPr>
        <p:spPr bwMode="auto">
          <a:xfrm>
            <a:off x="5940425" y="5135563"/>
            <a:ext cx="50323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CARRY</a:t>
            </a:r>
          </a:p>
        </p:txBody>
      </p:sp>
      <p:sp>
        <p:nvSpPr>
          <p:cNvPr id="54286" name="TextBox 15"/>
          <p:cNvSpPr txBox="1">
            <a:spLocks noChangeArrowheads="1"/>
          </p:cNvSpPr>
          <p:nvPr/>
        </p:nvSpPr>
        <p:spPr bwMode="auto">
          <a:xfrm>
            <a:off x="6969125" y="4910138"/>
            <a:ext cx="3587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SUM</a:t>
            </a:r>
          </a:p>
        </p:txBody>
      </p:sp>
      <p:sp>
        <p:nvSpPr>
          <p:cNvPr id="54287" name="TextBox 16"/>
          <p:cNvSpPr txBox="1">
            <a:spLocks noChangeArrowheads="1"/>
          </p:cNvSpPr>
          <p:nvPr/>
        </p:nvSpPr>
        <p:spPr bwMode="auto">
          <a:xfrm>
            <a:off x="6896100" y="5156200"/>
            <a:ext cx="50482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CARRY</a:t>
            </a:r>
          </a:p>
        </p:txBody>
      </p:sp>
      <p:sp>
        <p:nvSpPr>
          <p:cNvPr id="54288" name="TextBox 17"/>
          <p:cNvSpPr txBox="1">
            <a:spLocks noChangeArrowheads="1"/>
          </p:cNvSpPr>
          <p:nvPr/>
        </p:nvSpPr>
        <p:spPr bwMode="auto">
          <a:xfrm>
            <a:off x="7451725" y="5510213"/>
            <a:ext cx="3603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4289" name="TextBox 18"/>
          <p:cNvSpPr txBox="1">
            <a:spLocks noChangeArrowheads="1"/>
          </p:cNvSpPr>
          <p:nvPr/>
        </p:nvSpPr>
        <p:spPr bwMode="auto">
          <a:xfrm>
            <a:off x="7451725" y="5757863"/>
            <a:ext cx="5048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54290" name="TextBox 19"/>
          <p:cNvSpPr txBox="1">
            <a:spLocks noChangeArrowheads="1"/>
          </p:cNvSpPr>
          <p:nvPr/>
        </p:nvSpPr>
        <p:spPr bwMode="auto">
          <a:xfrm>
            <a:off x="7885113" y="5638800"/>
            <a:ext cx="5032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fa-IR" sz="600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RES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4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44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44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4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2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توصیف ساختاری</a:t>
            </a:r>
            <a:endParaRPr lang="en-US" altLang="en-US" dirty="0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3995738" y="1000125"/>
            <a:ext cx="4937125" cy="5214938"/>
          </a:xfrm>
        </p:spPr>
        <p:txBody>
          <a:bodyPr/>
          <a:lstStyle/>
          <a:p>
            <a:pPr>
              <a:defRPr/>
            </a:pPr>
            <a:r>
              <a:rPr lang="fa-IR" altLang="en-US" dirty="0" smtClean="0"/>
              <a:t>ساختاری (</a:t>
            </a:r>
            <a:r>
              <a:rPr lang="en-US" altLang="en-US" sz="2400" dirty="0" smtClean="0"/>
              <a:t>structural</a:t>
            </a:r>
            <a:r>
              <a:rPr lang="fa-IR" altLang="en-US" dirty="0" smtClean="0"/>
              <a:t>):</a:t>
            </a:r>
          </a:p>
          <a:p>
            <a:pPr lvl="1">
              <a:defRPr/>
            </a:pPr>
            <a:endParaRPr lang="en-US" altLang="en-US" dirty="0" smtClean="0"/>
          </a:p>
          <a:p>
            <a:pPr marL="457200" lvl="1" indent="0">
              <a:buFont typeface="Wingdings" pitchFamily="2" charset="2"/>
              <a:buNone/>
              <a:defRPr/>
            </a:pPr>
            <a:endParaRPr lang="en-US" altLang="en-US" sz="2400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21F2A77-50F1-48B5-B52C-D162FBB3932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3379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6" t="61429" r="20236" b="15714"/>
          <a:stretch>
            <a:fillRect/>
          </a:stretch>
        </p:blipFill>
        <p:spPr bwMode="auto">
          <a:xfrm>
            <a:off x="996950" y="1557338"/>
            <a:ext cx="74691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Rectangle 1"/>
          <p:cNvSpPr>
            <a:spLocks noChangeArrowheads="1"/>
          </p:cNvSpPr>
          <p:nvPr/>
        </p:nvSpPr>
        <p:spPr bwMode="auto">
          <a:xfrm>
            <a:off x="971550" y="2060575"/>
            <a:ext cx="6840538" cy="1296988"/>
          </a:xfrm>
          <a:prstGeom prst="rect">
            <a:avLst/>
          </a:prstGeom>
          <a:noFill/>
          <a:ln w="38100" algn="ctr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468313" y="4076700"/>
            <a:ext cx="640715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⋮</a:t>
            </a:r>
          </a:p>
          <a:p>
            <a:pPr algn="l" rtl="0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FA1:FULL_ADDER port map (C0, A0, B0, S0, C1);</a:t>
            </a:r>
          </a:p>
          <a:p>
            <a:pPr algn="l" rtl="0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FA2:FULL_ADDER port map (C1, A1, B1, S1, C2);</a:t>
            </a:r>
          </a:p>
          <a:p>
            <a:pPr algn="l" rtl="0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FA3:FULL_ADDER port map (C2, A2, B2, S2, C3);</a:t>
            </a:r>
          </a:p>
          <a:p>
            <a:pPr algn="l" rtl="0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FA4:FULL_ADDER port map (C3, A3, B3, S3, C4);</a:t>
            </a:r>
          </a:p>
          <a:p>
            <a:pPr algn="l" rtl="0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end;</a:t>
            </a:r>
          </a:p>
          <a:p>
            <a:pPr algn="l" rtl="0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⋮</a:t>
            </a:r>
          </a:p>
        </p:txBody>
      </p:sp>
    </p:spTree>
    <p:extLst>
      <p:ext uri="{BB962C8B-B14F-4D97-AF65-F5344CB8AC3E}">
        <p14:creationId xmlns:p14="http://schemas.microsoft.com/office/powerpoint/2010/main" val="359952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          </a:t>
            </a:r>
            <a:r>
              <a:rPr lang="fa-IR" alt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</a:t>
            </a:r>
            <a:endParaRPr lang="en-US" altLang="en-US" sz="1400" b="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5632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723075D2-2ADA-46C2-98C8-1A3F67B5B912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692150" y="320675"/>
            <a:ext cx="7773988" cy="444500"/>
          </a:xfrm>
        </p:spPr>
        <p:txBody>
          <a:bodyPr/>
          <a:lstStyle/>
          <a:p>
            <a:pPr eaLnBrk="1" hangingPunct="1"/>
            <a:r>
              <a:rPr lang="en-US" altLang="en-US" smtClean="0"/>
              <a:t>Configuration</a:t>
            </a:r>
          </a:p>
        </p:txBody>
      </p:sp>
      <p:sp>
        <p:nvSpPr>
          <p:cNvPr id="56325" name="Text Box 9"/>
          <p:cNvSpPr txBox="1">
            <a:spLocks noChangeArrowheads="1"/>
          </p:cNvSpPr>
          <p:nvPr/>
        </p:nvSpPr>
        <p:spPr bwMode="auto">
          <a:xfrm>
            <a:off x="395288" y="1149350"/>
            <a:ext cx="4768850" cy="3970318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 …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component HA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port(X, Y: 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 </a:t>
            </a: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 CARRY: out bit);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</a:t>
            </a:r>
            <a:r>
              <a:rPr lang="en-US" altLang="en-US" sz="1400" b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HA;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signal W_SUM, W_CARRY1, W_CARRY2: bit;</a:t>
            </a:r>
            <a:b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·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·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·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MODULE1 : HA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 map(A, B, W_SUM, W_CARRY1);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1400" b="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MODULE2: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port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map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W_SUM,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CARRY_IN, SUM,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W_CARRY2</a:t>
            </a:r>
            <a:r>
              <a:rPr lang="en-US" altLang="en-US" sz="14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);</a:t>
            </a:r>
            <a:br>
              <a:rPr lang="en-US" altLang="en-US" sz="14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endParaRPr lang="en-US" altLang="en-US" sz="1400" b="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1400" b="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</p:txBody>
      </p:sp>
      <p:sp>
        <p:nvSpPr>
          <p:cNvPr id="56327" name="Text Box 4"/>
          <p:cNvSpPr txBox="1">
            <a:spLocks noChangeArrowheads="1"/>
          </p:cNvSpPr>
          <p:nvPr/>
        </p:nvSpPr>
        <p:spPr bwMode="auto">
          <a:xfrm>
            <a:off x="5364163" y="1268413"/>
            <a:ext cx="3124200" cy="10160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HALFADDER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port(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A, B: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   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 CARRY: out bit);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HALFADDER;</a:t>
            </a:r>
          </a:p>
        </p:txBody>
      </p:sp>
      <p:sp>
        <p:nvSpPr>
          <p:cNvPr id="56328" name="Text Box 4"/>
          <p:cNvSpPr txBox="1">
            <a:spLocks noChangeArrowheads="1"/>
          </p:cNvSpPr>
          <p:nvPr/>
        </p:nvSpPr>
        <p:spPr bwMode="auto">
          <a:xfrm>
            <a:off x="5408613" y="3284538"/>
            <a:ext cx="3124200" cy="10160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ORGATE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port(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A, B: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   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RES: out bit);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ORGATE;</a:t>
            </a:r>
          </a:p>
        </p:txBody>
      </p:sp>
      <p:sp>
        <p:nvSpPr>
          <p:cNvPr id="56329" name="Text Box 4"/>
          <p:cNvSpPr txBox="1">
            <a:spLocks noChangeArrowheads="1"/>
          </p:cNvSpPr>
          <p:nvPr/>
        </p:nvSpPr>
        <p:spPr bwMode="auto">
          <a:xfrm>
            <a:off x="5364163" y="2276475"/>
            <a:ext cx="3124200" cy="83185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RTL of HALFADDER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 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…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RTL;</a:t>
            </a:r>
          </a:p>
        </p:txBody>
      </p:sp>
      <p:sp>
        <p:nvSpPr>
          <p:cNvPr id="56330" name="Text Box 4"/>
          <p:cNvSpPr txBox="1">
            <a:spLocks noChangeArrowheads="1"/>
          </p:cNvSpPr>
          <p:nvPr/>
        </p:nvSpPr>
        <p:spPr bwMode="auto">
          <a:xfrm>
            <a:off x="5408613" y="4292600"/>
            <a:ext cx="3124200" cy="83185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RTL of ORGATE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 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…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RTL;</a:t>
            </a:r>
          </a:p>
        </p:txBody>
      </p:sp>
      <p:sp>
        <p:nvSpPr>
          <p:cNvPr id="56331" name="Rectangle 16"/>
          <p:cNvSpPr>
            <a:spLocks noChangeArrowheads="1"/>
          </p:cNvSpPr>
          <p:nvPr/>
        </p:nvSpPr>
        <p:spPr bwMode="auto">
          <a:xfrm>
            <a:off x="5219700" y="700088"/>
            <a:ext cx="3673475" cy="4960937"/>
          </a:xfrm>
          <a:prstGeom prst="rect">
            <a:avLst/>
          </a:prstGeom>
          <a:solidFill>
            <a:srgbClr val="C2FFF0">
              <a:alpha val="30196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Library (work)</a:t>
            </a:r>
          </a:p>
        </p:txBody>
      </p:sp>
      <p:sp>
        <p:nvSpPr>
          <p:cNvPr id="56332" name="Oval 2"/>
          <p:cNvSpPr>
            <a:spLocks noChangeArrowheads="1"/>
          </p:cNvSpPr>
          <p:nvPr/>
        </p:nvSpPr>
        <p:spPr bwMode="auto">
          <a:xfrm>
            <a:off x="527050" y="3357563"/>
            <a:ext cx="3900488" cy="792162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6333" name="Oval 18"/>
          <p:cNvSpPr>
            <a:spLocks noChangeArrowheads="1"/>
          </p:cNvSpPr>
          <p:nvPr/>
        </p:nvSpPr>
        <p:spPr bwMode="auto">
          <a:xfrm>
            <a:off x="396180" y="1268760"/>
            <a:ext cx="3887788" cy="1223962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6334" name="Oval 19"/>
          <p:cNvSpPr>
            <a:spLocks noChangeArrowheads="1"/>
          </p:cNvSpPr>
          <p:nvPr/>
        </p:nvSpPr>
        <p:spPr bwMode="auto">
          <a:xfrm>
            <a:off x="4859338" y="1149350"/>
            <a:ext cx="3370262" cy="2028825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          </a:t>
            </a:r>
            <a:r>
              <a:rPr lang="fa-IR" alt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</a:t>
            </a:r>
            <a:endParaRPr lang="en-US" altLang="en-US" sz="1400" b="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5632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723075D2-2ADA-46C2-98C8-1A3F67B5B912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692150" y="320675"/>
            <a:ext cx="7773988" cy="444500"/>
          </a:xfrm>
        </p:spPr>
        <p:txBody>
          <a:bodyPr/>
          <a:lstStyle/>
          <a:p>
            <a:pPr eaLnBrk="1" hangingPunct="1"/>
            <a:r>
              <a:rPr lang="en-US" altLang="en-US" smtClean="0"/>
              <a:t>Configuration</a:t>
            </a:r>
          </a:p>
        </p:txBody>
      </p:sp>
      <p:sp>
        <p:nvSpPr>
          <p:cNvPr id="56325" name="Text Box 9"/>
          <p:cNvSpPr txBox="1">
            <a:spLocks noChangeArrowheads="1"/>
          </p:cNvSpPr>
          <p:nvPr/>
        </p:nvSpPr>
        <p:spPr bwMode="auto">
          <a:xfrm>
            <a:off x="395288" y="1149350"/>
            <a:ext cx="4768850" cy="3970318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 …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component HA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port(X, Y: 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 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 CARRY: out bit);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HA;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signal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W_SUM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,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W_CARRY1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,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W_CARRY2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 bit;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·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·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·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400" b="0" dirty="0" err="1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MODULE1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 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 map(A, B, W_SUM, W_CARRY1);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1400" b="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MODULE2: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</a:t>
            </a:r>
            <a:b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port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map</a:t>
            </a:r>
            <a:r>
              <a:rPr lang="en-US" altLang="en-US" sz="140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W_SUM,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CARRY_IN, SUM,</a:t>
            </a:r>
            <a:r>
              <a:rPr lang="en-US" altLang="en-US" sz="1400" b="0" dirty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W_CARRY2</a:t>
            </a:r>
            <a:r>
              <a:rPr lang="en-US" altLang="en-US" sz="14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);</a:t>
            </a:r>
            <a:br>
              <a:rPr lang="en-US" altLang="en-US" sz="1400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endParaRPr lang="en-US" altLang="en-US" sz="1400" b="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1400" b="0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81358" y="5557508"/>
            <a:ext cx="8692359" cy="944660"/>
            <a:chOff x="57" y="3962"/>
            <a:chExt cx="5049" cy="443"/>
          </a:xfrm>
        </p:grpSpPr>
        <p:sp>
          <p:nvSpPr>
            <p:cNvPr id="56340" name="Rectangle 14"/>
            <p:cNvSpPr>
              <a:spLocks noChangeArrowheads="1"/>
            </p:cNvSpPr>
            <p:nvPr/>
          </p:nvSpPr>
          <p:spPr bwMode="auto">
            <a:xfrm>
              <a:off x="57" y="3962"/>
              <a:ext cx="5049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400" b="0" dirty="0">
                  <a:solidFill>
                    <a:srgbClr val="000000"/>
                  </a:solidFill>
                  <a:latin typeface="Helvetica" panose="020B0604020202020204" pitchFamily="34" charset="0"/>
                  <a:cs typeface="Times New Roman" panose="02020603050405020304" pitchFamily="18" charset="0"/>
                </a:rPr>
                <a:t>         </a:t>
              </a:r>
              <a:r>
                <a:rPr lang="en-US" altLang="en-US" sz="1800" b="0" dirty="0">
                  <a:solidFill>
                    <a:srgbClr val="000000"/>
                  </a:solidFill>
                  <a:latin typeface="Helvetica" panose="020B0604020202020204" pitchFamily="34" charset="0"/>
                  <a:cs typeface="Times New Roman" panose="02020603050405020304" pitchFamily="18" charset="0"/>
                </a:rPr>
                <a:t>Entities may be instantiated directly without </a:t>
              </a:r>
              <a:r>
                <a:rPr lang="en-US" altLang="en-US" sz="1800" b="0" dirty="0" smtClean="0">
                  <a:solidFill>
                    <a:srgbClr val="000000"/>
                  </a:solidFill>
                  <a:latin typeface="Helvetica" panose="020B0604020202020204" pitchFamily="34" charset="0"/>
                  <a:cs typeface="Times New Roman" panose="02020603050405020304" pitchFamily="18" charset="0"/>
                </a:rPr>
                <a:t>preceding </a:t>
              </a:r>
              <a:r>
                <a:rPr lang="en-US" altLang="en-US" sz="1800" b="0" dirty="0">
                  <a:solidFill>
                    <a:srgbClr val="000000"/>
                  </a:solidFill>
                  <a:latin typeface="Helvetica" panose="020B0604020202020204" pitchFamily="34" charset="0"/>
                  <a:cs typeface="Times New Roman" panose="02020603050405020304" pitchFamily="18" charset="0"/>
                </a:rPr>
                <a:t>component declaration</a:t>
              </a:r>
            </a:p>
          </p:txBody>
        </p:sp>
        <p:sp>
          <p:nvSpPr>
            <p:cNvPr id="56337" name="Text Box 20"/>
            <p:cNvSpPr txBox="1">
              <a:spLocks noChangeArrowheads="1"/>
            </p:cNvSpPr>
            <p:nvPr/>
          </p:nvSpPr>
          <p:spPr bwMode="auto">
            <a:xfrm>
              <a:off x="2064" y="4117"/>
              <a:ext cx="21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Lotus" panose="00000400000000000000" pitchFamily="2" charset="-78"/>
                </a:rPr>
                <a:t>(Not recommended)</a:t>
              </a:r>
            </a:p>
          </p:txBody>
        </p:sp>
      </p:grpSp>
      <p:sp>
        <p:nvSpPr>
          <p:cNvPr id="56327" name="Text Box 4"/>
          <p:cNvSpPr txBox="1">
            <a:spLocks noChangeArrowheads="1"/>
          </p:cNvSpPr>
          <p:nvPr/>
        </p:nvSpPr>
        <p:spPr bwMode="auto">
          <a:xfrm>
            <a:off x="5364163" y="1268413"/>
            <a:ext cx="3124200" cy="10160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HALFADDER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port(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A, B: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   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SUM, CARRY: out bit);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HALFADDER;</a:t>
            </a:r>
          </a:p>
        </p:txBody>
      </p:sp>
      <p:sp>
        <p:nvSpPr>
          <p:cNvPr id="56328" name="Text Box 4"/>
          <p:cNvSpPr txBox="1">
            <a:spLocks noChangeArrowheads="1"/>
          </p:cNvSpPr>
          <p:nvPr/>
        </p:nvSpPr>
        <p:spPr bwMode="auto">
          <a:xfrm>
            <a:off x="5408613" y="3284538"/>
            <a:ext cx="3124200" cy="10160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ORGATE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port(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A, B: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       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RES: out bit);</a:t>
            </a:r>
            <a:b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ORGATE;</a:t>
            </a:r>
          </a:p>
        </p:txBody>
      </p:sp>
      <p:sp>
        <p:nvSpPr>
          <p:cNvPr id="56329" name="Text Box 4"/>
          <p:cNvSpPr txBox="1">
            <a:spLocks noChangeArrowheads="1"/>
          </p:cNvSpPr>
          <p:nvPr/>
        </p:nvSpPr>
        <p:spPr bwMode="auto">
          <a:xfrm>
            <a:off x="5364163" y="2276475"/>
            <a:ext cx="3124200" cy="83185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RTL of HALFADDER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 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…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RTL;</a:t>
            </a:r>
          </a:p>
        </p:txBody>
      </p:sp>
      <p:sp>
        <p:nvSpPr>
          <p:cNvPr id="56330" name="Text Box 4"/>
          <p:cNvSpPr txBox="1">
            <a:spLocks noChangeArrowheads="1"/>
          </p:cNvSpPr>
          <p:nvPr/>
        </p:nvSpPr>
        <p:spPr bwMode="auto">
          <a:xfrm>
            <a:off x="5408613" y="4292600"/>
            <a:ext cx="3124200" cy="83185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RTL of ORGATE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 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…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2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2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RTL;</a:t>
            </a:r>
          </a:p>
        </p:txBody>
      </p:sp>
      <p:sp>
        <p:nvSpPr>
          <p:cNvPr id="56331" name="Rectangle 16"/>
          <p:cNvSpPr>
            <a:spLocks noChangeArrowheads="1"/>
          </p:cNvSpPr>
          <p:nvPr/>
        </p:nvSpPr>
        <p:spPr bwMode="auto">
          <a:xfrm>
            <a:off x="5219700" y="700088"/>
            <a:ext cx="3673475" cy="4960937"/>
          </a:xfrm>
          <a:prstGeom prst="rect">
            <a:avLst/>
          </a:prstGeom>
          <a:solidFill>
            <a:srgbClr val="C2FFF0">
              <a:alpha val="30196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Library (work)</a:t>
            </a:r>
          </a:p>
        </p:txBody>
      </p:sp>
      <p:sp>
        <p:nvSpPr>
          <p:cNvPr id="56332" name="Oval 2"/>
          <p:cNvSpPr>
            <a:spLocks noChangeArrowheads="1"/>
          </p:cNvSpPr>
          <p:nvPr/>
        </p:nvSpPr>
        <p:spPr bwMode="auto">
          <a:xfrm>
            <a:off x="527050" y="3357563"/>
            <a:ext cx="3900488" cy="792162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6333" name="Oval 18"/>
          <p:cNvSpPr>
            <a:spLocks noChangeArrowheads="1"/>
          </p:cNvSpPr>
          <p:nvPr/>
        </p:nvSpPr>
        <p:spPr bwMode="auto">
          <a:xfrm>
            <a:off x="396180" y="1268760"/>
            <a:ext cx="3887788" cy="1223962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6334" name="Oval 19"/>
          <p:cNvSpPr>
            <a:spLocks noChangeArrowheads="1"/>
          </p:cNvSpPr>
          <p:nvPr/>
        </p:nvSpPr>
        <p:spPr bwMode="auto">
          <a:xfrm>
            <a:off x="4859338" y="1149350"/>
            <a:ext cx="3370262" cy="2028825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5311" name="Rectangle 4"/>
          <p:cNvSpPr>
            <a:spLocks noChangeArrowheads="1"/>
          </p:cNvSpPr>
          <p:nvPr/>
        </p:nvSpPr>
        <p:spPr bwMode="auto">
          <a:xfrm>
            <a:off x="485776" y="2895600"/>
            <a:ext cx="447357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 b="0" dirty="0">
                <a:solidFill>
                  <a:srgbClr val="FF0000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altLang="en-US" sz="1200" b="0" dirty="0" err="1">
                <a:solidFill>
                  <a:srgbClr val="FF0000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MODULE1</a:t>
            </a:r>
            <a:r>
              <a:rPr lang="en-US" altLang="en-US" sz="1200" b="0" dirty="0">
                <a:solidFill>
                  <a:srgbClr val="FF0000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: HA use entity </a:t>
            </a:r>
            <a:r>
              <a:rPr lang="en-US" altLang="en-US" sz="1200" b="0" dirty="0" err="1">
                <a:solidFill>
                  <a:srgbClr val="FF0000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work.HALFADDER</a:t>
            </a:r>
            <a:r>
              <a:rPr lang="en-US" altLang="en-US" sz="1200" b="0" dirty="0">
                <a:solidFill>
                  <a:srgbClr val="FF0000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 (RTL);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200" b="0" dirty="0">
                <a:solidFill>
                  <a:srgbClr val="0000FF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altLang="en-US" sz="1200" b="0" dirty="0" err="1">
                <a:solidFill>
                  <a:srgbClr val="0000FF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MODULE2</a:t>
            </a:r>
            <a:r>
              <a:rPr lang="en-US" altLang="en-US" sz="1200" b="0" dirty="0">
                <a:solidFill>
                  <a:srgbClr val="0000FF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: HA use entity </a:t>
            </a:r>
            <a:r>
              <a:rPr lang="en-US" altLang="en-US" sz="1200" b="0" dirty="0" err="1">
                <a:solidFill>
                  <a:srgbClr val="0000FF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work.HALFADDER</a:t>
            </a:r>
            <a:r>
              <a:rPr lang="en-US" altLang="en-US" sz="1200" b="0" dirty="0">
                <a:solidFill>
                  <a:srgbClr val="0000FF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 (RTL); </a:t>
            </a:r>
          </a:p>
        </p:txBody>
      </p:sp>
      <p:sp>
        <p:nvSpPr>
          <p:cNvPr id="3" name="Rectangle 2"/>
          <p:cNvSpPr/>
          <p:nvPr/>
        </p:nvSpPr>
        <p:spPr>
          <a:xfrm>
            <a:off x="527050" y="5245750"/>
            <a:ext cx="2540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In </a:t>
            </a:r>
            <a:r>
              <a:rPr lang="en-US" sz="1800" dirty="0" err="1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Vivado</a:t>
            </a: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xil_defaultlib</a:t>
            </a:r>
            <a:endParaRPr lang="fa-IR" sz="1800" dirty="0">
              <a:solidFill>
                <a:srgbClr val="000000"/>
              </a:solidFill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89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AEFD36D9-D1A5-497F-868B-636063C740D8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Configuration</a:t>
            </a:r>
          </a:p>
        </p:txBody>
      </p:sp>
      <p:sp>
        <p:nvSpPr>
          <p:cNvPr id="547844" name="Text Box 4"/>
          <p:cNvSpPr txBox="1">
            <a:spLocks noChangeArrowheads="1"/>
          </p:cNvSpPr>
          <p:nvPr/>
        </p:nvSpPr>
        <p:spPr bwMode="auto">
          <a:xfrm>
            <a:off x="611188" y="1557338"/>
            <a:ext cx="76962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571500" indent="-19050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Selects entity/architecture pairs for instantiated components </a:t>
            </a:r>
          </a:p>
          <a:p>
            <a:pPr algn="l" rtl="0" eaLnBrk="1" hangingPunct="1">
              <a:spcBef>
                <a:spcPct val="1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Generates the hierarchy </a:t>
            </a:r>
          </a:p>
          <a:p>
            <a:pPr algn="l" rtl="0" eaLnBrk="1" hangingPunct="1">
              <a:spcBef>
                <a:spcPct val="1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Default binding rules: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selects entity with the same name as component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last compiled architecture is used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7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7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7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47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7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4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69230791-9D3B-47AE-B2F1-C8D4958B6AAF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Simple Configuration Specification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323850" y="818803"/>
            <a:ext cx="4953000" cy="4770437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	entity FULLADDER is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port(A, B, CARRY_IN: in </a:t>
            </a:r>
            <a:r>
              <a:rPr lang="en-US" sz="1600" b="0" dirty="0">
                <a:solidFill>
                  <a:srgbClr val="0000CC"/>
                </a:solidFill>
              </a:rPr>
              <a:t>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bit;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SUM, CARRY:</a:t>
            </a: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out bit);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end FULLADDER;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architecture STRUCT of FULLADDER is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component HA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port(A, B: </a:t>
            </a:r>
            <a:r>
              <a:rPr lang="en-US" sz="1600" b="0" dirty="0">
                <a:solidFill>
                  <a:srgbClr val="0000CC"/>
                </a:solidFill>
              </a:rPr>
              <a:t>         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in </a:t>
            </a:r>
            <a:r>
              <a:rPr lang="en-US" sz="1600" b="0" dirty="0">
                <a:solidFill>
                  <a:srgbClr val="0000CC"/>
                </a:solidFill>
              </a:rPr>
              <a:t>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bit;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 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SUM, CARRY: out bit);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end component;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	</a:t>
            </a:r>
            <a:r>
              <a:rPr lang="en-US" sz="1600" dirty="0">
                <a:solidFill>
                  <a:srgbClr val="FF0000"/>
                </a:solidFill>
                <a:latin typeface="Helvetica" pitchFamily="34" charset="0"/>
              </a:rPr>
              <a:t>for </a:t>
            </a:r>
            <a:r>
              <a:rPr lang="en-US" sz="1600" dirty="0" smtClean="0">
                <a:solidFill>
                  <a:srgbClr val="FF0000"/>
                </a:solidFill>
                <a:latin typeface="Helvetica" pitchFamily="34" charset="0"/>
              </a:rPr>
              <a:t>MODULE1:HA </a:t>
            </a:r>
            <a:endParaRPr lang="en-US" sz="1600" dirty="0">
              <a:solidFill>
                <a:srgbClr val="FF0000"/>
              </a:solidFill>
              <a:latin typeface="Helvetica" pitchFamily="34" charset="0"/>
            </a:endParaRPr>
          </a:p>
          <a:p>
            <a:pPr eaLnBrk="1" hangingPunct="1">
              <a:defRPr/>
            </a:pP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                use entity </a:t>
            </a:r>
            <a:r>
              <a:rPr lang="en-US" sz="1600" dirty="0" err="1" smtClean="0">
                <a:solidFill>
                  <a:srgbClr val="0000CC"/>
                </a:solidFill>
                <a:latin typeface="Helvetica" pitchFamily="34" charset="0"/>
              </a:rPr>
              <a:t>work.HALFADDER</a:t>
            </a:r>
            <a:r>
              <a:rPr lang="en-US" sz="1600" dirty="0" smtClean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Helvetica" pitchFamily="34" charset="0"/>
              </a:rPr>
              <a:t>RTL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);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	</a:t>
            </a:r>
            <a:r>
              <a:rPr lang="en-US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Helvetica" pitchFamily="34" charset="0"/>
              </a:rPr>
              <a:t>for MODULE2:HA 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                use entity </a:t>
            </a:r>
            <a:r>
              <a:rPr lang="en-US" sz="1600" dirty="0" err="1" smtClean="0">
                <a:solidFill>
                  <a:srgbClr val="0000CC"/>
                </a:solidFill>
                <a:latin typeface="Helvetica" pitchFamily="34" charset="0"/>
              </a:rPr>
              <a:t>work.HALFADDER</a:t>
            </a:r>
            <a:r>
              <a:rPr lang="en-US" sz="1600" dirty="0" smtClean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(</a:t>
            </a:r>
            <a:r>
              <a:rPr lang="en-US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Helvetica" pitchFamily="34" charset="0"/>
              </a:rPr>
              <a:t>GATE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);</a:t>
            </a:r>
          </a:p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signal W_SUM, W_CARRY1, W_CARRY2: bit;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b="0" dirty="0" smtClean="0">
                <a:solidFill>
                  <a:srgbClr val="FF0000"/>
                </a:solidFill>
                <a:latin typeface="Helvetica" pitchFamily="34" charset="0"/>
              </a:rPr>
              <a:t>MODULE1:HA</a:t>
            </a:r>
            <a:r>
              <a:rPr lang="en-US" sz="1600" b="0" dirty="0">
                <a:solidFill>
                  <a:srgbClr val="0000CC"/>
                </a:solidFill>
              </a:rPr>
              <a:t>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port map (</a:t>
            </a:r>
            <a:r>
              <a:rPr lang="en-US" sz="1600" b="0" dirty="0">
                <a:solidFill>
                  <a:srgbClr val="0000CC"/>
                </a:solidFill>
              </a:rPr>
              <a:t>…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, </a:t>
            </a:r>
            <a:r>
              <a:rPr lang="en-US" sz="1600" b="0" dirty="0">
                <a:solidFill>
                  <a:srgbClr val="0000CC"/>
                </a:solidFill>
              </a:rPr>
              <a:t>…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);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Helvetica" pitchFamily="34" charset="0"/>
              </a:rPr>
              <a:t>MODULE2:HA </a:t>
            </a:r>
            <a:r>
              <a:rPr lang="en-US" sz="1600" b="0" dirty="0">
                <a:solidFill>
                  <a:srgbClr val="0000CC"/>
                </a:solidFill>
              </a:rPr>
              <a:t>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port map(</a:t>
            </a:r>
            <a:r>
              <a:rPr lang="en-US" sz="1600" b="0" dirty="0">
                <a:solidFill>
                  <a:srgbClr val="0000CC"/>
                </a:solidFill>
              </a:rPr>
              <a:t>…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, </a:t>
            </a:r>
            <a:r>
              <a:rPr lang="en-US" sz="1600" b="0" dirty="0">
                <a:solidFill>
                  <a:srgbClr val="0000CC"/>
                </a:solidFill>
              </a:rPr>
              <a:t>…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);</a:t>
            </a:r>
          </a:p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	end STRUCT;</a:t>
            </a:r>
          </a:p>
        </p:txBody>
      </p:sp>
      <p:sp>
        <p:nvSpPr>
          <p:cNvPr id="60422" name="Line 7"/>
          <p:cNvSpPr>
            <a:spLocks noChangeShapeType="1"/>
          </p:cNvSpPr>
          <p:nvPr/>
        </p:nvSpPr>
        <p:spPr bwMode="auto">
          <a:xfrm>
            <a:off x="323850" y="1820863"/>
            <a:ext cx="4953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0423" name="Text Box 8"/>
          <p:cNvSpPr txBox="1">
            <a:spLocks noChangeArrowheads="1"/>
          </p:cNvSpPr>
          <p:nvPr/>
        </p:nvSpPr>
        <p:spPr bwMode="auto">
          <a:xfrm>
            <a:off x="5564188" y="1125538"/>
            <a:ext cx="2743200" cy="1465262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HALFADDER is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port(A,B: 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 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          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S, CY: out bit);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A;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endParaRPr lang="en-US" altLang="en-US" sz="1600" b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</p:txBody>
      </p:sp>
      <p:sp>
        <p:nvSpPr>
          <p:cNvPr id="60424" name="Text Box 9"/>
          <p:cNvSpPr txBox="1">
            <a:spLocks noChangeArrowheads="1"/>
          </p:cNvSpPr>
          <p:nvPr/>
        </p:nvSpPr>
        <p:spPr bwMode="auto">
          <a:xfrm>
            <a:off x="5564188" y="3259138"/>
            <a:ext cx="2895600" cy="1076325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 </a:t>
            </a:r>
            <a:r>
              <a:rPr lang="en-US" altLang="en-US" sz="1600" b="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RTL of HALFADDER 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·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·</a:t>
            </a: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600" b="0">
                <a:solidFill>
                  <a:srgbClr val="0000CC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·</a:t>
            </a:r>
            <a:endParaRPr lang="en-US" altLang="en-US" sz="1600" b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RTL;</a:t>
            </a:r>
          </a:p>
        </p:txBody>
      </p:sp>
      <p:sp>
        <p:nvSpPr>
          <p:cNvPr id="27657" name="Text Box 10"/>
          <p:cNvSpPr txBox="1">
            <a:spLocks noChangeArrowheads="1"/>
          </p:cNvSpPr>
          <p:nvPr/>
        </p:nvSpPr>
        <p:spPr bwMode="auto">
          <a:xfrm>
            <a:off x="5564188" y="4664075"/>
            <a:ext cx="2895600" cy="1076325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architecture </a:t>
            </a:r>
            <a:r>
              <a:rPr lang="en-US" sz="1600" b="0" dirty="0">
                <a:solidFill>
                  <a:schemeClr val="tx2">
                    <a:lumMod val="95000"/>
                    <a:lumOff val="5000"/>
                  </a:schemeClr>
                </a:solidFill>
                <a:latin typeface="Helvetica" pitchFamily="34" charset="0"/>
              </a:rPr>
              <a:t>GATE of HALFADDER</a:t>
            </a: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 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is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·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b="0" dirty="0">
                <a:solidFill>
                  <a:srgbClr val="0000CC"/>
                </a:solidFill>
              </a:rPr>
              <a:t>·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b="0" dirty="0">
                <a:solidFill>
                  <a:srgbClr val="0000CC"/>
                </a:solidFill>
              </a:rPr>
              <a:t>·</a:t>
            </a:r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end GATE;</a:t>
            </a:r>
          </a:p>
        </p:txBody>
      </p:sp>
      <p:sp>
        <p:nvSpPr>
          <p:cNvPr id="2" name="Rounded Rectangle 1"/>
          <p:cNvSpPr/>
          <p:nvPr/>
        </p:nvSpPr>
        <p:spPr bwMode="auto">
          <a:xfrm>
            <a:off x="704850" y="2125663"/>
            <a:ext cx="3581400" cy="914400"/>
          </a:xfrm>
          <a:prstGeom prst="roundRect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r" rtl="1" eaLnBrk="1" hangingPunct="1">
              <a:spcBef>
                <a:spcPct val="50000"/>
              </a:spcBef>
              <a:defRPr/>
            </a:pPr>
            <a:endParaRPr lang="en-US" sz="2400" b="1">
              <a:cs typeface="Lotus" pitchFamily="2" charset="-78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781050" y="3068638"/>
            <a:ext cx="4251325" cy="503237"/>
          </a:xfrm>
          <a:prstGeom prst="roundRect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r" rtl="1" eaLnBrk="1" hangingPunct="1">
              <a:spcBef>
                <a:spcPct val="50000"/>
              </a:spcBef>
              <a:defRPr/>
            </a:pPr>
            <a:endParaRPr lang="en-US" sz="2400" b="1">
              <a:cs typeface="Lotus" pitchFamily="2" charset="-78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809625" y="4491038"/>
            <a:ext cx="3371850" cy="365125"/>
          </a:xfrm>
          <a:custGeom>
            <a:avLst/>
            <a:gdLst>
              <a:gd name="connsiteX0" fmla="*/ 0 w 4267200"/>
              <a:gd name="connsiteY0" fmla="*/ 342900 h 685800"/>
              <a:gd name="connsiteX1" fmla="*/ 342900 w 4267200"/>
              <a:gd name="connsiteY1" fmla="*/ 0 h 685800"/>
              <a:gd name="connsiteX2" fmla="*/ 3924300 w 4267200"/>
              <a:gd name="connsiteY2" fmla="*/ 0 h 685800"/>
              <a:gd name="connsiteX3" fmla="*/ 4267200 w 4267200"/>
              <a:gd name="connsiteY3" fmla="*/ 342900 h 685800"/>
              <a:gd name="connsiteX4" fmla="*/ 4267200 w 4267200"/>
              <a:gd name="connsiteY4" fmla="*/ 342900 h 685800"/>
              <a:gd name="connsiteX5" fmla="*/ 3924300 w 4267200"/>
              <a:gd name="connsiteY5" fmla="*/ 685800 h 685800"/>
              <a:gd name="connsiteX6" fmla="*/ 342900 w 4267200"/>
              <a:gd name="connsiteY6" fmla="*/ 685800 h 685800"/>
              <a:gd name="connsiteX7" fmla="*/ 0 w 4267200"/>
              <a:gd name="connsiteY7" fmla="*/ 342900 h 685800"/>
              <a:gd name="connsiteX0" fmla="*/ 0 w 4267200"/>
              <a:gd name="connsiteY0" fmla="*/ 342900 h 685800"/>
              <a:gd name="connsiteX1" fmla="*/ 342900 w 4267200"/>
              <a:gd name="connsiteY1" fmla="*/ 0 h 685800"/>
              <a:gd name="connsiteX2" fmla="*/ 1838325 w 4267200"/>
              <a:gd name="connsiteY2" fmla="*/ 0 h 685800"/>
              <a:gd name="connsiteX3" fmla="*/ 3924300 w 4267200"/>
              <a:gd name="connsiteY3" fmla="*/ 0 h 685800"/>
              <a:gd name="connsiteX4" fmla="*/ 4267200 w 4267200"/>
              <a:gd name="connsiteY4" fmla="*/ 342900 h 685800"/>
              <a:gd name="connsiteX5" fmla="*/ 4267200 w 4267200"/>
              <a:gd name="connsiteY5" fmla="*/ 342900 h 685800"/>
              <a:gd name="connsiteX6" fmla="*/ 3924300 w 4267200"/>
              <a:gd name="connsiteY6" fmla="*/ 685800 h 685800"/>
              <a:gd name="connsiteX7" fmla="*/ 342900 w 4267200"/>
              <a:gd name="connsiteY7" fmla="*/ 685800 h 685800"/>
              <a:gd name="connsiteX8" fmla="*/ 0 w 4267200"/>
              <a:gd name="connsiteY8" fmla="*/ 3429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685800">
                <a:moveTo>
                  <a:pt x="0" y="342900"/>
                </a:moveTo>
                <a:cubicBezTo>
                  <a:pt x="0" y="153522"/>
                  <a:pt x="153522" y="0"/>
                  <a:pt x="342900" y="0"/>
                </a:cubicBezTo>
                <a:lnTo>
                  <a:pt x="1838325" y="0"/>
                </a:lnTo>
                <a:lnTo>
                  <a:pt x="3924300" y="0"/>
                </a:lnTo>
                <a:cubicBezTo>
                  <a:pt x="4113678" y="0"/>
                  <a:pt x="4267200" y="153522"/>
                  <a:pt x="4267200" y="342900"/>
                </a:cubicBezTo>
                <a:lnTo>
                  <a:pt x="4267200" y="342900"/>
                </a:lnTo>
                <a:cubicBezTo>
                  <a:pt x="4267200" y="532278"/>
                  <a:pt x="4113678" y="685800"/>
                  <a:pt x="3924300" y="685800"/>
                </a:cubicBezTo>
                <a:lnTo>
                  <a:pt x="342900" y="685800"/>
                </a:lnTo>
                <a:cubicBezTo>
                  <a:pt x="153522" y="685800"/>
                  <a:pt x="0" y="532278"/>
                  <a:pt x="0" y="342900"/>
                </a:cubicBezTo>
                <a:close/>
              </a:path>
            </a:pathLst>
          </a:cu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r" rtl="1" eaLnBrk="1" hangingPunct="1">
              <a:spcBef>
                <a:spcPct val="50000"/>
              </a:spcBef>
              <a:defRPr/>
            </a:pPr>
            <a:endParaRPr lang="en-US" sz="2400" b="1">
              <a:cs typeface="Lotus" pitchFamily="2" charset="-78"/>
            </a:endParaRPr>
          </a:p>
        </p:txBody>
      </p:sp>
      <p:sp>
        <p:nvSpPr>
          <p:cNvPr id="60429" name="Rectangle 13"/>
          <p:cNvSpPr>
            <a:spLocks noChangeArrowheads="1"/>
          </p:cNvSpPr>
          <p:nvPr/>
        </p:nvSpPr>
        <p:spPr bwMode="auto">
          <a:xfrm>
            <a:off x="5489575" y="692150"/>
            <a:ext cx="3403600" cy="5545138"/>
          </a:xfrm>
          <a:prstGeom prst="rect">
            <a:avLst/>
          </a:prstGeom>
          <a:solidFill>
            <a:srgbClr val="C2FFF0">
              <a:alpha val="30196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defTabSz="1019175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Library (work)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534" y="5409259"/>
            <a:ext cx="5022304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1800" dirty="0" smtClean="0">
                <a:solidFill>
                  <a:srgbClr val="000000"/>
                </a:solidFill>
                <a:cs typeface="Lotus" panose="00000400000000000000" pitchFamily="2" charset="-78"/>
              </a:rPr>
              <a:t> instance </a:t>
            </a:r>
            <a:r>
              <a:rPr lang="en-US" altLang="en-US" sz="1800" dirty="0">
                <a:solidFill>
                  <a:srgbClr val="000000"/>
                </a:solidFill>
                <a:cs typeface="Lotus" panose="00000400000000000000" pitchFamily="2" charset="-78"/>
              </a:rPr>
              <a:t>names </a:t>
            </a:r>
          </a:p>
          <a:p>
            <a:pPr lvl="1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1800" dirty="0" smtClean="0">
                <a:solidFill>
                  <a:srgbClr val="000000"/>
                </a:solidFill>
                <a:cs typeface="Lotus" panose="00000400000000000000" pitchFamily="2" charset="-78"/>
              </a:rPr>
              <a:t> 'all</a:t>
            </a:r>
            <a:r>
              <a:rPr lang="en-US" altLang="en-US" sz="1800" dirty="0">
                <a:solidFill>
                  <a:srgbClr val="000000"/>
                </a:solidFill>
                <a:cs typeface="Lotus" panose="00000400000000000000" pitchFamily="2" charset="-78"/>
              </a:rPr>
              <a:t>': all instances of the specified component </a:t>
            </a:r>
          </a:p>
          <a:p>
            <a:pPr lvl="1" eaLnBrk="1" hangingPunct="1">
              <a:spcBef>
                <a:spcPct val="10000"/>
              </a:spcBef>
              <a:buFontTx/>
              <a:buChar char="•"/>
            </a:pPr>
            <a:r>
              <a:rPr lang="en-US" altLang="en-US" sz="1800" dirty="0" smtClean="0">
                <a:solidFill>
                  <a:srgbClr val="000000"/>
                </a:solidFill>
                <a:cs typeface="Lotus" panose="00000400000000000000" pitchFamily="2" charset="-78"/>
              </a:rPr>
              <a:t> 'others</a:t>
            </a:r>
            <a:r>
              <a:rPr lang="en-US" altLang="en-US" sz="1800" dirty="0">
                <a:solidFill>
                  <a:srgbClr val="000000"/>
                </a:solidFill>
                <a:cs typeface="Lotus" panose="00000400000000000000" pitchFamily="2" charset="-78"/>
              </a:rPr>
              <a:t>': all instances not explicitly mentioned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380DB0F6-A870-49C2-ADF4-E311FD5B5F6B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Configuration Declaration</a:t>
            </a:r>
          </a:p>
        </p:txBody>
      </p:sp>
      <p:sp>
        <p:nvSpPr>
          <p:cNvPr id="28677" name="Text Box 3"/>
          <p:cNvSpPr txBox="1">
            <a:spLocks noChangeArrowheads="1"/>
          </p:cNvSpPr>
          <p:nvPr/>
        </p:nvSpPr>
        <p:spPr bwMode="auto">
          <a:xfrm>
            <a:off x="611188" y="1898650"/>
            <a:ext cx="7696200" cy="2555875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configuration CFG_FULLADDER of FULLADDER is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for STRUCT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 for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b="0" dirty="0" smtClean="0">
                <a:solidFill>
                  <a:srgbClr val="0000CC"/>
                </a:solidFill>
                <a:latin typeface="Helvetica" pitchFamily="34" charset="0"/>
              </a:rPr>
              <a:t>MODULE2:HA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   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 use </a:t>
            </a:r>
            <a:r>
              <a:rPr lang="en-US" sz="1600" dirty="0" smtClean="0">
                <a:solidFill>
                  <a:srgbClr val="0000CC"/>
                </a:solidFill>
                <a:latin typeface="Helvetica" pitchFamily="34" charset="0"/>
              </a:rPr>
              <a:t>entity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work.</a:t>
            </a:r>
            <a:r>
              <a:rPr lang="en-US" sz="1600" b="0" dirty="0" err="1">
                <a:solidFill>
                  <a:schemeClr val="tx2">
                    <a:lumMod val="95000"/>
                    <a:lumOff val="5000"/>
                  </a:schemeClr>
                </a:solidFill>
                <a:latin typeface="Helvetica" pitchFamily="34" charset="0"/>
              </a:rPr>
              <a:t>HALFADDER</a:t>
            </a:r>
            <a:r>
              <a:rPr lang="en-US" sz="1600" b="0" dirty="0">
                <a:solidFill>
                  <a:schemeClr val="tx2">
                    <a:lumMod val="95000"/>
                    <a:lumOff val="5000"/>
                  </a:schemeClr>
                </a:solidFill>
                <a:latin typeface="Helvetica" pitchFamily="34" charset="0"/>
              </a:rPr>
              <a:t>(GATE)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 end for;</a:t>
            </a:r>
            <a:br>
              <a:rPr lang="en-US" sz="16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/>
            </a:r>
            <a:br>
              <a:rPr lang="en-US" sz="16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 for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dirty="0" err="1" smtClean="0">
                <a:solidFill>
                  <a:srgbClr val="0000CC"/>
                </a:solidFill>
                <a:latin typeface="Helvetica" pitchFamily="34" charset="0"/>
              </a:rPr>
              <a:t>others</a:t>
            </a:r>
            <a:r>
              <a:rPr lang="en-US" sz="1600" b="0" dirty="0" err="1" smtClean="0">
                <a:solidFill>
                  <a:srgbClr val="0000CC"/>
                </a:solidFill>
                <a:latin typeface="Helvetica" pitchFamily="34" charset="0"/>
              </a:rPr>
              <a:t>:HA</a:t>
            </a:r>
            <a:r>
              <a:rPr lang="en-US" sz="1600" b="0" dirty="0" smtClean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dirty="0" smtClean="0">
                <a:solidFill>
                  <a:srgbClr val="0000CC"/>
                </a:solidFill>
                <a:latin typeface="Helvetica" pitchFamily="34" charset="0"/>
              </a:rPr>
              <a:t>use entity </a:t>
            </a:r>
            <a:r>
              <a:rPr lang="en-US" sz="1600" b="0" dirty="0" err="1" smtClean="0">
                <a:solidFill>
                  <a:srgbClr val="0000CC"/>
                </a:solidFill>
                <a:latin typeface="Helvetica" pitchFamily="34" charset="0"/>
              </a:rPr>
              <a:t>work.</a:t>
            </a:r>
            <a:r>
              <a:rPr lang="en-US" sz="1600" dirty="0" err="1">
                <a:solidFill>
                  <a:srgbClr val="FF0000"/>
                </a:solidFill>
                <a:latin typeface="Helvetica" pitchFamily="34" charset="0"/>
              </a:rPr>
              <a:t>HALFADDER</a:t>
            </a:r>
            <a:r>
              <a:rPr lang="en-US" sz="1600" dirty="0">
                <a:solidFill>
                  <a:srgbClr val="FF0000"/>
                </a:solidFill>
                <a:latin typeface="Helvetica" pitchFamily="34" charset="0"/>
              </a:rPr>
              <a:t>(RTL)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 end for;</a:t>
            </a:r>
            <a:br>
              <a:rPr lang="en-US" sz="16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end for;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end CFG_FULLADDER;</a:t>
            </a:r>
          </a:p>
        </p:txBody>
      </p:sp>
      <p:sp>
        <p:nvSpPr>
          <p:cNvPr id="549899" name="Text Box 11"/>
          <p:cNvSpPr txBox="1">
            <a:spLocks noChangeArrowheads="1"/>
          </p:cNvSpPr>
          <p:nvPr/>
        </p:nvSpPr>
        <p:spPr bwMode="auto">
          <a:xfrm>
            <a:off x="971600" y="5435932"/>
            <a:ext cx="7239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914400" indent="-45720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</a:pP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Possible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to reference an existing configuration of a submodule </a:t>
            </a:r>
          </a:p>
        </p:txBody>
      </p:sp>
      <p:sp>
        <p:nvSpPr>
          <p:cNvPr id="62471" name="Text Box 13"/>
          <p:cNvSpPr txBox="1">
            <a:spLocks noChangeArrowheads="1"/>
          </p:cNvSpPr>
          <p:nvPr/>
        </p:nvSpPr>
        <p:spPr bwMode="auto">
          <a:xfrm>
            <a:off x="611188" y="908050"/>
            <a:ext cx="6858000" cy="739775"/>
          </a:xfrm>
          <a:prstGeom prst="rect">
            <a:avLst/>
          </a:prstGeom>
          <a:noFill/>
          <a:ln w="2857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configuration CONFNAME of ENTITYNAME is 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      for ARCHNAME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            for INSTANCENAME  use entity LIBNAME.ENTNAME(ARNAME);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601788" y="5877272"/>
            <a:ext cx="5105400" cy="338137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for all:FA use configuration work.CFG_FULLADDER;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9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9" grpId="0" build="p" autoUpdateAnimBg="0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Configuration</a:t>
            </a:r>
          </a:p>
        </p:txBody>
      </p:sp>
      <p:graphicFrame>
        <p:nvGraphicFramePr>
          <p:cNvPr id="64515" name="Object 2"/>
          <p:cNvGraphicFramePr>
            <a:graphicFrameLocks noChangeAspect="1"/>
          </p:cNvGraphicFramePr>
          <p:nvPr/>
        </p:nvGraphicFramePr>
        <p:xfrm>
          <a:off x="1476375" y="836613"/>
          <a:ext cx="5553075" cy="549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4" name="Visio" r:id="rId4" imgW="9087231" imgH="8988742" progId="Visio.Drawing.11">
                  <p:embed/>
                </p:oleObj>
              </mc:Choice>
              <mc:Fallback>
                <p:oleObj name="Visio" r:id="rId4" imgW="9087231" imgH="898874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836613"/>
                        <a:ext cx="5553075" cy="549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013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380DB0F6-A870-49C2-ADF4-E311FD5B5F6B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Configuration Specification</a:t>
            </a:r>
          </a:p>
        </p:txBody>
      </p:sp>
      <p:sp>
        <p:nvSpPr>
          <p:cNvPr id="28677" name="Text Box 3"/>
          <p:cNvSpPr txBox="1">
            <a:spLocks noChangeArrowheads="1"/>
          </p:cNvSpPr>
          <p:nvPr/>
        </p:nvSpPr>
        <p:spPr bwMode="auto">
          <a:xfrm>
            <a:off x="755576" y="1628800"/>
            <a:ext cx="7696200" cy="3785652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architecture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STRUCTL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of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SIXTEEN_BIT_ADDER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is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component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ADDER4BIT</a:t>
            </a:r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port (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A,B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: </a:t>
            </a:r>
            <a:r>
              <a:rPr lang="en-US" sz="1600" b="0" dirty="0" smtClean="0">
                <a:solidFill>
                  <a:srgbClr val="0000CC"/>
                </a:solidFill>
                <a:latin typeface="Helvetica" pitchFamily="34" charset="0"/>
              </a:rPr>
              <a:t>…;</a:t>
            </a:r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      </a:t>
            </a:r>
            <a:r>
              <a:rPr lang="en-US" sz="1600" b="0" dirty="0" smtClean="0">
                <a:solidFill>
                  <a:srgbClr val="0000CC"/>
                </a:solidFill>
                <a:latin typeface="Helvetica" pitchFamily="34" charset="0"/>
              </a:rPr>
              <a:t>…);</a:t>
            </a:r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end component;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signal </a:t>
            </a:r>
            <a:r>
              <a:rPr lang="en-US" sz="1600" b="0" dirty="0" smtClean="0">
                <a:solidFill>
                  <a:srgbClr val="0000CC"/>
                </a:solidFill>
                <a:latin typeface="Helvetica" pitchFamily="34" charset="0"/>
              </a:rPr>
              <a:t>…;</a:t>
            </a:r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</a:t>
            </a: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for </a:t>
            </a:r>
            <a:r>
              <a:rPr lang="en-US" sz="1600" b="0" dirty="0" err="1">
                <a:solidFill>
                  <a:srgbClr val="FF0000"/>
                </a:solidFill>
                <a:latin typeface="Helvetica" pitchFamily="34" charset="0"/>
              </a:rPr>
              <a:t>A1,A2:ADDER4BIT</a:t>
            </a:r>
            <a:endParaRPr lang="en-US" sz="1600" b="0" dirty="0">
              <a:solidFill>
                <a:srgbClr val="FF0000"/>
              </a:solidFill>
              <a:latin typeface="Helvetica" pitchFamily="34" charset="0"/>
            </a:endParaRPr>
          </a:p>
          <a:p>
            <a:pPr eaLnBrk="1" hangingPunct="1">
              <a:defRPr/>
            </a:pP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         use entity </a:t>
            </a:r>
            <a:r>
              <a:rPr lang="en-US" sz="1600" b="0" dirty="0" err="1">
                <a:solidFill>
                  <a:srgbClr val="FF0000"/>
                </a:solidFill>
                <a:latin typeface="Helvetica" pitchFamily="34" charset="0"/>
              </a:rPr>
              <a:t>work.FOUR_BIT_ADDER</a:t>
            </a: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(</a:t>
            </a:r>
            <a:r>
              <a:rPr lang="en-US" sz="1600" b="0" dirty="0" err="1">
                <a:solidFill>
                  <a:srgbClr val="FF0000"/>
                </a:solidFill>
                <a:latin typeface="Helvetica" pitchFamily="34" charset="0"/>
              </a:rPr>
              <a:t>CARRY_RIPPLE_ADDER</a:t>
            </a: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);</a:t>
            </a:r>
          </a:p>
          <a:p>
            <a:pPr eaLnBrk="1" hangingPunct="1">
              <a:defRPr/>
            </a:pP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   for </a:t>
            </a:r>
            <a:r>
              <a:rPr lang="en-US" sz="1600" b="0" dirty="0" err="1">
                <a:solidFill>
                  <a:srgbClr val="FF0000"/>
                </a:solidFill>
                <a:latin typeface="Helvetica" pitchFamily="34" charset="0"/>
              </a:rPr>
              <a:t>others:ADDER4BIT</a:t>
            </a:r>
            <a:endParaRPr lang="en-US" sz="1600" b="0" dirty="0">
              <a:solidFill>
                <a:srgbClr val="FF0000"/>
              </a:solidFill>
              <a:latin typeface="Helvetica" pitchFamily="34" charset="0"/>
            </a:endParaRPr>
          </a:p>
          <a:p>
            <a:pPr eaLnBrk="1" hangingPunct="1">
              <a:defRPr/>
            </a:pP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         use entity </a:t>
            </a:r>
            <a:r>
              <a:rPr lang="en-US" sz="1600" b="0" dirty="0" err="1">
                <a:solidFill>
                  <a:srgbClr val="FF0000"/>
                </a:solidFill>
                <a:latin typeface="Helvetica" pitchFamily="34" charset="0"/>
              </a:rPr>
              <a:t>work.FOUR_BIT_ADDER</a:t>
            </a: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(</a:t>
            </a:r>
            <a:r>
              <a:rPr lang="en-US" sz="1600" b="0" dirty="0" err="1">
                <a:solidFill>
                  <a:srgbClr val="FF0000"/>
                </a:solidFill>
                <a:latin typeface="Helvetica" pitchFamily="34" charset="0"/>
              </a:rPr>
              <a:t>CARRY_LOOKAHEAD_ADDER</a:t>
            </a: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);</a:t>
            </a:r>
          </a:p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</a:p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A1:ADDER4BIT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port map </a:t>
            </a:r>
            <a:r>
              <a:rPr lang="en-US" sz="1600" b="0" dirty="0" smtClean="0">
                <a:solidFill>
                  <a:srgbClr val="0000CC"/>
                </a:solidFill>
                <a:latin typeface="Helvetica" pitchFamily="34" charset="0"/>
              </a:rPr>
              <a:t>(…);</a:t>
            </a:r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A2:ADDER4BIT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port map </a:t>
            </a:r>
            <a:r>
              <a:rPr lang="en-US" sz="1600" b="0" dirty="0" smtClean="0">
                <a:solidFill>
                  <a:srgbClr val="0000CC"/>
                </a:solidFill>
                <a:latin typeface="Helvetica" pitchFamily="34" charset="0"/>
              </a:rPr>
              <a:t>(…);</a:t>
            </a:r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  <a:p>
            <a:pPr eaLnBrk="1" hangingPunct="1">
              <a:defRPr/>
            </a:pP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A3:ADDER4BIT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port map </a:t>
            </a:r>
            <a:r>
              <a:rPr lang="en-US" sz="1600" b="0" dirty="0" smtClean="0">
                <a:solidFill>
                  <a:srgbClr val="0000CC"/>
                </a:solidFill>
                <a:latin typeface="Helvetica" pitchFamily="34" charset="0"/>
              </a:rPr>
              <a:t>(…);</a:t>
            </a:r>
          </a:p>
          <a:p>
            <a:pPr eaLnBrk="1" hangingPunct="1">
              <a:defRPr/>
            </a:pPr>
            <a:r>
              <a:rPr lang="en-US" sz="1600" b="0" dirty="0" smtClean="0">
                <a:solidFill>
                  <a:srgbClr val="0000CC"/>
                </a:solidFill>
                <a:latin typeface="Helvetica" pitchFamily="34" charset="0"/>
              </a:rPr>
              <a:t>  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A4:ADDER4BIT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port map </a:t>
            </a:r>
            <a:r>
              <a:rPr lang="en-US" sz="1600" b="0" dirty="0" smtClean="0">
                <a:solidFill>
                  <a:srgbClr val="0000CC"/>
                </a:solidFill>
                <a:latin typeface="Helvetica" pitchFamily="34" charset="0"/>
              </a:rPr>
              <a:t>(…);</a:t>
            </a:r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03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380DB0F6-A870-49C2-ADF4-E311FD5B5F6B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Configuration Declaration</a:t>
            </a:r>
          </a:p>
        </p:txBody>
      </p:sp>
      <p:sp>
        <p:nvSpPr>
          <p:cNvPr id="28677" name="Text Box 3"/>
          <p:cNvSpPr txBox="1">
            <a:spLocks noChangeArrowheads="1"/>
          </p:cNvSpPr>
          <p:nvPr/>
        </p:nvSpPr>
        <p:spPr bwMode="auto">
          <a:xfrm>
            <a:off x="755576" y="2204864"/>
            <a:ext cx="7696200" cy="3785652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configuration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CONFING_EXAMPLE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of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SIXTEEN_BIT_ADDER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is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for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STRUCTL</a:t>
            </a:r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for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A1,A2:ADDER4BIT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use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   entity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work.</a:t>
            </a:r>
            <a:r>
              <a:rPr lang="en-US" sz="1600" b="0" dirty="0" err="1">
                <a:solidFill>
                  <a:srgbClr val="FF0000"/>
                </a:solidFill>
                <a:latin typeface="Helvetica" pitchFamily="34" charset="0"/>
              </a:rPr>
              <a:t>FOUR_BIT_ADDER</a:t>
            </a: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(</a:t>
            </a:r>
            <a:r>
              <a:rPr lang="en-US" sz="1600" b="0" dirty="0" err="1">
                <a:solidFill>
                  <a:srgbClr val="FF0000"/>
                </a:solidFill>
                <a:latin typeface="Helvetica" pitchFamily="34" charset="0"/>
              </a:rPr>
              <a:t>CARRY_RIPPLE_ADDER</a:t>
            </a: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)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   for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CARRY_RIPPLE_ADDER</a:t>
            </a:r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      for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all:FADD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use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         entity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work.</a:t>
            </a:r>
            <a:r>
              <a:rPr lang="en-US" sz="1600" b="0" dirty="0" err="1">
                <a:solidFill>
                  <a:srgbClr val="990000"/>
                </a:solidFill>
                <a:latin typeface="Helvetica" pitchFamily="34" charset="0"/>
              </a:rPr>
              <a:t>FULL_ADDER</a:t>
            </a:r>
            <a:r>
              <a:rPr lang="en-US" sz="1600" b="0" dirty="0">
                <a:solidFill>
                  <a:srgbClr val="990000"/>
                </a:solidFill>
                <a:latin typeface="Helvetica" pitchFamily="34" charset="0"/>
              </a:rPr>
              <a:t>(</a:t>
            </a:r>
            <a:r>
              <a:rPr lang="en-US" sz="1600" b="0" dirty="0" err="1">
                <a:solidFill>
                  <a:srgbClr val="990000"/>
                </a:solidFill>
                <a:latin typeface="Helvetica" pitchFamily="34" charset="0"/>
              </a:rPr>
              <a:t>FARCH1</a:t>
            </a:r>
            <a:r>
              <a:rPr lang="en-US" sz="1600" b="0" dirty="0">
                <a:solidFill>
                  <a:srgbClr val="990000"/>
                </a:solidFill>
                <a:latin typeface="Helvetica" pitchFamily="34" charset="0"/>
              </a:rPr>
              <a:t>)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      end for;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   end for;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end for;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for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others:ADDER_4BIT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use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   entity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work.</a:t>
            </a:r>
            <a:r>
              <a:rPr lang="en-US" sz="1600" b="0" dirty="0" err="1">
                <a:solidFill>
                  <a:srgbClr val="FF0000"/>
                </a:solidFill>
                <a:latin typeface="Helvetica" pitchFamily="34" charset="0"/>
              </a:rPr>
              <a:t>FOUR_BIT_ADDER</a:t>
            </a: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(</a:t>
            </a:r>
            <a:r>
              <a:rPr lang="en-US" sz="1600" b="0" dirty="0" err="1">
                <a:solidFill>
                  <a:srgbClr val="FF0000"/>
                </a:solidFill>
                <a:latin typeface="Helvetica" pitchFamily="34" charset="0"/>
              </a:rPr>
              <a:t>CARRY_LOOKAHEAD_ADDER</a:t>
            </a:r>
            <a:r>
              <a:rPr lang="en-US" sz="1600" b="0" dirty="0">
                <a:solidFill>
                  <a:srgbClr val="FF0000"/>
                </a:solidFill>
                <a:latin typeface="Helvetica" pitchFamily="34" charset="0"/>
              </a:rPr>
              <a:t>)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end for;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end for;</a:t>
            </a:r>
          </a:p>
          <a:p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end configuration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CONFING_EXAMPLE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738336" y="1105049"/>
            <a:ext cx="6858000" cy="739775"/>
          </a:xfrm>
          <a:prstGeom prst="rect">
            <a:avLst/>
          </a:prstGeom>
          <a:noFill/>
          <a:ln w="2857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configuration CONFNAME of ENTITYNAME is 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      for ARCHNAME</a:t>
            </a:r>
          </a:p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            for INSTANCENAME  use entity LIBNAME.ENTNAME(ARNAME);</a:t>
            </a:r>
          </a:p>
        </p:txBody>
      </p:sp>
    </p:spTree>
    <p:extLst>
      <p:ext uri="{BB962C8B-B14F-4D97-AF65-F5344CB8AC3E}">
        <p14:creationId xmlns:p14="http://schemas.microsoft.com/office/powerpoint/2010/main" val="320268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mtClean="0"/>
              <a:t>جمع‌بندی</a:t>
            </a:r>
            <a:endParaRPr lang="fa-I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F7027B-FDD9-422C-A0BC-76C1B2DEA926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827584" y="1412776"/>
            <a:ext cx="7772400" cy="1273175"/>
          </a:xfrm>
          <a:prstGeom prst="rect">
            <a:avLst/>
          </a:prstGeom>
        </p:spPr>
        <p:txBody>
          <a:bodyPr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895350" indent="-4381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ar-SA" altLang="en-US" kern="0" smtClean="0"/>
              <a:t>توصيف ساختاري </a:t>
            </a:r>
            <a:r>
              <a:rPr lang="en-US" altLang="en-US" kern="0" smtClean="0"/>
              <a:t>functionality </a:t>
            </a:r>
            <a:r>
              <a:rPr lang="ar-SA" altLang="en-US" kern="0" smtClean="0"/>
              <a:t> را صريحا</a:t>
            </a:r>
            <a:r>
              <a:rPr lang="fa-IR" altLang="en-US" kern="0" smtClean="0"/>
              <a:t>ً</a:t>
            </a:r>
            <a:r>
              <a:rPr lang="ar-SA" altLang="en-US" kern="0" smtClean="0"/>
              <a:t> توصيف نمي</a:t>
            </a:r>
            <a:r>
              <a:rPr lang="fa-IR" altLang="en-US" kern="0" smtClean="0"/>
              <a:t>‌</a:t>
            </a:r>
            <a:r>
              <a:rPr lang="ar-SA" altLang="en-US" kern="0" smtClean="0"/>
              <a:t>كند بلكه فقط ليستي از اجزا و نحوة اتصال آنهاست.</a:t>
            </a:r>
            <a:endParaRPr lang="en-US" altLang="en-US" kern="0" smtClean="0"/>
          </a:p>
          <a:p>
            <a:pPr lvl="1"/>
            <a:r>
              <a:rPr lang="fa-IR" altLang="en-US" kern="0" smtClean="0"/>
              <a:t>معمولاً برای توصیف بالاترین سطح از این توصیف استفاده می‌شود.</a:t>
            </a:r>
            <a:endParaRPr lang="fa-IR" altLang="en-US" kern="0" dirty="0"/>
          </a:p>
          <a:p>
            <a:pPr lvl="2"/>
            <a:r>
              <a:rPr lang="fa-IR" altLang="en-US" kern="0" smtClean="0"/>
              <a:t>مثال: لایه‌های شبکه عصبی</a:t>
            </a:r>
            <a:endParaRPr lang="en-US" altLang="en-US" kern="0" dirty="0" smtClean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56992"/>
            <a:ext cx="8208912" cy="2304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094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/>
              <a:t>جمع‌بندی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F7027B-FDD9-422C-A0BC-76C1B2DEA926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789" y="1574940"/>
            <a:ext cx="5138422" cy="370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73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27662</TotalTime>
  <Words>1841</Words>
  <Application>Microsoft Office PowerPoint</Application>
  <PresentationFormat>On-screen Show (4:3)</PresentationFormat>
  <Paragraphs>587</Paragraphs>
  <Slides>50</Slides>
  <Notes>45</Notes>
  <HiddenSlides>4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3" baseType="lpstr">
      <vt:lpstr>Arial</vt:lpstr>
      <vt:lpstr>B Mitra</vt:lpstr>
      <vt:lpstr>B Nazanin</vt:lpstr>
      <vt:lpstr>B Titr</vt:lpstr>
      <vt:lpstr>Calibri</vt:lpstr>
      <vt:lpstr>Courier New</vt:lpstr>
      <vt:lpstr>Helvetica</vt:lpstr>
      <vt:lpstr>Lotus</vt:lpstr>
      <vt:lpstr>Times New Roman</vt:lpstr>
      <vt:lpstr>Wingdings</vt:lpstr>
      <vt:lpstr>1_presentation_template</vt:lpstr>
      <vt:lpstr>Custom Design</vt:lpstr>
      <vt:lpstr>Visio</vt:lpstr>
      <vt:lpstr>زبان توصیف سخت‌افزار</vt:lpstr>
      <vt:lpstr>زبان‌ها</vt:lpstr>
      <vt:lpstr>VHDL</vt:lpstr>
      <vt:lpstr>VHDL</vt:lpstr>
      <vt:lpstr>VHDL</vt:lpstr>
      <vt:lpstr>VHDL</vt:lpstr>
      <vt:lpstr>VHDL</vt:lpstr>
      <vt:lpstr>VHDL</vt:lpstr>
      <vt:lpstr>VHDL</vt:lpstr>
      <vt:lpstr>VHDL</vt:lpstr>
      <vt:lpstr>PowerPoint Presentation</vt:lpstr>
      <vt:lpstr>سطوح تجرید (Levels of Abstraction)</vt:lpstr>
      <vt:lpstr>سطوح تجرید (Levels of Abstraction)</vt:lpstr>
      <vt:lpstr>سطوح تجرید (Levels of Abstraction)</vt:lpstr>
      <vt:lpstr>سطوح تجرید (Levels of Abstraction)</vt:lpstr>
      <vt:lpstr>سطوح تجرید (Levels of Abstraction)</vt:lpstr>
      <vt:lpstr>سطوح تجرید (Levels of Abstraction)</vt:lpstr>
      <vt:lpstr>سطوح تجرید: سطح رفتاری</vt:lpstr>
      <vt:lpstr>سطوح تجرید: سطح رفتاری</vt:lpstr>
      <vt:lpstr>سطوح تجرید: سطح رفتاری</vt:lpstr>
      <vt:lpstr>سطوح تجرید: سطح انتقال ثبات</vt:lpstr>
      <vt:lpstr>سطوح تجرید: سطح انتقال ثبات</vt:lpstr>
      <vt:lpstr>سطوح تجرید: سطح انتقال ثبات</vt:lpstr>
      <vt:lpstr>سطوح تجرید: سطح انتقال ثبات</vt:lpstr>
      <vt:lpstr>سطوح تجرید: سطح انتقال ثبات</vt:lpstr>
      <vt:lpstr>سطح انتقال ثبات: مثال</vt:lpstr>
      <vt:lpstr>سطح انتقال ثبات: مثال</vt:lpstr>
      <vt:lpstr>سطوح تجرید: سطح گیت</vt:lpstr>
      <vt:lpstr>توصیف سخت‌افزار با VHDL</vt:lpstr>
      <vt:lpstr>VHDL Structural Elements</vt:lpstr>
      <vt:lpstr>Entity</vt:lpstr>
      <vt:lpstr>Architecture</vt:lpstr>
      <vt:lpstr>Architecture Structure</vt:lpstr>
      <vt:lpstr>Entity Port Modes</vt:lpstr>
      <vt:lpstr>Use of VHDL Objects</vt:lpstr>
      <vt:lpstr>Structural Model</vt:lpstr>
      <vt:lpstr>Component Declaration</vt:lpstr>
      <vt:lpstr>Component Instantiation</vt:lpstr>
      <vt:lpstr>Named Signal Association</vt:lpstr>
      <vt:lpstr>توصیف ساختاری</vt:lpstr>
      <vt:lpstr>Configuration</vt:lpstr>
      <vt:lpstr>Configuration</vt:lpstr>
      <vt:lpstr>Configuration</vt:lpstr>
      <vt:lpstr>Simple Configuration Specification</vt:lpstr>
      <vt:lpstr>Configuration Declaration</vt:lpstr>
      <vt:lpstr>Configuration</vt:lpstr>
      <vt:lpstr>Configuration Specification</vt:lpstr>
      <vt:lpstr>Configuration Declaration</vt:lpstr>
      <vt:lpstr>جمع‌بندی</vt:lpstr>
      <vt:lpstr>جمع‌بندی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790</cp:revision>
  <dcterms:created xsi:type="dcterms:W3CDTF">1601-01-01T00:00:00Z</dcterms:created>
  <dcterms:modified xsi:type="dcterms:W3CDTF">2024-03-03T07:15:59Z</dcterms:modified>
</cp:coreProperties>
</file>