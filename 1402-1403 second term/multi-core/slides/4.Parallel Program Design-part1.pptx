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26"/>
  </p:notesMasterIdLst>
  <p:sldIdLst>
    <p:sldId id="271" r:id="rId2"/>
    <p:sldId id="270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1" r:id="rId22"/>
    <p:sldId id="292" r:id="rId23"/>
    <p:sldId id="293" r:id="rId24"/>
    <p:sldId id="294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B46FD"/>
    <a:srgbClr val="CC0099"/>
    <a:srgbClr val="008000"/>
    <a:srgbClr val="FF0000"/>
    <a:srgbClr val="0066FF"/>
    <a:srgbClr val="6128F0"/>
    <a:srgbClr val="FF9900"/>
    <a:srgbClr val="66FF6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0292" autoAdjust="0"/>
  </p:normalViewPr>
  <p:slideViewPr>
    <p:cSldViewPr>
      <p:cViewPr varScale="1">
        <p:scale>
          <a:sx n="103" d="100"/>
          <a:sy n="103" d="100"/>
        </p:scale>
        <p:origin x="17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5A470DC-7C81-4DA4-8C0B-00C3524FB74D}" type="datetimeFigureOut">
              <a:rPr lang="en-US"/>
              <a:pPr>
                <a:defRPr/>
              </a:pPr>
              <a:t>3/8/2021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733EA2D-6917-409E-A3B4-BA2E769C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روشگان</a:t>
            </a:r>
            <a:r>
              <a:rPr lang="fa-IR" baseline="0" dirty="0"/>
              <a:t> واژه مصوب فرهنگستان و معادل </a:t>
            </a:r>
            <a:r>
              <a:rPr lang="en-US" baseline="0" dirty="0"/>
              <a:t>methodology</a:t>
            </a:r>
            <a:r>
              <a:rPr lang="fa-IR" baseline="0" dirty="0"/>
              <a:t> است که به معنی مجموعه‌ای از روش‌ها است که برای تولید نرم‌افزار به کار می‌رود.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9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این</a:t>
            </a:r>
            <a:r>
              <a:rPr lang="fa-IR" baseline="0" dirty="0"/>
              <a:t> روش اولین بار توسط آقای فاستر (</a:t>
            </a:r>
            <a:r>
              <a:rPr lang="en-US" baseline="0" dirty="0"/>
              <a:t>Foster</a:t>
            </a:r>
            <a:r>
              <a:rPr lang="fa-IR" baseline="0" dirty="0"/>
              <a:t>) در کتاب </a:t>
            </a:r>
            <a:r>
              <a:rPr lang="en-US" baseline="0" dirty="0"/>
              <a:t>Designing and Building Parallel Programs</a:t>
            </a:r>
            <a:r>
              <a:rPr lang="fa-IR" baseline="0" dirty="0"/>
              <a:t> در سال 1995 معرفی شده است و به الگوی فاستر نیز مشهور است.</a:t>
            </a:r>
          </a:p>
          <a:p>
            <a:pPr algn="r" rtl="1"/>
            <a:r>
              <a:rPr lang="en-US" baseline="0" dirty="0"/>
              <a:t>http://www.mcs.anl.gov/~itf/dbpp/text/book.html</a:t>
            </a:r>
            <a:r>
              <a:rPr lang="fa-IR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72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دقت کنید این روش طراحی اینگونه</a:t>
            </a:r>
            <a:r>
              <a:rPr lang="fa-IR" baseline="0" dirty="0"/>
              <a:t> نیست که چهار مرحله ذکر شده فقط یکبار و به صورت سریال طی شود. ممکن است نیاز باشد که چندین بار به مراحل قبلی بازگردیم تا به یک طرح خوب برسیم.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35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انواع</a:t>
            </a:r>
            <a:r>
              <a:rPr lang="fa-IR" baseline="0" dirty="0"/>
              <a:t> کاربردها و فیلترها را می‌توان با تغییر </a:t>
            </a:r>
            <a:r>
              <a:rPr lang="fa-IR" dirty="0"/>
              <a:t>ماتریس ضرایب</a:t>
            </a:r>
            <a:r>
              <a:rPr lang="fa-IR" baseline="0" dirty="0"/>
              <a:t> به‌دست آورد. به ماتریس ضرایب، استنسیل (</a:t>
            </a:r>
            <a:r>
              <a:rPr lang="en-US" baseline="0" dirty="0"/>
              <a:t>stencil</a:t>
            </a:r>
            <a:r>
              <a:rPr lang="fa-IR" baseline="0" dirty="0"/>
              <a:t>) یا کرنل (</a:t>
            </a:r>
            <a:r>
              <a:rPr lang="en-US" baseline="0" dirty="0"/>
              <a:t>kernel</a:t>
            </a:r>
            <a:r>
              <a:rPr lang="fa-IR" baseline="0" dirty="0"/>
              <a:t>) یا ماسک (</a:t>
            </a:r>
            <a:r>
              <a:rPr lang="en-US" baseline="0" dirty="0"/>
              <a:t>mask</a:t>
            </a:r>
            <a:r>
              <a:rPr lang="fa-IR" baseline="0" dirty="0"/>
              <a:t>) گویند.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5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تعداد ارتباطات</a:t>
            </a:r>
            <a:r>
              <a:rPr lang="fa-IR" baseline="0" dirty="0"/>
              <a:t> کل چقدر کاهش یافت؟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90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هدف اصلی کاهش زمان اجراست.</a:t>
            </a:r>
            <a:r>
              <a:rPr lang="fa-IR" baseline="0" dirty="0"/>
              <a:t> معمولا بالانس کردن حجم کاری نخ‌ها به کاهش زمان اجرا می‌انجامد. ولی نه همیشه!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99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اگر</a:t>
            </a:r>
            <a:r>
              <a:rPr lang="fa-IR" baseline="0" dirty="0"/>
              <a:t> به نحوه اجرای چندنخی حلقه بازی علاقمندید لینک‎های زیر را مطالعه کنید.</a:t>
            </a:r>
          </a:p>
          <a:p>
            <a:pPr algn="l" rtl="0"/>
            <a:r>
              <a:rPr lang="en-US" dirty="0"/>
              <a:t>http://jahej.com/alt/2011_07_03_threading-and-your-game-loop.html</a:t>
            </a:r>
            <a:endParaRPr lang="fa-IR" dirty="0"/>
          </a:p>
          <a:p>
            <a:pPr algn="l" rtl="0"/>
            <a:r>
              <a:rPr lang="en-US" dirty="0"/>
              <a:t>https://software.intel.com/en-us/articles/threading-basics-for-games</a:t>
            </a:r>
            <a:endParaRPr lang="fa-IR" dirty="0"/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7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70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تقسیم بندی وظایف</a:t>
            </a:r>
            <a:r>
              <a:rPr lang="fa-IR" baseline="0" dirty="0"/>
              <a:t> به صورت برخط و در زمان اجرا مشخص می‌شود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23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از لحاظ زمان اجرا؟ از لحاظ</a:t>
            </a:r>
            <a:r>
              <a:rPr lang="fa-IR" baseline="0" dirty="0"/>
              <a:t> مقیاس‌پذیری؟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80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9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61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2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3B93544-E515-4998-91FF-24DFE15CC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128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5800"/>
          </a:xfrm>
        </p:spPr>
        <p:txBody>
          <a:bodyPr/>
          <a:lstStyle>
            <a:lvl1pPr algn="r" rtl="1">
              <a:defRPr baseline="0">
                <a:cs typeface="B Nazani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76800"/>
          </a:xfrm>
        </p:spPr>
        <p:txBody>
          <a:bodyPr/>
          <a:lstStyle>
            <a:lvl1pPr algn="r" rtl="1">
              <a:defRPr baseline="0">
                <a:cs typeface="B Nazanin" panose="00000400000000000000" pitchFamily="2" charset="-78"/>
              </a:defRPr>
            </a:lvl1pPr>
            <a:lvl2pPr algn="r" rtl="1">
              <a:defRPr baseline="0">
                <a:cs typeface="B Nazanin" panose="00000400000000000000" pitchFamily="2" charset="-78"/>
              </a:defRPr>
            </a:lvl2pPr>
            <a:lvl3pPr algn="r" rtl="1">
              <a:defRPr baseline="0">
                <a:cs typeface="B Nazanin" panose="00000400000000000000" pitchFamily="2" charset="-78"/>
              </a:defRPr>
            </a:lvl3pPr>
            <a:lvl4pPr algn="r" rtl="1">
              <a:defRPr baseline="0">
                <a:cs typeface="B Nazanin" panose="00000400000000000000" pitchFamily="2" charset="-78"/>
              </a:defRPr>
            </a:lvl4pPr>
            <a:lvl5pPr algn="r" rtl="1">
              <a:defRPr baseline="0"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5388" y="6248400"/>
            <a:ext cx="4811712" cy="381000"/>
          </a:xfrm>
        </p:spPr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 baseline="0">
                <a:solidFill>
                  <a:srgbClr val="FFFFFF"/>
                </a:solidFill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458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1C4AC28-1BAE-4DCD-93DB-8AD7F1A46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82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8273399-FC00-468E-8297-A5C757E777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59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5EE0C74-F63E-4D14-B3D9-88056494A6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98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51E03-F727-4562-A6EF-A0FC89A14B1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133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447DC95-5854-4724-B6D6-2075111991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28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26475-5554-4527-8CFD-5B621BF7CCB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098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96818297-90BD-4146-99D5-0305732C0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70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D6ACE-8AD5-4601-BF6F-3BD0F2FCF74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72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D028E-CEE5-4E72-AB72-60DE51AE86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76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235075"/>
            <a:ext cx="81534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81000"/>
          </a:xfrm>
          <a:prstGeom prst="rect">
            <a:avLst/>
          </a:prstGeom>
          <a:solidFill>
            <a:schemeClr val="accent1"/>
          </a:solidFill>
        </p:spPr>
        <p:txBody>
          <a:bodyPr vert="horz" anchor="ctr" anchorCtr="0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248400"/>
            <a:ext cx="4811713" cy="381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900113"/>
            <a:ext cx="9144000" cy="319087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0550" y="6248400"/>
            <a:ext cx="533400" cy="381000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990600"/>
            <a:ext cx="8172450" cy="160338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09600" y="6329363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fld id="{27132BE2-3AAD-4C99-84E8-86755902817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65" r:id="rId6"/>
    <p:sldLayoutId id="2147483973" r:id="rId7"/>
    <p:sldLayoutId id="2147483966" r:id="rId8"/>
    <p:sldLayoutId id="2147483974" r:id="rId9"/>
    <p:sldLayoutId id="2147483967" r:id="rId10"/>
    <p:sldLayoutId id="214748397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microsoft.com/office/2007/relationships/hdphoto" Target="../media/hdphoto3.wdp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8229600" cy="4876800"/>
          </a:xfrm>
        </p:spPr>
        <p:txBody>
          <a:bodyPr>
            <a:normAutofit/>
          </a:bodyPr>
          <a:lstStyle/>
          <a:p>
            <a:pPr algn="r" rtl="1" eaLnBrk="1" fontAlgn="auto" hangingPunct="1">
              <a:spcAft>
                <a:spcPts val="0"/>
              </a:spcAft>
              <a:defRPr/>
            </a:pPr>
            <a:r>
              <a:rPr lang="fa-IR" cap="none" dirty="0">
                <a:cs typeface="B Nazanin" panose="00000400000000000000" pitchFamily="2" charset="-78"/>
              </a:rPr>
              <a:t>برنامه‌نویسی چندهسته‌ای</a:t>
            </a:r>
            <a:br>
              <a:rPr lang="en-US" cap="none" dirty="0">
                <a:cs typeface="B Nazanin" panose="00000400000000000000" pitchFamily="2" charset="-78"/>
              </a:rPr>
            </a:br>
            <a:br>
              <a:rPr lang="fa-IR" cap="none" dirty="0">
                <a:cs typeface="B Nazanin" panose="00000400000000000000" pitchFamily="2" charset="-78"/>
              </a:rPr>
            </a:br>
            <a:r>
              <a:rPr lang="fa-IR" cap="none" dirty="0">
                <a:cs typeface="B Nazanin" panose="00000400000000000000" pitchFamily="2" charset="-78"/>
              </a:rPr>
              <a:t>4- طراحی </a:t>
            </a:r>
            <a:r>
              <a:rPr lang="fa-IR" cap="none">
                <a:cs typeface="B Nazanin" panose="00000400000000000000" pitchFamily="2" charset="-78"/>
              </a:rPr>
              <a:t>برنامه موازی (بخش اول)</a:t>
            </a:r>
            <a:br>
              <a:rPr lang="en-US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r>
              <a:rPr lang="fa-IR" sz="3600" cap="none" dirty="0">
                <a:cs typeface="B Nazanin" panose="00000400000000000000" pitchFamily="2" charset="-78"/>
              </a:rPr>
              <a:t>محمود ممتازپور</a:t>
            </a:r>
            <a:br>
              <a:rPr lang="en-US" sz="3600" cap="none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endParaRPr lang="en-US" sz="3000" cap="none" dirty="0">
              <a:cs typeface="B Nazanin" panose="00000400000000000000" pitchFamily="2" charset="-78"/>
            </a:endParaRPr>
          </a:p>
        </p:txBody>
      </p:sp>
      <p:sp>
        <p:nvSpPr>
          <p:cNvPr id="1024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ctr" rtl="1" eaLnBrk="1" hangingPunct="1"/>
            <a:r>
              <a:rPr lang="fa-IR" altLang="en-US" dirty="0">
                <a:cs typeface="B Nazanin" panose="00000400000000000000" pitchFamily="2" charset="-78"/>
              </a:rPr>
              <a:t>دانشگاه صنعتی امیرکبیر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10244" name="Date Placeholder 3"/>
          <p:cNvSpPr>
            <a:spLocks noGrp="1"/>
          </p:cNvSpPr>
          <p:nvPr>
            <p:ph type="dt" sz="quarter" idx="10"/>
          </p:nvPr>
        </p:nvSpPr>
        <p:spPr bwMode="auto">
          <a:xfrm>
            <a:off x="76200" y="6248400"/>
            <a:ext cx="20574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Arial" pitchFamily="34" charset="0"/>
                <a:cs typeface="B Nazanin" panose="00000400000000000000" pitchFamily="2" charset="-78"/>
              </a:rPr>
              <a:t>برنامه‌نویسی چند‌هسته‌ای</a:t>
            </a:r>
            <a:endParaRPr lang="en-US" altLang="en-US" sz="1800" dirty="0">
              <a:solidFill>
                <a:srgbClr val="FFFFFF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t>4- طراحی برنامه موازی</a:t>
            </a:r>
            <a:endParaRPr lang="en-US" altLang="en-US" sz="1400">
              <a:solidFill>
                <a:schemeClr val="tx2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1024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fld id="{D7895C56-766E-4F90-AE6B-6CA76F48B262}" type="slidenum">
              <a:rPr lang="en-US" altLang="en-US" sz="1400" smtClean="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pPr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tx2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/>
              <a:t>فهرست</a:t>
            </a:r>
            <a:endParaRPr lang="en-US" altLang="en-US" dirty="0"/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4- طراحی برنامه موازی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/>
              <a:t>معرفی روشگان </a:t>
            </a:r>
            <a:r>
              <a:rPr lang="en-US" altLang="en-US" dirty="0"/>
              <a:t>PCAM</a:t>
            </a:r>
            <a:r>
              <a:rPr lang="fa-IR" altLang="en-US" dirty="0"/>
              <a:t> برای طراحی برنامه‌های موازی</a:t>
            </a:r>
          </a:p>
          <a:p>
            <a:pPr eaLnBrk="1" hangingPunct="1"/>
            <a:r>
              <a:rPr lang="fa-IR" altLang="en-US" dirty="0"/>
              <a:t>گراف وظایف و گراف وابستگی داده</a:t>
            </a:r>
          </a:p>
          <a:p>
            <a:pPr eaLnBrk="1" hangingPunct="1"/>
            <a:r>
              <a:rPr lang="fa-IR" altLang="en-US" dirty="0"/>
              <a:t>الگوهای تجزیه مسئله</a:t>
            </a:r>
          </a:p>
          <a:p>
            <a:pPr eaLnBrk="1" hangingPunct="1"/>
            <a:r>
              <a:rPr lang="fa-IR" altLang="en-US" dirty="0"/>
              <a:t>الگوهای برنامه موازی</a:t>
            </a:r>
          </a:p>
          <a:p>
            <a:pPr eaLnBrk="1" hangingPunct="1"/>
            <a:endParaRPr lang="fa-IR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روشگان </a:t>
            </a:r>
            <a:r>
              <a:rPr lang="en-US" dirty="0"/>
              <a:t>PCAM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روشگان </a:t>
            </a:r>
            <a:r>
              <a:rPr lang="en-US" dirty="0"/>
              <a:t>PCAM</a:t>
            </a:r>
            <a:r>
              <a:rPr lang="fa-IR" dirty="0"/>
              <a:t> از چهار روش تشکیل شده است:</a:t>
            </a:r>
          </a:p>
          <a:p>
            <a:pPr lvl="1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تجزیه					 </a:t>
            </a:r>
            <a:r>
              <a:rPr lang="en-US" b="1" dirty="0"/>
              <a:t>P</a:t>
            </a:r>
            <a:r>
              <a:rPr lang="en-US" dirty="0"/>
              <a:t>artitioning</a:t>
            </a:r>
          </a:p>
          <a:p>
            <a:pPr lvl="2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شکستن مسأله به واحدهای کوچک تا حد ممکن (وظیفه یا </a:t>
            </a:r>
            <a:r>
              <a:rPr lang="en-US" dirty="0"/>
              <a:t>task</a:t>
            </a:r>
            <a:r>
              <a:rPr lang="fa-IR" dirty="0"/>
              <a:t>)</a:t>
            </a:r>
          </a:p>
          <a:p>
            <a:pPr lvl="1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ارتباط 				    </a:t>
            </a:r>
            <a:r>
              <a:rPr lang="en-US" dirty="0"/>
              <a:t> </a:t>
            </a:r>
            <a:r>
              <a:rPr lang="fa-IR" dirty="0"/>
              <a:t> </a:t>
            </a:r>
            <a:r>
              <a:rPr lang="en-US" b="1" dirty="0"/>
              <a:t>C</a:t>
            </a:r>
            <a:r>
              <a:rPr lang="en-US" dirty="0"/>
              <a:t>ommunication</a:t>
            </a:r>
          </a:p>
          <a:p>
            <a:pPr lvl="2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شناسایی ارتباط داده‌ای بین واحدها و تشکیل گراف وابستگی وظایف</a:t>
            </a:r>
          </a:p>
          <a:p>
            <a:pPr lvl="1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انباشت				        </a:t>
            </a:r>
            <a:r>
              <a:rPr lang="en-US" b="1" dirty="0"/>
              <a:t>A</a:t>
            </a:r>
            <a:r>
              <a:rPr lang="en-US" dirty="0"/>
              <a:t>gglomeration</a:t>
            </a:r>
          </a:p>
          <a:p>
            <a:pPr lvl="2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گروه‌بندی وظایفی که ارتباطات زیادی دارند یا وظایفی که سریال هستند.</a:t>
            </a:r>
          </a:p>
          <a:p>
            <a:pPr lvl="1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نگاشت					      </a:t>
            </a:r>
            <a:r>
              <a:rPr lang="en-US" b="1" dirty="0"/>
              <a:t>M</a:t>
            </a:r>
            <a:r>
              <a:rPr lang="en-US" dirty="0"/>
              <a:t>apping</a:t>
            </a:r>
          </a:p>
          <a:p>
            <a:pPr lvl="2">
              <a:spcBef>
                <a:spcPts val="800"/>
              </a:spcBef>
              <a:spcAft>
                <a:spcPts val="20"/>
              </a:spcAft>
            </a:pPr>
            <a:r>
              <a:rPr lang="fa-IR" dirty="0"/>
              <a:t>تخصیص نخ به گروه‌ها با هدف یکنواخت بودن حجم کاری هر نخ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8305800" y="3365074"/>
            <a:ext cx="527879" cy="2016704"/>
            <a:chOff x="8305800" y="3200399"/>
            <a:chExt cx="527879" cy="2016704"/>
          </a:xfrm>
        </p:grpSpPr>
        <p:sp>
          <p:nvSpPr>
            <p:cNvPr id="11" name="TextBox 10"/>
            <p:cNvSpPr txBox="1"/>
            <p:nvPr/>
          </p:nvSpPr>
          <p:spPr>
            <a:xfrm rot="16200000">
              <a:off x="7640661" y="4024085"/>
              <a:ext cx="2016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dirty="0">
                  <a:cs typeface="B Nazanin" panose="00000400000000000000" pitchFamily="2" charset="-78"/>
                </a:rPr>
                <a:t>مربوط به پلتفرم</a:t>
              </a:r>
              <a:endParaRPr lang="en-US" dirty="0">
                <a:cs typeface="B Nazanin" panose="00000400000000000000" pitchFamily="2" charset="-78"/>
              </a:endParaRPr>
            </a:p>
          </p:txBody>
        </p:sp>
        <p:sp>
          <p:nvSpPr>
            <p:cNvPr id="14" name="Right Brace 13"/>
            <p:cNvSpPr/>
            <p:nvPr/>
          </p:nvSpPr>
          <p:spPr>
            <a:xfrm>
              <a:off x="8305800" y="3596301"/>
              <a:ext cx="228600" cy="1204299"/>
            </a:xfrm>
            <a:prstGeom prst="rightBrace">
              <a:avLst>
                <a:gd name="adj1" fmla="val 46991"/>
                <a:gd name="adj2" fmla="val 50000"/>
              </a:avLst>
            </a:prstGeom>
            <a:ln w="19050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305800" y="1683013"/>
            <a:ext cx="505760" cy="1570549"/>
            <a:chOff x="8305800" y="1640485"/>
            <a:chExt cx="505760" cy="1570549"/>
          </a:xfrm>
        </p:grpSpPr>
        <p:sp>
          <p:nvSpPr>
            <p:cNvPr id="10" name="TextBox 9"/>
            <p:cNvSpPr txBox="1"/>
            <p:nvPr/>
          </p:nvSpPr>
          <p:spPr>
            <a:xfrm rot="16200000">
              <a:off x="7836315" y="2235789"/>
              <a:ext cx="1570549" cy="379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dirty="0">
                  <a:cs typeface="B Nazanin" panose="00000400000000000000" pitchFamily="2" charset="-78"/>
                </a:rPr>
                <a:t>مربوط به الگوریتم</a:t>
              </a:r>
              <a:endParaRPr lang="en-US" dirty="0">
                <a:cs typeface="B Nazanin" panose="00000400000000000000" pitchFamily="2" charset="-78"/>
              </a:endParaRPr>
            </a:p>
          </p:txBody>
        </p:sp>
        <p:sp>
          <p:nvSpPr>
            <p:cNvPr id="15" name="Right Brace 14"/>
            <p:cNvSpPr/>
            <p:nvPr/>
          </p:nvSpPr>
          <p:spPr>
            <a:xfrm>
              <a:off x="8305800" y="1825290"/>
              <a:ext cx="228600" cy="1204299"/>
            </a:xfrm>
            <a:prstGeom prst="rightBrace">
              <a:avLst>
                <a:gd name="adj1" fmla="val 46991"/>
                <a:gd name="adj2" fmla="val 50000"/>
              </a:avLst>
            </a:prstGeom>
            <a:ln w="19050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995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جریان طراحی </a:t>
            </a:r>
            <a:r>
              <a:rPr lang="en-US" dirty="0"/>
              <a:t>PCAM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8" name="Cloud 7"/>
          <p:cNvSpPr/>
          <p:nvPr/>
        </p:nvSpPr>
        <p:spPr>
          <a:xfrm>
            <a:off x="1219451" y="1295400"/>
            <a:ext cx="1981200" cy="12954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sz="2400" dirty="0">
                <a:cs typeface="B Nazanin" panose="00000400000000000000" pitchFamily="2" charset="-78"/>
              </a:rPr>
              <a:t>مسأله</a:t>
            </a:r>
            <a:endParaRPr lang="en-US" sz="2400" dirty="0">
              <a:cs typeface="B Nazanin" panose="00000400000000000000" pitchFamily="2" charset="-78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495800" y="1600200"/>
            <a:ext cx="1828800" cy="1752600"/>
            <a:chOff x="3777560" y="1905000"/>
            <a:chExt cx="1828800" cy="1752600"/>
          </a:xfrm>
        </p:grpSpPr>
        <p:sp>
          <p:nvSpPr>
            <p:cNvPr id="9" name="Oval 8"/>
            <p:cNvSpPr/>
            <p:nvPr/>
          </p:nvSpPr>
          <p:spPr>
            <a:xfrm>
              <a:off x="4191000" y="19050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572000" y="19050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191000" y="22098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572000" y="22098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996760" y="22098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377760" y="22098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4996760" y="25146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377760" y="25146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777560" y="27432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158560" y="27432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777560" y="30480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158560" y="30480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768160" y="31242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5149160" y="31242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768160" y="34290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5149160" y="3429000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/>
          <p:cNvCxnSpPr/>
          <p:nvPr/>
        </p:nvCxnSpPr>
        <p:spPr>
          <a:xfrm>
            <a:off x="3429000" y="1905000"/>
            <a:ext cx="1066800" cy="304800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36105" y="1521768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تجزیه</a:t>
            </a:r>
            <a:endParaRPr lang="en-US" sz="2400" dirty="0">
              <a:cs typeface="B Nazanin" panose="00000400000000000000" pitchFamily="2" charset="-78"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6675673" y="3581400"/>
            <a:ext cx="1858727" cy="1716051"/>
            <a:chOff x="6400800" y="3984834"/>
            <a:chExt cx="1858727" cy="1716051"/>
          </a:xfrm>
        </p:grpSpPr>
        <p:grpSp>
          <p:nvGrpSpPr>
            <p:cNvPr id="29" name="Group 28"/>
            <p:cNvGrpSpPr/>
            <p:nvPr/>
          </p:nvGrpSpPr>
          <p:grpSpPr>
            <a:xfrm>
              <a:off x="6400800" y="3984834"/>
              <a:ext cx="1858727" cy="1716051"/>
              <a:chOff x="3747633" y="1905000"/>
              <a:chExt cx="1858727" cy="1716051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4191000" y="19050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4572000" y="19050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4191000" y="22098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572000" y="22098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4996760" y="22098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5377760" y="22098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4996760" y="25146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5377760" y="2514600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3747633" y="270665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4128633" y="270665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3747633" y="301145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4128633" y="301145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4768160" y="308765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5149160" y="308765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4768160" y="339245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5149160" y="339245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7" name="Straight Connector 46"/>
            <p:cNvCxnSpPr>
              <a:stCxn id="30" idx="6"/>
              <a:endCxn id="31" idx="2"/>
            </p:cNvCxnSpPr>
            <p:nvPr/>
          </p:nvCxnSpPr>
          <p:spPr>
            <a:xfrm>
              <a:off x="7072767" y="4099134"/>
              <a:ext cx="15240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32" idx="6"/>
              <a:endCxn id="33" idx="2"/>
            </p:cNvCxnSpPr>
            <p:nvPr/>
          </p:nvCxnSpPr>
          <p:spPr>
            <a:xfrm>
              <a:off x="7072767" y="4403934"/>
              <a:ext cx="15240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4" idx="1"/>
              <a:endCxn id="31" idx="5"/>
            </p:cNvCxnSpPr>
            <p:nvPr/>
          </p:nvCxnSpPr>
          <p:spPr>
            <a:xfrm flipH="1" flipV="1">
              <a:off x="7420289" y="4179956"/>
              <a:ext cx="263116" cy="143156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36" idx="0"/>
              <a:endCxn id="34" idx="4"/>
            </p:cNvCxnSpPr>
            <p:nvPr/>
          </p:nvCxnSpPr>
          <p:spPr>
            <a:xfrm flipV="1">
              <a:off x="7764227" y="4518234"/>
              <a:ext cx="0" cy="7620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32" idx="4"/>
              <a:endCxn id="39" idx="0"/>
            </p:cNvCxnSpPr>
            <p:nvPr/>
          </p:nvCxnSpPr>
          <p:spPr>
            <a:xfrm flipH="1">
              <a:off x="6896100" y="4518234"/>
              <a:ext cx="62367" cy="26825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38" idx="5"/>
              <a:endCxn id="41" idx="1"/>
            </p:cNvCxnSpPr>
            <p:nvPr/>
          </p:nvCxnSpPr>
          <p:spPr>
            <a:xfrm>
              <a:off x="6595922" y="4981607"/>
              <a:ext cx="219356" cy="143156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38" idx="4"/>
              <a:endCxn id="40" idx="0"/>
            </p:cNvCxnSpPr>
            <p:nvPr/>
          </p:nvCxnSpPr>
          <p:spPr>
            <a:xfrm>
              <a:off x="6515100" y="5015085"/>
              <a:ext cx="0" cy="7620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34" idx="6"/>
              <a:endCxn id="35" idx="2"/>
            </p:cNvCxnSpPr>
            <p:nvPr/>
          </p:nvCxnSpPr>
          <p:spPr>
            <a:xfrm>
              <a:off x="7878527" y="4403934"/>
              <a:ext cx="15240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35" idx="4"/>
              <a:endCxn id="37" idx="0"/>
            </p:cNvCxnSpPr>
            <p:nvPr/>
          </p:nvCxnSpPr>
          <p:spPr>
            <a:xfrm>
              <a:off x="8145227" y="4518234"/>
              <a:ext cx="0" cy="7620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36" idx="6"/>
              <a:endCxn id="37" idx="2"/>
            </p:cNvCxnSpPr>
            <p:nvPr/>
          </p:nvCxnSpPr>
          <p:spPr>
            <a:xfrm>
              <a:off x="7878527" y="4708734"/>
              <a:ext cx="15240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31" idx="4"/>
              <a:endCxn id="33" idx="0"/>
            </p:cNvCxnSpPr>
            <p:nvPr/>
          </p:nvCxnSpPr>
          <p:spPr>
            <a:xfrm>
              <a:off x="7339467" y="4213434"/>
              <a:ext cx="0" cy="7620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37" idx="3"/>
              <a:endCxn id="43" idx="7"/>
            </p:cNvCxnSpPr>
            <p:nvPr/>
          </p:nvCxnSpPr>
          <p:spPr>
            <a:xfrm flipH="1">
              <a:off x="7997449" y="4789556"/>
              <a:ext cx="66956" cy="411407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43" idx="3"/>
              <a:endCxn id="44" idx="7"/>
            </p:cNvCxnSpPr>
            <p:nvPr/>
          </p:nvCxnSpPr>
          <p:spPr>
            <a:xfrm flipH="1">
              <a:off x="7616449" y="5362607"/>
              <a:ext cx="219356" cy="143156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44" idx="0"/>
              <a:endCxn id="42" idx="4"/>
            </p:cNvCxnSpPr>
            <p:nvPr/>
          </p:nvCxnSpPr>
          <p:spPr>
            <a:xfrm flipV="1">
              <a:off x="7535627" y="5396085"/>
              <a:ext cx="0" cy="7620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45" idx="0"/>
              <a:endCxn id="43" idx="4"/>
            </p:cNvCxnSpPr>
            <p:nvPr/>
          </p:nvCxnSpPr>
          <p:spPr>
            <a:xfrm flipV="1">
              <a:off x="7916627" y="5396085"/>
              <a:ext cx="0" cy="7620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39" idx="2"/>
              <a:endCxn id="38" idx="6"/>
            </p:cNvCxnSpPr>
            <p:nvPr/>
          </p:nvCxnSpPr>
          <p:spPr>
            <a:xfrm flipH="1">
              <a:off x="6629400" y="4900785"/>
              <a:ext cx="15240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39" idx="4"/>
              <a:endCxn id="41" idx="0"/>
            </p:cNvCxnSpPr>
            <p:nvPr/>
          </p:nvCxnSpPr>
          <p:spPr>
            <a:xfrm>
              <a:off x="6896100" y="5015085"/>
              <a:ext cx="0" cy="7620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" name="Straight Arrow Connector 102"/>
          <p:cNvCxnSpPr/>
          <p:nvPr/>
        </p:nvCxnSpPr>
        <p:spPr>
          <a:xfrm>
            <a:off x="6381894" y="2782810"/>
            <a:ext cx="829358" cy="650655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6688999" y="2667000"/>
            <a:ext cx="870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ارتباط</a:t>
            </a:r>
            <a:endParaRPr lang="en-US" sz="2400" dirty="0">
              <a:cs typeface="B Nazanin" panose="00000400000000000000" pitchFamily="2" charset="-78"/>
            </a:endParaRPr>
          </a:p>
        </p:txBody>
      </p:sp>
      <p:cxnSp>
        <p:nvCxnSpPr>
          <p:cNvPr id="106" name="Straight Arrow Connector 105"/>
          <p:cNvCxnSpPr/>
          <p:nvPr/>
        </p:nvCxnSpPr>
        <p:spPr>
          <a:xfrm flipH="1">
            <a:off x="5715001" y="5100935"/>
            <a:ext cx="1366195" cy="428187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291904" y="5334000"/>
            <a:ext cx="870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انباشت</a:t>
            </a:r>
            <a:endParaRPr lang="en-US" sz="2400" dirty="0">
              <a:cs typeface="B Nazanin" panose="00000400000000000000" pitchFamily="2" charset="-78"/>
            </a:endParaRPr>
          </a:p>
        </p:txBody>
      </p:sp>
      <p:cxnSp>
        <p:nvCxnSpPr>
          <p:cNvPr id="111" name="Straight Arrow Connector 110"/>
          <p:cNvCxnSpPr/>
          <p:nvPr/>
        </p:nvCxnSpPr>
        <p:spPr>
          <a:xfrm flipH="1" flipV="1">
            <a:off x="3025212" y="4495800"/>
            <a:ext cx="708588" cy="514164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2819400" y="4953000"/>
            <a:ext cx="870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نگاشت</a:t>
            </a:r>
            <a:endParaRPr lang="en-US" sz="2400" dirty="0">
              <a:cs typeface="B Nazanin" panose="00000400000000000000" pitchFamily="2" charset="-78"/>
            </a:endParaRPr>
          </a:p>
        </p:txBody>
      </p:sp>
      <p:grpSp>
        <p:nvGrpSpPr>
          <p:cNvPr id="190" name="Group 189"/>
          <p:cNvGrpSpPr/>
          <p:nvPr/>
        </p:nvGrpSpPr>
        <p:grpSpPr>
          <a:xfrm>
            <a:off x="3738291" y="4265652"/>
            <a:ext cx="2052909" cy="1941882"/>
            <a:chOff x="3746777" y="4265652"/>
            <a:chExt cx="2052909" cy="1941882"/>
          </a:xfrm>
        </p:grpSpPr>
        <p:sp>
          <p:nvSpPr>
            <p:cNvPr id="148" name="Oval 147"/>
            <p:cNvSpPr/>
            <p:nvPr/>
          </p:nvSpPr>
          <p:spPr>
            <a:xfrm>
              <a:off x="3746777" y="5049957"/>
              <a:ext cx="809039" cy="776983"/>
            </a:xfrm>
            <a:prstGeom prst="ellipse">
              <a:avLst/>
            </a:prstGeom>
            <a:noFill/>
            <a:ln>
              <a:solidFill>
                <a:srgbClr val="CC0099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149" name="Oval 148"/>
            <p:cNvSpPr/>
            <p:nvPr/>
          </p:nvSpPr>
          <p:spPr>
            <a:xfrm>
              <a:off x="4203750" y="4265652"/>
              <a:ext cx="809039" cy="776983"/>
            </a:xfrm>
            <a:prstGeom prst="ellipse">
              <a:avLst/>
            </a:prstGeom>
            <a:noFill/>
            <a:ln>
              <a:solidFill>
                <a:srgbClr val="CC0099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8000"/>
                </a:solidFill>
              </a:endParaRPr>
            </a:p>
          </p:txBody>
        </p:sp>
        <p:grpSp>
          <p:nvGrpSpPr>
            <p:cNvPr id="152" name="Group 151"/>
            <p:cNvGrpSpPr/>
            <p:nvPr/>
          </p:nvGrpSpPr>
          <p:grpSpPr>
            <a:xfrm>
              <a:off x="3841240" y="4381065"/>
              <a:ext cx="1858727" cy="1716051"/>
              <a:chOff x="6400800" y="3984834"/>
              <a:chExt cx="1858727" cy="1716051"/>
            </a:xfrm>
          </p:grpSpPr>
          <p:grpSp>
            <p:nvGrpSpPr>
              <p:cNvPr id="153" name="Group 152"/>
              <p:cNvGrpSpPr/>
              <p:nvPr/>
            </p:nvGrpSpPr>
            <p:grpSpPr>
              <a:xfrm>
                <a:off x="6400800" y="3984834"/>
                <a:ext cx="1858727" cy="1716051"/>
                <a:chOff x="3747633" y="1905000"/>
                <a:chExt cx="1858727" cy="1716051"/>
              </a:xfrm>
            </p:grpSpPr>
            <p:sp>
              <p:nvSpPr>
                <p:cNvPr id="171" name="Oval 170"/>
                <p:cNvSpPr/>
                <p:nvPr/>
              </p:nvSpPr>
              <p:spPr>
                <a:xfrm>
                  <a:off x="4191000" y="19050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Oval 171"/>
                <p:cNvSpPr/>
                <p:nvPr/>
              </p:nvSpPr>
              <p:spPr>
                <a:xfrm>
                  <a:off x="4572000" y="19050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Oval 172"/>
                <p:cNvSpPr/>
                <p:nvPr/>
              </p:nvSpPr>
              <p:spPr>
                <a:xfrm>
                  <a:off x="4191000" y="22098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Oval 173"/>
                <p:cNvSpPr/>
                <p:nvPr/>
              </p:nvSpPr>
              <p:spPr>
                <a:xfrm>
                  <a:off x="4572000" y="22098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Oval 174"/>
                <p:cNvSpPr/>
                <p:nvPr/>
              </p:nvSpPr>
              <p:spPr>
                <a:xfrm>
                  <a:off x="4996760" y="22098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Oval 175"/>
                <p:cNvSpPr/>
                <p:nvPr/>
              </p:nvSpPr>
              <p:spPr>
                <a:xfrm>
                  <a:off x="5377760" y="22098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Oval 176"/>
                <p:cNvSpPr/>
                <p:nvPr/>
              </p:nvSpPr>
              <p:spPr>
                <a:xfrm>
                  <a:off x="4996760" y="25146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Oval 177"/>
                <p:cNvSpPr/>
                <p:nvPr/>
              </p:nvSpPr>
              <p:spPr>
                <a:xfrm>
                  <a:off x="5377760" y="25146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78"/>
                <p:cNvSpPr/>
                <p:nvPr/>
              </p:nvSpPr>
              <p:spPr>
                <a:xfrm>
                  <a:off x="3747633" y="27066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Oval 179"/>
                <p:cNvSpPr/>
                <p:nvPr/>
              </p:nvSpPr>
              <p:spPr>
                <a:xfrm>
                  <a:off x="4128633" y="27066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Oval 180"/>
                <p:cNvSpPr/>
                <p:nvPr/>
              </p:nvSpPr>
              <p:spPr>
                <a:xfrm>
                  <a:off x="3747633" y="30114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Oval 181"/>
                <p:cNvSpPr/>
                <p:nvPr/>
              </p:nvSpPr>
              <p:spPr>
                <a:xfrm>
                  <a:off x="4128633" y="30114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4768160" y="30876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Oval 183"/>
                <p:cNvSpPr/>
                <p:nvPr/>
              </p:nvSpPr>
              <p:spPr>
                <a:xfrm>
                  <a:off x="5149160" y="30876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Oval 184"/>
                <p:cNvSpPr/>
                <p:nvPr/>
              </p:nvSpPr>
              <p:spPr>
                <a:xfrm>
                  <a:off x="4768160" y="33924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Oval 185"/>
                <p:cNvSpPr/>
                <p:nvPr/>
              </p:nvSpPr>
              <p:spPr>
                <a:xfrm>
                  <a:off x="5149160" y="33924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54" name="Straight Connector 153"/>
              <p:cNvCxnSpPr>
                <a:stCxn id="171" idx="6"/>
                <a:endCxn id="172" idx="2"/>
              </p:cNvCxnSpPr>
              <p:nvPr/>
            </p:nvCxnSpPr>
            <p:spPr>
              <a:xfrm>
                <a:off x="7072767" y="4099134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>
                <a:stCxn id="173" idx="6"/>
                <a:endCxn id="174" idx="2"/>
              </p:cNvCxnSpPr>
              <p:nvPr/>
            </p:nvCxnSpPr>
            <p:spPr>
              <a:xfrm>
                <a:off x="7072767" y="4403934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>
                <a:stCxn id="175" idx="1"/>
                <a:endCxn id="172" idx="5"/>
              </p:cNvCxnSpPr>
              <p:nvPr/>
            </p:nvCxnSpPr>
            <p:spPr>
              <a:xfrm flipH="1" flipV="1">
                <a:off x="7420289" y="4179956"/>
                <a:ext cx="263116" cy="143156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>
                <a:stCxn id="177" idx="0"/>
                <a:endCxn id="175" idx="4"/>
              </p:cNvCxnSpPr>
              <p:nvPr/>
            </p:nvCxnSpPr>
            <p:spPr>
              <a:xfrm flipV="1">
                <a:off x="7764227" y="4518234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>
                <a:stCxn id="173" idx="4"/>
                <a:endCxn id="180" idx="0"/>
              </p:cNvCxnSpPr>
              <p:nvPr/>
            </p:nvCxnSpPr>
            <p:spPr>
              <a:xfrm flipH="1">
                <a:off x="6896100" y="4518234"/>
                <a:ext cx="62367" cy="268251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>
                <a:stCxn id="179" idx="5"/>
                <a:endCxn id="182" idx="1"/>
              </p:cNvCxnSpPr>
              <p:nvPr/>
            </p:nvCxnSpPr>
            <p:spPr>
              <a:xfrm>
                <a:off x="6595922" y="4981607"/>
                <a:ext cx="219356" cy="143156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>
                <a:stCxn id="179" idx="4"/>
                <a:endCxn id="181" idx="0"/>
              </p:cNvCxnSpPr>
              <p:nvPr/>
            </p:nvCxnSpPr>
            <p:spPr>
              <a:xfrm>
                <a:off x="6515100" y="5015085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>
                <a:stCxn id="175" idx="6"/>
                <a:endCxn id="176" idx="2"/>
              </p:cNvCxnSpPr>
              <p:nvPr/>
            </p:nvCxnSpPr>
            <p:spPr>
              <a:xfrm>
                <a:off x="7878527" y="4403934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>
                <a:stCxn id="176" idx="4"/>
                <a:endCxn id="178" idx="0"/>
              </p:cNvCxnSpPr>
              <p:nvPr/>
            </p:nvCxnSpPr>
            <p:spPr>
              <a:xfrm>
                <a:off x="8145227" y="4518234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>
                <a:stCxn id="177" idx="6"/>
                <a:endCxn id="178" idx="2"/>
              </p:cNvCxnSpPr>
              <p:nvPr/>
            </p:nvCxnSpPr>
            <p:spPr>
              <a:xfrm>
                <a:off x="7878527" y="4708734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>
                <a:stCxn id="172" idx="4"/>
                <a:endCxn id="174" idx="0"/>
              </p:cNvCxnSpPr>
              <p:nvPr/>
            </p:nvCxnSpPr>
            <p:spPr>
              <a:xfrm>
                <a:off x="7339467" y="4213434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>
                <a:stCxn id="178" idx="3"/>
                <a:endCxn id="184" idx="7"/>
              </p:cNvCxnSpPr>
              <p:nvPr/>
            </p:nvCxnSpPr>
            <p:spPr>
              <a:xfrm flipH="1">
                <a:off x="7997449" y="4789556"/>
                <a:ext cx="66956" cy="411407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>
                <a:stCxn id="184" idx="3"/>
                <a:endCxn id="185" idx="7"/>
              </p:cNvCxnSpPr>
              <p:nvPr/>
            </p:nvCxnSpPr>
            <p:spPr>
              <a:xfrm flipH="1">
                <a:off x="7616449" y="5362607"/>
                <a:ext cx="219356" cy="143156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>
                <a:stCxn id="185" idx="0"/>
                <a:endCxn id="183" idx="4"/>
              </p:cNvCxnSpPr>
              <p:nvPr/>
            </p:nvCxnSpPr>
            <p:spPr>
              <a:xfrm flipV="1">
                <a:off x="7535627" y="5396085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>
                <a:stCxn id="186" idx="0"/>
                <a:endCxn id="184" idx="4"/>
              </p:cNvCxnSpPr>
              <p:nvPr/>
            </p:nvCxnSpPr>
            <p:spPr>
              <a:xfrm flipV="1">
                <a:off x="7916627" y="5396085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>
                <a:stCxn id="180" idx="2"/>
                <a:endCxn id="179" idx="6"/>
              </p:cNvCxnSpPr>
              <p:nvPr/>
            </p:nvCxnSpPr>
            <p:spPr>
              <a:xfrm flipH="1">
                <a:off x="6629400" y="4900785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>
                <a:stCxn id="180" idx="4"/>
                <a:endCxn id="182" idx="0"/>
              </p:cNvCxnSpPr>
              <p:nvPr/>
            </p:nvCxnSpPr>
            <p:spPr>
              <a:xfrm>
                <a:off x="6896100" y="5015085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7" name="Oval 186"/>
            <p:cNvSpPr/>
            <p:nvPr/>
          </p:nvSpPr>
          <p:spPr>
            <a:xfrm>
              <a:off x="4990647" y="4553370"/>
              <a:ext cx="809039" cy="776983"/>
            </a:xfrm>
            <a:prstGeom prst="ellipse">
              <a:avLst/>
            </a:prstGeom>
            <a:noFill/>
            <a:ln>
              <a:solidFill>
                <a:srgbClr val="CC0099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8000"/>
                </a:solidFill>
              </a:endParaRPr>
            </a:p>
          </p:txBody>
        </p:sp>
        <p:sp>
          <p:nvSpPr>
            <p:cNvPr id="188" name="Oval 187"/>
            <p:cNvSpPr/>
            <p:nvPr/>
          </p:nvSpPr>
          <p:spPr>
            <a:xfrm>
              <a:off x="4762047" y="5430551"/>
              <a:ext cx="809039" cy="776983"/>
            </a:xfrm>
            <a:prstGeom prst="ellipse">
              <a:avLst/>
            </a:prstGeom>
            <a:noFill/>
            <a:ln>
              <a:solidFill>
                <a:srgbClr val="CC0099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8000"/>
                </a:solidFill>
              </a:endParaRPr>
            </a:p>
          </p:txBody>
        </p:sp>
      </p:grpSp>
      <p:grpSp>
        <p:nvGrpSpPr>
          <p:cNvPr id="191" name="Group 190"/>
          <p:cNvGrpSpPr/>
          <p:nvPr/>
        </p:nvGrpSpPr>
        <p:grpSpPr>
          <a:xfrm>
            <a:off x="896694" y="2953923"/>
            <a:ext cx="2052909" cy="1941882"/>
            <a:chOff x="3746777" y="4265652"/>
            <a:chExt cx="2052909" cy="1941882"/>
          </a:xfrm>
        </p:grpSpPr>
        <p:sp>
          <p:nvSpPr>
            <p:cNvPr id="192" name="Oval 191"/>
            <p:cNvSpPr/>
            <p:nvPr/>
          </p:nvSpPr>
          <p:spPr>
            <a:xfrm>
              <a:off x="3746777" y="5049957"/>
              <a:ext cx="809039" cy="776983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/>
            <p:cNvSpPr/>
            <p:nvPr/>
          </p:nvSpPr>
          <p:spPr>
            <a:xfrm>
              <a:off x="4203750" y="4265652"/>
              <a:ext cx="809039" cy="776983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4" name="Group 193"/>
            <p:cNvGrpSpPr/>
            <p:nvPr/>
          </p:nvGrpSpPr>
          <p:grpSpPr>
            <a:xfrm>
              <a:off x="3841240" y="4381065"/>
              <a:ext cx="1858727" cy="1716051"/>
              <a:chOff x="6400800" y="3984834"/>
              <a:chExt cx="1858727" cy="1716051"/>
            </a:xfrm>
          </p:grpSpPr>
          <p:grpSp>
            <p:nvGrpSpPr>
              <p:cNvPr id="197" name="Group 196"/>
              <p:cNvGrpSpPr/>
              <p:nvPr/>
            </p:nvGrpSpPr>
            <p:grpSpPr>
              <a:xfrm>
                <a:off x="6400800" y="3984834"/>
                <a:ext cx="1858727" cy="1716051"/>
                <a:chOff x="3747633" y="1905000"/>
                <a:chExt cx="1858727" cy="1716051"/>
              </a:xfrm>
            </p:grpSpPr>
            <p:sp>
              <p:nvSpPr>
                <p:cNvPr id="215" name="Oval 214"/>
                <p:cNvSpPr/>
                <p:nvPr/>
              </p:nvSpPr>
              <p:spPr>
                <a:xfrm>
                  <a:off x="4191000" y="19050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" name="Oval 215"/>
                <p:cNvSpPr/>
                <p:nvPr/>
              </p:nvSpPr>
              <p:spPr>
                <a:xfrm>
                  <a:off x="4572000" y="19050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" name="Oval 216"/>
                <p:cNvSpPr/>
                <p:nvPr/>
              </p:nvSpPr>
              <p:spPr>
                <a:xfrm>
                  <a:off x="4191000" y="22098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" name="Oval 217"/>
                <p:cNvSpPr/>
                <p:nvPr/>
              </p:nvSpPr>
              <p:spPr>
                <a:xfrm>
                  <a:off x="4572000" y="22098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Oval 218"/>
                <p:cNvSpPr/>
                <p:nvPr/>
              </p:nvSpPr>
              <p:spPr>
                <a:xfrm>
                  <a:off x="4996760" y="22098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Oval 219"/>
                <p:cNvSpPr/>
                <p:nvPr/>
              </p:nvSpPr>
              <p:spPr>
                <a:xfrm>
                  <a:off x="5377760" y="22098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Oval 220"/>
                <p:cNvSpPr/>
                <p:nvPr/>
              </p:nvSpPr>
              <p:spPr>
                <a:xfrm>
                  <a:off x="4996760" y="25146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Oval 221"/>
                <p:cNvSpPr/>
                <p:nvPr/>
              </p:nvSpPr>
              <p:spPr>
                <a:xfrm>
                  <a:off x="5377760" y="2514600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Oval 222"/>
                <p:cNvSpPr/>
                <p:nvPr/>
              </p:nvSpPr>
              <p:spPr>
                <a:xfrm>
                  <a:off x="3747633" y="27066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Oval 223"/>
                <p:cNvSpPr/>
                <p:nvPr/>
              </p:nvSpPr>
              <p:spPr>
                <a:xfrm>
                  <a:off x="4128633" y="27066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Oval 224"/>
                <p:cNvSpPr/>
                <p:nvPr/>
              </p:nvSpPr>
              <p:spPr>
                <a:xfrm>
                  <a:off x="3747633" y="30114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" name="Oval 225"/>
                <p:cNvSpPr/>
                <p:nvPr/>
              </p:nvSpPr>
              <p:spPr>
                <a:xfrm>
                  <a:off x="4128633" y="30114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Oval 226"/>
                <p:cNvSpPr/>
                <p:nvPr/>
              </p:nvSpPr>
              <p:spPr>
                <a:xfrm>
                  <a:off x="4768160" y="30876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Oval 227"/>
                <p:cNvSpPr/>
                <p:nvPr/>
              </p:nvSpPr>
              <p:spPr>
                <a:xfrm>
                  <a:off x="5149160" y="30876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Oval 228"/>
                <p:cNvSpPr/>
                <p:nvPr/>
              </p:nvSpPr>
              <p:spPr>
                <a:xfrm>
                  <a:off x="4768160" y="33924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Oval 229"/>
                <p:cNvSpPr/>
                <p:nvPr/>
              </p:nvSpPr>
              <p:spPr>
                <a:xfrm>
                  <a:off x="5149160" y="3392451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98" name="Straight Connector 197"/>
              <p:cNvCxnSpPr>
                <a:stCxn id="215" idx="6"/>
                <a:endCxn id="216" idx="2"/>
              </p:cNvCxnSpPr>
              <p:nvPr/>
            </p:nvCxnSpPr>
            <p:spPr>
              <a:xfrm>
                <a:off x="7072767" y="4099134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>
                <a:stCxn id="217" idx="6"/>
                <a:endCxn id="218" idx="2"/>
              </p:cNvCxnSpPr>
              <p:nvPr/>
            </p:nvCxnSpPr>
            <p:spPr>
              <a:xfrm>
                <a:off x="7072767" y="4403934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>
                <a:stCxn id="219" idx="1"/>
                <a:endCxn id="216" idx="5"/>
              </p:cNvCxnSpPr>
              <p:nvPr/>
            </p:nvCxnSpPr>
            <p:spPr>
              <a:xfrm flipH="1" flipV="1">
                <a:off x="7420289" y="4179956"/>
                <a:ext cx="263116" cy="143156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/>
              <p:cNvCxnSpPr>
                <a:stCxn id="221" idx="0"/>
                <a:endCxn id="219" idx="4"/>
              </p:cNvCxnSpPr>
              <p:nvPr/>
            </p:nvCxnSpPr>
            <p:spPr>
              <a:xfrm flipV="1">
                <a:off x="7764227" y="4518234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/>
              <p:cNvCxnSpPr>
                <a:stCxn id="217" idx="4"/>
                <a:endCxn id="224" idx="0"/>
              </p:cNvCxnSpPr>
              <p:nvPr/>
            </p:nvCxnSpPr>
            <p:spPr>
              <a:xfrm flipH="1">
                <a:off x="6896100" y="4518234"/>
                <a:ext cx="62367" cy="268251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>
                <a:stCxn id="223" idx="5"/>
                <a:endCxn id="226" idx="1"/>
              </p:cNvCxnSpPr>
              <p:nvPr/>
            </p:nvCxnSpPr>
            <p:spPr>
              <a:xfrm>
                <a:off x="6595922" y="4981607"/>
                <a:ext cx="219356" cy="143156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>
                <a:stCxn id="223" idx="4"/>
                <a:endCxn id="225" idx="0"/>
              </p:cNvCxnSpPr>
              <p:nvPr/>
            </p:nvCxnSpPr>
            <p:spPr>
              <a:xfrm>
                <a:off x="6515100" y="5015085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>
                <a:stCxn id="219" idx="6"/>
                <a:endCxn id="220" idx="2"/>
              </p:cNvCxnSpPr>
              <p:nvPr/>
            </p:nvCxnSpPr>
            <p:spPr>
              <a:xfrm>
                <a:off x="7878527" y="4403934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>
                <a:stCxn id="220" idx="4"/>
                <a:endCxn id="222" idx="0"/>
              </p:cNvCxnSpPr>
              <p:nvPr/>
            </p:nvCxnSpPr>
            <p:spPr>
              <a:xfrm>
                <a:off x="8145227" y="4518234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/>
              <p:cNvCxnSpPr>
                <a:stCxn id="221" idx="6"/>
                <a:endCxn id="222" idx="2"/>
              </p:cNvCxnSpPr>
              <p:nvPr/>
            </p:nvCxnSpPr>
            <p:spPr>
              <a:xfrm>
                <a:off x="7878527" y="4708734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/>
              <p:cNvCxnSpPr>
                <a:stCxn id="216" idx="4"/>
                <a:endCxn id="218" idx="0"/>
              </p:cNvCxnSpPr>
              <p:nvPr/>
            </p:nvCxnSpPr>
            <p:spPr>
              <a:xfrm>
                <a:off x="7339467" y="4213434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/>
              <p:cNvCxnSpPr>
                <a:stCxn id="222" idx="3"/>
                <a:endCxn id="228" idx="7"/>
              </p:cNvCxnSpPr>
              <p:nvPr/>
            </p:nvCxnSpPr>
            <p:spPr>
              <a:xfrm flipH="1">
                <a:off x="7997449" y="4789556"/>
                <a:ext cx="66956" cy="411407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/>
              <p:cNvCxnSpPr>
                <a:stCxn id="228" idx="3"/>
                <a:endCxn id="229" idx="7"/>
              </p:cNvCxnSpPr>
              <p:nvPr/>
            </p:nvCxnSpPr>
            <p:spPr>
              <a:xfrm flipH="1">
                <a:off x="7616449" y="5362607"/>
                <a:ext cx="219356" cy="143156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/>
              <p:cNvCxnSpPr>
                <a:stCxn id="229" idx="0"/>
                <a:endCxn id="227" idx="4"/>
              </p:cNvCxnSpPr>
              <p:nvPr/>
            </p:nvCxnSpPr>
            <p:spPr>
              <a:xfrm flipV="1">
                <a:off x="7535627" y="5396085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/>
              <p:cNvCxnSpPr>
                <a:stCxn id="230" idx="0"/>
                <a:endCxn id="228" idx="4"/>
              </p:cNvCxnSpPr>
              <p:nvPr/>
            </p:nvCxnSpPr>
            <p:spPr>
              <a:xfrm flipV="1">
                <a:off x="7916627" y="5396085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/>
              <p:cNvCxnSpPr>
                <a:stCxn id="224" idx="2"/>
                <a:endCxn id="223" idx="6"/>
              </p:cNvCxnSpPr>
              <p:nvPr/>
            </p:nvCxnSpPr>
            <p:spPr>
              <a:xfrm flipH="1">
                <a:off x="6629400" y="4900785"/>
                <a:ext cx="152400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/>
              <p:cNvCxnSpPr>
                <a:stCxn id="224" idx="4"/>
                <a:endCxn id="226" idx="0"/>
              </p:cNvCxnSpPr>
              <p:nvPr/>
            </p:nvCxnSpPr>
            <p:spPr>
              <a:xfrm>
                <a:off x="6896100" y="5015085"/>
                <a:ext cx="0" cy="7620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Oval 194"/>
            <p:cNvSpPr/>
            <p:nvPr/>
          </p:nvSpPr>
          <p:spPr>
            <a:xfrm>
              <a:off x="4990647" y="4553370"/>
              <a:ext cx="809039" cy="776983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/>
            <p:cNvSpPr/>
            <p:nvPr/>
          </p:nvSpPr>
          <p:spPr>
            <a:xfrm>
              <a:off x="4762047" y="5430551"/>
              <a:ext cx="809039" cy="776983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Rectangle 231"/>
          <p:cNvSpPr/>
          <p:nvPr/>
        </p:nvSpPr>
        <p:spPr>
          <a:xfrm rot="1574322">
            <a:off x="1083422" y="2824725"/>
            <a:ext cx="888977" cy="1814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/>
          <p:cNvSpPr/>
          <p:nvPr/>
        </p:nvSpPr>
        <p:spPr>
          <a:xfrm>
            <a:off x="2127326" y="3196052"/>
            <a:ext cx="867199" cy="860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/>
          <p:cNvSpPr/>
          <p:nvPr/>
        </p:nvSpPr>
        <p:spPr>
          <a:xfrm>
            <a:off x="1867457" y="4076983"/>
            <a:ext cx="888977" cy="860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TextBox 234"/>
          <p:cNvSpPr txBox="1"/>
          <p:nvPr/>
        </p:nvSpPr>
        <p:spPr>
          <a:xfrm>
            <a:off x="628471" y="4671087"/>
            <a:ext cx="1329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B Nazanin" panose="00000400000000000000" pitchFamily="2" charset="-78"/>
              </a:rPr>
              <a:t>هسته یا نخ</a:t>
            </a:r>
            <a:endParaRPr lang="en-US" sz="2000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4572000" y="3867090"/>
            <a:ext cx="1329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CC0099"/>
                </a:solidFill>
                <a:cs typeface="B Nazanin" panose="00000400000000000000" pitchFamily="2" charset="-78"/>
              </a:rPr>
              <a:t>گروه</a:t>
            </a:r>
            <a:endParaRPr lang="en-US" sz="2000" dirty="0">
              <a:solidFill>
                <a:srgbClr val="CC0099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3089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کانولوشن تصویر (برای حذف نویز، تشخیص لبه، ...)</a:t>
            </a:r>
          </a:p>
          <a:p>
            <a:pPr lvl="1"/>
            <a:r>
              <a:rPr lang="fa-IR" dirty="0"/>
              <a:t>هر پیکسل جمع وزن‌دار پیکسل‌های مجاور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12" y="2209800"/>
            <a:ext cx="8229600" cy="377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192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950" y="1292586"/>
            <a:ext cx="2179985" cy="2179985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950" y="3886200"/>
            <a:ext cx="2179985" cy="2179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14" y="1310307"/>
            <a:ext cx="2179985" cy="21799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15" y="3886200"/>
            <a:ext cx="2179985" cy="217998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18425" y="1568128"/>
            <a:ext cx="1706175" cy="10429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4313756"/>
            <a:ext cx="1460143" cy="109644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43546" y="4399554"/>
            <a:ext cx="1781054" cy="10162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278317"/>
            <a:ext cx="15705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cs typeface="B Nazanin" panose="00000400000000000000" pitchFamily="2" charset="-78"/>
              </a:rPr>
              <a:t>Original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798" y="2507159"/>
            <a:ext cx="1570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cs typeface="B Nazanin" panose="00000400000000000000" pitchFamily="2" charset="-78"/>
              </a:rPr>
              <a:t>Edge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8200" y="5360313"/>
            <a:ext cx="15705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cs typeface="B Nazanin" panose="00000400000000000000" pitchFamily="2" charset="-78"/>
              </a:rPr>
              <a:t>Sharpen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871" y="5387851"/>
            <a:ext cx="15705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cs typeface="B Nazanin" panose="00000400000000000000" pitchFamily="2" charset="-78"/>
              </a:rPr>
              <a:t>Box Blur</a:t>
            </a:r>
          </a:p>
        </p:txBody>
      </p:sp>
    </p:spTree>
    <p:extLst>
      <p:ext uri="{BB962C8B-B14F-4D97-AF65-F5344CB8AC3E}">
        <p14:creationId xmlns:p14="http://schemas.microsoft.com/office/powerpoint/2010/main" val="271574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شبه‌کد پیاده‌سازی سریال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r>
              <a:rPr lang="fa-IR" dirty="0"/>
              <a:t>اگر دو حلقه بیرونی را باز کنیم چه اتفاقی می‌افتد؟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685800" y="1371600"/>
            <a:ext cx="8229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lang="en-US" sz="20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lang="en-US" sz="20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inImg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[IMGY+2][IMGX+2];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outImg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[IMGY][IMGX];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lang="en-US" sz="20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n2 = n/2;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for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x= 1;x &lt;=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IMGX;x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++){</a:t>
            </a:r>
          </a:p>
          <a:p>
            <a:pPr eaLnBrk="0" hangingPunct="0"/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</a:t>
            </a:r>
            <a:r>
              <a:rPr lang="en-US" sz="20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for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</a:t>
            </a:r>
            <a:r>
              <a:rPr lang="en-US" sz="2000" dirty="0" err="1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lang="en-US" sz="20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y= 1;y &lt;= </a:t>
            </a:r>
            <a:r>
              <a:rPr lang="en-US" sz="20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IMGY;y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++){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pixel = 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 </a:t>
            </a:r>
            <a:r>
              <a:rPr lang="en-US" sz="20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for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</a:t>
            </a:r>
            <a:r>
              <a:rPr lang="en-US" sz="2000" dirty="0" err="1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lang="en-US" sz="20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lang="en-US" sz="20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= -n2; </a:t>
            </a:r>
            <a:r>
              <a:rPr lang="en-US" sz="20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&lt;= n2;i++)</a:t>
            </a:r>
          </a:p>
          <a:p>
            <a:pPr lvl="0" eaLnBrk="0" hangingPunct="0"/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   </a:t>
            </a:r>
            <a:r>
              <a:rPr lang="en-US" sz="20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for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</a:t>
            </a:r>
            <a:r>
              <a:rPr lang="en-US" sz="2000" dirty="0" err="1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lang="en-US" sz="20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j= -n2; j &lt;= n2;j++)</a:t>
            </a:r>
          </a:p>
          <a:p>
            <a:pPr lvl="0" eaLnBrk="0" hangingPunct="0"/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     pixel 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+= </a:t>
            </a:r>
            <a:r>
              <a:rPr lang="en-US" sz="20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inImg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[y-j][x-</a:t>
            </a:r>
            <a:r>
              <a:rPr lang="en-US" sz="20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]*kernel[n2+j][n2+i];</a:t>
            </a:r>
          </a:p>
          <a:p>
            <a:pPr lvl="0" eaLnBrk="0" hangingPunct="0"/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 </a:t>
            </a:r>
            <a:r>
              <a:rPr kumimoji="0" lang="en-US" sz="20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outImg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[y-1][x-1] = pixel;</a:t>
            </a:r>
          </a:p>
          <a:p>
            <a:pPr lvl="0" eaLnBrk="0" hangingPunct="0"/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}</a:t>
            </a:r>
          </a:p>
          <a:p>
            <a:pPr lvl="0" eaLnBrk="0" hangingPunct="0"/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}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89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تجزیه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97612" y="1219200"/>
            <a:ext cx="2468436" cy="4876800"/>
          </a:xfrm>
        </p:spPr>
        <p:txBody>
          <a:bodyPr/>
          <a:lstStyle/>
          <a:p>
            <a:r>
              <a:rPr lang="fa-IR" dirty="0"/>
              <a:t>محاسبه هر پیکسل: یک وظیفه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93800"/>
            <a:ext cx="5688012" cy="497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792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ارتباط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هر وظیفه به داده وظیفه‌های مجاور نیاز دارد.</a:t>
                </a:r>
                <a:endParaRPr lang="en-US" dirty="0"/>
              </a:p>
              <a:p>
                <a:pPr lvl="1"/>
                <a:r>
                  <a:rPr lang="fa-IR" dirty="0"/>
                  <a:t>هر پیکسل 8 پیکسل مجاور دارد. به غیر از پیکسل‌های مرزی</a:t>
                </a:r>
              </a:p>
              <a:p>
                <a:r>
                  <a:rPr lang="fa-IR" dirty="0"/>
                  <a:t>مجموع همه ارتباطات: 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𝑡𝑜𝑡𝑎𝑙𝐶𝑜𝑚𝑚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𝐼𝑀𝐺𝑋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𝐼𝑀𝐺𝑌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𝐼𝑀𝐺𝑋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𝐼𝑀𝐺𝑌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𝐼𝑀𝐺𝑋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𝐼𝑀𝐺𝑌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𝐼𝑀𝐺𝑋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𝐼𝑀𝐺𝑌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4"/>
                <a:stretch>
                  <a:fillRect t="-1000" r="-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952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انباشت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انباشت (گروه‌بندی) وظایف به‌صورت‌ یک‌بعدی یا دوبعدی</a:t>
            </a:r>
          </a:p>
          <a:p>
            <a:pPr lvl="1"/>
            <a:r>
              <a:rPr lang="fa-IR" dirty="0"/>
              <a:t>مثلاً پیکسل‌ها را در </a:t>
            </a:r>
            <a:r>
              <a:rPr lang="en-US" dirty="0"/>
              <a:t>M</a:t>
            </a:r>
            <a:r>
              <a:rPr lang="fa-IR" dirty="0"/>
              <a:t> ستون گروه‌بندی کنیم (یک بعدی)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53456"/>
            <a:ext cx="6048375" cy="395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2841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نگاشت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بسته به تعداد نخ‌های موجود</a:t>
            </a:r>
          </a:p>
          <a:p>
            <a:pPr lvl="1"/>
            <a:r>
              <a:rPr lang="fa-IR" dirty="0"/>
              <a:t>هر گروه به یک نخ</a:t>
            </a:r>
          </a:p>
          <a:p>
            <a:pPr lvl="1"/>
            <a:r>
              <a:rPr lang="fa-IR" dirty="0"/>
              <a:t>هر چند گروه به یک نخ</a:t>
            </a:r>
          </a:p>
          <a:p>
            <a:r>
              <a:rPr lang="fa-IR" dirty="0"/>
              <a:t>هدف: </a:t>
            </a:r>
          </a:p>
          <a:p>
            <a:pPr lvl="1"/>
            <a:r>
              <a:rPr lang="fa-IR" dirty="0"/>
              <a:t>بالانس کردن حجم کاری نخ‌ها</a:t>
            </a:r>
          </a:p>
          <a:p>
            <a:pPr lvl="1"/>
            <a:r>
              <a:rPr lang="fa-IR" dirty="0"/>
              <a:t>کاهش زمان اجرای موازی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0643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الگوهای تجزیه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معمولاً برای ساده کردن عملیات تجزیه، از یکی از الگوهای شناخته‌شده زیر استفاده می‌کنیم.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32" y="2514600"/>
            <a:ext cx="8153400" cy="287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6479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Task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کل برنامه را به وظایف کوچک‌تر تقسیم کن </a:t>
            </a:r>
          </a:p>
          <a:p>
            <a:pPr lvl="1"/>
            <a:r>
              <a:rPr lang="fa-IR" dirty="0"/>
              <a:t>تقسیم‌بندی برون‌خط بوده و از قبل از اجرا مشخص است.</a:t>
            </a:r>
          </a:p>
          <a:p>
            <a:r>
              <a:rPr lang="fa-IR" dirty="0"/>
              <a:t>مثال: حلقه بازی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284767" y="3157433"/>
            <a:ext cx="33634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while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(true)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processInput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update();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render();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381003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Task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هر تابع را به یک وظیفه تبدیل کن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0" y="4495800"/>
            <a:ext cx="336343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while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(true)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render();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barrier();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} 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762000" y="2919518"/>
            <a:ext cx="336343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while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(true)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update();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barrier();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} 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762000" y="1295400"/>
            <a:ext cx="336343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1B46FD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while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(true)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processInput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</a:t>
            </a:r>
            <a:r>
              <a:rPr lang="en-US" sz="20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barrier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950324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Divide-n-Conquer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شبه‌کد روش تقسیم و غلبه سریال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0" y="1496054"/>
            <a:ext cx="708660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DnC</a:t>
            </a: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(A) {</a:t>
            </a:r>
            <a:r>
              <a:rPr lang="en-US" sz="24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if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(A is small enough)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4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return</a:t>
            </a: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solution(A);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4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else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split A into N </a:t>
            </a:r>
            <a:r>
              <a:rPr lang="en-US" sz="24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subproblems</a:t>
            </a: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B[N]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; </a:t>
            </a:r>
          </a:p>
          <a:p>
            <a:pPr lvl="0" eaLnBrk="0" hangingPunct="0">
              <a:spcBef>
                <a:spcPts val="600"/>
              </a:spcBef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4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for </a:t>
            </a: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</a:t>
            </a:r>
            <a:r>
              <a:rPr lang="en-US" sz="2400" dirty="0" err="1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lang="en-US" sz="24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lang="en-US" sz="24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=0;i&lt;</a:t>
            </a:r>
            <a:r>
              <a:rPr lang="en-US" sz="24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N;i</a:t>
            </a: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++)</a:t>
            </a:r>
          </a:p>
          <a:p>
            <a:pPr lvl="0" eaLnBrk="0" hangingPunct="0">
              <a:spcBef>
                <a:spcPts val="600"/>
              </a:spcBef>
            </a:pP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  sol[</a:t>
            </a:r>
            <a:r>
              <a:rPr kumimoji="0" lang="en-US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] = </a:t>
            </a:r>
            <a:r>
              <a:rPr kumimoji="0" lang="en-US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DnC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(B[</a:t>
            </a:r>
            <a:r>
              <a:rPr kumimoji="0" lang="en-US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]);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400" baseline="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4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return </a:t>
            </a:r>
            <a:r>
              <a:rPr lang="en-US" sz="24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mergeSolution</a:t>
            </a: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(sol);</a:t>
            </a:r>
            <a:endParaRPr kumimoji="0" lang="en-US" sz="2400" b="0" i="0" u="none" strike="noStrike" cap="none" normalizeH="0" baseline="0" dirty="0">
              <a:ln>
                <a:noFill/>
              </a:ln>
              <a:effectLst/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}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27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Divide-n-Conquer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شبه‌کد روش تقسیم و غلبه موازی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33400" y="1219055"/>
            <a:ext cx="8991600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DnC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(A) {</a:t>
            </a: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if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(A is small enough)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return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solution(A);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else 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split A into N 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subproblems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B[N]</a:t>
            </a: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; </a:t>
            </a:r>
          </a:p>
          <a:p>
            <a:pPr lvl="0" eaLnBrk="0" hangingPunct="0">
              <a:spcBef>
                <a:spcPts val="600"/>
              </a:spcBef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for 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</a:t>
            </a:r>
            <a:r>
              <a:rPr lang="en-US" sz="2200" dirty="0" err="1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=0;i&lt;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N;i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++)</a:t>
            </a:r>
          </a:p>
          <a:p>
            <a:pPr lvl="0" eaLnBrk="0" hangingPunct="0">
              <a:spcBef>
                <a:spcPts val="600"/>
              </a:spcBef>
            </a:pP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  task[</a:t>
            </a:r>
            <a:r>
              <a:rPr kumimoji="0" lang="en-US" sz="22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] = </a:t>
            </a:r>
            <a:r>
              <a:rPr kumimoji="0" lang="en-US" sz="22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newTask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</a:t>
            </a:r>
            <a:r>
              <a:rPr kumimoji="0" lang="en-US" sz="22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DnC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(B[</a:t>
            </a:r>
            <a:r>
              <a:rPr kumimoji="0" lang="en-US" sz="22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kumimoji="0" 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])); 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rgbClr val="FF6600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//</a:t>
            </a:r>
            <a:r>
              <a:rPr kumimoji="0" lang="en-US" sz="2000" b="0" i="0" u="none" strike="noStrike" cap="none" normalizeH="0" dirty="0" err="1">
                <a:ln>
                  <a:noFill/>
                </a:ln>
                <a:solidFill>
                  <a:srgbClr val="FF6600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nonblocking</a:t>
            </a:r>
            <a:endParaRPr kumimoji="0" lang="fa-IR" sz="2000" b="0" i="0" u="none" strike="noStrike" cap="none" normalizeH="0" dirty="0">
              <a:ln>
                <a:noFill/>
              </a:ln>
              <a:solidFill>
                <a:srgbClr val="FF6600"/>
              </a:solidFill>
              <a:effectLst/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for 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</a:t>
            </a:r>
            <a:r>
              <a:rPr lang="en-US" sz="2200" dirty="0" err="1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int</a:t>
            </a: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=0;i&lt;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N;i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++)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  sol[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] = 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getTaskResult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(task[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i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]); </a:t>
            </a:r>
            <a:r>
              <a:rPr lang="en-US" sz="2000" dirty="0">
                <a:solidFill>
                  <a:srgbClr val="FF6600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//blocking</a:t>
            </a:r>
            <a:endParaRPr kumimoji="0" lang="en-US" sz="20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  <a:p>
            <a:pPr lvl="0" eaLnBrk="0" hangingPunct="0">
              <a:spcBef>
                <a:spcPts val="600"/>
              </a:spcBef>
            </a:pPr>
            <a:r>
              <a:rPr lang="en-US" sz="2200" baseline="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return 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mergeSolution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(sol);</a:t>
            </a:r>
            <a:endParaRPr kumimoji="0" lang="en-US" sz="2200" b="0" i="0" u="none" strike="noStrike" cap="none" normalizeH="0" baseline="0" dirty="0">
              <a:ln>
                <a:noFill/>
              </a:ln>
              <a:effectLst/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}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120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Divide-n-Conquer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مثال: </a:t>
            </a:r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863009" y="2209800"/>
            <a:ext cx="812859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spcBef>
                <a:spcPts val="600"/>
              </a:spcBef>
            </a:pP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mergeSort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(A, start, end) {</a:t>
            </a: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if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(end &gt; start) {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middle = (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start+end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)/2;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mergeSort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(A, start, middle);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mergeSort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(A, middle+1, end);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 </a:t>
            </a:r>
            <a:r>
              <a:rPr lang="en-US" sz="2200" dirty="0" err="1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mergeLists</a:t>
            </a: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(A, start, middle, end);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 }</a:t>
            </a:r>
          </a:p>
          <a:p>
            <a:pPr lvl="0" eaLnBrk="0" hangingPunct="0">
              <a:spcBef>
                <a:spcPts val="600"/>
              </a:spcBef>
            </a:pPr>
            <a:r>
              <a:rPr lang="en-US" sz="2200" dirty="0"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} </a:t>
            </a:r>
          </a:p>
          <a:p>
            <a:pPr lvl="0" eaLnBrk="0" hangingPunct="0">
              <a:spcBef>
                <a:spcPts val="600"/>
              </a:spcBef>
            </a:pPr>
            <a:r>
              <a:rPr lang="en-US" dirty="0">
                <a:solidFill>
                  <a:srgbClr val="1B46FD"/>
                </a:solidFill>
                <a:latin typeface="Droid Sans Mono" panose="020B0609030804020204" pitchFamily="49" charset="0"/>
                <a:ea typeface="Droid Sans Mono" panose="020B0609030804020204" pitchFamily="49" charset="0"/>
                <a:cs typeface="Droid Sans Mono" panose="020B0609030804020204" pitchFamily="49" charset="0"/>
              </a:rPr>
              <a:t> </a:t>
            </a:r>
            <a:endParaRPr lang="en-US" dirty="0">
              <a:latin typeface="Droid Sans Mono" panose="020B0609030804020204" pitchFamily="49" charset="0"/>
              <a:ea typeface="Droid Sans Mono" panose="020B0609030804020204" pitchFamily="49" charset="0"/>
              <a:cs typeface="Droid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470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Divide-n-Conquer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گراف فراخوانی </a:t>
            </a:r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42" y="2220913"/>
            <a:ext cx="8405812" cy="326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9090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Divide-n-Conquer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گراف وابستگی وظایف </a:t>
            </a:r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98" y="1843882"/>
            <a:ext cx="8258302" cy="436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968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Geometric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اگر داده مسأله دارای ساختار خطی مانند آرایه، ماتریس دوبعدی و ... باشد، می‌توان مجموعه داده‌ها را در امتداد یک یا چند بعد تجزیه کرده و هر مجموعه داده را به یک وظیفه اختصاص داد.</a:t>
            </a:r>
          </a:p>
          <a:p>
            <a:r>
              <a:rPr lang="fa-IR" dirty="0"/>
              <a:t>مثال: عملیات ماتریسی، فیلتر تصویر و ...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178135"/>
            <a:ext cx="4592209" cy="2917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8417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Geometric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مثال: فیلتر تصویر -  تجزیه یک‌بعدی و دو بعدی تصویر ورودی</a:t>
            </a:r>
          </a:p>
          <a:p>
            <a:endParaRPr lang="fa-IR" sz="3600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r>
              <a:rPr lang="fa-IR" dirty="0"/>
              <a:t>کدام را ترجیح می‌دهید؟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828800"/>
            <a:ext cx="6718301" cy="364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5014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Geometric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مقایسه زمان اجرا: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a-IR" dirty="0"/>
                  <a:t> تعداد المان‌های داده در هر بعد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a-IR" dirty="0"/>
                  <a:t> تعداد المان‌های داده در هر واحد تجزیه شده در هر بعد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a-IR" dirty="0"/>
                  <a:t> تعداد واحدهای پردازشی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</m:oMath>
                </a14:m>
                <a:r>
                  <a:rPr lang="fa-IR" dirty="0"/>
                  <a:t> زمان پردازش هر المان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𝑐𝑜𝑚𝑚</m:t>
                        </m:r>
                      </m:sub>
                    </m:sSub>
                  </m:oMath>
                </a14:m>
                <a:r>
                  <a:rPr lang="fa-IR" dirty="0"/>
                  <a:t> زمان انتقال هر المان داده بین دو واحد پردازشی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fa-IR" dirty="0"/>
                  <a:t> زمان تأخیر شروع عملیات انتقال داده</a:t>
                </a:r>
              </a:p>
              <a:p>
                <a:pPr lvl="1"/>
                <a:r>
                  <a:rPr lang="fa-IR" dirty="0"/>
                  <a:t>فرض ارتباطات دوطرفه بین واحدهای پردازشی</a:t>
                </a:r>
              </a:p>
              <a:p>
                <a:pPr lvl="1"/>
                <a:endParaRPr lang="fa-IR" dirty="0"/>
              </a:p>
              <a:p>
                <a:endParaRPr lang="fa-IR" sz="3600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r>
                  <a:rPr lang="fa-IR" dirty="0"/>
                  <a:t>کدام را ترجیح می‌دهید؟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5"/>
                <a:stretch>
                  <a:fillRect t="-1250" r="-449" b="-8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2321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Geometric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تجزیه یک‌بعدی: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</m:oMath>
                </a14:m>
                <a:endParaRPr lang="fa-IR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𝑐𝑜𝑚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a-IR" dirty="0"/>
              </a:p>
              <a:p>
                <a:endParaRPr lang="fa-IR" sz="1600" dirty="0"/>
              </a:p>
              <a:p>
                <a:r>
                  <a:rPr lang="fa-IR" dirty="0"/>
                  <a:t>تجزیه دوبعدی:</a:t>
                </a:r>
                <a:endParaRPr lang="en-US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𝑐𝑜𝑚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</m:oMath>
                </a14:m>
                <a:endParaRPr lang="fa-IR" dirty="0"/>
              </a:p>
              <a:p>
                <a:pPr algn="l" rt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𝑐𝑜𝑚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𝑠𝑡𝑎𝑟𝑡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𝑐𝑜𝑚𝑚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𝑠𝑡𝑎𝑟𝑡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𝑐𝑜𝑚𝑚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fa-IR" dirty="0"/>
              </a:p>
              <a:p>
                <a:pPr algn="l" rtl="0"/>
                <a:endParaRPr lang="fa-IR" dirty="0"/>
              </a:p>
              <a:p>
                <a:endParaRPr lang="fa-IR" dirty="0"/>
              </a:p>
              <a:p>
                <a:pPr lvl="1"/>
                <a:endParaRPr lang="fa-IR" dirty="0"/>
              </a:p>
              <a:p>
                <a:endParaRPr lang="fa-IR" sz="3600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r>
                  <a:rPr lang="fa-IR" dirty="0"/>
                  <a:t>کدام را ترجیح می‌دهید؟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7"/>
                <a:stretch>
                  <a:fillRect l="-449" t="-1250" r="-449" b="-124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0011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Geometric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زمان اجرای یک‌بعدی از دوبعدی بهتر است اگر: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fa-IR" dirty="0"/>
              </a:p>
              <a:p>
                <a:endParaRPr lang="fa-IR" sz="16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a-IR" dirty="0"/>
              </a:p>
              <a:p>
                <a:pPr algn="l" rtl="0"/>
                <a:endParaRPr lang="fa-IR" dirty="0"/>
              </a:p>
              <a:p>
                <a:endParaRPr lang="fa-IR" dirty="0"/>
              </a:p>
              <a:p>
                <a:pPr lvl="1"/>
                <a:endParaRPr lang="fa-IR" dirty="0"/>
              </a:p>
              <a:p>
                <a:endParaRPr lang="fa-IR" sz="3600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endParaRPr lang="fa-IR" dirty="0"/>
              </a:p>
              <a:p>
                <a:r>
                  <a:rPr lang="fa-IR" dirty="0"/>
                  <a:t>کدام را ترجیح می‌دهید؟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5"/>
                <a:stretch>
                  <a:fillRect l="-449" t="-1250" r="-449" b="-68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برنامه‌نویسی چند‌هسته‌ای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4- طراحی برنامه موازی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954428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5503</TotalTime>
  <Words>1416</Words>
  <Application>Microsoft Office PowerPoint</Application>
  <PresentationFormat>On-screen Show (4:3)</PresentationFormat>
  <Paragraphs>309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Droid Sans Mono</vt:lpstr>
      <vt:lpstr>Wingdings</vt:lpstr>
      <vt:lpstr>Wingdings 2</vt:lpstr>
      <vt:lpstr>Median</vt:lpstr>
      <vt:lpstr>برنامه‌نویسی چندهسته‌ای  4- طراحی برنامه موازی (بخش اول)  محمود ممتازپور  </vt:lpstr>
      <vt:lpstr>فهرست</vt:lpstr>
      <vt:lpstr>روشگان PCAM</vt:lpstr>
      <vt:lpstr>جریان طراحی PCAM</vt:lpstr>
      <vt:lpstr>مثال</vt:lpstr>
      <vt:lpstr>مثال</vt:lpstr>
      <vt:lpstr>شبه‌کد پیاده‌سازی سریال </vt:lpstr>
      <vt:lpstr>تجزیه</vt:lpstr>
      <vt:lpstr>ارتباط</vt:lpstr>
      <vt:lpstr>انباشت</vt:lpstr>
      <vt:lpstr>نگاشت</vt:lpstr>
      <vt:lpstr>الگوهای تجزیه</vt:lpstr>
      <vt:lpstr>Task Parallelism</vt:lpstr>
      <vt:lpstr>Task Parallelism</vt:lpstr>
      <vt:lpstr>Divide-n-Conquer</vt:lpstr>
      <vt:lpstr>Divide-n-Conquer</vt:lpstr>
      <vt:lpstr>Divide-n-Conquer</vt:lpstr>
      <vt:lpstr>Divide-n-Conquer</vt:lpstr>
      <vt:lpstr>Divide-n-Conquer</vt:lpstr>
      <vt:lpstr>Geometric Decomposition</vt:lpstr>
      <vt:lpstr>Geometric Decomposition</vt:lpstr>
      <vt:lpstr>Geometric Decomposition</vt:lpstr>
      <vt:lpstr>Geometric Decomposition</vt:lpstr>
      <vt:lpstr>Geometric Decomposition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Overview</dc:title>
  <dc:creator>rf</dc:creator>
  <cp:lastModifiedBy>M</cp:lastModifiedBy>
  <cp:revision>408</cp:revision>
  <dcterms:created xsi:type="dcterms:W3CDTF">2005-06-03T08:24:32Z</dcterms:created>
  <dcterms:modified xsi:type="dcterms:W3CDTF">2021-03-08T08:05:41Z</dcterms:modified>
</cp:coreProperties>
</file>