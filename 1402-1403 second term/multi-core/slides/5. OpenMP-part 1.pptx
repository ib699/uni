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88" r:id="rId1"/>
  </p:sldMasterIdLst>
  <p:notesMasterIdLst>
    <p:notesMasterId r:id="rId36"/>
  </p:notesMasterIdLst>
  <p:sldIdLst>
    <p:sldId id="271" r:id="rId2"/>
    <p:sldId id="270" r:id="rId3"/>
    <p:sldId id="330" r:id="rId4"/>
    <p:sldId id="332" r:id="rId5"/>
    <p:sldId id="331" r:id="rId6"/>
    <p:sldId id="333" r:id="rId7"/>
    <p:sldId id="334" r:id="rId8"/>
    <p:sldId id="274" r:id="rId9"/>
    <p:sldId id="276" r:id="rId10"/>
    <p:sldId id="275" r:id="rId11"/>
    <p:sldId id="277" r:id="rId12"/>
    <p:sldId id="280" r:id="rId13"/>
    <p:sldId id="281" r:id="rId14"/>
    <p:sldId id="283" r:id="rId15"/>
    <p:sldId id="284" r:id="rId16"/>
    <p:sldId id="285" r:id="rId17"/>
    <p:sldId id="286" r:id="rId18"/>
    <p:sldId id="287" r:id="rId19"/>
    <p:sldId id="288" r:id="rId20"/>
    <p:sldId id="289" r:id="rId21"/>
    <p:sldId id="290" r:id="rId22"/>
    <p:sldId id="291" r:id="rId23"/>
    <p:sldId id="292" r:id="rId24"/>
    <p:sldId id="293" r:id="rId25"/>
    <p:sldId id="294" r:id="rId26"/>
    <p:sldId id="295" r:id="rId27"/>
    <p:sldId id="296" r:id="rId28"/>
    <p:sldId id="297" r:id="rId29"/>
    <p:sldId id="298" r:id="rId30"/>
    <p:sldId id="335" r:id="rId31"/>
    <p:sldId id="299" r:id="rId32"/>
    <p:sldId id="301" r:id="rId33"/>
    <p:sldId id="302" r:id="rId34"/>
    <p:sldId id="303" r:id="rId35"/>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a:srgbClr val="1B46FD"/>
    <a:srgbClr val="CC0099"/>
    <a:srgbClr val="008000"/>
    <a:srgbClr val="FF0000"/>
    <a:srgbClr val="0066FF"/>
    <a:srgbClr val="6128F0"/>
    <a:srgbClr val="FF9900"/>
    <a:srgbClr val="66FF66"/>
    <a:srgbClr val="66FF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697" autoAdjust="0"/>
    <p:restoredTop sz="86047" autoAdjust="0"/>
  </p:normalViewPr>
  <p:slideViewPr>
    <p:cSldViewPr>
      <p:cViewPr varScale="1">
        <p:scale>
          <a:sx n="98" d="100"/>
          <a:sy n="98" d="100"/>
        </p:scale>
        <p:origin x="1740" y="96"/>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charset="0"/>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charset="0"/>
              </a:defRPr>
            </a:lvl1pPr>
          </a:lstStyle>
          <a:p>
            <a:pPr>
              <a:defRPr/>
            </a:pPr>
            <a:fld id="{45A470DC-7C81-4DA4-8C0B-00C3524FB74D}" type="datetimeFigureOut">
              <a:rPr lang="en-US"/>
              <a:pPr>
                <a:defRPr/>
              </a:pPr>
              <a:t>4/3/2021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charset="0"/>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Arial" charset="0"/>
              </a:defRPr>
            </a:lvl1pPr>
          </a:lstStyle>
          <a:p>
            <a:pPr>
              <a:defRPr/>
            </a:pPr>
            <a:fld id="{7733EA2D-6917-409E-A3B4-BA2E769CB8AC}" type="slidenum">
              <a:rPr lang="en-US"/>
              <a:pPr>
                <a:defRPr/>
              </a:pPr>
              <a:t>‹#›</a:t>
            </a:fld>
            <a:endParaRPr lang="en-US"/>
          </a:p>
        </p:txBody>
      </p:sp>
    </p:spTree>
    <p:extLst>
      <p:ext uri="{BB962C8B-B14F-4D97-AF65-F5344CB8AC3E}">
        <p14:creationId xmlns:p14="http://schemas.microsoft.com/office/powerpoint/2010/main" val="330308114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7733EA2D-6917-409E-A3B4-BA2E769CB8AC}" type="slidenum">
              <a:rPr lang="en-US" smtClean="0"/>
              <a:pPr>
                <a:defRPr/>
              </a:pPr>
              <a:t>1</a:t>
            </a:fld>
            <a:endParaRPr lang="en-US"/>
          </a:p>
        </p:txBody>
      </p:sp>
    </p:spTree>
    <p:extLst>
      <p:ext uri="{BB962C8B-B14F-4D97-AF65-F5344CB8AC3E}">
        <p14:creationId xmlns:p14="http://schemas.microsoft.com/office/powerpoint/2010/main" val="15318689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en-US" dirty="0"/>
          </a:p>
        </p:txBody>
      </p:sp>
      <p:sp>
        <p:nvSpPr>
          <p:cNvPr id="4" name="Slide Number Placeholder 3"/>
          <p:cNvSpPr>
            <a:spLocks noGrp="1"/>
          </p:cNvSpPr>
          <p:nvPr>
            <p:ph type="sldNum" sz="quarter" idx="10"/>
          </p:nvPr>
        </p:nvSpPr>
        <p:spPr/>
        <p:txBody>
          <a:bodyPr/>
          <a:lstStyle/>
          <a:p>
            <a:pPr>
              <a:defRPr/>
            </a:pPr>
            <a:fld id="{7733EA2D-6917-409E-A3B4-BA2E769CB8AC}" type="slidenum">
              <a:rPr lang="en-US" smtClean="0"/>
              <a:pPr>
                <a:defRPr/>
              </a:pPr>
              <a:t>2</a:t>
            </a:fld>
            <a:endParaRPr lang="en-US"/>
          </a:p>
        </p:txBody>
      </p:sp>
    </p:spTree>
    <p:extLst>
      <p:ext uri="{BB962C8B-B14F-4D97-AF65-F5344CB8AC3E}">
        <p14:creationId xmlns:p14="http://schemas.microsoft.com/office/powerpoint/2010/main" val="27239792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BDE8C46-8571-4279-846F-6B6AD8CF679E}" type="slidenum">
              <a:rPr lang="en-US" smtClean="0"/>
              <a:pPr>
                <a:defRPr/>
              </a:pPr>
              <a:t>3</a:t>
            </a:fld>
            <a:endParaRPr lang="en-US"/>
          </a:p>
        </p:txBody>
      </p:sp>
    </p:spTree>
    <p:extLst>
      <p:ext uri="{BB962C8B-B14F-4D97-AF65-F5344CB8AC3E}">
        <p14:creationId xmlns:p14="http://schemas.microsoft.com/office/powerpoint/2010/main" val="35876623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Stack:</a:t>
            </a:r>
            <a:r>
              <a:rPr lang="en-US" baseline="0" dirty="0"/>
              <a:t> a special region of memory, controlled efficiently by CPU (and hence is very fast). It is used for storing temporary variables created by each function. Its structure is LIFO. Every time a function exits, all the local variables it created and pushed on Stack  are freed automatically.</a:t>
            </a:r>
          </a:p>
          <a:p>
            <a:r>
              <a:rPr lang="en-US" baseline="0" dirty="0"/>
              <a:t> Heap: a region of memory, allocated and freed by user (using </a:t>
            </a:r>
            <a:r>
              <a:rPr lang="en-US" baseline="0" dirty="0" err="1"/>
              <a:t>malloc</a:t>
            </a:r>
            <a:r>
              <a:rPr lang="en-US" baseline="0" dirty="0"/>
              <a:t>() and free() </a:t>
            </a:r>
            <a:r>
              <a:rPr lang="en-US" baseline="0" dirty="0" err="1"/>
              <a:t>funcions</a:t>
            </a:r>
            <a:r>
              <a:rPr lang="en-US" baseline="0" dirty="0"/>
              <a:t>) which is typically larger but slower than stack (since it is accessed by pointers). Unlike Stack, this region can be accessed globally by all functions in a process. Similar to stack, it is per-process. </a:t>
            </a:r>
            <a:endParaRPr lang="en-US" dirty="0"/>
          </a:p>
        </p:txBody>
      </p:sp>
      <p:sp>
        <p:nvSpPr>
          <p:cNvPr id="4" name="Slide Number Placeholder 3"/>
          <p:cNvSpPr>
            <a:spLocks noGrp="1"/>
          </p:cNvSpPr>
          <p:nvPr>
            <p:ph type="sldNum" sz="quarter" idx="10"/>
          </p:nvPr>
        </p:nvSpPr>
        <p:spPr/>
        <p:txBody>
          <a:bodyPr/>
          <a:lstStyle/>
          <a:p>
            <a:pPr>
              <a:defRPr/>
            </a:pPr>
            <a:fld id="{9BDE8C46-8571-4279-846F-6B6AD8CF679E}" type="slidenum">
              <a:rPr lang="en-US" smtClean="0"/>
              <a:pPr>
                <a:defRPr/>
              </a:pPr>
              <a:t>4</a:t>
            </a:fld>
            <a:endParaRPr lang="en-US"/>
          </a:p>
        </p:txBody>
      </p:sp>
    </p:spTree>
    <p:extLst>
      <p:ext uri="{BB962C8B-B14F-4D97-AF65-F5344CB8AC3E}">
        <p14:creationId xmlns:p14="http://schemas.microsoft.com/office/powerpoint/2010/main" val="31141535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BDE8C46-8571-4279-846F-6B6AD8CF679E}" type="slidenum">
              <a:rPr lang="en-US" smtClean="0"/>
              <a:pPr>
                <a:defRPr/>
              </a:pPr>
              <a:t>5</a:t>
            </a:fld>
            <a:endParaRPr lang="en-US"/>
          </a:p>
        </p:txBody>
      </p:sp>
    </p:spTree>
    <p:extLst>
      <p:ext uri="{BB962C8B-B14F-4D97-AF65-F5344CB8AC3E}">
        <p14:creationId xmlns:p14="http://schemas.microsoft.com/office/powerpoint/2010/main" val="37159806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BDE8C46-8571-4279-846F-6B6AD8CF679E}" type="slidenum">
              <a:rPr lang="en-US" smtClean="0"/>
              <a:pPr>
                <a:defRPr/>
              </a:pPr>
              <a:t>6</a:t>
            </a:fld>
            <a:endParaRPr lang="en-US"/>
          </a:p>
        </p:txBody>
      </p:sp>
    </p:spTree>
    <p:extLst>
      <p:ext uri="{BB962C8B-B14F-4D97-AF65-F5344CB8AC3E}">
        <p14:creationId xmlns:p14="http://schemas.microsoft.com/office/powerpoint/2010/main" val="30571744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fa-IR" dirty="0"/>
              <a:t>برای اطلاعات بیشتر به لینک‌های</a:t>
            </a:r>
            <a:r>
              <a:rPr lang="fa-IR" baseline="0" dirty="0"/>
              <a:t> زیر مراجعه کنید:</a:t>
            </a:r>
          </a:p>
          <a:p>
            <a:pPr algn="l" rtl="0"/>
            <a:r>
              <a:rPr lang="en-US" dirty="0"/>
              <a:t>https://w3.cs.jmu.edu/kirkpams/OpenCSF/Books/cs361/html/ImpThr.html</a:t>
            </a:r>
            <a:endParaRPr lang="fa-IR" dirty="0"/>
          </a:p>
          <a:p>
            <a:pPr algn="l" rtl="0"/>
            <a:r>
              <a:rPr lang="en-US" dirty="0"/>
              <a:t>https://software.intel.com/en-us/articles/choosing-the-right-threading-framework</a:t>
            </a:r>
            <a:endParaRPr lang="fa-IR" dirty="0"/>
          </a:p>
          <a:p>
            <a:pPr algn="l" rtl="0"/>
            <a:endParaRPr lang="fa-IR" dirty="0"/>
          </a:p>
        </p:txBody>
      </p:sp>
      <p:sp>
        <p:nvSpPr>
          <p:cNvPr id="4" name="Slide Number Placeholder 3"/>
          <p:cNvSpPr>
            <a:spLocks noGrp="1"/>
          </p:cNvSpPr>
          <p:nvPr>
            <p:ph type="sldNum" sz="quarter" idx="10"/>
          </p:nvPr>
        </p:nvSpPr>
        <p:spPr/>
        <p:txBody>
          <a:bodyPr/>
          <a:lstStyle/>
          <a:p>
            <a:pPr>
              <a:defRPr/>
            </a:pPr>
            <a:fld id="{7733EA2D-6917-409E-A3B4-BA2E769CB8AC}" type="slidenum">
              <a:rPr lang="en-US" smtClean="0"/>
              <a:pPr>
                <a:defRPr/>
              </a:pPr>
              <a:t>7</a:t>
            </a:fld>
            <a:endParaRPr lang="en-US"/>
          </a:p>
        </p:txBody>
      </p:sp>
    </p:spTree>
    <p:extLst>
      <p:ext uri="{BB962C8B-B14F-4D97-AF65-F5344CB8AC3E}">
        <p14:creationId xmlns:p14="http://schemas.microsoft.com/office/powerpoint/2010/main" val="39255903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mapping of threads to processors</a:t>
            </a:r>
            <a:r>
              <a:rPr lang="en-US" baseline="0" dirty="0"/>
              <a:t> is implicit. But one can </a:t>
            </a:r>
            <a:r>
              <a:rPr lang="en-US" dirty="0"/>
              <a:t>use </a:t>
            </a:r>
            <a:r>
              <a:rPr lang="en-US" b="1" dirty="0"/>
              <a:t>KMP_AFFINITY</a:t>
            </a:r>
            <a:r>
              <a:rPr lang="en-US" dirty="0"/>
              <a:t> environment variable extensions from the Intel Compiler to</a:t>
            </a:r>
            <a:r>
              <a:rPr lang="en-US" baseline="0" dirty="0"/>
              <a:t> set affinity of threads (which processor is allowed to run which thread)</a:t>
            </a:r>
            <a:endParaRPr lang="en-US" dirty="0"/>
          </a:p>
        </p:txBody>
      </p:sp>
      <p:sp>
        <p:nvSpPr>
          <p:cNvPr id="4" name="Slide Number Placeholder 3"/>
          <p:cNvSpPr>
            <a:spLocks noGrp="1"/>
          </p:cNvSpPr>
          <p:nvPr>
            <p:ph type="sldNum" sz="quarter" idx="10"/>
          </p:nvPr>
        </p:nvSpPr>
        <p:spPr/>
        <p:txBody>
          <a:bodyPr/>
          <a:lstStyle/>
          <a:p>
            <a:pPr>
              <a:defRPr/>
            </a:pPr>
            <a:fld id="{9BDE8C46-8571-4279-846F-6B6AD8CF679E}" type="slidenum">
              <a:rPr lang="en-US" smtClean="0"/>
              <a:pPr>
                <a:defRPr/>
              </a:pPr>
              <a:t>8</a:t>
            </a:fld>
            <a:endParaRPr lang="en-US"/>
          </a:p>
        </p:txBody>
      </p:sp>
    </p:spTree>
    <p:extLst>
      <p:ext uri="{BB962C8B-B14F-4D97-AF65-F5344CB8AC3E}">
        <p14:creationId xmlns:p14="http://schemas.microsoft.com/office/powerpoint/2010/main" val="33902324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 runtime library often includes built-in functions for memory management, or for exceptions handling. Therefore, a runtime library is always specific to the platform and compiler.</a:t>
            </a:r>
          </a:p>
        </p:txBody>
      </p:sp>
      <p:sp>
        <p:nvSpPr>
          <p:cNvPr id="4" name="Slide Number Placeholder 3"/>
          <p:cNvSpPr>
            <a:spLocks noGrp="1"/>
          </p:cNvSpPr>
          <p:nvPr>
            <p:ph type="sldNum" sz="quarter" idx="10"/>
          </p:nvPr>
        </p:nvSpPr>
        <p:spPr/>
        <p:txBody>
          <a:bodyPr/>
          <a:lstStyle/>
          <a:p>
            <a:pPr>
              <a:defRPr/>
            </a:pPr>
            <a:fld id="{9BDE8C46-8571-4279-846F-6B6AD8CF679E}" type="slidenum">
              <a:rPr lang="en-US" smtClean="0"/>
              <a:pPr>
                <a:defRPr/>
              </a:pPr>
              <a:t>10</a:t>
            </a:fld>
            <a:endParaRPr lang="en-US"/>
          </a:p>
        </p:txBody>
      </p:sp>
    </p:spTree>
    <p:extLst>
      <p:ext uri="{BB962C8B-B14F-4D97-AF65-F5344CB8AC3E}">
        <p14:creationId xmlns:p14="http://schemas.microsoft.com/office/powerpoint/2010/main" val="20109306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fa-IR" dirty="0"/>
              <a:t>در</a:t>
            </a:r>
            <a:r>
              <a:rPr lang="fa-IR" baseline="0" dirty="0"/>
              <a:t> پیاده‌سازی‌های قدیمی در مواجهه با یک بلوک موازی، نخ‌ها ایجاد (</a:t>
            </a:r>
            <a:r>
              <a:rPr lang="en-US" baseline="0" dirty="0"/>
              <a:t>spawn</a:t>
            </a:r>
            <a:r>
              <a:rPr lang="fa-IR" baseline="0" dirty="0"/>
              <a:t>) می‌شدند و دوباره از بین می‌رفتند. ولی به دلیل سربار این کار، در پیاده‌سازی‌های اخیر یک استخر (</a:t>
            </a:r>
            <a:r>
              <a:rPr lang="en-US" baseline="0" dirty="0"/>
              <a:t>Pool</a:t>
            </a:r>
            <a:r>
              <a:rPr lang="fa-IR" baseline="0" dirty="0"/>
              <a:t>) از نخ‌ها از ابتدا ایجاد می‌شود و سپس در هر بار مواجهه با یک بلوک موازی، تعداد مورد نیاز از آن نخها فعال و بعد از اتمام کار دوباره غیرفعال می‌شوند. </a:t>
            </a:r>
            <a:endParaRPr lang="en-US" dirty="0"/>
          </a:p>
        </p:txBody>
      </p:sp>
      <p:sp>
        <p:nvSpPr>
          <p:cNvPr id="4" name="Slide Number Placeholder 3"/>
          <p:cNvSpPr>
            <a:spLocks noGrp="1"/>
          </p:cNvSpPr>
          <p:nvPr>
            <p:ph type="sldNum" sz="quarter" idx="10"/>
          </p:nvPr>
        </p:nvSpPr>
        <p:spPr/>
        <p:txBody>
          <a:bodyPr/>
          <a:lstStyle/>
          <a:p>
            <a:pPr>
              <a:defRPr/>
            </a:pPr>
            <a:fld id="{7733EA2D-6917-409E-A3B4-BA2E769CB8AC}" type="slidenum">
              <a:rPr lang="en-US" smtClean="0"/>
              <a:pPr>
                <a:defRPr/>
              </a:pPr>
              <a:t>13</a:t>
            </a:fld>
            <a:endParaRPr lang="en-US"/>
          </a:p>
        </p:txBody>
      </p:sp>
    </p:spTree>
    <p:extLst>
      <p:ext uri="{BB962C8B-B14F-4D97-AF65-F5344CB8AC3E}">
        <p14:creationId xmlns:p14="http://schemas.microsoft.com/office/powerpoint/2010/main" val="873620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a:t>
            </a:r>
            <a:r>
              <a:rPr lang="en-US" baseline="0" dirty="0"/>
              <a:t> fist way of requesting the number of threads was to use </a:t>
            </a:r>
            <a:r>
              <a:rPr lang="en-US" sz="1200" dirty="0" err="1">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num_threads</a:t>
            </a:r>
            <a:r>
              <a:rPr lang="en-US" sz="12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(4) clause in parallel region</a:t>
            </a:r>
            <a:endParaRPr lang="en-US" dirty="0"/>
          </a:p>
        </p:txBody>
      </p:sp>
      <p:sp>
        <p:nvSpPr>
          <p:cNvPr id="4" name="Slide Number Placeholder 3"/>
          <p:cNvSpPr>
            <a:spLocks noGrp="1"/>
          </p:cNvSpPr>
          <p:nvPr>
            <p:ph type="sldNum" sz="quarter" idx="10"/>
          </p:nvPr>
        </p:nvSpPr>
        <p:spPr/>
        <p:txBody>
          <a:bodyPr/>
          <a:lstStyle/>
          <a:p>
            <a:pPr>
              <a:defRPr/>
            </a:pPr>
            <a:fld id="{9BDE8C46-8571-4279-846F-6B6AD8CF679E}" type="slidenum">
              <a:rPr lang="en-US" smtClean="0"/>
              <a:pPr>
                <a:defRPr/>
              </a:pPr>
              <a:t>17</a:t>
            </a:fld>
            <a:endParaRPr lang="en-US"/>
          </a:p>
        </p:txBody>
      </p:sp>
    </p:spTree>
    <p:extLst>
      <p:ext uri="{BB962C8B-B14F-4D97-AF65-F5344CB8AC3E}">
        <p14:creationId xmlns:p14="http://schemas.microsoft.com/office/powerpoint/2010/main" val="2914737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BDE8C46-8571-4279-846F-6B6AD8CF679E}" type="slidenum">
              <a:rPr lang="en-US" smtClean="0"/>
              <a:pPr>
                <a:defRPr/>
              </a:pPr>
              <a:t>18</a:t>
            </a:fld>
            <a:endParaRPr lang="en-US"/>
          </a:p>
        </p:txBody>
      </p:sp>
    </p:spTree>
    <p:extLst>
      <p:ext uri="{BB962C8B-B14F-4D97-AF65-F5344CB8AC3E}">
        <p14:creationId xmlns:p14="http://schemas.microsoft.com/office/powerpoint/2010/main" val="6199451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fa-IR" dirty="0"/>
              <a:t>برای اثبات معادله فوق، کافیست </a:t>
            </a:r>
            <a:r>
              <a:rPr lang="en-US" dirty="0"/>
              <a:t>x</a:t>
            </a:r>
            <a:r>
              <a:rPr lang="fa-IR" dirty="0"/>
              <a:t> را به </a:t>
            </a:r>
            <a:r>
              <a:rPr lang="en-US" dirty="0"/>
              <a:t>tan(</a:t>
            </a:r>
            <a:r>
              <a:rPr lang="el-GR" dirty="0"/>
              <a:t>θ</a:t>
            </a:r>
            <a:r>
              <a:rPr lang="en-US" dirty="0"/>
              <a:t>)</a:t>
            </a:r>
            <a:r>
              <a:rPr lang="fa-IR" dirty="0"/>
              <a:t> تغییر متغیر دهیم.</a:t>
            </a:r>
            <a:endParaRPr lang="en-US" dirty="0"/>
          </a:p>
        </p:txBody>
      </p:sp>
      <p:sp>
        <p:nvSpPr>
          <p:cNvPr id="4" name="Slide Number Placeholder 3"/>
          <p:cNvSpPr>
            <a:spLocks noGrp="1"/>
          </p:cNvSpPr>
          <p:nvPr>
            <p:ph type="sldNum" sz="quarter" idx="10"/>
          </p:nvPr>
        </p:nvSpPr>
        <p:spPr/>
        <p:txBody>
          <a:bodyPr/>
          <a:lstStyle/>
          <a:p>
            <a:pPr>
              <a:defRPr/>
            </a:pPr>
            <a:fld id="{7733EA2D-6917-409E-A3B4-BA2E769CB8AC}" type="slidenum">
              <a:rPr lang="en-US" smtClean="0"/>
              <a:pPr>
                <a:defRPr/>
              </a:pPr>
              <a:t>19</a:t>
            </a:fld>
            <a:endParaRPr lang="en-US"/>
          </a:p>
        </p:txBody>
      </p:sp>
    </p:spTree>
    <p:extLst>
      <p:ext uri="{BB962C8B-B14F-4D97-AF65-F5344CB8AC3E}">
        <p14:creationId xmlns:p14="http://schemas.microsoft.com/office/powerpoint/2010/main" val="41717898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BDE8C46-8571-4279-846F-6B6AD8CF679E}" type="slidenum">
              <a:rPr lang="en-US" smtClean="0"/>
              <a:pPr>
                <a:defRPr/>
              </a:pPr>
              <a:t>22</a:t>
            </a:fld>
            <a:endParaRPr lang="en-US"/>
          </a:p>
        </p:txBody>
      </p:sp>
    </p:spTree>
    <p:extLst>
      <p:ext uri="{BB962C8B-B14F-4D97-AF65-F5344CB8AC3E}">
        <p14:creationId xmlns:p14="http://schemas.microsoft.com/office/powerpoint/2010/main" val="31344411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fa-IR" dirty="0"/>
              <a:t>در</a:t>
            </a:r>
            <a:r>
              <a:rPr lang="fa-IR" baseline="0" dirty="0"/>
              <a:t> این روش نیاز است اندازه بلوک‌های حافظه نهان را بدانیم. حتی اگر به روشهایی بتوان این اطلاعات را در برنامه استخراج کرد، باز هم میزان مصرف حافظه بهینه نیست.</a:t>
            </a:r>
            <a:endParaRPr lang="en-US" dirty="0"/>
          </a:p>
        </p:txBody>
      </p:sp>
      <p:sp>
        <p:nvSpPr>
          <p:cNvPr id="4" name="Slide Number Placeholder 3"/>
          <p:cNvSpPr>
            <a:spLocks noGrp="1"/>
          </p:cNvSpPr>
          <p:nvPr>
            <p:ph type="sldNum" sz="quarter" idx="10"/>
          </p:nvPr>
        </p:nvSpPr>
        <p:spPr/>
        <p:txBody>
          <a:bodyPr/>
          <a:lstStyle/>
          <a:p>
            <a:pPr>
              <a:defRPr/>
            </a:pPr>
            <a:fld id="{9BDE8C46-8571-4279-846F-6B6AD8CF679E}" type="slidenum">
              <a:rPr lang="en-US" smtClean="0"/>
              <a:pPr>
                <a:defRPr/>
              </a:pPr>
              <a:t>24</a:t>
            </a:fld>
            <a:endParaRPr lang="en-US"/>
          </a:p>
        </p:txBody>
      </p:sp>
    </p:spTree>
    <p:extLst>
      <p:ext uri="{BB962C8B-B14F-4D97-AF65-F5344CB8AC3E}">
        <p14:creationId xmlns:p14="http://schemas.microsoft.com/office/powerpoint/2010/main" val="195289090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fa-IR" dirty="0"/>
              <a:t>در مورد</a:t>
            </a:r>
            <a:r>
              <a:rPr lang="fa-IR" baseline="0" dirty="0"/>
              <a:t> همگام‎سازی فرآیندها و روش‌های آن (سمافور، میوتکس و ...) به تفصیل در درس سیستم‌عامل بحث شد. مثال تولیدکننده-مصرف کننده را بیاد بیاورید. مرور این مطالب توصیه می‌شود. </a:t>
            </a:r>
            <a:endParaRPr lang="en-US" dirty="0"/>
          </a:p>
        </p:txBody>
      </p:sp>
      <p:sp>
        <p:nvSpPr>
          <p:cNvPr id="4" name="Slide Number Placeholder 3"/>
          <p:cNvSpPr>
            <a:spLocks noGrp="1"/>
          </p:cNvSpPr>
          <p:nvPr>
            <p:ph type="sldNum" sz="quarter" idx="10"/>
          </p:nvPr>
        </p:nvSpPr>
        <p:spPr/>
        <p:txBody>
          <a:bodyPr/>
          <a:lstStyle/>
          <a:p>
            <a:pPr>
              <a:defRPr/>
            </a:pPr>
            <a:fld id="{7733EA2D-6917-409E-A3B4-BA2E769CB8AC}" type="slidenum">
              <a:rPr lang="en-US" smtClean="0"/>
              <a:pPr>
                <a:defRPr/>
              </a:pPr>
              <a:t>25</a:t>
            </a:fld>
            <a:endParaRPr lang="en-US"/>
          </a:p>
        </p:txBody>
      </p:sp>
    </p:spTree>
    <p:extLst>
      <p:ext uri="{BB962C8B-B14F-4D97-AF65-F5344CB8AC3E}">
        <p14:creationId xmlns:p14="http://schemas.microsoft.com/office/powerpoint/2010/main" val="36170013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both hardware and software solutions to</a:t>
            </a:r>
            <a:r>
              <a:rPr lang="en-US" baseline="0" dirty="0"/>
              <a:t> provide mutual exclusion. Hardware solutions include atomic instructions such as test-and-set and compare-and-swap to lock a variable. Software solutions include algorithms such as </a:t>
            </a:r>
            <a:r>
              <a:rPr lang="en-US" baseline="0" dirty="0" err="1"/>
              <a:t>Lamport’s</a:t>
            </a:r>
            <a:r>
              <a:rPr lang="en-US" baseline="0" dirty="0"/>
              <a:t> Bakery.</a:t>
            </a:r>
            <a:endParaRPr lang="en-US" dirty="0"/>
          </a:p>
        </p:txBody>
      </p:sp>
      <p:sp>
        <p:nvSpPr>
          <p:cNvPr id="4" name="Slide Number Placeholder 3"/>
          <p:cNvSpPr>
            <a:spLocks noGrp="1"/>
          </p:cNvSpPr>
          <p:nvPr>
            <p:ph type="sldNum" sz="quarter" idx="10"/>
          </p:nvPr>
        </p:nvSpPr>
        <p:spPr/>
        <p:txBody>
          <a:bodyPr/>
          <a:lstStyle/>
          <a:p>
            <a:pPr>
              <a:defRPr/>
            </a:pPr>
            <a:fld id="{9BDE8C46-8571-4279-846F-6B6AD8CF679E}" type="slidenum">
              <a:rPr lang="en-US" smtClean="0"/>
              <a:pPr>
                <a:defRPr/>
              </a:pPr>
              <a:t>26</a:t>
            </a:fld>
            <a:endParaRPr lang="en-US"/>
          </a:p>
        </p:txBody>
      </p:sp>
    </p:spTree>
    <p:extLst>
      <p:ext uri="{BB962C8B-B14F-4D97-AF65-F5344CB8AC3E}">
        <p14:creationId xmlns:p14="http://schemas.microsoft.com/office/powerpoint/2010/main" val="22351293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BDE8C46-8571-4279-846F-6B6AD8CF679E}" type="slidenum">
              <a:rPr lang="en-US" smtClean="0"/>
              <a:pPr>
                <a:defRPr/>
              </a:pPr>
              <a:t>32</a:t>
            </a:fld>
            <a:endParaRPr lang="en-US"/>
          </a:p>
        </p:txBody>
      </p:sp>
    </p:spTree>
    <p:extLst>
      <p:ext uri="{BB962C8B-B14F-4D97-AF65-F5344CB8AC3E}">
        <p14:creationId xmlns:p14="http://schemas.microsoft.com/office/powerpoint/2010/main" val="395628519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BDE8C46-8571-4279-846F-6B6AD8CF679E}" type="slidenum">
              <a:rPr lang="en-US" smtClean="0"/>
              <a:pPr>
                <a:defRPr/>
              </a:pPr>
              <a:t>34</a:t>
            </a:fld>
            <a:endParaRPr lang="en-US"/>
          </a:p>
        </p:txBody>
      </p:sp>
    </p:spTree>
    <p:extLst>
      <p:ext uri="{BB962C8B-B14F-4D97-AF65-F5344CB8AC3E}">
        <p14:creationId xmlns:p14="http://schemas.microsoft.com/office/powerpoint/2010/main" val="36568109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4" name="Rectangle 3"/>
          <p:cNvSpPr/>
          <p:nvPr/>
        </p:nvSpPr>
        <p:spPr bwMode="white">
          <a:xfrm>
            <a:off x="0" y="5970588"/>
            <a:ext cx="9144000" cy="887412"/>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5" name="Rectangle 4"/>
          <p:cNvSpPr/>
          <p:nvPr/>
        </p:nvSpPr>
        <p:spPr>
          <a:xfrm>
            <a:off x="-9525" y="6053138"/>
            <a:ext cx="2249488" cy="712787"/>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6" name="Rectangle 5"/>
          <p:cNvSpPr/>
          <p:nvPr/>
        </p:nvSpPr>
        <p:spPr>
          <a:xfrm>
            <a:off x="2359025" y="6043613"/>
            <a:ext cx="6784975" cy="714375"/>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lang="en-US" dirty="0"/>
              <a:t>Click to edit Master title style</a:t>
            </a:r>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7" name="Date Placeholder 27"/>
          <p:cNvSpPr>
            <a:spLocks noGrp="1"/>
          </p:cNvSpPr>
          <p:nvPr>
            <p:ph type="dt" sz="half" idx="10"/>
          </p:nvPr>
        </p:nvSpPr>
        <p:spPr>
          <a:xfrm>
            <a:off x="76200" y="6069013"/>
            <a:ext cx="2057400" cy="685800"/>
          </a:xfrm>
        </p:spPr>
        <p:txBody>
          <a:bodyPr>
            <a:noAutofit/>
          </a:bodyPr>
          <a:lstStyle>
            <a:lvl1pPr algn="ctr">
              <a:defRPr sz="2000">
                <a:solidFill>
                  <a:srgbClr val="FFFFFF"/>
                </a:solidFill>
              </a:defRPr>
            </a:lvl1pPr>
          </a:lstStyle>
          <a:p>
            <a:pPr>
              <a:defRPr/>
            </a:pPr>
            <a:r>
              <a:rPr lang="en-US" altLang="en-US"/>
              <a:t>برنامه‌نویسی چند‌هسته‌ای</a:t>
            </a:r>
          </a:p>
        </p:txBody>
      </p:sp>
      <p:sp>
        <p:nvSpPr>
          <p:cNvPr id="10" name="Footer Placeholder 16"/>
          <p:cNvSpPr>
            <a:spLocks noGrp="1"/>
          </p:cNvSpPr>
          <p:nvPr>
            <p:ph type="ftr" sz="quarter" idx="11"/>
          </p:nvPr>
        </p:nvSpPr>
        <p:spPr>
          <a:xfrm>
            <a:off x="2085975" y="236538"/>
            <a:ext cx="5867400" cy="365125"/>
          </a:xfrm>
        </p:spPr>
        <p:txBody>
          <a:bodyPr/>
          <a:lstStyle>
            <a:lvl1pPr algn="r">
              <a:defRPr>
                <a:solidFill>
                  <a:schemeClr val="tx2"/>
                </a:solidFill>
              </a:defRPr>
            </a:lvl1pPr>
          </a:lstStyle>
          <a:p>
            <a:pPr>
              <a:defRPr/>
            </a:pPr>
            <a:r>
              <a:rPr lang="fa-IR" altLang="en-US"/>
              <a:t>5 - برنامه‌نویسی موازی با </a:t>
            </a:r>
            <a:r>
              <a:rPr lang="en-US" altLang="en-US"/>
              <a:t>OpenMP</a:t>
            </a:r>
            <a:endParaRPr lang="en-US" altLang="en-US" dirty="0"/>
          </a:p>
        </p:txBody>
      </p:sp>
      <p:sp>
        <p:nvSpPr>
          <p:cNvPr id="11"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pPr>
              <a:defRPr/>
            </a:pPr>
            <a:fld id="{C3B93544-E515-4998-91FF-24DFE15CC0DF}" type="slidenum">
              <a:rPr lang="en-US" altLang="en-US"/>
              <a:pPr>
                <a:defRPr/>
              </a:pPr>
              <a:t>‹#›</a:t>
            </a:fld>
            <a:endParaRPr lang="en-US" altLang="en-US"/>
          </a:p>
        </p:txBody>
      </p:sp>
    </p:spTree>
    <p:extLst>
      <p:ext uri="{BB962C8B-B14F-4D97-AF65-F5344CB8AC3E}">
        <p14:creationId xmlns:p14="http://schemas.microsoft.com/office/powerpoint/2010/main" val="3026128577"/>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685800"/>
          </a:xfrm>
        </p:spPr>
        <p:txBody>
          <a:bodyPr/>
          <a:lstStyle>
            <a:lvl1pPr algn="r" rtl="1">
              <a:defRPr baseline="0">
                <a:cs typeface="B Nazanin" panose="00000400000000000000" pitchFamily="2" charset="-78"/>
              </a:defRPr>
            </a:lvl1pPr>
          </a:lstStyle>
          <a:p>
            <a:r>
              <a:rPr lang="en-US" dirty="0"/>
              <a:t>Click to edit Master title style</a:t>
            </a:r>
          </a:p>
        </p:txBody>
      </p:sp>
      <p:sp>
        <p:nvSpPr>
          <p:cNvPr id="8" name="Content Placeholder 7"/>
          <p:cNvSpPr>
            <a:spLocks noGrp="1"/>
          </p:cNvSpPr>
          <p:nvPr>
            <p:ph sz="quarter" idx="1"/>
          </p:nvPr>
        </p:nvSpPr>
        <p:spPr>
          <a:xfrm>
            <a:off x="612648" y="1219200"/>
            <a:ext cx="8153400" cy="4876800"/>
          </a:xfrm>
        </p:spPr>
        <p:txBody>
          <a:bodyPr/>
          <a:lstStyle>
            <a:lvl1pPr algn="r" rtl="1">
              <a:defRPr baseline="0">
                <a:cs typeface="B Nazanin" panose="00000400000000000000" pitchFamily="2" charset="-78"/>
              </a:defRPr>
            </a:lvl1pPr>
            <a:lvl2pPr algn="r" rtl="1">
              <a:defRPr baseline="0">
                <a:cs typeface="B Nazanin" panose="00000400000000000000" pitchFamily="2" charset="-78"/>
              </a:defRPr>
            </a:lvl2pPr>
            <a:lvl3pPr algn="r" rtl="1">
              <a:defRPr baseline="0">
                <a:cs typeface="B Nazanin" panose="00000400000000000000" pitchFamily="2" charset="-78"/>
              </a:defRPr>
            </a:lvl3pPr>
            <a:lvl4pPr algn="r" rtl="1">
              <a:defRPr baseline="0">
                <a:cs typeface="B Nazanin" panose="00000400000000000000" pitchFamily="2" charset="-78"/>
              </a:defRPr>
            </a:lvl4pPr>
            <a:lvl5pPr algn="r" rtl="1">
              <a:defRPr baseline="0">
                <a:cs typeface="B Nazanin" panose="00000400000000000000" pitchFamily="2" charset="-78"/>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rtl="1">
              <a:defRPr baseline="0">
                <a:cs typeface="B Nazanin" panose="00000400000000000000" pitchFamily="2" charset="-78"/>
              </a:defRPr>
            </a:lvl1pPr>
          </a:lstStyle>
          <a:p>
            <a:pPr>
              <a:defRPr/>
            </a:pPr>
            <a:r>
              <a:rPr lang="en-US" altLang="en-US"/>
              <a:t>برنامه‌نویسی چند‌هسته‌ای</a:t>
            </a:r>
          </a:p>
        </p:txBody>
      </p:sp>
      <p:sp>
        <p:nvSpPr>
          <p:cNvPr id="5" name="Footer Placeholder 4"/>
          <p:cNvSpPr>
            <a:spLocks noGrp="1"/>
          </p:cNvSpPr>
          <p:nvPr>
            <p:ph type="ftr" sz="quarter" idx="11"/>
          </p:nvPr>
        </p:nvSpPr>
        <p:spPr>
          <a:xfrm>
            <a:off x="1195388" y="6248400"/>
            <a:ext cx="4811712" cy="381000"/>
          </a:xfrm>
        </p:spPr>
        <p:txBody>
          <a:bodyPr/>
          <a:lstStyle>
            <a:lvl1pPr rtl="1">
              <a:defRPr baseline="0">
                <a:cs typeface="B Nazanin" panose="00000400000000000000" pitchFamily="2" charset="-78"/>
              </a:defRPr>
            </a:lvl1pPr>
          </a:lstStyle>
          <a:p>
            <a:pPr>
              <a:defRPr/>
            </a:pPr>
            <a:r>
              <a:rPr lang="fa-IR" altLang="en-US"/>
              <a:t>5 - برنامه‌نویسی موازی با </a:t>
            </a:r>
            <a:r>
              <a:rPr lang="en-US" altLang="en-US"/>
              <a:t>OpenMP</a:t>
            </a:r>
            <a:endParaRPr lang="en-US" altLang="en-US" dirty="0"/>
          </a:p>
        </p:txBody>
      </p:sp>
      <p:sp>
        <p:nvSpPr>
          <p:cNvPr id="6" name="Slide Number Placeholder 5"/>
          <p:cNvSpPr>
            <a:spLocks noGrp="1"/>
          </p:cNvSpPr>
          <p:nvPr>
            <p:ph type="sldNum" sz="quarter" idx="12"/>
          </p:nvPr>
        </p:nvSpPr>
        <p:spPr/>
        <p:txBody>
          <a:bodyPr/>
          <a:lstStyle>
            <a:lvl1pPr rtl="1">
              <a:defRPr baseline="0">
                <a:solidFill>
                  <a:srgbClr val="FFFFFF"/>
                </a:solidFill>
                <a:cs typeface="B Nazanin" panose="00000400000000000000" pitchFamily="2" charset="-78"/>
              </a:defRPr>
            </a:lvl1pPr>
          </a:lstStyle>
          <a:p>
            <a:pPr>
              <a:defRPr/>
            </a:pPr>
            <a:fld id="{F8A5C899-0CF2-4984-AB7A-C737EF720B98}" type="slidenum">
              <a:rPr lang="en-US" altLang="en-US" smtClean="0"/>
              <a:pPr>
                <a:defRPr/>
              </a:pPr>
              <a:t>‹#›</a:t>
            </a:fld>
            <a:endParaRPr lang="en-US" altLang="en-US" dirty="0"/>
          </a:p>
        </p:txBody>
      </p:sp>
    </p:spTree>
    <p:extLst>
      <p:ext uri="{BB962C8B-B14F-4D97-AF65-F5344CB8AC3E}">
        <p14:creationId xmlns:p14="http://schemas.microsoft.com/office/powerpoint/2010/main" val="19045846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5" name="Rectangle 4"/>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6" name="Rectangle 5"/>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3" name="Text Placeholder 2"/>
          <p:cNvSpPr>
            <a:spLocks noGrp="1"/>
          </p:cNvSpPr>
          <p:nvPr>
            <p:ph type="body" idx="1"/>
          </p:nvPr>
        </p:nvSpPr>
        <p:spPr>
          <a:xfrm>
            <a:off x="1371600" y="2743200"/>
            <a:ext cx="7123113" cy="1673225"/>
          </a:xfrm>
        </p:spPr>
        <p:txBody>
          <a:bodyPr/>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lang="en-US"/>
              <a:t>Click to edit Master title style</a:t>
            </a:r>
          </a:p>
        </p:txBody>
      </p:sp>
      <p:sp>
        <p:nvSpPr>
          <p:cNvPr id="7" name="Date Placeholder 11"/>
          <p:cNvSpPr>
            <a:spLocks noGrp="1"/>
          </p:cNvSpPr>
          <p:nvPr>
            <p:ph type="dt" sz="half" idx="10"/>
          </p:nvPr>
        </p:nvSpPr>
        <p:spPr/>
        <p:txBody>
          <a:bodyPr/>
          <a:lstStyle>
            <a:lvl1pPr>
              <a:defRPr/>
            </a:lvl1pPr>
          </a:lstStyle>
          <a:p>
            <a:pPr>
              <a:defRPr/>
            </a:pPr>
            <a:r>
              <a:rPr lang="en-US" altLang="en-US"/>
              <a:t>برنامه‌نویسی چند‌هسته‌ای</a:t>
            </a:r>
          </a:p>
        </p:txBody>
      </p:sp>
      <p:sp>
        <p:nvSpPr>
          <p:cNvPr id="8" name="Slide Number Placeholder 12"/>
          <p:cNvSpPr>
            <a:spLocks noGrp="1"/>
          </p:cNvSpPr>
          <p:nvPr>
            <p:ph type="sldNum" sz="quarter" idx="11"/>
          </p:nvPr>
        </p:nvSpPr>
        <p:spPr>
          <a:xfrm>
            <a:off x="0" y="1752600"/>
            <a:ext cx="1295400" cy="701675"/>
          </a:xfrm>
        </p:spPr>
        <p:txBody>
          <a:bodyPr>
            <a:noAutofit/>
          </a:bodyPr>
          <a:lstStyle>
            <a:lvl1pPr>
              <a:defRPr sz="2400">
                <a:solidFill>
                  <a:srgbClr val="FFFFFF"/>
                </a:solidFill>
              </a:defRPr>
            </a:lvl1pPr>
          </a:lstStyle>
          <a:p>
            <a:pPr>
              <a:defRPr/>
            </a:pPr>
            <a:fld id="{D1C4AC28-1BAE-4DCD-93DB-8AD7F1A46763}" type="slidenum">
              <a:rPr lang="en-US" altLang="en-US"/>
              <a:pPr>
                <a:defRPr/>
              </a:pPr>
              <a:t>‹#›</a:t>
            </a:fld>
            <a:endParaRPr lang="en-US" altLang="en-US"/>
          </a:p>
        </p:txBody>
      </p:sp>
      <p:sp>
        <p:nvSpPr>
          <p:cNvPr id="9" name="Footer Placeholder 13"/>
          <p:cNvSpPr>
            <a:spLocks noGrp="1"/>
          </p:cNvSpPr>
          <p:nvPr>
            <p:ph type="ftr" sz="quarter" idx="12"/>
          </p:nvPr>
        </p:nvSpPr>
        <p:spPr/>
        <p:txBody>
          <a:bodyPr/>
          <a:lstStyle>
            <a:lvl1pPr>
              <a:defRPr/>
            </a:lvl1pPr>
          </a:lstStyle>
          <a:p>
            <a:pPr>
              <a:defRPr/>
            </a:pPr>
            <a:r>
              <a:rPr lang="fa-IR" altLang="en-US"/>
              <a:t>5 - برنامه‌نویسی موازی با </a:t>
            </a:r>
            <a:r>
              <a:rPr lang="en-US" altLang="en-US"/>
              <a:t>OpenMP</a:t>
            </a:r>
          </a:p>
        </p:txBody>
      </p:sp>
    </p:spTree>
    <p:extLst>
      <p:ext uri="{BB962C8B-B14F-4D97-AF65-F5344CB8AC3E}">
        <p14:creationId xmlns:p14="http://schemas.microsoft.com/office/powerpoint/2010/main" val="279782321"/>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
          </p:nvPr>
        </p:nvSpPr>
        <p:spPr>
          <a:xfrm>
            <a:off x="609600" y="1589567"/>
            <a:ext cx="38862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2"/>
          </p:nvPr>
        </p:nvSpPr>
        <p:spPr>
          <a:xfrm>
            <a:off x="4844901" y="1589567"/>
            <a:ext cx="38862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7"/>
          <p:cNvSpPr>
            <a:spLocks noGrp="1"/>
          </p:cNvSpPr>
          <p:nvPr>
            <p:ph type="dt" sz="half" idx="10"/>
          </p:nvPr>
        </p:nvSpPr>
        <p:spPr/>
        <p:txBody>
          <a:bodyPr rtlCol="0"/>
          <a:lstStyle>
            <a:lvl1pPr>
              <a:defRPr/>
            </a:lvl1pPr>
          </a:lstStyle>
          <a:p>
            <a:pPr>
              <a:defRPr/>
            </a:pPr>
            <a:r>
              <a:rPr lang="en-US" altLang="en-US"/>
              <a:t>برنامه‌نویسی چند‌هسته‌ای</a:t>
            </a:r>
          </a:p>
        </p:txBody>
      </p:sp>
      <p:sp>
        <p:nvSpPr>
          <p:cNvPr id="6" name="Slide Number Placeholder 9"/>
          <p:cNvSpPr>
            <a:spLocks noGrp="1"/>
          </p:cNvSpPr>
          <p:nvPr>
            <p:ph type="sldNum" sz="quarter" idx="11"/>
          </p:nvPr>
        </p:nvSpPr>
        <p:spPr/>
        <p:txBody>
          <a:bodyPr rtlCol="0"/>
          <a:lstStyle>
            <a:lvl1pPr>
              <a:defRPr/>
            </a:lvl1pPr>
          </a:lstStyle>
          <a:p>
            <a:pPr>
              <a:defRPr/>
            </a:pPr>
            <a:fld id="{C8273399-FC00-468E-8297-A5C757E77729}" type="slidenum">
              <a:rPr lang="en-US" altLang="en-US"/>
              <a:pPr>
                <a:defRPr/>
              </a:pPr>
              <a:t>‹#›</a:t>
            </a:fld>
            <a:endParaRPr lang="en-US" altLang="en-US"/>
          </a:p>
        </p:txBody>
      </p:sp>
      <p:sp>
        <p:nvSpPr>
          <p:cNvPr id="7" name="Footer Placeholder 11"/>
          <p:cNvSpPr>
            <a:spLocks noGrp="1"/>
          </p:cNvSpPr>
          <p:nvPr>
            <p:ph type="ftr" sz="quarter" idx="12"/>
          </p:nvPr>
        </p:nvSpPr>
        <p:spPr/>
        <p:txBody>
          <a:bodyPr rtlCol="0"/>
          <a:lstStyle>
            <a:lvl1pPr>
              <a:defRPr/>
            </a:lvl1pPr>
          </a:lstStyle>
          <a:p>
            <a:pPr>
              <a:defRPr/>
            </a:pPr>
            <a:r>
              <a:rPr lang="fa-IR" altLang="en-US"/>
              <a:t>5 - برنامه‌نویسی موازی با </a:t>
            </a:r>
            <a:r>
              <a:rPr lang="en-US" altLang="en-US"/>
              <a:t>OpenMP</a:t>
            </a:r>
          </a:p>
        </p:txBody>
      </p:sp>
    </p:spTree>
    <p:extLst>
      <p:ext uri="{BB962C8B-B14F-4D97-AF65-F5344CB8AC3E}">
        <p14:creationId xmlns:p14="http://schemas.microsoft.com/office/powerpoint/2010/main" val="26965976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lstStyle>
            <a:lvl1pPr>
              <a:defRPr/>
            </a:lvl1pPr>
          </a:lstStyle>
          <a:p>
            <a:r>
              <a:rPr lang="en-US"/>
              <a:t>Click to edit Master title style</a:t>
            </a:r>
          </a:p>
        </p:txBody>
      </p:sp>
      <p:sp>
        <p:nvSpPr>
          <p:cNvPr id="11" name="Content Placeholder 10"/>
          <p:cNvSpPr>
            <a:spLocks noGrp="1"/>
          </p:cNvSpPr>
          <p:nvPr>
            <p:ph sz="quarter" idx="2"/>
          </p:nvPr>
        </p:nvSpPr>
        <p:spPr>
          <a:xfrm>
            <a:off x="609600" y="2438400"/>
            <a:ext cx="3886200" cy="3581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quarter" idx="4"/>
          </p:nvPr>
        </p:nvSpPr>
        <p:spPr>
          <a:xfrm>
            <a:off x="4800600" y="2438400"/>
            <a:ext cx="3886200" cy="3581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a:r>
              <a:rPr lang="en-US"/>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a:r>
              <a:rPr lang="en-US"/>
              <a:t>Click to edit Master text styles</a:t>
            </a:r>
          </a:p>
        </p:txBody>
      </p:sp>
      <p:sp>
        <p:nvSpPr>
          <p:cNvPr id="7" name="Date Placeholder 9"/>
          <p:cNvSpPr>
            <a:spLocks noGrp="1"/>
          </p:cNvSpPr>
          <p:nvPr>
            <p:ph type="dt" sz="half" idx="10"/>
          </p:nvPr>
        </p:nvSpPr>
        <p:spPr/>
        <p:txBody>
          <a:bodyPr rtlCol="0"/>
          <a:lstStyle>
            <a:lvl1pPr>
              <a:defRPr/>
            </a:lvl1pPr>
          </a:lstStyle>
          <a:p>
            <a:pPr>
              <a:defRPr/>
            </a:pPr>
            <a:r>
              <a:rPr lang="en-US" altLang="en-US"/>
              <a:t>برنامه‌نویسی چند‌هسته‌ای</a:t>
            </a:r>
          </a:p>
        </p:txBody>
      </p:sp>
      <p:sp>
        <p:nvSpPr>
          <p:cNvPr id="8" name="Slide Number Placeholder 11"/>
          <p:cNvSpPr>
            <a:spLocks noGrp="1"/>
          </p:cNvSpPr>
          <p:nvPr>
            <p:ph type="sldNum" sz="quarter" idx="11"/>
          </p:nvPr>
        </p:nvSpPr>
        <p:spPr/>
        <p:txBody>
          <a:bodyPr rtlCol="0"/>
          <a:lstStyle>
            <a:lvl1pPr>
              <a:defRPr/>
            </a:lvl1pPr>
          </a:lstStyle>
          <a:p>
            <a:pPr>
              <a:defRPr/>
            </a:pPr>
            <a:fld id="{B5EE0C74-F63E-4D14-B3D9-88056494A6C0}" type="slidenum">
              <a:rPr lang="en-US" altLang="en-US"/>
              <a:pPr>
                <a:defRPr/>
              </a:pPr>
              <a:t>‹#›</a:t>
            </a:fld>
            <a:endParaRPr lang="en-US" altLang="en-US"/>
          </a:p>
        </p:txBody>
      </p:sp>
      <p:sp>
        <p:nvSpPr>
          <p:cNvPr id="9" name="Footer Placeholder 13"/>
          <p:cNvSpPr>
            <a:spLocks noGrp="1"/>
          </p:cNvSpPr>
          <p:nvPr>
            <p:ph type="ftr" sz="quarter" idx="12"/>
          </p:nvPr>
        </p:nvSpPr>
        <p:spPr/>
        <p:txBody>
          <a:bodyPr rtlCol="0"/>
          <a:lstStyle>
            <a:lvl1pPr>
              <a:defRPr/>
            </a:lvl1pPr>
          </a:lstStyle>
          <a:p>
            <a:pPr>
              <a:defRPr/>
            </a:pPr>
            <a:r>
              <a:rPr lang="fa-IR" altLang="en-US"/>
              <a:t>5 - برنامه‌نویسی موازی با </a:t>
            </a:r>
            <a:r>
              <a:rPr lang="en-US" altLang="en-US"/>
              <a:t>OpenMP</a:t>
            </a:r>
          </a:p>
        </p:txBody>
      </p:sp>
    </p:spTree>
    <p:extLst>
      <p:ext uri="{BB962C8B-B14F-4D97-AF65-F5344CB8AC3E}">
        <p14:creationId xmlns:p14="http://schemas.microsoft.com/office/powerpoint/2010/main" val="36389807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13"/>
          <p:cNvSpPr>
            <a:spLocks noGrp="1"/>
          </p:cNvSpPr>
          <p:nvPr>
            <p:ph type="dt" sz="half" idx="10"/>
          </p:nvPr>
        </p:nvSpPr>
        <p:spPr/>
        <p:txBody>
          <a:bodyPr/>
          <a:lstStyle>
            <a:lvl1pPr>
              <a:defRPr/>
            </a:lvl1pPr>
          </a:lstStyle>
          <a:p>
            <a:pPr>
              <a:defRPr/>
            </a:pPr>
            <a:r>
              <a:rPr lang="en-US" altLang="en-US"/>
              <a:t>برنامه‌نویسی چند‌هسته‌ای</a:t>
            </a:r>
            <a:endParaRPr lang="en-US" altLang="en-US" dirty="0"/>
          </a:p>
        </p:txBody>
      </p:sp>
      <p:sp>
        <p:nvSpPr>
          <p:cNvPr id="4" name="Footer Placeholder 2"/>
          <p:cNvSpPr>
            <a:spLocks noGrp="1"/>
          </p:cNvSpPr>
          <p:nvPr>
            <p:ph type="ftr" sz="quarter" idx="11"/>
          </p:nvPr>
        </p:nvSpPr>
        <p:spPr/>
        <p:txBody>
          <a:bodyPr/>
          <a:lstStyle>
            <a:lvl1pPr>
              <a:defRPr/>
            </a:lvl1pPr>
          </a:lstStyle>
          <a:p>
            <a:pPr>
              <a:defRPr/>
            </a:pPr>
            <a:r>
              <a:rPr lang="fa-IR" altLang="en-US"/>
              <a:t>5 - برنامه‌نویسی موازی با </a:t>
            </a:r>
            <a:r>
              <a:rPr lang="en-US" altLang="en-US"/>
              <a:t>OpenMP</a:t>
            </a:r>
            <a:endParaRPr lang="en-US" altLang="en-US" dirty="0"/>
          </a:p>
        </p:txBody>
      </p:sp>
      <p:sp>
        <p:nvSpPr>
          <p:cNvPr id="5" name="Slide Number Placeholder 22"/>
          <p:cNvSpPr>
            <a:spLocks noGrp="1"/>
          </p:cNvSpPr>
          <p:nvPr>
            <p:ph type="sldNum" sz="quarter" idx="12"/>
          </p:nvPr>
        </p:nvSpPr>
        <p:spPr/>
        <p:txBody>
          <a:bodyPr/>
          <a:lstStyle>
            <a:lvl1pPr>
              <a:defRPr/>
            </a:lvl1pPr>
          </a:lstStyle>
          <a:p>
            <a:pPr>
              <a:defRPr/>
            </a:pPr>
            <a:fld id="{D5051E03-F727-4562-A6EF-A0FC89A14B1C}" type="slidenum">
              <a:rPr lang="en-US" altLang="en-US"/>
              <a:pPr>
                <a:defRPr/>
              </a:pPr>
              <a:t>‹#›</a:t>
            </a:fld>
            <a:endParaRPr lang="en-US" altLang="en-US" dirty="0"/>
          </a:p>
        </p:txBody>
      </p:sp>
    </p:spTree>
    <p:extLst>
      <p:ext uri="{BB962C8B-B14F-4D97-AF65-F5344CB8AC3E}">
        <p14:creationId xmlns:p14="http://schemas.microsoft.com/office/powerpoint/2010/main" val="11713323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pPr>
              <a:defRPr/>
            </a:pPr>
            <a:r>
              <a:rPr lang="en-US" altLang="en-US"/>
              <a:t>برنامه‌نویسی چند‌هسته‌ای</a:t>
            </a:r>
          </a:p>
        </p:txBody>
      </p:sp>
      <p:sp>
        <p:nvSpPr>
          <p:cNvPr id="3" name="Footer Placeholder 2"/>
          <p:cNvSpPr>
            <a:spLocks noGrp="1"/>
          </p:cNvSpPr>
          <p:nvPr>
            <p:ph type="ftr" sz="quarter" idx="11"/>
          </p:nvPr>
        </p:nvSpPr>
        <p:spPr/>
        <p:txBody>
          <a:bodyPr/>
          <a:lstStyle>
            <a:lvl1pPr>
              <a:defRPr/>
            </a:lvl1pPr>
          </a:lstStyle>
          <a:p>
            <a:pPr>
              <a:defRPr/>
            </a:pPr>
            <a:r>
              <a:rPr lang="fa-IR" altLang="en-US"/>
              <a:t>5 - برنامه‌نویسی موازی با </a:t>
            </a:r>
            <a:r>
              <a:rPr lang="en-US" altLang="en-US"/>
              <a:t>OpenMP</a:t>
            </a:r>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pPr>
              <a:defRPr/>
            </a:pPr>
            <a:fld id="{1447DC95-5854-4724-B6D6-20751119913D}" type="slidenum">
              <a:rPr lang="en-US" altLang="en-US"/>
              <a:pPr>
                <a:defRPr/>
              </a:pPr>
              <a:t>‹#›</a:t>
            </a:fld>
            <a:endParaRPr lang="en-US" altLang="en-US"/>
          </a:p>
        </p:txBody>
      </p:sp>
    </p:spTree>
    <p:extLst>
      <p:ext uri="{BB962C8B-B14F-4D97-AF65-F5344CB8AC3E}">
        <p14:creationId xmlns:p14="http://schemas.microsoft.com/office/powerpoint/2010/main" val="25482852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lstStyle>
            <a:lvl1pPr algn="l">
              <a:buNone/>
              <a:defRPr sz="4400" b="0"/>
            </a:lvl1pPr>
          </a:lstStyle>
          <a:p>
            <a:r>
              <a:rPr lang="en-US"/>
              <a:t>Click to edit Master title style</a:t>
            </a:r>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3"/>
          <p:cNvSpPr>
            <a:spLocks noGrp="1"/>
          </p:cNvSpPr>
          <p:nvPr>
            <p:ph type="dt" sz="half" idx="10"/>
          </p:nvPr>
        </p:nvSpPr>
        <p:spPr/>
        <p:txBody>
          <a:bodyPr/>
          <a:lstStyle>
            <a:lvl1pPr>
              <a:defRPr/>
            </a:lvl1pPr>
          </a:lstStyle>
          <a:p>
            <a:pPr>
              <a:defRPr/>
            </a:pPr>
            <a:r>
              <a:rPr lang="en-US" altLang="en-US"/>
              <a:t>برنامه‌نویسی چند‌هسته‌ای</a:t>
            </a:r>
            <a:endParaRPr lang="en-US" altLang="en-US" dirty="0"/>
          </a:p>
        </p:txBody>
      </p:sp>
      <p:sp>
        <p:nvSpPr>
          <p:cNvPr id="6" name="Footer Placeholder 2"/>
          <p:cNvSpPr>
            <a:spLocks noGrp="1"/>
          </p:cNvSpPr>
          <p:nvPr>
            <p:ph type="ftr" sz="quarter" idx="11"/>
          </p:nvPr>
        </p:nvSpPr>
        <p:spPr/>
        <p:txBody>
          <a:bodyPr/>
          <a:lstStyle>
            <a:lvl1pPr>
              <a:defRPr/>
            </a:lvl1pPr>
          </a:lstStyle>
          <a:p>
            <a:pPr>
              <a:defRPr/>
            </a:pPr>
            <a:r>
              <a:rPr lang="fa-IR" altLang="en-US"/>
              <a:t>5 - برنامه‌نویسی موازی با </a:t>
            </a:r>
            <a:r>
              <a:rPr lang="en-US" altLang="en-US"/>
              <a:t>OpenMP</a:t>
            </a:r>
            <a:endParaRPr lang="en-US" altLang="en-US" dirty="0"/>
          </a:p>
        </p:txBody>
      </p:sp>
      <p:sp>
        <p:nvSpPr>
          <p:cNvPr id="7" name="Slide Number Placeholder 22"/>
          <p:cNvSpPr>
            <a:spLocks noGrp="1"/>
          </p:cNvSpPr>
          <p:nvPr>
            <p:ph type="sldNum" sz="quarter" idx="12"/>
          </p:nvPr>
        </p:nvSpPr>
        <p:spPr/>
        <p:txBody>
          <a:bodyPr/>
          <a:lstStyle>
            <a:lvl1pPr>
              <a:defRPr/>
            </a:lvl1pPr>
          </a:lstStyle>
          <a:p>
            <a:pPr>
              <a:defRPr/>
            </a:pPr>
            <a:fld id="{7B626475-5554-4527-8CFD-5B621BF7CCBE}" type="slidenum">
              <a:rPr lang="en-US" altLang="en-US"/>
              <a:pPr>
                <a:defRPr/>
              </a:pPr>
              <a:t>‹#›</a:t>
            </a:fld>
            <a:endParaRPr lang="en-US" altLang="en-US" dirty="0"/>
          </a:p>
        </p:txBody>
      </p:sp>
    </p:spTree>
    <p:extLst>
      <p:ext uri="{BB962C8B-B14F-4D97-AF65-F5344CB8AC3E}">
        <p14:creationId xmlns:p14="http://schemas.microsoft.com/office/powerpoint/2010/main" val="27909858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5" name="Rectangle 4"/>
          <p:cNvSpPr/>
          <p:nvPr/>
        </p:nvSpPr>
        <p:spPr bwMode="white">
          <a:xfrm>
            <a:off x="-9525" y="4572000"/>
            <a:ext cx="9144000" cy="887413"/>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6" name="Rectangle 5"/>
          <p:cNvSpPr/>
          <p:nvPr/>
        </p:nvSpPr>
        <p:spPr>
          <a:xfrm>
            <a:off x="-9525" y="4664075"/>
            <a:ext cx="1463675" cy="712788"/>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7" name="Rectangle 6"/>
          <p:cNvSpPr/>
          <p:nvPr/>
        </p:nvSpPr>
        <p:spPr>
          <a:xfrm>
            <a:off x="1544638" y="4654550"/>
            <a:ext cx="7599362" cy="712788"/>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8" name="Rectangle 7"/>
          <p:cNvSpPr/>
          <p:nvPr/>
        </p:nvSpPr>
        <p:spPr bwMode="white">
          <a:xfrm>
            <a:off x="1447800" y="0"/>
            <a:ext cx="100013" cy="6867525"/>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a:r>
              <a:rPr lang="en-US"/>
              <a:t>Click to edit Master text styles</a:t>
            </a:r>
          </a:p>
        </p:txBody>
      </p:sp>
      <p:sp>
        <p:nvSpPr>
          <p:cNvPr id="2" name="Title 1"/>
          <p:cNvSpPr>
            <a:spLocks noGrp="1"/>
          </p:cNvSpPr>
          <p:nvPr>
            <p:ph type="title"/>
          </p:nvPr>
        </p:nvSpPr>
        <p:spPr>
          <a:xfrm>
            <a:off x="1600200" y="4648200"/>
            <a:ext cx="7315200" cy="685800"/>
          </a:xfrm>
        </p:spPr>
        <p:txBody>
          <a:bodyPr/>
          <a:lstStyle>
            <a:lvl1pPr algn="l">
              <a:buNone/>
              <a:defRPr sz="2800" b="0">
                <a:solidFill>
                  <a:srgbClr val="FFFFFF"/>
                </a:solidFill>
              </a:defRPr>
            </a:lvl1pPr>
          </a:lstStyle>
          <a:p>
            <a:r>
              <a:rPr lang="en-US"/>
              <a:t>Click to edit Master title style</a:t>
            </a:r>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normAutofit/>
          </a:bodyPr>
          <a:lstStyle>
            <a:lvl1pPr marL="0" indent="0">
              <a:buNone/>
              <a:defRPr sz="3200"/>
            </a:lvl1pPr>
          </a:lstStyle>
          <a:p>
            <a:pPr lvl="0"/>
            <a:r>
              <a:rPr lang="en-US" noProof="0"/>
              <a:t>Click icon to add picture</a:t>
            </a:r>
            <a:endParaRPr lang="en-US" noProof="0" dirty="0"/>
          </a:p>
        </p:txBody>
      </p:sp>
      <p:sp>
        <p:nvSpPr>
          <p:cNvPr id="9" name="Date Placeholder 11"/>
          <p:cNvSpPr>
            <a:spLocks noGrp="1"/>
          </p:cNvSpPr>
          <p:nvPr>
            <p:ph type="dt" sz="half" idx="10"/>
          </p:nvPr>
        </p:nvSpPr>
        <p:spPr>
          <a:xfrm>
            <a:off x="6248400" y="6248400"/>
            <a:ext cx="2667000" cy="365125"/>
          </a:xfrm>
        </p:spPr>
        <p:txBody>
          <a:bodyPr rtlCol="0"/>
          <a:lstStyle>
            <a:lvl1pPr>
              <a:defRPr/>
            </a:lvl1pPr>
          </a:lstStyle>
          <a:p>
            <a:pPr>
              <a:defRPr/>
            </a:pPr>
            <a:r>
              <a:rPr lang="en-US" altLang="en-US"/>
              <a:t>برنامه‌نویسی چند‌هسته‌ای</a:t>
            </a:r>
          </a:p>
        </p:txBody>
      </p:sp>
      <p:sp>
        <p:nvSpPr>
          <p:cNvPr id="10" name="Slide Number Placeholder 12"/>
          <p:cNvSpPr>
            <a:spLocks noGrp="1"/>
          </p:cNvSpPr>
          <p:nvPr>
            <p:ph type="sldNum" sz="quarter" idx="11"/>
          </p:nvPr>
        </p:nvSpPr>
        <p:spPr>
          <a:xfrm>
            <a:off x="0" y="4667250"/>
            <a:ext cx="1447800" cy="663575"/>
          </a:xfrm>
        </p:spPr>
        <p:txBody>
          <a:bodyPr rtlCol="0"/>
          <a:lstStyle>
            <a:lvl1pPr>
              <a:defRPr sz="2800"/>
            </a:lvl1pPr>
          </a:lstStyle>
          <a:p>
            <a:pPr>
              <a:defRPr/>
            </a:pPr>
            <a:fld id="{96818297-90BD-4146-99D5-0305732C08E6}" type="slidenum">
              <a:rPr lang="en-US" altLang="en-US"/>
              <a:pPr>
                <a:defRPr/>
              </a:pPr>
              <a:t>‹#›</a:t>
            </a:fld>
            <a:endParaRPr lang="en-US" altLang="en-US"/>
          </a:p>
        </p:txBody>
      </p:sp>
      <p:sp>
        <p:nvSpPr>
          <p:cNvPr id="11" name="Footer Placeholder 13"/>
          <p:cNvSpPr>
            <a:spLocks noGrp="1"/>
          </p:cNvSpPr>
          <p:nvPr>
            <p:ph type="ftr" sz="quarter" idx="12"/>
          </p:nvPr>
        </p:nvSpPr>
        <p:spPr>
          <a:xfrm>
            <a:off x="1600200" y="6248400"/>
            <a:ext cx="4572000" cy="365125"/>
          </a:xfrm>
        </p:spPr>
        <p:txBody>
          <a:bodyPr rtlCol="0"/>
          <a:lstStyle>
            <a:lvl1pPr>
              <a:defRPr/>
            </a:lvl1pPr>
          </a:lstStyle>
          <a:p>
            <a:pPr>
              <a:defRPr/>
            </a:pPr>
            <a:r>
              <a:rPr lang="fa-IR" altLang="en-US"/>
              <a:t>5 - برنامه‌نویسی موازی با </a:t>
            </a:r>
            <a:r>
              <a:rPr lang="en-US" altLang="en-US"/>
              <a:t>OpenMP</a:t>
            </a:r>
          </a:p>
        </p:txBody>
      </p:sp>
    </p:spTree>
    <p:extLst>
      <p:ext uri="{BB962C8B-B14F-4D97-AF65-F5344CB8AC3E}">
        <p14:creationId xmlns:p14="http://schemas.microsoft.com/office/powerpoint/2010/main" val="413670198"/>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p:cNvSpPr>
            <a:spLocks noGrp="1"/>
          </p:cNvSpPr>
          <p:nvPr>
            <p:ph type="dt" sz="half" idx="10"/>
          </p:nvPr>
        </p:nvSpPr>
        <p:spPr/>
        <p:txBody>
          <a:bodyPr/>
          <a:lstStyle>
            <a:lvl1pPr>
              <a:defRPr/>
            </a:lvl1pPr>
          </a:lstStyle>
          <a:p>
            <a:pPr>
              <a:defRPr/>
            </a:pPr>
            <a:r>
              <a:rPr lang="en-US" altLang="en-US"/>
              <a:t>برنامه‌نویسی چند‌هسته‌ای</a:t>
            </a:r>
            <a:endParaRPr lang="en-US" altLang="en-US" dirty="0"/>
          </a:p>
        </p:txBody>
      </p:sp>
      <p:sp>
        <p:nvSpPr>
          <p:cNvPr id="5" name="Footer Placeholder 2"/>
          <p:cNvSpPr>
            <a:spLocks noGrp="1"/>
          </p:cNvSpPr>
          <p:nvPr>
            <p:ph type="ftr" sz="quarter" idx="11"/>
          </p:nvPr>
        </p:nvSpPr>
        <p:spPr/>
        <p:txBody>
          <a:bodyPr/>
          <a:lstStyle>
            <a:lvl1pPr>
              <a:defRPr/>
            </a:lvl1pPr>
          </a:lstStyle>
          <a:p>
            <a:pPr>
              <a:defRPr/>
            </a:pPr>
            <a:r>
              <a:rPr lang="fa-IR" altLang="en-US"/>
              <a:t>5 - برنامه‌نویسی موازی با </a:t>
            </a:r>
            <a:r>
              <a:rPr lang="en-US" altLang="en-US"/>
              <a:t>OpenMP</a:t>
            </a:r>
            <a:endParaRPr lang="en-US" altLang="en-US" dirty="0"/>
          </a:p>
        </p:txBody>
      </p:sp>
      <p:sp>
        <p:nvSpPr>
          <p:cNvPr id="6" name="Slide Number Placeholder 22"/>
          <p:cNvSpPr>
            <a:spLocks noGrp="1"/>
          </p:cNvSpPr>
          <p:nvPr>
            <p:ph type="sldNum" sz="quarter" idx="12"/>
          </p:nvPr>
        </p:nvSpPr>
        <p:spPr/>
        <p:txBody>
          <a:bodyPr/>
          <a:lstStyle>
            <a:lvl1pPr>
              <a:defRPr/>
            </a:lvl1pPr>
          </a:lstStyle>
          <a:p>
            <a:pPr>
              <a:defRPr/>
            </a:pPr>
            <a:fld id="{A85D6ACE-8AD5-4601-BF6F-3BD0F2FCF74C}" type="slidenum">
              <a:rPr lang="en-US" altLang="en-US"/>
              <a:pPr>
                <a:defRPr/>
              </a:pPr>
              <a:t>‹#›</a:t>
            </a:fld>
            <a:endParaRPr lang="en-US" altLang="en-US" dirty="0"/>
          </a:p>
        </p:txBody>
      </p:sp>
    </p:spTree>
    <p:extLst>
      <p:ext uri="{BB962C8B-B14F-4D97-AF65-F5344CB8AC3E}">
        <p14:creationId xmlns:p14="http://schemas.microsoft.com/office/powerpoint/2010/main" val="34867251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4" name="Rectangle 3"/>
          <p:cNvSpPr/>
          <p:nvPr/>
        </p:nvSpPr>
        <p:spPr bwMode="white">
          <a:xfrm>
            <a:off x="6096000" y="0"/>
            <a:ext cx="320675"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p>
        </p:txBody>
      </p:sp>
      <p:sp>
        <p:nvSpPr>
          <p:cNvPr id="5" name="Rectangle 4"/>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p>
        </p:txBody>
      </p:sp>
      <p:sp>
        <p:nvSpPr>
          <p:cNvPr id="6" name="Rectangle 5"/>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p>
        </p:txBody>
      </p:sp>
      <p:sp>
        <p:nvSpPr>
          <p:cNvPr id="2" name="Vertical Title 1"/>
          <p:cNvSpPr>
            <a:spLocks noGrp="1"/>
          </p:cNvSpPr>
          <p:nvPr>
            <p:ph type="title" orient="vert"/>
          </p:nvPr>
        </p:nvSpPr>
        <p:spPr>
          <a:xfrm>
            <a:off x="6553200" y="609600"/>
            <a:ext cx="2057400" cy="55165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609600"/>
            <a:ext cx="5562600" cy="551656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a:xfrm>
            <a:off x="6553200" y="6248400"/>
            <a:ext cx="2209800" cy="365125"/>
          </a:xfrm>
        </p:spPr>
        <p:txBody>
          <a:bodyPr/>
          <a:lstStyle>
            <a:lvl1pPr>
              <a:defRPr/>
            </a:lvl1pPr>
          </a:lstStyle>
          <a:p>
            <a:pPr>
              <a:defRPr/>
            </a:pPr>
            <a:r>
              <a:rPr lang="en-US" altLang="en-US"/>
              <a:t>برنامه‌نویسی چند‌هسته‌ای</a:t>
            </a:r>
          </a:p>
        </p:txBody>
      </p:sp>
      <p:sp>
        <p:nvSpPr>
          <p:cNvPr id="8" name="Footer Placeholder 4"/>
          <p:cNvSpPr>
            <a:spLocks noGrp="1"/>
          </p:cNvSpPr>
          <p:nvPr>
            <p:ph type="ftr" sz="quarter" idx="11"/>
          </p:nvPr>
        </p:nvSpPr>
        <p:spPr>
          <a:xfrm>
            <a:off x="457200" y="6248400"/>
            <a:ext cx="5573713" cy="365125"/>
          </a:xfrm>
        </p:spPr>
        <p:txBody>
          <a:bodyPr/>
          <a:lstStyle>
            <a:lvl1pPr>
              <a:defRPr/>
            </a:lvl1pPr>
          </a:lstStyle>
          <a:p>
            <a:pPr>
              <a:defRPr/>
            </a:pPr>
            <a:r>
              <a:rPr lang="fa-IR" altLang="en-US"/>
              <a:t>5 - برنامه‌نویسی موازی با </a:t>
            </a:r>
            <a:r>
              <a:rPr lang="en-US" altLang="en-US"/>
              <a:t>OpenMP</a:t>
            </a:r>
          </a:p>
        </p:txBody>
      </p:sp>
      <p:sp>
        <p:nvSpPr>
          <p:cNvPr id="9" name="Slide Number Placeholder 5"/>
          <p:cNvSpPr>
            <a:spLocks noGrp="1"/>
          </p:cNvSpPr>
          <p:nvPr>
            <p:ph type="sldNum" sz="quarter" idx="12"/>
          </p:nvPr>
        </p:nvSpPr>
        <p:spPr>
          <a:xfrm rot="5400000">
            <a:off x="5989638" y="144462"/>
            <a:ext cx="533400" cy="244475"/>
          </a:xfrm>
        </p:spPr>
        <p:txBody>
          <a:bodyPr/>
          <a:lstStyle>
            <a:lvl1pPr>
              <a:defRPr/>
            </a:lvl1pPr>
          </a:lstStyle>
          <a:p>
            <a:pPr>
              <a:defRPr/>
            </a:pPr>
            <a:fld id="{3A9D028E-CEE5-4E72-AB72-60DE51AE86D8}" type="slidenum">
              <a:rPr lang="en-US" altLang="en-US"/>
              <a:pPr>
                <a:defRPr/>
              </a:pPr>
              <a:t>‹#›</a:t>
            </a:fld>
            <a:endParaRPr lang="en-US" altLang="en-US"/>
          </a:p>
        </p:txBody>
      </p:sp>
    </p:spTree>
    <p:extLst>
      <p:ext uri="{BB962C8B-B14F-4D97-AF65-F5344CB8AC3E}">
        <p14:creationId xmlns:p14="http://schemas.microsoft.com/office/powerpoint/2010/main" val="81176392"/>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21"/>
          <p:cNvSpPr>
            <a:spLocks noGrp="1"/>
          </p:cNvSpPr>
          <p:nvPr>
            <p:ph type="title"/>
          </p:nvPr>
        </p:nvSpPr>
        <p:spPr bwMode="auto">
          <a:xfrm>
            <a:off x="609600" y="228600"/>
            <a:ext cx="81534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12"/>
          <p:cNvSpPr>
            <a:spLocks noGrp="1"/>
          </p:cNvSpPr>
          <p:nvPr>
            <p:ph type="body" idx="1"/>
          </p:nvPr>
        </p:nvSpPr>
        <p:spPr bwMode="auto">
          <a:xfrm>
            <a:off x="612775" y="1235075"/>
            <a:ext cx="8153400" cy="489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4" name="Date Placeholder 13"/>
          <p:cNvSpPr>
            <a:spLocks noGrp="1"/>
          </p:cNvSpPr>
          <p:nvPr>
            <p:ph type="dt" sz="half" idx="2"/>
          </p:nvPr>
        </p:nvSpPr>
        <p:spPr>
          <a:xfrm>
            <a:off x="6096000" y="6248400"/>
            <a:ext cx="2667000" cy="381000"/>
          </a:xfrm>
          <a:prstGeom prst="rect">
            <a:avLst/>
          </a:prstGeom>
          <a:solidFill>
            <a:schemeClr val="accent1"/>
          </a:solidFill>
        </p:spPr>
        <p:txBody>
          <a:bodyPr vert="horz" anchor="ctr" anchorCtr="0"/>
          <a:lstStyle>
            <a:lvl1pPr algn="ctr" eaLnBrk="1" latinLnBrk="0" hangingPunct="1">
              <a:defRPr kumimoji="0" sz="1400">
                <a:solidFill>
                  <a:schemeClr val="tx2"/>
                </a:solidFill>
                <a:latin typeface="Arial" charset="0"/>
              </a:defRPr>
            </a:lvl1pPr>
          </a:lstStyle>
          <a:p>
            <a:pPr>
              <a:defRPr/>
            </a:pPr>
            <a:r>
              <a:rPr lang="en-US" altLang="en-US"/>
              <a:t>برنامه‌نویسی چند‌هسته‌ای</a:t>
            </a:r>
            <a:endParaRPr lang="en-US" altLang="en-US" dirty="0"/>
          </a:p>
        </p:txBody>
      </p:sp>
      <p:sp>
        <p:nvSpPr>
          <p:cNvPr id="3" name="Footer Placeholder 2"/>
          <p:cNvSpPr>
            <a:spLocks noGrp="1"/>
          </p:cNvSpPr>
          <p:nvPr>
            <p:ph type="ftr" sz="quarter" idx="3"/>
          </p:nvPr>
        </p:nvSpPr>
        <p:spPr>
          <a:xfrm>
            <a:off x="1219200" y="6248400"/>
            <a:ext cx="4811713" cy="381000"/>
          </a:xfrm>
          <a:prstGeom prst="rect">
            <a:avLst/>
          </a:prstGeom>
          <a:solidFill>
            <a:schemeClr val="accent2"/>
          </a:solidFill>
        </p:spPr>
        <p:txBody>
          <a:bodyPr vert="horz" anchor="ctr"/>
          <a:lstStyle>
            <a:lvl1pPr algn="ctr" eaLnBrk="1" latinLnBrk="0" hangingPunct="1">
              <a:defRPr kumimoji="0" sz="1400">
                <a:solidFill>
                  <a:schemeClr val="tx2"/>
                </a:solidFill>
                <a:latin typeface="Arial" charset="0"/>
              </a:defRPr>
            </a:lvl1pPr>
          </a:lstStyle>
          <a:p>
            <a:pPr>
              <a:defRPr/>
            </a:pPr>
            <a:r>
              <a:rPr lang="fa-IR" altLang="en-US"/>
              <a:t>5 - برنامه‌نویسی موازی با </a:t>
            </a:r>
            <a:r>
              <a:rPr lang="en-US" altLang="en-US"/>
              <a:t>OpenMP</a:t>
            </a:r>
            <a:endParaRPr lang="en-US" altLang="en-US" dirty="0"/>
          </a:p>
        </p:txBody>
      </p:sp>
      <p:sp>
        <p:nvSpPr>
          <p:cNvPr id="7" name="Rectangle 6"/>
          <p:cNvSpPr/>
          <p:nvPr/>
        </p:nvSpPr>
        <p:spPr bwMode="white">
          <a:xfrm>
            <a:off x="0" y="900113"/>
            <a:ext cx="9144000" cy="319087"/>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8" name="Rectangle 7"/>
          <p:cNvSpPr/>
          <p:nvPr/>
        </p:nvSpPr>
        <p:spPr>
          <a:xfrm>
            <a:off x="590550" y="6248400"/>
            <a:ext cx="533400" cy="381000"/>
          </a:xfrm>
          <a:prstGeom prst="rect">
            <a:avLst/>
          </a:prstGeom>
          <a:solidFill>
            <a:schemeClr val="accent1"/>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9" name="Rectangle 8"/>
          <p:cNvSpPr/>
          <p:nvPr/>
        </p:nvSpPr>
        <p:spPr>
          <a:xfrm>
            <a:off x="590550" y="990600"/>
            <a:ext cx="8172450" cy="160338"/>
          </a:xfrm>
          <a:prstGeom prst="rect">
            <a:avLst/>
          </a:prstGeom>
          <a:solidFill>
            <a:schemeClr val="accent1"/>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23" name="Slide Number Placeholder 22"/>
          <p:cNvSpPr>
            <a:spLocks noGrp="1"/>
          </p:cNvSpPr>
          <p:nvPr>
            <p:ph type="sldNum" sz="quarter" idx="4"/>
          </p:nvPr>
        </p:nvSpPr>
        <p:spPr>
          <a:xfrm>
            <a:off x="609600" y="6329363"/>
            <a:ext cx="533400" cy="244475"/>
          </a:xfrm>
          <a:prstGeom prst="rect">
            <a:avLst/>
          </a:prstGeom>
        </p:spPr>
        <p:txBody>
          <a:bodyPr vert="horz" anchor="ctr" anchorCtr="0">
            <a:normAutofit/>
          </a:bodyPr>
          <a:lstStyle>
            <a:lvl1pPr algn="ctr" eaLnBrk="1" latinLnBrk="0" hangingPunct="1">
              <a:defRPr kumimoji="0" sz="1400" b="1">
                <a:solidFill>
                  <a:srgbClr val="FFFFFF"/>
                </a:solidFill>
                <a:latin typeface="Arial" charset="0"/>
              </a:defRPr>
            </a:lvl1pPr>
          </a:lstStyle>
          <a:p>
            <a:pPr>
              <a:defRPr/>
            </a:pPr>
            <a:fld id="{27132BE2-3AAD-4C99-84E8-867559028174}" type="slidenum">
              <a:rPr lang="en-US" altLang="en-US"/>
              <a:pPr>
                <a:defRPr/>
              </a:pPr>
              <a:t>‹#›</a:t>
            </a:fld>
            <a:endParaRPr lang="en-US" altLang="en-US" dirty="0"/>
          </a:p>
        </p:txBody>
      </p:sp>
    </p:spTree>
  </p:cSld>
  <p:clrMap bg1="lt1" tx1="dk1" bg2="lt2" tx2="dk2" accent1="accent1" accent2="accent2" accent3="accent3" accent4="accent4" accent5="accent5" accent6="accent6" hlink="hlink" folHlink="folHlink"/>
  <p:sldLayoutIdLst>
    <p:sldLayoutId id="2147483968" r:id="rId1"/>
    <p:sldLayoutId id="2147483969" r:id="rId2"/>
    <p:sldLayoutId id="2147483970" r:id="rId3"/>
    <p:sldLayoutId id="2147483971" r:id="rId4"/>
    <p:sldLayoutId id="2147483972" r:id="rId5"/>
    <p:sldLayoutId id="2147483965" r:id="rId6"/>
    <p:sldLayoutId id="2147483973" r:id="rId7"/>
    <p:sldLayoutId id="2147483966" r:id="rId8"/>
    <p:sldLayoutId id="2147483974" r:id="rId9"/>
    <p:sldLayoutId id="2147483967" r:id="rId10"/>
    <p:sldLayoutId id="2147483975" r:id="rId11"/>
  </p:sldLayoutIdLst>
  <p:hf hdr="0"/>
  <p:txStyles>
    <p:titleStyle>
      <a:lvl1pPr algn="l" rtl="0" eaLnBrk="0" fontAlgn="base" hangingPunct="0">
        <a:spcBef>
          <a:spcPct val="0"/>
        </a:spcBef>
        <a:spcAft>
          <a:spcPct val="0"/>
        </a:spcAft>
        <a:defRPr sz="4400" kern="12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Calibri" pitchFamily="34" charset="0"/>
        </a:defRPr>
      </a:lvl2pPr>
      <a:lvl3pPr algn="l" rtl="0" eaLnBrk="0" fontAlgn="base" hangingPunct="0">
        <a:spcBef>
          <a:spcPct val="0"/>
        </a:spcBef>
        <a:spcAft>
          <a:spcPct val="0"/>
        </a:spcAft>
        <a:defRPr sz="4400">
          <a:solidFill>
            <a:schemeClr val="tx2"/>
          </a:solidFill>
          <a:latin typeface="Calibri" pitchFamily="34" charset="0"/>
        </a:defRPr>
      </a:lvl3pPr>
      <a:lvl4pPr algn="l" rtl="0" eaLnBrk="0" fontAlgn="base" hangingPunct="0">
        <a:spcBef>
          <a:spcPct val="0"/>
        </a:spcBef>
        <a:spcAft>
          <a:spcPct val="0"/>
        </a:spcAft>
        <a:defRPr sz="4400">
          <a:solidFill>
            <a:schemeClr val="tx2"/>
          </a:solidFill>
          <a:latin typeface="Calibri" pitchFamily="34" charset="0"/>
        </a:defRPr>
      </a:lvl4pPr>
      <a:lvl5pPr algn="l" rtl="0" eaLnBrk="0" fontAlgn="base" hangingPunct="0">
        <a:spcBef>
          <a:spcPct val="0"/>
        </a:spcBef>
        <a:spcAft>
          <a:spcPct val="0"/>
        </a:spcAft>
        <a:defRPr sz="4400">
          <a:solidFill>
            <a:schemeClr val="tx2"/>
          </a:solidFill>
          <a:latin typeface="Calibri" pitchFamily="34" charset="0"/>
        </a:defRPr>
      </a:lvl5pPr>
      <a:lvl6pPr marL="457200" algn="l" rtl="0" fontAlgn="base">
        <a:spcBef>
          <a:spcPct val="0"/>
        </a:spcBef>
        <a:spcAft>
          <a:spcPct val="0"/>
        </a:spcAft>
        <a:defRPr sz="4400">
          <a:solidFill>
            <a:schemeClr val="tx2"/>
          </a:solidFill>
          <a:latin typeface="Calibri" pitchFamily="34" charset="0"/>
        </a:defRPr>
      </a:lvl6pPr>
      <a:lvl7pPr marL="914400" algn="l" rtl="0" fontAlgn="base">
        <a:spcBef>
          <a:spcPct val="0"/>
        </a:spcBef>
        <a:spcAft>
          <a:spcPct val="0"/>
        </a:spcAft>
        <a:defRPr sz="4400">
          <a:solidFill>
            <a:schemeClr val="tx2"/>
          </a:solidFill>
          <a:latin typeface="Calibri" pitchFamily="34" charset="0"/>
        </a:defRPr>
      </a:lvl7pPr>
      <a:lvl8pPr marL="1371600" algn="l" rtl="0" fontAlgn="base">
        <a:spcBef>
          <a:spcPct val="0"/>
        </a:spcBef>
        <a:spcAft>
          <a:spcPct val="0"/>
        </a:spcAft>
        <a:defRPr sz="4400">
          <a:solidFill>
            <a:schemeClr val="tx2"/>
          </a:solidFill>
          <a:latin typeface="Calibri" pitchFamily="34" charset="0"/>
        </a:defRPr>
      </a:lvl8pPr>
      <a:lvl9pPr marL="1828800" algn="l" rtl="0" fontAlgn="base">
        <a:spcBef>
          <a:spcPct val="0"/>
        </a:spcBef>
        <a:spcAft>
          <a:spcPct val="0"/>
        </a:spcAft>
        <a:defRPr sz="4400">
          <a:solidFill>
            <a:schemeClr val="tx2"/>
          </a:solidFill>
          <a:latin typeface="Calibri" pitchFamily="34" charset="0"/>
        </a:defRPr>
      </a:lvl9pPr>
    </p:titleStyle>
    <p:bodyStyle>
      <a:lvl1pPr marL="319088" indent="-319088" algn="l" rtl="0" eaLnBrk="0" fontAlgn="base" hangingPunct="0">
        <a:spcBef>
          <a:spcPts val="700"/>
        </a:spcBef>
        <a:spcAft>
          <a:spcPct val="0"/>
        </a:spcAft>
        <a:buClr>
          <a:schemeClr val="accent2"/>
        </a:buClr>
        <a:buSzPct val="60000"/>
        <a:buFont typeface="Wingdings" pitchFamily="2" charset="2"/>
        <a:buChar char=""/>
        <a:defRPr sz="2900" kern="1200">
          <a:solidFill>
            <a:schemeClr val="tx1"/>
          </a:solidFill>
          <a:latin typeface="+mn-lt"/>
          <a:ea typeface="+mn-ea"/>
          <a:cs typeface="+mn-cs"/>
        </a:defRPr>
      </a:lvl1pPr>
      <a:lvl2pPr marL="639763" indent="-273050" algn="l" rtl="0" eaLnBrk="0" fontAlgn="base" hangingPunct="0">
        <a:spcBef>
          <a:spcPts val="550"/>
        </a:spcBef>
        <a:spcAft>
          <a:spcPct val="0"/>
        </a:spcAft>
        <a:buClr>
          <a:schemeClr val="accent1"/>
        </a:buClr>
        <a:buSzPct val="70000"/>
        <a:buFont typeface="Wingdings 2" pitchFamily="18" charset="2"/>
        <a:buChar char=""/>
        <a:defRPr sz="2600" kern="1200">
          <a:solidFill>
            <a:schemeClr val="tx1"/>
          </a:solidFill>
          <a:latin typeface="+mn-lt"/>
          <a:ea typeface="+mn-ea"/>
          <a:cs typeface="+mn-cs"/>
        </a:defRPr>
      </a:lvl2pPr>
      <a:lvl3pPr marL="914400" indent="-228600" algn="l" rtl="0" eaLnBrk="0" fontAlgn="base" hangingPunct="0">
        <a:spcBef>
          <a:spcPts val="500"/>
        </a:spcBef>
        <a:spcAft>
          <a:spcPct val="0"/>
        </a:spcAft>
        <a:buClr>
          <a:schemeClr val="accent2"/>
        </a:buClr>
        <a:buSzPct val="75000"/>
        <a:buFont typeface="Wingdings" pitchFamily="2" charset="2"/>
        <a:buChar char=""/>
        <a:defRPr sz="2300" kern="1200">
          <a:solidFill>
            <a:schemeClr val="tx1"/>
          </a:solidFill>
          <a:latin typeface="+mn-lt"/>
          <a:ea typeface="+mn-ea"/>
          <a:cs typeface="+mn-cs"/>
        </a:defRPr>
      </a:lvl3pPr>
      <a:lvl4pPr marL="1371600" indent="-228600" algn="l" rtl="0" eaLnBrk="0" fontAlgn="base" hangingPunct="0">
        <a:spcBef>
          <a:spcPts val="400"/>
        </a:spcBef>
        <a:spcAft>
          <a:spcPct val="0"/>
        </a:spcAft>
        <a:buClr>
          <a:srgbClr val="A5AB81"/>
        </a:buClr>
        <a:buSzPct val="75000"/>
        <a:buFont typeface="Wingdings" pitchFamily="2" charset="2"/>
        <a:buChar char=""/>
        <a:defRPr sz="2000" kern="1200">
          <a:solidFill>
            <a:schemeClr val="tx1"/>
          </a:solidFill>
          <a:latin typeface="+mn-lt"/>
          <a:ea typeface="+mn-ea"/>
          <a:cs typeface="+mn-cs"/>
        </a:defRPr>
      </a:lvl4pPr>
      <a:lvl5pPr marL="1828800" indent="-228600" algn="l" rtl="0" eaLnBrk="0" fontAlgn="base" hangingPunct="0">
        <a:spcBef>
          <a:spcPts val="400"/>
        </a:spcBef>
        <a:spcAft>
          <a:spcPct val="0"/>
        </a:spcAft>
        <a:buClr>
          <a:srgbClr val="D8B25C"/>
        </a:buClr>
        <a:buSzPct val="65000"/>
        <a:buFont typeface="Wingdings" pitchFamily="2" charset="2"/>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microsoft.com/office/2007/relationships/hdphoto" Target="../media/hdphoto1.wdp"/></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4" Type="http://schemas.openxmlformats.org/officeDocument/2006/relationships/image" Target="../media/image1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4" Type="http://schemas.openxmlformats.org/officeDocument/2006/relationships/image" Target="../media/image110.png"/></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15.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990600"/>
            <a:ext cx="8229600" cy="4876800"/>
          </a:xfrm>
        </p:spPr>
        <p:txBody>
          <a:bodyPr>
            <a:normAutofit/>
          </a:bodyPr>
          <a:lstStyle/>
          <a:p>
            <a:pPr algn="r" rtl="1" eaLnBrk="1" fontAlgn="auto" hangingPunct="1">
              <a:spcAft>
                <a:spcPts val="0"/>
              </a:spcAft>
              <a:defRPr/>
            </a:pPr>
            <a:r>
              <a:rPr lang="fa-IR" cap="none" dirty="0">
                <a:cs typeface="B Nazanin" panose="00000400000000000000" pitchFamily="2" charset="-78"/>
              </a:rPr>
              <a:t>برنامه‌نویسی چندهسته‌ای</a:t>
            </a:r>
            <a:br>
              <a:rPr lang="en-US" cap="none" dirty="0">
                <a:cs typeface="B Nazanin" panose="00000400000000000000" pitchFamily="2" charset="-78"/>
              </a:rPr>
            </a:br>
            <a:br>
              <a:rPr lang="fa-IR" cap="none" dirty="0">
                <a:cs typeface="B Nazanin" panose="00000400000000000000" pitchFamily="2" charset="-78"/>
              </a:rPr>
            </a:br>
            <a:r>
              <a:rPr lang="fa-IR" cap="none" dirty="0">
                <a:cs typeface="B Nazanin" panose="00000400000000000000" pitchFamily="2" charset="-78"/>
              </a:rPr>
              <a:t>5- </a:t>
            </a:r>
            <a:r>
              <a:rPr lang="en-US" cap="none" dirty="0" err="1">
                <a:cs typeface="B Nazanin" panose="00000400000000000000" pitchFamily="2" charset="-78"/>
              </a:rPr>
              <a:t>OpenMP</a:t>
            </a:r>
            <a:r>
              <a:rPr lang="fa-IR" cap="none" dirty="0">
                <a:cs typeface="B Nazanin" panose="00000400000000000000" pitchFamily="2" charset="-78"/>
              </a:rPr>
              <a:t> (بخش اول)</a:t>
            </a:r>
            <a:br>
              <a:rPr lang="en-US" dirty="0">
                <a:cs typeface="B Nazanin" panose="00000400000000000000" pitchFamily="2" charset="-78"/>
              </a:rPr>
            </a:br>
            <a:br>
              <a:rPr lang="en-US" dirty="0">
                <a:cs typeface="B Nazanin" panose="00000400000000000000" pitchFamily="2" charset="-78"/>
              </a:rPr>
            </a:br>
            <a:r>
              <a:rPr lang="fa-IR" sz="3600" cap="none" dirty="0">
                <a:cs typeface="B Nazanin" panose="00000400000000000000" pitchFamily="2" charset="-78"/>
              </a:rPr>
              <a:t>محمود ممتازپور</a:t>
            </a:r>
            <a:br>
              <a:rPr lang="en-US" sz="3600" cap="none" dirty="0">
                <a:cs typeface="B Nazanin" panose="00000400000000000000" pitchFamily="2" charset="-78"/>
              </a:rPr>
            </a:br>
            <a:br>
              <a:rPr lang="en-US" dirty="0">
                <a:cs typeface="B Nazanin" panose="00000400000000000000" pitchFamily="2" charset="-78"/>
              </a:rPr>
            </a:br>
            <a:endParaRPr lang="en-US" sz="3000" cap="none" dirty="0">
              <a:cs typeface="B Nazanin" panose="00000400000000000000" pitchFamily="2" charset="-78"/>
            </a:endParaRPr>
          </a:p>
        </p:txBody>
      </p:sp>
      <p:sp>
        <p:nvSpPr>
          <p:cNvPr id="10243" name="Subtitle 2"/>
          <p:cNvSpPr>
            <a:spLocks noGrp="1"/>
          </p:cNvSpPr>
          <p:nvPr>
            <p:ph type="subTitle" idx="1"/>
          </p:nvPr>
        </p:nvSpPr>
        <p:spPr>
          <a:xfrm>
            <a:off x="2362200" y="6049963"/>
            <a:ext cx="6705600" cy="685800"/>
          </a:xfrm>
        </p:spPr>
        <p:txBody>
          <a:bodyPr/>
          <a:lstStyle/>
          <a:p>
            <a:pPr algn="ctr" rtl="1" eaLnBrk="1" hangingPunct="1"/>
            <a:r>
              <a:rPr lang="fa-IR" altLang="en-US" dirty="0">
                <a:cs typeface="B Nazanin" panose="00000400000000000000" pitchFamily="2" charset="-78"/>
              </a:rPr>
              <a:t>دانشگاه صنعتی امیرکبیر</a:t>
            </a:r>
            <a:endParaRPr lang="en-US" altLang="en-US" dirty="0">
              <a:cs typeface="B Nazanin" panose="00000400000000000000" pitchFamily="2" charset="-78"/>
            </a:endParaRPr>
          </a:p>
        </p:txBody>
      </p:sp>
      <p:sp>
        <p:nvSpPr>
          <p:cNvPr id="10244" name="Date Placeholder 3"/>
          <p:cNvSpPr>
            <a:spLocks noGrp="1"/>
          </p:cNvSpPr>
          <p:nvPr>
            <p:ph type="dt" sz="quarter" idx="10"/>
          </p:nvPr>
        </p:nvSpPr>
        <p:spPr bwMode="auto">
          <a:xfrm>
            <a:off x="76200" y="6248400"/>
            <a:ext cx="2057400" cy="381000"/>
          </a:xfrm>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compatLnSpc="1">
            <a:prstTxWarp prst="textNoShape">
              <a:avLst/>
            </a:prstTxWarp>
          </a:bodyPr>
          <a:lstStyle>
            <a:lvl1pPr eaLnBrk="0" hangingPunct="0">
              <a:spcBef>
                <a:spcPts val="700"/>
              </a:spcBef>
              <a:buClr>
                <a:schemeClr val="accent2"/>
              </a:buClr>
              <a:buSzPct val="60000"/>
              <a:buFont typeface="Wingdings" pitchFamily="2" charset="2"/>
              <a:buChar char=""/>
              <a:defRPr sz="2900">
                <a:solidFill>
                  <a:schemeClr val="tx1"/>
                </a:solidFill>
                <a:latin typeface="Calibri"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Calibri"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Calibri"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Calibri"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Calibri"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9pPr>
          </a:lstStyle>
          <a:p>
            <a:pPr rtl="1" eaLnBrk="1" hangingPunct="1">
              <a:spcBef>
                <a:spcPct val="0"/>
              </a:spcBef>
              <a:buClrTx/>
              <a:buSzTx/>
              <a:buFontTx/>
              <a:buNone/>
            </a:pPr>
            <a:r>
              <a:rPr lang="en-US" altLang="en-US" sz="1800">
                <a:solidFill>
                  <a:srgbClr val="FFFFFF"/>
                </a:solidFill>
                <a:latin typeface="Arial" pitchFamily="34" charset="0"/>
                <a:cs typeface="B Nazanin" panose="00000400000000000000" pitchFamily="2" charset="-78"/>
              </a:rPr>
              <a:t>برنامه‌نویسی چند‌هسته‌ای</a:t>
            </a:r>
            <a:endParaRPr lang="en-US" altLang="en-US" sz="1800" dirty="0">
              <a:solidFill>
                <a:srgbClr val="FFFFFF"/>
              </a:solidFill>
              <a:latin typeface="Arial" pitchFamily="34" charset="0"/>
              <a:cs typeface="B Nazanin" panose="00000400000000000000" pitchFamily="2" charset="-78"/>
            </a:endParaRPr>
          </a:p>
        </p:txBody>
      </p:sp>
      <p:sp>
        <p:nvSpPr>
          <p:cNvPr id="10245" name="Footer Placeholder 4"/>
          <p:cNvSpPr>
            <a:spLocks noGrp="1"/>
          </p:cNvSpPr>
          <p:nvPr>
            <p:ph type="ftr" sz="quarter" idx="11"/>
          </p:nvPr>
        </p:nvSpPr>
        <p:spPr bwMode="auto">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eaLnBrk="0" hangingPunct="0">
              <a:spcBef>
                <a:spcPts val="700"/>
              </a:spcBef>
              <a:buClr>
                <a:schemeClr val="accent2"/>
              </a:buClr>
              <a:buSzPct val="60000"/>
              <a:buFont typeface="Wingdings" pitchFamily="2" charset="2"/>
              <a:buChar char=""/>
              <a:defRPr sz="2900">
                <a:solidFill>
                  <a:schemeClr val="tx1"/>
                </a:solidFill>
                <a:latin typeface="Calibri"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Calibri"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Calibri"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Calibri"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Calibri"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9pPr>
          </a:lstStyle>
          <a:p>
            <a:pPr algn="r" rtl="1" eaLnBrk="1" hangingPunct="1">
              <a:spcBef>
                <a:spcPct val="0"/>
              </a:spcBef>
              <a:buClrTx/>
              <a:buSzTx/>
              <a:buFontTx/>
              <a:buNone/>
            </a:pPr>
            <a:r>
              <a:rPr lang="fa-IR" altLang="en-US" sz="1400">
                <a:solidFill>
                  <a:schemeClr val="tx2"/>
                </a:solidFill>
                <a:latin typeface="Arial" pitchFamily="34" charset="0"/>
                <a:cs typeface="B Nazanin" panose="00000400000000000000" pitchFamily="2" charset="-78"/>
              </a:rPr>
              <a:t>5 - برنامه‌نویسی موازی با </a:t>
            </a:r>
            <a:r>
              <a:rPr lang="en-US" altLang="en-US" sz="1400">
                <a:solidFill>
                  <a:schemeClr val="tx2"/>
                </a:solidFill>
                <a:latin typeface="Arial" pitchFamily="34" charset="0"/>
                <a:cs typeface="B Nazanin" panose="00000400000000000000" pitchFamily="2" charset="-78"/>
              </a:rPr>
              <a:t>OpenMP</a:t>
            </a:r>
          </a:p>
        </p:txBody>
      </p:sp>
      <p:sp>
        <p:nvSpPr>
          <p:cNvPr id="10246"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compatLnSpc="1">
            <a:prstTxWarp prst="textNoShape">
              <a:avLst/>
            </a:prstTxWarp>
          </a:bodyPr>
          <a:lstStyle>
            <a:lvl1pPr eaLnBrk="0" hangingPunct="0">
              <a:spcBef>
                <a:spcPts val="700"/>
              </a:spcBef>
              <a:buClr>
                <a:schemeClr val="accent2"/>
              </a:buClr>
              <a:buSzPct val="60000"/>
              <a:buFont typeface="Wingdings" pitchFamily="2" charset="2"/>
              <a:buChar char=""/>
              <a:defRPr sz="2900">
                <a:solidFill>
                  <a:schemeClr val="tx1"/>
                </a:solidFill>
                <a:latin typeface="Calibri"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Calibri"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Calibri"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Calibri"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Calibri"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9pPr>
          </a:lstStyle>
          <a:p>
            <a:pPr rtl="1" eaLnBrk="1" hangingPunct="1">
              <a:spcBef>
                <a:spcPct val="0"/>
              </a:spcBef>
              <a:buClrTx/>
              <a:buSzTx/>
              <a:buFontTx/>
              <a:buNone/>
            </a:pPr>
            <a:fld id="{D7895C56-766E-4F90-AE6B-6CA76F48B262}" type="slidenum">
              <a:rPr lang="en-US" altLang="en-US" sz="1400" smtClean="0">
                <a:solidFill>
                  <a:schemeClr val="tx2"/>
                </a:solidFill>
                <a:latin typeface="Arial" pitchFamily="34" charset="0"/>
                <a:cs typeface="B Nazanin" panose="00000400000000000000" pitchFamily="2" charset="-78"/>
              </a:rPr>
              <a:pPr rtl="1" eaLnBrk="1" hangingPunct="1">
                <a:spcBef>
                  <a:spcPct val="0"/>
                </a:spcBef>
                <a:buClrTx/>
                <a:buSzTx/>
                <a:buFontTx/>
                <a:buNone/>
              </a:pPr>
              <a:t>1</a:t>
            </a:fld>
            <a:endParaRPr lang="en-US" altLang="en-US" sz="1400">
              <a:solidFill>
                <a:schemeClr val="tx2"/>
              </a:solidFill>
              <a:latin typeface="Arial" pitchFamily="34" charset="0"/>
              <a:cs typeface="B Nazanin" panose="00000400000000000000" pitchFamily="2" charset="-78"/>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381000" y="152400"/>
            <a:ext cx="8229600" cy="822325"/>
          </a:xfrm>
          <a:noFill/>
        </p:spPr>
        <p:txBody>
          <a:bodyPr/>
          <a:lstStyle/>
          <a:p>
            <a:pPr eaLnBrk="1" hangingPunct="1"/>
            <a:r>
              <a:rPr lang="fa-IR" altLang="en-US" dirty="0"/>
              <a:t>فهرست</a:t>
            </a:r>
            <a:endParaRPr lang="en-US" altLang="en-US" dirty="0"/>
          </a:p>
        </p:txBody>
      </p:sp>
      <p:sp>
        <p:nvSpPr>
          <p:cNvPr id="11267" name="Footer Placeholder 5"/>
          <p:cNvSpPr>
            <a:spLocks noGrp="1"/>
          </p:cNvSpPr>
          <p:nvPr>
            <p:ph type="ftr" sz="quarter" idx="11"/>
          </p:nvPr>
        </p:nvSpPr>
        <p:spPr bwMode="auto">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eaLnBrk="0" hangingPunct="0">
              <a:spcBef>
                <a:spcPts val="700"/>
              </a:spcBef>
              <a:buClr>
                <a:schemeClr val="accent2"/>
              </a:buClr>
              <a:buSzPct val="60000"/>
              <a:buFont typeface="Wingdings" pitchFamily="2" charset="2"/>
              <a:buChar char=""/>
              <a:defRPr sz="2900">
                <a:solidFill>
                  <a:schemeClr val="tx1"/>
                </a:solidFill>
                <a:latin typeface="Calibri"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Calibri"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Calibri"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Calibri"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Calibri"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9pPr>
          </a:lstStyle>
          <a:p>
            <a:pPr eaLnBrk="1" hangingPunct="1">
              <a:spcBef>
                <a:spcPct val="0"/>
              </a:spcBef>
              <a:buClrTx/>
              <a:buSzTx/>
              <a:buFontTx/>
              <a:buNone/>
            </a:pPr>
            <a:r>
              <a:rPr lang="fa-IR" altLang="en-US" sz="1400">
                <a:solidFill>
                  <a:schemeClr val="tx2"/>
                </a:solidFill>
                <a:latin typeface="Arial" pitchFamily="34" charset="0"/>
              </a:rPr>
              <a:t>5 - برنامه‌نویسی موازی با </a:t>
            </a:r>
            <a:r>
              <a:rPr lang="en-US" altLang="en-US" sz="1400">
                <a:solidFill>
                  <a:schemeClr val="tx2"/>
                </a:solidFill>
                <a:latin typeface="Arial" pitchFamily="34" charset="0"/>
              </a:rPr>
              <a:t>OpenMP</a:t>
            </a:r>
          </a:p>
        </p:txBody>
      </p:sp>
      <p:sp>
        <p:nvSpPr>
          <p:cNvPr id="3" name="Slide Number Placeholder 2"/>
          <p:cNvSpPr>
            <a:spLocks noGrp="1"/>
          </p:cNvSpPr>
          <p:nvPr>
            <p:ph type="sldNum" sz="quarter" idx="12"/>
          </p:nvPr>
        </p:nvSpPr>
        <p:spPr/>
        <p:txBody>
          <a:bodyPr>
            <a:normAutofit fontScale="85000" lnSpcReduction="20000"/>
          </a:bodyPr>
          <a:lstStyle/>
          <a:p>
            <a:pPr>
              <a:defRPr/>
            </a:pPr>
            <a:fld id="{A1A49216-A321-4EE8-B001-158F3BAA2239}" type="slidenum">
              <a:rPr lang="en-US" altLang="en-US"/>
              <a:pPr>
                <a:defRPr/>
              </a:pPr>
              <a:t>2</a:t>
            </a:fld>
            <a:endParaRPr lang="en-US" altLang="en-US"/>
          </a:p>
        </p:txBody>
      </p:sp>
      <p:sp>
        <p:nvSpPr>
          <p:cNvPr id="11269" name="Rectangle 3"/>
          <p:cNvSpPr>
            <a:spLocks noGrp="1" noChangeArrowheads="1"/>
          </p:cNvSpPr>
          <p:nvPr>
            <p:ph sz="quarter" idx="1"/>
          </p:nvPr>
        </p:nvSpPr>
        <p:spPr>
          <a:xfrm>
            <a:off x="612775" y="1219200"/>
            <a:ext cx="8153400" cy="4876800"/>
          </a:xfrm>
        </p:spPr>
        <p:txBody>
          <a:bodyPr/>
          <a:lstStyle/>
          <a:p>
            <a:pPr eaLnBrk="1" hangingPunct="1"/>
            <a:r>
              <a:rPr lang="fa-IR" altLang="en-US" dirty="0"/>
              <a:t>مروری بر نخ و فرآیند</a:t>
            </a:r>
          </a:p>
          <a:p>
            <a:pPr eaLnBrk="1" hangingPunct="1"/>
            <a:r>
              <a:rPr lang="fa-IR" altLang="en-US" dirty="0"/>
              <a:t>مقدمه‌ای بر </a:t>
            </a:r>
            <a:r>
              <a:rPr lang="en-US" altLang="en-US" dirty="0" err="1"/>
              <a:t>OpenMP</a:t>
            </a:r>
            <a:endParaRPr lang="fa-IR" altLang="en-US" dirty="0"/>
          </a:p>
          <a:p>
            <a:pPr eaLnBrk="1" hangingPunct="1"/>
            <a:r>
              <a:rPr lang="fa-IR" altLang="en-US" dirty="0"/>
              <a:t>دستورالعمل‌های متداول</a:t>
            </a:r>
          </a:p>
          <a:p>
            <a:pPr eaLnBrk="1" hangingPunct="1"/>
            <a:endParaRPr lang="fa-IR" altLang="en-US" dirty="0"/>
          </a:p>
          <a:p>
            <a:pPr eaLnBrk="1" hangingPunct="1"/>
            <a:endParaRPr lang="en-US" altLang="en-US" dirty="0"/>
          </a:p>
          <a:p>
            <a:pPr eaLnBrk="1" hangingPunct="1"/>
            <a:endParaRPr lang="en-US" altLang="en-US" dirty="0"/>
          </a:p>
        </p:txBody>
      </p:sp>
      <p:sp>
        <p:nvSpPr>
          <p:cNvPr id="11271" name="Date Placeholder 7"/>
          <p:cNvSpPr>
            <a:spLocks noGrp="1"/>
          </p:cNvSpPr>
          <p:nvPr>
            <p:ph type="dt" sz="quarter" idx="10"/>
          </p:nvPr>
        </p:nvSpPr>
        <p:spPr bwMode="auto">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compatLnSpc="1">
            <a:prstTxWarp prst="textNoShape">
              <a:avLst/>
            </a:prstTxWarp>
          </a:bodyPr>
          <a:lstStyle>
            <a:lvl1pPr eaLnBrk="0" hangingPunct="0">
              <a:spcBef>
                <a:spcPts val="700"/>
              </a:spcBef>
              <a:buClr>
                <a:schemeClr val="accent2"/>
              </a:buClr>
              <a:buSzPct val="60000"/>
              <a:buFont typeface="Wingdings" pitchFamily="2" charset="2"/>
              <a:buChar char=""/>
              <a:defRPr sz="2900">
                <a:solidFill>
                  <a:schemeClr val="tx1"/>
                </a:solidFill>
                <a:latin typeface="Calibri"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Calibri"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Calibri"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Calibri"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Calibri"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9pPr>
          </a:lstStyle>
          <a:p>
            <a:pPr eaLnBrk="1" hangingPunct="1">
              <a:spcBef>
                <a:spcPct val="0"/>
              </a:spcBef>
              <a:buClrTx/>
              <a:buSzTx/>
              <a:buFontTx/>
              <a:buNone/>
            </a:pPr>
            <a:r>
              <a:rPr lang="en-US" altLang="en-US" sz="1400">
                <a:solidFill>
                  <a:schemeClr val="tx2"/>
                </a:solidFill>
                <a:latin typeface="Arial" pitchFamily="34" charset="0"/>
              </a:rPr>
              <a:t>برنامه‌نویسی چند‌هسته‌ای</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فرآیند</a:t>
            </a:r>
            <a:endParaRPr lang="en-US" dirty="0"/>
          </a:p>
        </p:txBody>
      </p:sp>
      <p:sp>
        <p:nvSpPr>
          <p:cNvPr id="3" name="Content Placeholder 2"/>
          <p:cNvSpPr>
            <a:spLocks noGrp="1"/>
          </p:cNvSpPr>
          <p:nvPr>
            <p:ph sz="quarter" idx="1"/>
          </p:nvPr>
        </p:nvSpPr>
        <p:spPr/>
        <p:txBody>
          <a:bodyPr/>
          <a:lstStyle/>
          <a:p>
            <a:r>
              <a:rPr lang="fa-IR" dirty="0"/>
              <a:t>یک برنامه که برای اجرا در حافظه بار‌گذاری شده است؛ به همراه یک </a:t>
            </a:r>
            <a:r>
              <a:rPr lang="fa-IR" dirty="0">
                <a:solidFill>
                  <a:srgbClr val="1B46FD"/>
                </a:solidFill>
              </a:rPr>
              <a:t>بلوک کنترل فرآیند </a:t>
            </a:r>
            <a:r>
              <a:rPr lang="fa-IR" dirty="0"/>
              <a:t>برای مدیریت آن، شامل:</a:t>
            </a:r>
          </a:p>
          <a:p>
            <a:pPr lvl="1"/>
            <a:r>
              <a:rPr lang="fa-IR" dirty="0"/>
              <a:t>اطلاعات مدیریت فرآیند</a:t>
            </a:r>
          </a:p>
          <a:p>
            <a:pPr lvl="2"/>
            <a:r>
              <a:rPr lang="fa-IR" dirty="0"/>
              <a:t>شناسه آن</a:t>
            </a:r>
          </a:p>
          <a:p>
            <a:pPr lvl="2"/>
            <a:r>
              <a:rPr lang="fa-IR" dirty="0"/>
              <a:t>مقدار فعلی شمارنده برنامه، اشاره‌گر پشته، ثبات‌ها، متغیرها، کلمه وضعیت برنامه و ...</a:t>
            </a:r>
          </a:p>
          <a:p>
            <a:pPr lvl="2"/>
            <a:r>
              <a:rPr lang="fa-IR" dirty="0"/>
              <a:t>وضعیت آن (در حال اجرا، مسدود، آماده، معلق و ...)</a:t>
            </a:r>
          </a:p>
          <a:p>
            <a:pPr lvl="1"/>
            <a:r>
              <a:rPr lang="fa-IR" dirty="0"/>
              <a:t>اطلاعات مدیریت حافظه</a:t>
            </a:r>
          </a:p>
          <a:p>
            <a:pPr lvl="2"/>
            <a:r>
              <a:rPr lang="fa-IR" dirty="0"/>
              <a:t>اشاره‌گر به قطعه کد، داده و پشته</a:t>
            </a:r>
          </a:p>
          <a:p>
            <a:pPr lvl="1"/>
            <a:r>
              <a:rPr lang="fa-IR" dirty="0"/>
              <a:t>اطلاعات مدیریت فایل</a:t>
            </a:r>
          </a:p>
          <a:p>
            <a:pPr lvl="2"/>
            <a:r>
              <a:rPr lang="fa-IR" dirty="0"/>
              <a:t>توصیف‌گر فایل‌های باز، دایرکتوری فعلی و ...</a:t>
            </a:r>
          </a:p>
          <a:p>
            <a:endParaRPr lang="en-US" dirty="0"/>
          </a:p>
        </p:txBody>
      </p:sp>
      <p:sp>
        <p:nvSpPr>
          <p:cNvPr id="4" name="Date Placeholder 3"/>
          <p:cNvSpPr>
            <a:spLocks noGrp="1"/>
          </p:cNvSpPr>
          <p:nvPr>
            <p:ph type="dt" sz="half" idx="10"/>
          </p:nvPr>
        </p:nvSpPr>
        <p:spPr/>
        <p:txBody>
          <a:bodyPr/>
          <a:lstStyle/>
          <a:p>
            <a:pPr>
              <a:defRPr/>
            </a:pPr>
            <a:r>
              <a:rPr lang="en-US" altLang="en-US"/>
              <a:t>Parallel Processing</a:t>
            </a:r>
          </a:p>
        </p:txBody>
      </p:sp>
      <p:sp>
        <p:nvSpPr>
          <p:cNvPr id="5" name="Footer Placeholder 4"/>
          <p:cNvSpPr>
            <a:spLocks noGrp="1"/>
          </p:cNvSpPr>
          <p:nvPr>
            <p:ph type="ftr" sz="quarter" idx="11"/>
          </p:nvPr>
        </p:nvSpPr>
        <p:spPr/>
        <p:txBody>
          <a:bodyPr/>
          <a:lstStyle/>
          <a:p>
            <a:pPr>
              <a:defRPr/>
            </a:pPr>
            <a:r>
              <a:rPr lang="en-US" altLang="en-US"/>
              <a:t>7. OpenMP</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A9DCC621-7EE1-4E7E-9D9E-207B534D683D}" type="slidenum">
              <a:rPr lang="en-US" altLang="en-US" smtClean="0"/>
              <a:pPr>
                <a:defRPr/>
              </a:pPr>
              <a:t>3</a:t>
            </a:fld>
            <a:endParaRPr lang="en-US" altLang="en-US" dirty="0"/>
          </a:p>
        </p:txBody>
      </p:sp>
    </p:spTree>
    <p:extLst>
      <p:ext uri="{BB962C8B-B14F-4D97-AF65-F5344CB8AC3E}">
        <p14:creationId xmlns:p14="http://schemas.microsoft.com/office/powerpoint/2010/main" val="2538797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sz="quarter" idx="1"/>
          </p:nvPr>
        </p:nvSpPr>
        <p:spPr/>
        <p:txBody>
          <a:bodyPr/>
          <a:lstStyle/>
          <a:p>
            <a:endParaRPr lang="en-US" dirty="0"/>
          </a:p>
        </p:txBody>
      </p:sp>
      <p:sp>
        <p:nvSpPr>
          <p:cNvPr id="2" name="Title 1"/>
          <p:cNvSpPr>
            <a:spLocks noGrp="1"/>
          </p:cNvSpPr>
          <p:nvPr>
            <p:ph type="title"/>
          </p:nvPr>
        </p:nvSpPr>
        <p:spPr/>
        <p:txBody>
          <a:bodyPr/>
          <a:lstStyle/>
          <a:p>
            <a:r>
              <a:rPr lang="fa-IR" dirty="0"/>
              <a:t>فرآیند</a:t>
            </a:r>
            <a:endParaRPr lang="en-US" dirty="0"/>
          </a:p>
        </p:txBody>
      </p:sp>
      <p:sp>
        <p:nvSpPr>
          <p:cNvPr id="4" name="Date Placeholder 3"/>
          <p:cNvSpPr>
            <a:spLocks noGrp="1"/>
          </p:cNvSpPr>
          <p:nvPr>
            <p:ph type="dt" sz="half" idx="10"/>
          </p:nvPr>
        </p:nvSpPr>
        <p:spPr/>
        <p:txBody>
          <a:bodyPr/>
          <a:lstStyle/>
          <a:p>
            <a:pPr>
              <a:defRPr/>
            </a:pPr>
            <a:r>
              <a:rPr lang="en-US" altLang="en-US"/>
              <a:t>Parallel Processing</a:t>
            </a:r>
          </a:p>
        </p:txBody>
      </p:sp>
      <p:sp>
        <p:nvSpPr>
          <p:cNvPr id="5" name="Footer Placeholder 4"/>
          <p:cNvSpPr>
            <a:spLocks noGrp="1"/>
          </p:cNvSpPr>
          <p:nvPr>
            <p:ph type="ftr" sz="quarter" idx="11"/>
          </p:nvPr>
        </p:nvSpPr>
        <p:spPr/>
        <p:txBody>
          <a:bodyPr/>
          <a:lstStyle/>
          <a:p>
            <a:pPr>
              <a:defRPr/>
            </a:pPr>
            <a:r>
              <a:rPr lang="en-US" altLang="en-US"/>
              <a:t>7. OpenMP</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A9DCC621-7EE1-4E7E-9D9E-207B534D683D}" type="slidenum">
              <a:rPr lang="en-US" altLang="en-US" smtClean="0"/>
              <a:pPr>
                <a:defRPr/>
              </a:pPr>
              <a:t>4</a:t>
            </a:fld>
            <a:endParaRPr lang="en-US" altLang="en-US" dirty="0"/>
          </a:p>
        </p:txBody>
      </p:sp>
      <p:pic>
        <p:nvPicPr>
          <p:cNvPr id="3074"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17207" t="19396" r="38264" b="19504"/>
          <a:stretch/>
        </p:blipFill>
        <p:spPr bwMode="auto">
          <a:xfrm>
            <a:off x="1488948" y="1234440"/>
            <a:ext cx="6400800" cy="49377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295158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نخ</a:t>
            </a:r>
            <a:endParaRPr lang="en-US" dirty="0"/>
          </a:p>
        </p:txBody>
      </p:sp>
      <p:sp>
        <p:nvSpPr>
          <p:cNvPr id="3" name="Content Placeholder 2"/>
          <p:cNvSpPr>
            <a:spLocks noGrp="1"/>
          </p:cNvSpPr>
          <p:nvPr>
            <p:ph sz="quarter" idx="1"/>
          </p:nvPr>
        </p:nvSpPr>
        <p:spPr>
          <a:xfrm>
            <a:off x="377952" y="1219200"/>
            <a:ext cx="8461248" cy="4876800"/>
          </a:xfrm>
        </p:spPr>
        <p:txBody>
          <a:bodyPr/>
          <a:lstStyle/>
          <a:p>
            <a:r>
              <a:rPr lang="fa-IR" sz="2600" dirty="0"/>
              <a:t>نخ‌ها فرآیندهای سبک‌وزنی هستند که اطلاعات بسیاری را به اشتراک می‌گذارند.</a:t>
            </a:r>
          </a:p>
          <a:p>
            <a:r>
              <a:rPr lang="fa-IR" sz="2600" dirty="0"/>
              <a:t>نخ‌های یک فرآیند، فضای داده، کد، و </a:t>
            </a:r>
            <a:r>
              <a:rPr lang="en-US" sz="2600" dirty="0"/>
              <a:t>heap</a:t>
            </a:r>
            <a:r>
              <a:rPr lang="fa-IR" sz="2600" dirty="0"/>
              <a:t> مشترکی دارند. ولی هر نخ </a:t>
            </a:r>
            <a:r>
              <a:rPr lang="fa-IR" sz="2600" dirty="0">
                <a:solidFill>
                  <a:srgbClr val="FF6600"/>
                </a:solidFill>
              </a:rPr>
              <a:t>حافظه پشته اختصاصی </a:t>
            </a:r>
            <a:r>
              <a:rPr lang="fa-IR" sz="2600" dirty="0"/>
              <a:t>دارد.</a:t>
            </a:r>
          </a:p>
          <a:p>
            <a:r>
              <a:rPr lang="fa-IR" sz="2600" dirty="0"/>
              <a:t>مانند فرآیند، هر نخ نیز دارای یک </a:t>
            </a:r>
            <a:r>
              <a:rPr lang="fa-IR" sz="2600" dirty="0">
                <a:solidFill>
                  <a:srgbClr val="1B46FD"/>
                </a:solidFill>
              </a:rPr>
              <a:t>بلوک کنترل نخ ا</a:t>
            </a:r>
            <a:r>
              <a:rPr lang="fa-IR" sz="2600" dirty="0"/>
              <a:t>ست؛ شامل:</a:t>
            </a:r>
            <a:endParaRPr lang="en-US" sz="2600" dirty="0"/>
          </a:p>
          <a:p>
            <a:pPr lvl="1"/>
            <a:r>
              <a:rPr lang="fa-IR" sz="2200" dirty="0"/>
              <a:t>شناسه آن</a:t>
            </a:r>
          </a:p>
          <a:p>
            <a:pPr lvl="1"/>
            <a:r>
              <a:rPr lang="fa-IR" sz="2200" dirty="0"/>
              <a:t>مقدار شمارنده برنامه، اشاره‌گر پشته، ثبات‌ها</a:t>
            </a:r>
          </a:p>
          <a:p>
            <a:pPr lvl="1"/>
            <a:r>
              <a:rPr lang="fa-IR" sz="2200" dirty="0"/>
              <a:t>وضعیت آن (در حال اجرا، مسدود، آماده، معلق و ...)</a:t>
            </a:r>
            <a:endParaRPr lang="en-US" sz="2200" dirty="0"/>
          </a:p>
          <a:p>
            <a:r>
              <a:rPr lang="fa-IR" sz="2600" dirty="0"/>
              <a:t>از آنجا که بیشتر منابع نخ به صورت اشتراکی با بقیه نخ‌ها استفاده می‌شود:</a:t>
            </a:r>
          </a:p>
          <a:p>
            <a:pPr lvl="1"/>
            <a:r>
              <a:rPr lang="fa-IR" sz="2200" dirty="0"/>
              <a:t>بلوک کنترل نخ به مراتب کوچکتر از بلوک کنترل فرآیند است. بنابراین در هنگام سوئیچ‌کردن بین نخ‌ها، داده کم‌تری باید ذخیره شود و سربار سوئیچ‌کردن کم‌تر است.</a:t>
            </a:r>
          </a:p>
          <a:p>
            <a:pPr lvl="1"/>
            <a:r>
              <a:rPr lang="fa-IR" sz="2200" dirty="0"/>
              <a:t>دو نخ حافظه کمتری نسبت به دو فرآیند اشغال می‌کند.   </a:t>
            </a:r>
          </a:p>
          <a:p>
            <a:pPr lvl="1"/>
            <a:endParaRPr lang="fa-IR" dirty="0"/>
          </a:p>
          <a:p>
            <a:pPr lvl="1"/>
            <a:endParaRPr lang="fa-IR" dirty="0"/>
          </a:p>
          <a:p>
            <a:pPr lvl="1"/>
            <a:endParaRPr lang="en-US" dirty="0"/>
          </a:p>
        </p:txBody>
      </p:sp>
      <p:sp>
        <p:nvSpPr>
          <p:cNvPr id="4" name="Date Placeholder 3"/>
          <p:cNvSpPr>
            <a:spLocks noGrp="1"/>
          </p:cNvSpPr>
          <p:nvPr>
            <p:ph type="dt" sz="half" idx="10"/>
          </p:nvPr>
        </p:nvSpPr>
        <p:spPr/>
        <p:txBody>
          <a:bodyPr/>
          <a:lstStyle/>
          <a:p>
            <a:pPr>
              <a:defRPr/>
            </a:pPr>
            <a:r>
              <a:rPr lang="en-US" altLang="en-US"/>
              <a:t>Parallel Processing</a:t>
            </a:r>
          </a:p>
        </p:txBody>
      </p:sp>
      <p:sp>
        <p:nvSpPr>
          <p:cNvPr id="5" name="Footer Placeholder 4"/>
          <p:cNvSpPr>
            <a:spLocks noGrp="1"/>
          </p:cNvSpPr>
          <p:nvPr>
            <p:ph type="ftr" sz="quarter" idx="11"/>
          </p:nvPr>
        </p:nvSpPr>
        <p:spPr/>
        <p:txBody>
          <a:bodyPr/>
          <a:lstStyle/>
          <a:p>
            <a:pPr>
              <a:defRPr/>
            </a:pPr>
            <a:r>
              <a:rPr lang="en-US" altLang="en-US"/>
              <a:t>7. OpenMP</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A9DCC621-7EE1-4E7E-9D9E-207B534D683D}" type="slidenum">
              <a:rPr lang="en-US" altLang="en-US" smtClean="0"/>
              <a:pPr>
                <a:defRPr/>
              </a:pPr>
              <a:t>5</a:t>
            </a:fld>
            <a:endParaRPr lang="en-US" altLang="en-US" dirty="0"/>
          </a:p>
        </p:txBody>
      </p:sp>
    </p:spTree>
    <p:extLst>
      <p:ext uri="{BB962C8B-B14F-4D97-AF65-F5344CB8AC3E}">
        <p14:creationId xmlns:p14="http://schemas.microsoft.com/office/powerpoint/2010/main" val="3279376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نخ</a:t>
            </a:r>
            <a:endParaRPr lang="en-US" dirty="0"/>
          </a:p>
        </p:txBody>
      </p:sp>
      <p:sp>
        <p:nvSpPr>
          <p:cNvPr id="3" name="Content Placeholder 2"/>
          <p:cNvSpPr>
            <a:spLocks noGrp="1"/>
          </p:cNvSpPr>
          <p:nvPr>
            <p:ph sz="quarter" idx="1"/>
          </p:nvPr>
        </p:nvSpPr>
        <p:spPr/>
        <p:txBody>
          <a:bodyPr/>
          <a:lstStyle/>
          <a:p>
            <a:endParaRPr lang="en-US" dirty="0"/>
          </a:p>
        </p:txBody>
      </p:sp>
      <p:sp>
        <p:nvSpPr>
          <p:cNvPr id="4" name="Date Placeholder 3"/>
          <p:cNvSpPr>
            <a:spLocks noGrp="1"/>
          </p:cNvSpPr>
          <p:nvPr>
            <p:ph type="dt" sz="half" idx="10"/>
          </p:nvPr>
        </p:nvSpPr>
        <p:spPr/>
        <p:txBody>
          <a:bodyPr/>
          <a:lstStyle/>
          <a:p>
            <a:pPr>
              <a:defRPr/>
            </a:pPr>
            <a:r>
              <a:rPr lang="en-US" altLang="en-US"/>
              <a:t>Parallel Processing</a:t>
            </a:r>
          </a:p>
        </p:txBody>
      </p:sp>
      <p:sp>
        <p:nvSpPr>
          <p:cNvPr id="5" name="Footer Placeholder 4"/>
          <p:cNvSpPr>
            <a:spLocks noGrp="1"/>
          </p:cNvSpPr>
          <p:nvPr>
            <p:ph type="ftr" sz="quarter" idx="11"/>
          </p:nvPr>
        </p:nvSpPr>
        <p:spPr/>
        <p:txBody>
          <a:bodyPr/>
          <a:lstStyle/>
          <a:p>
            <a:pPr>
              <a:defRPr/>
            </a:pPr>
            <a:r>
              <a:rPr lang="en-US" altLang="en-US"/>
              <a:t>7. OpenMP</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A9DCC621-7EE1-4E7E-9D9E-207B534D683D}" type="slidenum">
              <a:rPr lang="en-US" altLang="en-US" smtClean="0"/>
              <a:pPr>
                <a:defRPr/>
              </a:pPr>
              <a:t>6</a:t>
            </a:fld>
            <a:endParaRPr lang="en-US" altLang="en-US" dirty="0"/>
          </a:p>
        </p:txBody>
      </p:sp>
      <p:pic>
        <p:nvPicPr>
          <p:cNvPr id="4099"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r="36690"/>
          <a:stretch/>
        </p:blipFill>
        <p:spPr bwMode="auto">
          <a:xfrm>
            <a:off x="1844040" y="1295400"/>
            <a:ext cx="5547360" cy="482092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283085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مدل‌های برنامه‌نویسی چندنخی</a:t>
            </a:r>
            <a:endParaRPr lang="en-US" dirty="0"/>
          </a:p>
        </p:txBody>
      </p:sp>
      <p:sp>
        <p:nvSpPr>
          <p:cNvPr id="3" name="Content Placeholder 2"/>
          <p:cNvSpPr>
            <a:spLocks noGrp="1"/>
          </p:cNvSpPr>
          <p:nvPr>
            <p:ph sz="quarter" idx="1"/>
          </p:nvPr>
        </p:nvSpPr>
        <p:spPr/>
        <p:txBody>
          <a:bodyPr/>
          <a:lstStyle/>
          <a:p>
            <a:r>
              <a:rPr lang="fa-IR" dirty="0"/>
              <a:t>چندنخی صریح: کاربر با استفاده از کتابخانه‌ای که در اختیارش است، مسئولیت ایجاد و مدیریت نخ‌ها را بر عهده دارد. </a:t>
            </a:r>
          </a:p>
          <a:p>
            <a:pPr lvl="1"/>
            <a:r>
              <a:rPr lang="fa-IR" dirty="0"/>
              <a:t>مانند </a:t>
            </a:r>
            <a:r>
              <a:rPr lang="en-US" dirty="0" err="1"/>
              <a:t>pthread</a:t>
            </a:r>
            <a:r>
              <a:rPr lang="fa-IR" dirty="0"/>
              <a:t>، </a:t>
            </a:r>
            <a:r>
              <a:rPr lang="en-US" dirty="0"/>
              <a:t>win thread</a:t>
            </a:r>
            <a:r>
              <a:rPr lang="fa-IR" dirty="0"/>
              <a:t>، </a:t>
            </a:r>
            <a:r>
              <a:rPr lang="en-US" dirty="0"/>
              <a:t>C++ 11 thread</a:t>
            </a:r>
            <a:r>
              <a:rPr lang="fa-IR" dirty="0"/>
              <a:t>، </a:t>
            </a:r>
            <a:r>
              <a:rPr lang="en-US" dirty="0"/>
              <a:t>java thread</a:t>
            </a:r>
            <a:r>
              <a:rPr lang="fa-IR" dirty="0"/>
              <a:t> و </a:t>
            </a:r>
            <a:r>
              <a:rPr lang="en-US" dirty="0"/>
              <a:t>python thread</a:t>
            </a:r>
          </a:p>
          <a:p>
            <a:pPr lvl="1"/>
            <a:r>
              <a:rPr lang="fa-IR" dirty="0"/>
              <a:t>قابلیت انعطاف‌پذیری و کنترل بالا، ولی</a:t>
            </a:r>
            <a:r>
              <a:rPr lang="en-US" dirty="0"/>
              <a:t> </a:t>
            </a:r>
            <a:r>
              <a:rPr lang="fa-IR" dirty="0"/>
              <a:t>برنامه‌نویسی سخت‌تر</a:t>
            </a:r>
          </a:p>
          <a:p>
            <a:endParaRPr lang="fa-IR" dirty="0"/>
          </a:p>
          <a:p>
            <a:r>
              <a:rPr lang="fa-IR" dirty="0"/>
              <a:t>چندنخی ضمنی: ایجاد و مدیریت نخ‌ها بر عهده کامپایلر است تا برنامه‌نویس بتواند بر روی الگوریتم متمرکز شود. </a:t>
            </a:r>
          </a:p>
          <a:p>
            <a:pPr lvl="1"/>
            <a:r>
              <a:rPr lang="fa-IR" dirty="0"/>
              <a:t>مانند </a:t>
            </a:r>
            <a:r>
              <a:rPr lang="en-US" dirty="0" err="1"/>
              <a:t>OpenMP</a:t>
            </a:r>
            <a:r>
              <a:rPr lang="fa-IR" dirty="0"/>
              <a:t>، </a:t>
            </a:r>
            <a:r>
              <a:rPr lang="en-US" dirty="0"/>
              <a:t>Intel TBB</a:t>
            </a:r>
            <a:r>
              <a:rPr lang="fa-IR" dirty="0"/>
              <a:t>، </a:t>
            </a:r>
            <a:r>
              <a:rPr lang="en-US" dirty="0" err="1"/>
              <a:t>Cilk</a:t>
            </a:r>
            <a:r>
              <a:rPr lang="en-US" dirty="0"/>
              <a:t> Plus</a:t>
            </a:r>
          </a:p>
          <a:p>
            <a:pPr lvl="1"/>
            <a:r>
              <a:rPr lang="fa-IR" dirty="0"/>
              <a:t>قابلیت انعطاف‌پذیری و کنترل پایین، برنامه نویسی راحت‌تر </a:t>
            </a:r>
            <a:endParaRPr lang="en-US" dirty="0"/>
          </a:p>
          <a:p>
            <a:pPr lvl="1"/>
            <a:endParaRPr lang="en-US" dirty="0"/>
          </a:p>
        </p:txBody>
      </p:sp>
      <p:sp>
        <p:nvSpPr>
          <p:cNvPr id="4" name="Date Placeholder 3"/>
          <p:cNvSpPr>
            <a:spLocks noGrp="1"/>
          </p:cNvSpPr>
          <p:nvPr>
            <p:ph type="dt" sz="half" idx="10"/>
          </p:nvPr>
        </p:nvSpPr>
        <p:spPr/>
        <p:txBody>
          <a:bodyPr/>
          <a:lstStyle/>
          <a:p>
            <a:pPr>
              <a:defRPr/>
            </a:pPr>
            <a:r>
              <a:rPr lang="en-US" altLang="en-US"/>
              <a:t>برنامه‌نویسی چند‌هسته‌ای</a:t>
            </a:r>
          </a:p>
        </p:txBody>
      </p:sp>
      <p:sp>
        <p:nvSpPr>
          <p:cNvPr id="5" name="Footer Placeholder 4"/>
          <p:cNvSpPr>
            <a:spLocks noGrp="1"/>
          </p:cNvSpPr>
          <p:nvPr>
            <p:ph type="ftr" sz="quarter" idx="11"/>
          </p:nvPr>
        </p:nvSpPr>
        <p:spPr/>
        <p:txBody>
          <a:bodyPr/>
          <a:lstStyle/>
          <a:p>
            <a:pPr>
              <a:defRPr/>
            </a:pPr>
            <a:r>
              <a:rPr lang="fa-IR" altLang="en-US"/>
              <a:t>5 - برنامه‌نویسی موازی با </a:t>
            </a:r>
            <a:r>
              <a:rPr lang="en-US" altLang="en-US"/>
              <a:t>OpenMP</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7</a:t>
            </a:fld>
            <a:endParaRPr lang="en-US" altLang="en-US" dirty="0"/>
          </a:p>
        </p:txBody>
      </p:sp>
    </p:spTree>
    <p:extLst>
      <p:ext uri="{BB962C8B-B14F-4D97-AF65-F5344CB8AC3E}">
        <p14:creationId xmlns:p14="http://schemas.microsoft.com/office/powerpoint/2010/main" val="5510026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OpenMP</a:t>
            </a:r>
            <a:r>
              <a:rPr lang="en-US" dirty="0"/>
              <a:t> </a:t>
            </a:r>
            <a:r>
              <a:rPr lang="fa-IR" dirty="0"/>
              <a:t> چیست؟</a:t>
            </a:r>
            <a:endParaRPr lang="en-US" dirty="0"/>
          </a:p>
        </p:txBody>
      </p:sp>
      <p:sp>
        <p:nvSpPr>
          <p:cNvPr id="3" name="Content Placeholder 2"/>
          <p:cNvSpPr>
            <a:spLocks noGrp="1"/>
          </p:cNvSpPr>
          <p:nvPr>
            <p:ph sz="quarter" idx="1"/>
          </p:nvPr>
        </p:nvSpPr>
        <p:spPr>
          <a:xfrm>
            <a:off x="381000" y="1219200"/>
            <a:ext cx="8385048" cy="4876800"/>
          </a:xfrm>
        </p:spPr>
        <p:txBody>
          <a:bodyPr/>
          <a:lstStyle/>
          <a:p>
            <a:pPr marL="0" indent="0" algn="ctr">
              <a:buNone/>
            </a:pPr>
            <a:r>
              <a:rPr lang="en-US" sz="2800" dirty="0">
                <a:solidFill>
                  <a:srgbClr val="DE0806"/>
                </a:solidFill>
                <a:latin typeface="+mj-lt"/>
              </a:rPr>
              <a:t>Open </a:t>
            </a:r>
            <a:r>
              <a:rPr lang="en-US" sz="2800" dirty="0">
                <a:solidFill>
                  <a:srgbClr val="000000"/>
                </a:solidFill>
                <a:latin typeface="+mj-lt"/>
              </a:rPr>
              <a:t>specifications for </a:t>
            </a:r>
            <a:r>
              <a:rPr lang="en-US" sz="2800" dirty="0">
                <a:solidFill>
                  <a:srgbClr val="DE0806"/>
                </a:solidFill>
                <a:latin typeface="+mj-lt"/>
              </a:rPr>
              <a:t>M</a:t>
            </a:r>
            <a:r>
              <a:rPr lang="en-US" sz="2800" dirty="0">
                <a:solidFill>
                  <a:srgbClr val="000000"/>
                </a:solidFill>
                <a:latin typeface="+mj-lt"/>
              </a:rPr>
              <a:t>ulti </a:t>
            </a:r>
            <a:r>
              <a:rPr lang="en-US" sz="2800" dirty="0">
                <a:solidFill>
                  <a:srgbClr val="DE0806"/>
                </a:solidFill>
                <a:latin typeface="+mj-lt"/>
              </a:rPr>
              <a:t>P</a:t>
            </a:r>
            <a:r>
              <a:rPr lang="en-US" sz="2800" dirty="0">
                <a:solidFill>
                  <a:srgbClr val="000000"/>
                </a:solidFill>
                <a:latin typeface="+mj-lt"/>
              </a:rPr>
              <a:t>rocessing</a:t>
            </a:r>
          </a:p>
          <a:p>
            <a:r>
              <a:rPr lang="fa-IR" sz="2800" dirty="0">
                <a:solidFill>
                  <a:srgbClr val="000000"/>
                </a:solidFill>
              </a:rPr>
              <a:t>ایجاد شده توسط کنسرسیومی از شرکت‌های معتبر مانند </a:t>
            </a:r>
            <a:r>
              <a:rPr lang="en-US" sz="2800" dirty="0">
                <a:solidFill>
                  <a:srgbClr val="000000"/>
                </a:solidFill>
              </a:rPr>
              <a:t>Intel</a:t>
            </a:r>
            <a:r>
              <a:rPr lang="fa-IR" sz="2800" dirty="0">
                <a:solidFill>
                  <a:srgbClr val="000000"/>
                </a:solidFill>
              </a:rPr>
              <a:t>، </a:t>
            </a:r>
            <a:r>
              <a:rPr lang="en-US" sz="2800" dirty="0">
                <a:solidFill>
                  <a:srgbClr val="000000"/>
                </a:solidFill>
              </a:rPr>
              <a:t>Oracle</a:t>
            </a:r>
            <a:r>
              <a:rPr lang="fa-IR" sz="2800" dirty="0">
                <a:solidFill>
                  <a:srgbClr val="000000"/>
                </a:solidFill>
              </a:rPr>
              <a:t>، </a:t>
            </a:r>
            <a:r>
              <a:rPr lang="en-US" sz="2800" dirty="0">
                <a:solidFill>
                  <a:srgbClr val="000000"/>
                </a:solidFill>
              </a:rPr>
              <a:t>IBM</a:t>
            </a:r>
            <a:r>
              <a:rPr lang="fa-IR" sz="2800" dirty="0">
                <a:solidFill>
                  <a:srgbClr val="000000"/>
                </a:solidFill>
              </a:rPr>
              <a:t>، </a:t>
            </a:r>
            <a:r>
              <a:rPr lang="en-US" sz="2800" dirty="0">
                <a:solidFill>
                  <a:srgbClr val="000000"/>
                </a:solidFill>
              </a:rPr>
              <a:t>Microsoft</a:t>
            </a:r>
            <a:r>
              <a:rPr lang="fa-IR" sz="2800" dirty="0">
                <a:solidFill>
                  <a:srgbClr val="000000"/>
                </a:solidFill>
              </a:rPr>
              <a:t> و ... </a:t>
            </a:r>
          </a:p>
          <a:p>
            <a:r>
              <a:rPr lang="fa-IR" sz="2800" dirty="0">
                <a:solidFill>
                  <a:srgbClr val="000000"/>
                </a:solidFill>
                <a:latin typeface="+mj-lt"/>
              </a:rPr>
              <a:t>یک </a:t>
            </a:r>
            <a:r>
              <a:rPr lang="en-US" sz="2800" dirty="0">
                <a:solidFill>
                  <a:srgbClr val="000000"/>
                </a:solidFill>
                <a:latin typeface="+mj-lt"/>
              </a:rPr>
              <a:t>API</a:t>
            </a:r>
            <a:r>
              <a:rPr lang="fa-IR" sz="2800" dirty="0">
                <a:solidFill>
                  <a:srgbClr val="000000"/>
                </a:solidFill>
                <a:latin typeface="+mj-lt"/>
              </a:rPr>
              <a:t> برای برنامه‌نویسی چندنخی بر روی سیستم‌های حافظه مشترک </a:t>
            </a:r>
            <a:endParaRPr lang="en-US" sz="2800" dirty="0">
              <a:solidFill>
                <a:srgbClr val="000000"/>
              </a:solidFill>
              <a:latin typeface="+mj-lt"/>
            </a:endParaRPr>
          </a:p>
          <a:p>
            <a:r>
              <a:rPr lang="fa-IR" sz="2800" dirty="0">
                <a:solidFill>
                  <a:srgbClr val="000000"/>
                </a:solidFill>
                <a:latin typeface="+mj-lt"/>
              </a:rPr>
              <a:t>پشتیبانی از زبان‌های برنامه‌نویسی </a:t>
            </a:r>
            <a:r>
              <a:rPr lang="en-US" sz="2800" dirty="0">
                <a:solidFill>
                  <a:srgbClr val="000000"/>
                </a:solidFill>
                <a:latin typeface="+mj-lt"/>
              </a:rPr>
              <a:t>C</a:t>
            </a:r>
            <a:r>
              <a:rPr lang="fa-IR" sz="2800" dirty="0">
                <a:solidFill>
                  <a:srgbClr val="000000"/>
                </a:solidFill>
                <a:latin typeface="+mj-lt"/>
              </a:rPr>
              <a:t>، </a:t>
            </a:r>
            <a:r>
              <a:rPr lang="en-US" sz="2800" dirty="0">
                <a:solidFill>
                  <a:srgbClr val="000000"/>
                </a:solidFill>
                <a:latin typeface="+mj-lt"/>
              </a:rPr>
              <a:t>C++</a:t>
            </a:r>
            <a:r>
              <a:rPr lang="fa-IR" sz="2800" dirty="0">
                <a:solidFill>
                  <a:srgbClr val="000000"/>
                </a:solidFill>
                <a:latin typeface="+mj-lt"/>
              </a:rPr>
              <a:t> و </a:t>
            </a:r>
            <a:r>
              <a:rPr lang="en-US" sz="2800" dirty="0">
                <a:solidFill>
                  <a:srgbClr val="000000"/>
                </a:solidFill>
                <a:latin typeface="+mj-lt"/>
              </a:rPr>
              <a:t>Fortran</a:t>
            </a:r>
            <a:r>
              <a:rPr lang="fa-IR" sz="2800" dirty="0">
                <a:solidFill>
                  <a:srgbClr val="000000"/>
                </a:solidFill>
                <a:latin typeface="+mj-lt"/>
              </a:rPr>
              <a:t> </a:t>
            </a:r>
          </a:p>
          <a:p>
            <a:r>
              <a:rPr lang="fa-IR" sz="2800" dirty="0">
                <a:solidFill>
                  <a:srgbClr val="000000"/>
                </a:solidFill>
                <a:latin typeface="+mj-lt"/>
              </a:rPr>
              <a:t>عملاً به استاندارد برنامه‌نویسی چندنخی </a:t>
            </a:r>
            <a:r>
              <a:rPr lang="fa-IR" sz="2800" dirty="0">
                <a:solidFill>
                  <a:srgbClr val="000000"/>
                </a:solidFill>
              </a:rPr>
              <a:t>تبدیل شده است.</a:t>
            </a:r>
            <a:endParaRPr lang="fa-IR" sz="2800" dirty="0">
              <a:solidFill>
                <a:srgbClr val="000000"/>
              </a:solidFill>
              <a:latin typeface="+mj-lt"/>
            </a:endParaRPr>
          </a:p>
          <a:p>
            <a:r>
              <a:rPr lang="fa-IR" sz="2800" dirty="0">
                <a:latin typeface="+mj-lt"/>
              </a:rPr>
              <a:t>قابل حمل است: یک برنامه </a:t>
            </a:r>
            <a:r>
              <a:rPr lang="en-US" sz="2800" dirty="0" err="1">
                <a:latin typeface="+mj-lt"/>
              </a:rPr>
              <a:t>OpenMP</a:t>
            </a:r>
            <a:r>
              <a:rPr lang="fa-IR" sz="2800" dirty="0">
                <a:latin typeface="+mj-lt"/>
              </a:rPr>
              <a:t> را </a:t>
            </a:r>
            <a:r>
              <a:rPr lang="fa-IR" sz="2800" dirty="0"/>
              <a:t>می‌توان </a:t>
            </a:r>
            <a:r>
              <a:rPr lang="fa-IR" sz="2800" dirty="0">
                <a:latin typeface="+mj-lt"/>
              </a:rPr>
              <a:t>بر روی هر سیستمی کامپایل و  اجرا کرد.</a:t>
            </a:r>
          </a:p>
          <a:p>
            <a:pPr lvl="1"/>
            <a:r>
              <a:rPr lang="fa-IR" sz="2400" dirty="0">
                <a:latin typeface="+mj-lt"/>
              </a:rPr>
              <a:t>به شرطی که کامپایلر آن را پشتیبانی کند.</a:t>
            </a:r>
            <a:endParaRPr lang="en-US" sz="2400" dirty="0">
              <a:latin typeface="+mj-lt"/>
            </a:endParaRPr>
          </a:p>
        </p:txBody>
      </p:sp>
      <p:sp>
        <p:nvSpPr>
          <p:cNvPr id="4" name="Date Placeholder 3"/>
          <p:cNvSpPr>
            <a:spLocks noGrp="1"/>
          </p:cNvSpPr>
          <p:nvPr>
            <p:ph type="dt" sz="half" idx="10"/>
          </p:nvPr>
        </p:nvSpPr>
        <p:spPr/>
        <p:txBody>
          <a:bodyPr/>
          <a:lstStyle/>
          <a:p>
            <a:pPr>
              <a:defRPr/>
            </a:pPr>
            <a:r>
              <a:rPr lang="en-US" altLang="en-US"/>
              <a:t>Parallel Processing</a:t>
            </a:r>
          </a:p>
        </p:txBody>
      </p:sp>
      <p:sp>
        <p:nvSpPr>
          <p:cNvPr id="5" name="Footer Placeholder 4"/>
          <p:cNvSpPr>
            <a:spLocks noGrp="1"/>
          </p:cNvSpPr>
          <p:nvPr>
            <p:ph type="ftr" sz="quarter" idx="11"/>
          </p:nvPr>
        </p:nvSpPr>
        <p:spPr/>
        <p:txBody>
          <a:bodyPr/>
          <a:lstStyle/>
          <a:p>
            <a:pPr>
              <a:defRPr/>
            </a:pPr>
            <a:r>
              <a:rPr lang="en-US" altLang="en-US"/>
              <a:t>7. OpenMP</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A9DCC621-7EE1-4E7E-9D9E-207B534D683D}" type="slidenum">
              <a:rPr lang="en-US" altLang="en-US" smtClean="0"/>
              <a:pPr>
                <a:defRPr/>
              </a:pPr>
              <a:t>8</a:t>
            </a:fld>
            <a:endParaRPr lang="en-US" altLang="en-US" dirty="0"/>
          </a:p>
        </p:txBody>
      </p:sp>
    </p:spTree>
    <p:extLst>
      <p:ext uri="{BB962C8B-B14F-4D97-AF65-F5344CB8AC3E}">
        <p14:creationId xmlns:p14="http://schemas.microsoft.com/office/powerpoint/2010/main" val="3254804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OpenMP</a:t>
            </a:r>
            <a:r>
              <a:rPr lang="en-US" dirty="0"/>
              <a:t> </a:t>
            </a:r>
            <a:r>
              <a:rPr lang="fa-IR" dirty="0"/>
              <a:t> چی نیست؟</a:t>
            </a:r>
            <a:endParaRPr lang="en-US" dirty="0">
              <a:solidFill>
                <a:srgbClr val="FF0000"/>
              </a:solidFill>
            </a:endParaRPr>
          </a:p>
        </p:txBody>
      </p:sp>
      <p:sp>
        <p:nvSpPr>
          <p:cNvPr id="3" name="Content Placeholder 2"/>
          <p:cNvSpPr>
            <a:spLocks noGrp="1"/>
          </p:cNvSpPr>
          <p:nvPr>
            <p:ph sz="quarter" idx="1"/>
          </p:nvPr>
        </p:nvSpPr>
        <p:spPr>
          <a:xfrm>
            <a:off x="457200" y="1219200"/>
            <a:ext cx="8458200" cy="4876800"/>
          </a:xfrm>
        </p:spPr>
        <p:txBody>
          <a:bodyPr/>
          <a:lstStyle/>
          <a:p>
            <a:pPr>
              <a:spcBef>
                <a:spcPts val="400"/>
              </a:spcBef>
            </a:pPr>
            <a:r>
              <a:rPr lang="fa-IR" dirty="0">
                <a:solidFill>
                  <a:srgbClr val="000000"/>
                </a:solidFill>
                <a:latin typeface="+mj-lt"/>
              </a:rPr>
              <a:t>یک مدل برنامه‌نویسی موازی اتوماتیک نیست. </a:t>
            </a:r>
          </a:p>
          <a:p>
            <a:pPr lvl="1">
              <a:spcBef>
                <a:spcPts val="400"/>
              </a:spcBef>
            </a:pPr>
            <a:r>
              <a:rPr lang="fa-IR" dirty="0">
                <a:solidFill>
                  <a:srgbClr val="000000"/>
                </a:solidFill>
                <a:latin typeface="+mj-lt"/>
              </a:rPr>
              <a:t>موازی‌سازی باید به صورت صریح توسط برنامه‌نویس در کد ایجاد شود.</a:t>
            </a:r>
            <a:endParaRPr lang="en-US" dirty="0">
              <a:solidFill>
                <a:srgbClr val="000000"/>
              </a:solidFill>
              <a:latin typeface="+mj-lt"/>
            </a:endParaRPr>
          </a:p>
          <a:p>
            <a:pPr>
              <a:spcBef>
                <a:spcPts val="400"/>
              </a:spcBef>
            </a:pPr>
            <a:r>
              <a:rPr lang="fa-IR" dirty="0">
                <a:solidFill>
                  <a:srgbClr val="000000"/>
                </a:solidFill>
                <a:latin typeface="+mj-lt"/>
              </a:rPr>
              <a:t>برای سیستم‌های توزیع‌شده طراحی نشده است.</a:t>
            </a:r>
          </a:p>
          <a:p>
            <a:pPr lvl="1">
              <a:spcBef>
                <a:spcPts val="400"/>
              </a:spcBef>
            </a:pPr>
            <a:r>
              <a:rPr lang="fa-IR" dirty="0">
                <a:solidFill>
                  <a:srgbClr val="000000"/>
                </a:solidFill>
                <a:latin typeface="+mj-lt"/>
              </a:rPr>
              <a:t>ولی می‌‎توان با ادغام آن با </a:t>
            </a:r>
            <a:r>
              <a:rPr lang="en-US" dirty="0">
                <a:solidFill>
                  <a:srgbClr val="000000"/>
                </a:solidFill>
                <a:latin typeface="+mj-lt"/>
              </a:rPr>
              <a:t>MPI</a:t>
            </a:r>
            <a:r>
              <a:rPr lang="fa-IR" dirty="0">
                <a:solidFill>
                  <a:srgbClr val="000000"/>
                </a:solidFill>
                <a:latin typeface="+mj-lt"/>
              </a:rPr>
              <a:t> برای سیستم‌های توزیع‌شده نیز استفاده کرد.</a:t>
            </a:r>
            <a:endParaRPr lang="en-US" dirty="0">
              <a:solidFill>
                <a:srgbClr val="000000"/>
              </a:solidFill>
              <a:latin typeface="+mj-lt"/>
            </a:endParaRPr>
          </a:p>
          <a:p>
            <a:pPr>
              <a:spcBef>
                <a:spcPts val="400"/>
              </a:spcBef>
            </a:pPr>
            <a:r>
              <a:rPr lang="fa-IR" dirty="0">
                <a:solidFill>
                  <a:srgbClr val="000000"/>
                </a:solidFill>
                <a:latin typeface="+mj-lt"/>
              </a:rPr>
              <a:t>توسط همه شرکت‌ها به یک شکل پیاده‌سازی نشده است.</a:t>
            </a:r>
          </a:p>
          <a:p>
            <a:pPr lvl="1">
              <a:spcBef>
                <a:spcPts val="400"/>
              </a:spcBef>
            </a:pPr>
            <a:r>
              <a:rPr lang="fa-IR" dirty="0">
                <a:solidFill>
                  <a:srgbClr val="000000"/>
                </a:solidFill>
              </a:rPr>
              <a:t>برخی از جزئیات پیاده‌سازی در استاندارد نیامده و ممکن است از یک پیاده‌سازی به پیاده‌سازی دیگر متفاوت باشد. یعنی ممکن است کامپایلر اینتل و مایکروسافت در برخی جزئیات پیاده‌سازی متفاوت عمل کنند.</a:t>
            </a:r>
          </a:p>
        </p:txBody>
      </p:sp>
      <p:sp>
        <p:nvSpPr>
          <p:cNvPr id="4" name="Date Placeholder 3"/>
          <p:cNvSpPr>
            <a:spLocks noGrp="1"/>
          </p:cNvSpPr>
          <p:nvPr>
            <p:ph type="dt" sz="half" idx="10"/>
          </p:nvPr>
        </p:nvSpPr>
        <p:spPr/>
        <p:txBody>
          <a:bodyPr/>
          <a:lstStyle/>
          <a:p>
            <a:pPr>
              <a:defRPr/>
            </a:pPr>
            <a:r>
              <a:rPr lang="en-US" altLang="en-US"/>
              <a:t>Parallel Processing</a:t>
            </a:r>
          </a:p>
        </p:txBody>
      </p:sp>
      <p:sp>
        <p:nvSpPr>
          <p:cNvPr id="5" name="Footer Placeholder 4"/>
          <p:cNvSpPr>
            <a:spLocks noGrp="1"/>
          </p:cNvSpPr>
          <p:nvPr>
            <p:ph type="ftr" sz="quarter" idx="11"/>
          </p:nvPr>
        </p:nvSpPr>
        <p:spPr/>
        <p:txBody>
          <a:bodyPr/>
          <a:lstStyle/>
          <a:p>
            <a:pPr>
              <a:defRPr/>
            </a:pPr>
            <a:r>
              <a:rPr lang="en-US" altLang="en-US"/>
              <a:t>7. OpenMP</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A9DCC621-7EE1-4E7E-9D9E-207B534D683D}" type="slidenum">
              <a:rPr lang="en-US" altLang="en-US" smtClean="0"/>
              <a:pPr>
                <a:defRPr/>
              </a:pPr>
              <a:t>9</a:t>
            </a:fld>
            <a:endParaRPr lang="en-US" altLang="en-US" dirty="0"/>
          </a:p>
        </p:txBody>
      </p:sp>
    </p:spTree>
    <p:extLst>
      <p:ext uri="{BB962C8B-B14F-4D97-AF65-F5344CB8AC3E}">
        <p14:creationId xmlns:p14="http://schemas.microsoft.com/office/powerpoint/2010/main" val="1116022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معماری لایه‌ای </a:t>
            </a:r>
            <a:r>
              <a:rPr lang="en-US" dirty="0" err="1"/>
              <a:t>OpenMP</a:t>
            </a:r>
            <a:endParaRPr lang="en-US" dirty="0"/>
          </a:p>
        </p:txBody>
      </p:sp>
      <p:sp>
        <p:nvSpPr>
          <p:cNvPr id="3" name="Content Placeholder 2"/>
          <p:cNvSpPr>
            <a:spLocks noGrp="1"/>
          </p:cNvSpPr>
          <p:nvPr>
            <p:ph sz="quarter" idx="1"/>
          </p:nvPr>
        </p:nvSpPr>
        <p:spPr/>
        <p:txBody>
          <a:bodyPr/>
          <a:lstStyle/>
          <a:p>
            <a:endParaRPr lang="en-US" dirty="0"/>
          </a:p>
        </p:txBody>
      </p:sp>
      <p:sp>
        <p:nvSpPr>
          <p:cNvPr id="4" name="Date Placeholder 3"/>
          <p:cNvSpPr>
            <a:spLocks noGrp="1"/>
          </p:cNvSpPr>
          <p:nvPr>
            <p:ph type="dt" sz="half" idx="10"/>
          </p:nvPr>
        </p:nvSpPr>
        <p:spPr/>
        <p:txBody>
          <a:bodyPr/>
          <a:lstStyle/>
          <a:p>
            <a:pPr>
              <a:defRPr/>
            </a:pPr>
            <a:r>
              <a:rPr lang="en-US" altLang="en-US"/>
              <a:t>Parallel Processing</a:t>
            </a:r>
          </a:p>
        </p:txBody>
      </p:sp>
      <p:sp>
        <p:nvSpPr>
          <p:cNvPr id="5" name="Footer Placeholder 4"/>
          <p:cNvSpPr>
            <a:spLocks noGrp="1"/>
          </p:cNvSpPr>
          <p:nvPr>
            <p:ph type="ftr" sz="quarter" idx="11"/>
          </p:nvPr>
        </p:nvSpPr>
        <p:spPr/>
        <p:txBody>
          <a:bodyPr/>
          <a:lstStyle/>
          <a:p>
            <a:pPr>
              <a:defRPr/>
            </a:pPr>
            <a:r>
              <a:rPr lang="en-US" altLang="en-US"/>
              <a:t>7. OpenMP</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A9DCC621-7EE1-4E7E-9D9E-207B534D683D}" type="slidenum">
              <a:rPr lang="en-US" altLang="en-US" smtClean="0"/>
              <a:pPr>
                <a:defRPr/>
              </a:pPr>
              <a:t>10</a:t>
            </a:fld>
            <a:endParaRPr lang="en-US" altLang="en-US" dirty="0"/>
          </a:p>
        </p:txBody>
      </p:sp>
      <p:pic>
        <p:nvPicPr>
          <p:cNvPr id="50"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11132" t="73787" r="16515" b="9983"/>
          <a:stretch/>
        </p:blipFill>
        <p:spPr bwMode="auto">
          <a:xfrm>
            <a:off x="312277" y="5153732"/>
            <a:ext cx="8679323" cy="10946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11132" t="53345" r="16515" b="28297"/>
          <a:stretch/>
        </p:blipFill>
        <p:spPr bwMode="auto">
          <a:xfrm>
            <a:off x="312277" y="3822890"/>
            <a:ext cx="8679323" cy="12381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2"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11132" t="37982" r="16515" b="48134"/>
          <a:stretch/>
        </p:blipFill>
        <p:spPr bwMode="auto">
          <a:xfrm>
            <a:off x="284987" y="2768976"/>
            <a:ext cx="8679323" cy="93638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3"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11132" t="15742" r="16515" b="63695"/>
          <a:stretch/>
        </p:blipFill>
        <p:spPr bwMode="auto">
          <a:xfrm>
            <a:off x="284986" y="1263119"/>
            <a:ext cx="8679323" cy="13868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34774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fade">
                                      <p:cBhvr>
                                        <p:cTn id="7" dur="500"/>
                                        <p:tgtEl>
                                          <p:spTgt spid="5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1"/>
                                        </p:tgtEl>
                                        <p:attrNameLst>
                                          <p:attrName>style.visibility</p:attrName>
                                        </p:attrNameLst>
                                      </p:cBhvr>
                                      <p:to>
                                        <p:strVal val="visible"/>
                                      </p:to>
                                    </p:set>
                                    <p:animEffect transition="in" filter="fade">
                                      <p:cBhvr>
                                        <p:cTn id="12" dur="500"/>
                                        <p:tgtEl>
                                          <p:spTgt spid="5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2"/>
                                        </p:tgtEl>
                                        <p:attrNameLst>
                                          <p:attrName>style.visibility</p:attrName>
                                        </p:attrNameLst>
                                      </p:cBhvr>
                                      <p:to>
                                        <p:strVal val="visible"/>
                                      </p:to>
                                    </p:set>
                                    <p:animEffect transition="in" filter="fade">
                                      <p:cBhvr>
                                        <p:cTn id="17" dur="500"/>
                                        <p:tgtEl>
                                          <p:spTgt spid="5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3"/>
                                        </p:tgtEl>
                                        <p:attrNameLst>
                                          <p:attrName>style.visibility</p:attrName>
                                        </p:attrNameLst>
                                      </p:cBhvr>
                                      <p:to>
                                        <p:strVal val="visible"/>
                                      </p:to>
                                    </p:set>
                                    <p:animEffect transition="in" filter="fade">
                                      <p:cBhvr>
                                        <p:cTn id="22"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هدف اصلی </a:t>
            </a:r>
            <a:r>
              <a:rPr lang="en-US" dirty="0" err="1"/>
              <a:t>OpenMP</a:t>
            </a:r>
            <a:r>
              <a:rPr lang="fa-IR" dirty="0"/>
              <a:t>: راحتی استفاده</a:t>
            </a:r>
            <a:endParaRPr lang="en-US" dirty="0"/>
          </a:p>
        </p:txBody>
      </p:sp>
      <p:sp>
        <p:nvSpPr>
          <p:cNvPr id="3" name="Content Placeholder 2"/>
          <p:cNvSpPr>
            <a:spLocks noGrp="1"/>
          </p:cNvSpPr>
          <p:nvPr>
            <p:ph sz="quarter" idx="1"/>
          </p:nvPr>
        </p:nvSpPr>
        <p:spPr/>
        <p:txBody>
          <a:bodyPr/>
          <a:lstStyle/>
          <a:p>
            <a:r>
              <a:rPr lang="fa-IR" sz="2700" dirty="0">
                <a:solidFill>
                  <a:srgbClr val="000000"/>
                </a:solidFill>
                <a:latin typeface="+mj-lt"/>
              </a:rPr>
              <a:t>در بیشتر مواقع لازم نیست کد سریال تغییر کند. </a:t>
            </a:r>
            <a:endParaRPr lang="en-US" sz="2700" dirty="0">
              <a:solidFill>
                <a:srgbClr val="000000"/>
              </a:solidFill>
              <a:latin typeface="+mj-lt"/>
            </a:endParaRPr>
          </a:p>
          <a:p>
            <a:r>
              <a:rPr lang="fa-IR" sz="2700" dirty="0">
                <a:solidFill>
                  <a:srgbClr val="000000"/>
                </a:solidFill>
                <a:latin typeface="+mj-lt"/>
              </a:rPr>
              <a:t>در </a:t>
            </a:r>
            <a:r>
              <a:rPr lang="en-US" sz="2700" dirty="0" err="1">
                <a:solidFill>
                  <a:srgbClr val="000000"/>
                </a:solidFill>
                <a:latin typeface="+mj-lt"/>
              </a:rPr>
              <a:t>OpenMP</a:t>
            </a:r>
            <a:r>
              <a:rPr lang="fa-IR" sz="2700" dirty="0">
                <a:solidFill>
                  <a:srgbClr val="000000"/>
                </a:solidFill>
                <a:latin typeface="+mj-lt"/>
              </a:rPr>
              <a:t>، برنامه‌نویس معمولاً با افزودن تعداد محدودی دستورالعمل کامپایلر (پراگما)، موازی‌سازی قابل توجهی به‌دست می‌آورد.</a:t>
            </a:r>
          </a:p>
          <a:p>
            <a:pPr lvl="1"/>
            <a:r>
              <a:rPr lang="fa-IR" sz="2400" dirty="0">
                <a:solidFill>
                  <a:srgbClr val="000000"/>
                </a:solidFill>
                <a:latin typeface="+mj-lt"/>
              </a:rPr>
              <a:t>اگر کامپایلر پراگما را تشخیص ندهد، از آن چشم‌پوشی می‌کند.</a:t>
            </a:r>
          </a:p>
          <a:p>
            <a:pPr lvl="1"/>
            <a:r>
              <a:rPr lang="fa-IR" sz="2400" dirty="0"/>
              <a:t>اگر </a:t>
            </a:r>
            <a:r>
              <a:rPr lang="en-US" sz="2400" dirty="0" err="1"/>
              <a:t>OpenMP</a:t>
            </a:r>
            <a:r>
              <a:rPr lang="fa-IR" sz="2400" dirty="0"/>
              <a:t> را غیرفعال کنیم، برنامه به صورت سریال اجرا می‌شود.</a:t>
            </a:r>
          </a:p>
          <a:p>
            <a:pPr lvl="1"/>
            <a:r>
              <a:rPr lang="fa-IR" sz="2400" dirty="0"/>
              <a:t>می‌توان کد را به صورت افزایشی موازی‌سازی کرد.</a:t>
            </a:r>
            <a:endParaRPr lang="en-US" sz="2400" dirty="0"/>
          </a:p>
        </p:txBody>
      </p:sp>
      <p:sp>
        <p:nvSpPr>
          <p:cNvPr id="4" name="Date Placeholder 3"/>
          <p:cNvSpPr>
            <a:spLocks noGrp="1"/>
          </p:cNvSpPr>
          <p:nvPr>
            <p:ph type="dt" sz="half" idx="10"/>
          </p:nvPr>
        </p:nvSpPr>
        <p:spPr/>
        <p:txBody>
          <a:bodyPr/>
          <a:lstStyle/>
          <a:p>
            <a:pPr>
              <a:defRPr/>
            </a:pPr>
            <a:r>
              <a:rPr lang="en-US" altLang="en-US"/>
              <a:t>Parallel Processing</a:t>
            </a:r>
          </a:p>
        </p:txBody>
      </p:sp>
      <p:sp>
        <p:nvSpPr>
          <p:cNvPr id="5" name="Footer Placeholder 4"/>
          <p:cNvSpPr>
            <a:spLocks noGrp="1"/>
          </p:cNvSpPr>
          <p:nvPr>
            <p:ph type="ftr" sz="quarter" idx="11"/>
          </p:nvPr>
        </p:nvSpPr>
        <p:spPr/>
        <p:txBody>
          <a:bodyPr/>
          <a:lstStyle/>
          <a:p>
            <a:pPr>
              <a:defRPr/>
            </a:pPr>
            <a:r>
              <a:rPr lang="en-US" altLang="en-US"/>
              <a:t>7. OpenMP</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A9DCC621-7EE1-4E7E-9D9E-207B534D683D}" type="slidenum">
              <a:rPr lang="en-US" altLang="en-US" smtClean="0"/>
              <a:pPr>
                <a:defRPr/>
              </a:pPr>
              <a:t>11</a:t>
            </a:fld>
            <a:endParaRPr lang="en-US" altLang="en-US" dirty="0"/>
          </a:p>
        </p:txBody>
      </p:sp>
    </p:spTree>
    <p:extLst>
      <p:ext uri="{BB962C8B-B14F-4D97-AF65-F5344CB8AC3E}">
        <p14:creationId xmlns:p14="http://schemas.microsoft.com/office/powerpoint/2010/main" val="1490634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نحوه اجرای برنامه </a:t>
            </a:r>
            <a:r>
              <a:rPr lang="en-US" dirty="0" err="1"/>
              <a:t>OpenMP</a:t>
            </a:r>
            <a:endParaRPr lang="en-US" dirty="0"/>
          </a:p>
        </p:txBody>
      </p:sp>
      <p:sp>
        <p:nvSpPr>
          <p:cNvPr id="3" name="Content Placeholder 2"/>
          <p:cNvSpPr>
            <a:spLocks noGrp="1"/>
          </p:cNvSpPr>
          <p:nvPr>
            <p:ph sz="quarter" idx="1"/>
          </p:nvPr>
        </p:nvSpPr>
        <p:spPr/>
        <p:txBody>
          <a:bodyPr/>
          <a:lstStyle/>
          <a:p>
            <a:r>
              <a:rPr lang="fa-IR" sz="2700" dirty="0"/>
              <a:t>در لینوکس</a:t>
            </a:r>
            <a:endParaRPr lang="en-US" sz="2700" dirty="0"/>
          </a:p>
          <a:p>
            <a:pPr lvl="1" algn="l" rtl="0"/>
            <a:r>
              <a:rPr lang="en-US" sz="2200" dirty="0"/>
              <a:t>g++ -o </a:t>
            </a:r>
            <a:r>
              <a:rPr lang="en-US" sz="2200" dirty="0" err="1"/>
              <a:t>proj</a:t>
            </a:r>
            <a:r>
              <a:rPr lang="en-US" sz="2200" dirty="0"/>
              <a:t> proj.cpp -lm -</a:t>
            </a:r>
            <a:r>
              <a:rPr lang="en-US" sz="2200" dirty="0" err="1"/>
              <a:t>fopenmp</a:t>
            </a:r>
            <a:endParaRPr lang="en-US" sz="2200" dirty="0"/>
          </a:p>
          <a:p>
            <a:pPr lvl="1" algn="l" rtl="0"/>
            <a:r>
              <a:rPr lang="en-US" sz="2200" dirty="0" err="1"/>
              <a:t>icpc</a:t>
            </a:r>
            <a:r>
              <a:rPr lang="en-US" sz="2200" dirty="0"/>
              <a:t> -o </a:t>
            </a:r>
            <a:r>
              <a:rPr lang="en-US" sz="2200" dirty="0" err="1"/>
              <a:t>proj</a:t>
            </a:r>
            <a:r>
              <a:rPr lang="en-US" sz="2200" dirty="0"/>
              <a:t> proj.cpp -lm –</a:t>
            </a:r>
            <a:r>
              <a:rPr lang="en-US" sz="2200" dirty="0" err="1"/>
              <a:t>openmp</a:t>
            </a:r>
            <a:r>
              <a:rPr lang="en-US" sz="2200" dirty="0"/>
              <a:t>                 (intel compiler)</a:t>
            </a:r>
          </a:p>
          <a:p>
            <a:r>
              <a:rPr lang="fa-IR" sz="2700" dirty="0"/>
              <a:t>در ویندوز (مایکروسافت ویژوال استودیو)</a:t>
            </a:r>
            <a:endParaRPr lang="en-US" sz="2700" dirty="0"/>
          </a:p>
          <a:p>
            <a:pPr lvl="1" algn="l" rtl="0"/>
            <a:r>
              <a:rPr lang="en-US" sz="2200" dirty="0"/>
              <a:t>Go to the Project menu </a:t>
            </a:r>
            <a:r>
              <a:rPr lang="en-US" sz="2200" b="1" dirty="0"/>
              <a:t>→ </a:t>
            </a:r>
            <a:r>
              <a:rPr lang="en-US" sz="2200" dirty="0"/>
              <a:t>Project Properties</a:t>
            </a:r>
          </a:p>
          <a:p>
            <a:pPr lvl="1" algn="l" rtl="0"/>
            <a:r>
              <a:rPr lang="en-US" sz="2200" dirty="0"/>
              <a:t>Change the setting Configuration Properties → C/C++ → Language →</a:t>
            </a:r>
            <a:r>
              <a:rPr lang="en-US" sz="2200" dirty="0" err="1"/>
              <a:t>OpenMP</a:t>
            </a:r>
            <a:r>
              <a:rPr lang="en-US" sz="2200" dirty="0"/>
              <a:t> Support to </a:t>
            </a:r>
            <a:r>
              <a:rPr lang="en-US" sz="2200" b="1" dirty="0"/>
              <a:t>"Yes (/</a:t>
            </a:r>
            <a:r>
              <a:rPr lang="en-US" sz="2200" b="1" dirty="0" err="1"/>
              <a:t>openmp</a:t>
            </a:r>
            <a:r>
              <a:rPr lang="en-US" sz="2200" b="1" dirty="0"/>
              <a:t>)“</a:t>
            </a:r>
          </a:p>
          <a:p>
            <a:r>
              <a:rPr lang="fa-IR" sz="2700" dirty="0"/>
              <a:t>نحوه اطلاع از پشتیبانی </a:t>
            </a:r>
            <a:r>
              <a:rPr lang="en-US" sz="2700" dirty="0" err="1"/>
              <a:t>OpenMP</a:t>
            </a:r>
            <a:r>
              <a:rPr lang="fa-IR" sz="2700" dirty="0"/>
              <a:t> در برنامه:</a:t>
            </a:r>
            <a:endParaRPr lang="en-US" sz="2700" dirty="0"/>
          </a:p>
          <a:p>
            <a:pPr marL="320675" lvl="1" indent="0" algn="l" rtl="0">
              <a:buNone/>
            </a:pPr>
            <a:r>
              <a:rPr lang="en-US" sz="2100" dirty="0"/>
              <a:t>#</a:t>
            </a:r>
            <a:r>
              <a:rPr lang="en-US" sz="2100" dirty="0" err="1"/>
              <a:t>ifndef</a:t>
            </a:r>
            <a:r>
              <a:rPr lang="en-US" sz="2100" dirty="0"/>
              <a:t> _OPENMP</a:t>
            </a:r>
          </a:p>
          <a:p>
            <a:pPr marL="320675" lvl="1" indent="0" algn="l" rtl="0">
              <a:buNone/>
            </a:pPr>
            <a:r>
              <a:rPr lang="en-US" sz="2100" dirty="0"/>
              <a:t>	</a:t>
            </a:r>
            <a:r>
              <a:rPr lang="en-US" sz="2100" dirty="0" err="1"/>
              <a:t>fprintf</a:t>
            </a:r>
            <a:r>
              <a:rPr lang="en-US" sz="2100" dirty="0"/>
              <a:t>( </a:t>
            </a:r>
            <a:r>
              <a:rPr lang="en-US" sz="2100" dirty="0" err="1"/>
              <a:t>stderr</a:t>
            </a:r>
            <a:r>
              <a:rPr lang="en-US" sz="2100" dirty="0"/>
              <a:t>, “</a:t>
            </a:r>
            <a:r>
              <a:rPr lang="en-US" sz="2100" dirty="0" err="1"/>
              <a:t>OpenMP</a:t>
            </a:r>
            <a:r>
              <a:rPr lang="en-US" sz="2100" dirty="0"/>
              <a:t> is not supported – sorry!\n” );</a:t>
            </a:r>
          </a:p>
          <a:p>
            <a:pPr marL="320675" lvl="1" indent="0" algn="l" rtl="0">
              <a:buNone/>
            </a:pPr>
            <a:r>
              <a:rPr lang="en-US" sz="2100" dirty="0"/>
              <a:t>	exit( 0 );</a:t>
            </a:r>
          </a:p>
          <a:p>
            <a:pPr marL="320675" lvl="1" indent="0" algn="l" rtl="0">
              <a:buNone/>
            </a:pPr>
            <a:r>
              <a:rPr lang="en-US" sz="2100" dirty="0"/>
              <a:t>#</a:t>
            </a:r>
            <a:r>
              <a:rPr lang="en-US" sz="2100" dirty="0" err="1"/>
              <a:t>endif</a:t>
            </a:r>
            <a:endParaRPr lang="en-US" sz="2100" dirty="0"/>
          </a:p>
          <a:p>
            <a:endParaRPr lang="en-US" sz="2700" dirty="0"/>
          </a:p>
        </p:txBody>
      </p:sp>
      <p:sp>
        <p:nvSpPr>
          <p:cNvPr id="4" name="Date Placeholder 3"/>
          <p:cNvSpPr>
            <a:spLocks noGrp="1"/>
          </p:cNvSpPr>
          <p:nvPr>
            <p:ph type="dt" sz="half" idx="10"/>
          </p:nvPr>
        </p:nvSpPr>
        <p:spPr/>
        <p:txBody>
          <a:bodyPr/>
          <a:lstStyle/>
          <a:p>
            <a:pPr>
              <a:defRPr/>
            </a:pPr>
            <a:r>
              <a:rPr lang="en-US" altLang="en-US" dirty="0"/>
              <a:t>Parallel Processing</a:t>
            </a:r>
          </a:p>
        </p:txBody>
      </p:sp>
      <p:sp>
        <p:nvSpPr>
          <p:cNvPr id="5" name="Footer Placeholder 4"/>
          <p:cNvSpPr>
            <a:spLocks noGrp="1"/>
          </p:cNvSpPr>
          <p:nvPr>
            <p:ph type="ftr" sz="quarter" idx="11"/>
          </p:nvPr>
        </p:nvSpPr>
        <p:spPr/>
        <p:txBody>
          <a:bodyPr/>
          <a:lstStyle/>
          <a:p>
            <a:pPr>
              <a:defRPr/>
            </a:pPr>
            <a:r>
              <a:rPr lang="en-US" altLang="en-US"/>
              <a:t>7. OpenMP</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A9DCC621-7EE1-4E7E-9D9E-207B534D683D}" type="slidenum">
              <a:rPr lang="en-US" altLang="en-US" smtClean="0"/>
              <a:pPr>
                <a:defRPr/>
              </a:pPr>
              <a:t>12</a:t>
            </a:fld>
            <a:endParaRPr lang="en-US" altLang="en-US" dirty="0"/>
          </a:p>
        </p:txBody>
      </p:sp>
    </p:spTree>
    <p:extLst>
      <p:ext uri="{BB962C8B-B14F-4D97-AF65-F5344CB8AC3E}">
        <p14:creationId xmlns:p14="http://schemas.microsoft.com/office/powerpoint/2010/main" val="10096379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animEffect transition="in" filter="fade">
                                      <p:cBhvr>
                                        <p:cTn id="23" dur="500"/>
                                        <p:tgtEl>
                                          <p:spTgt spid="3">
                                            <p:txEl>
                                              <p:pRg st="6" end="6"/>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7" end="7"/>
                                            </p:txEl>
                                          </p:spTgt>
                                        </p:tgtEl>
                                        <p:attrNameLst>
                                          <p:attrName>style.visibility</p:attrName>
                                        </p:attrNameLst>
                                      </p:cBhvr>
                                      <p:to>
                                        <p:strVal val="visible"/>
                                      </p:to>
                                    </p:set>
                                    <p:animEffect transition="in" filter="fade">
                                      <p:cBhvr>
                                        <p:cTn id="26" dur="500"/>
                                        <p:tgtEl>
                                          <p:spTgt spid="3">
                                            <p:txEl>
                                              <p:pRg st="7" end="7"/>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animEffect transition="in" filter="fade">
                                      <p:cBhvr>
                                        <p:cTn id="29" dur="500"/>
                                        <p:tgtEl>
                                          <p:spTgt spid="3">
                                            <p:txEl>
                                              <p:pRg st="8" end="8"/>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3">
                                            <p:txEl>
                                              <p:pRg st="9" end="9"/>
                                            </p:txEl>
                                          </p:spTgt>
                                        </p:tgtEl>
                                        <p:attrNameLst>
                                          <p:attrName>style.visibility</p:attrName>
                                        </p:attrNameLst>
                                      </p:cBhvr>
                                      <p:to>
                                        <p:strVal val="visible"/>
                                      </p:to>
                                    </p:set>
                                    <p:animEffect transition="in" filter="fade">
                                      <p:cBhvr>
                                        <p:cTn id="32" dur="500"/>
                                        <p:tgtEl>
                                          <p:spTgt spid="3">
                                            <p:txEl>
                                              <p:pRg st="9" end="9"/>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animEffect transition="in" filter="fade">
                                      <p:cBhvr>
                                        <p:cTn id="35"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موازی‌سازی انشعاب-پیوند</a:t>
            </a:r>
            <a:endParaRPr lang="en-US" dirty="0"/>
          </a:p>
        </p:txBody>
      </p:sp>
      <p:sp>
        <p:nvSpPr>
          <p:cNvPr id="3" name="Content Placeholder 2"/>
          <p:cNvSpPr>
            <a:spLocks noGrp="1"/>
          </p:cNvSpPr>
          <p:nvPr>
            <p:ph sz="quarter" idx="1"/>
          </p:nvPr>
        </p:nvSpPr>
        <p:spPr/>
        <p:txBody>
          <a:bodyPr/>
          <a:lstStyle/>
          <a:p>
            <a:r>
              <a:rPr lang="fa-IR" sz="2400" dirty="0">
                <a:solidFill>
                  <a:srgbClr val="000000"/>
                </a:solidFill>
                <a:latin typeface="+mj-lt"/>
              </a:rPr>
              <a:t>برنامه </a:t>
            </a:r>
            <a:r>
              <a:rPr lang="en-US" sz="2400" dirty="0" err="1">
                <a:solidFill>
                  <a:srgbClr val="000000"/>
                </a:solidFill>
                <a:latin typeface="+mj-lt"/>
              </a:rPr>
              <a:t>OpenMP</a:t>
            </a:r>
            <a:r>
              <a:rPr lang="fa-IR" sz="2400" dirty="0">
                <a:solidFill>
                  <a:srgbClr val="000000"/>
                </a:solidFill>
                <a:latin typeface="+mj-lt"/>
              </a:rPr>
              <a:t> در ابتدا با یک نخ اصلی (ارباب) شروع به اجرا می‌کند.</a:t>
            </a:r>
            <a:endParaRPr lang="en-US" sz="2400" dirty="0">
              <a:solidFill>
                <a:srgbClr val="000000"/>
              </a:solidFill>
              <a:latin typeface="+mj-lt"/>
            </a:endParaRPr>
          </a:p>
          <a:p>
            <a:r>
              <a:rPr lang="fa-IR" sz="2400" dirty="0">
                <a:solidFill>
                  <a:srgbClr val="000000"/>
                </a:solidFill>
                <a:latin typeface="+mj-lt"/>
              </a:rPr>
              <a:t>نخ ارباب به اجرای سریال ادامه می‌دهد تا به اولین بلوک موازی برسد. سپس:</a:t>
            </a:r>
            <a:endParaRPr lang="en-US" sz="2400" dirty="0">
              <a:solidFill>
                <a:srgbClr val="000000"/>
              </a:solidFill>
              <a:latin typeface="+mj-lt"/>
            </a:endParaRPr>
          </a:p>
          <a:p>
            <a:pPr lvl="1"/>
            <a:r>
              <a:rPr lang="fa-IR" sz="2200" dirty="0">
                <a:solidFill>
                  <a:srgbClr val="0000CD"/>
                </a:solidFill>
                <a:latin typeface="+mj-lt"/>
              </a:rPr>
              <a:t>یک گروه شامل </a:t>
            </a:r>
            <a:r>
              <a:rPr lang="en-US" sz="2200" dirty="0">
                <a:solidFill>
                  <a:srgbClr val="0000CD"/>
                </a:solidFill>
                <a:latin typeface="+mj-lt"/>
              </a:rPr>
              <a:t>n</a:t>
            </a:r>
            <a:r>
              <a:rPr lang="fa-IR" sz="2200" dirty="0">
                <a:solidFill>
                  <a:srgbClr val="0000CD"/>
                </a:solidFill>
                <a:latin typeface="+mj-lt"/>
              </a:rPr>
              <a:t> نخ ایجاد می‌کند (خودش نیز عضو این گروه است).</a:t>
            </a:r>
            <a:endParaRPr lang="en-US" sz="2200" dirty="0">
              <a:solidFill>
                <a:srgbClr val="0000CD"/>
              </a:solidFill>
              <a:latin typeface="+mj-lt"/>
            </a:endParaRPr>
          </a:p>
          <a:p>
            <a:pPr lvl="1"/>
            <a:r>
              <a:rPr lang="fa-IR" sz="2200" dirty="0">
                <a:solidFill>
                  <a:srgbClr val="0000CD"/>
                </a:solidFill>
                <a:latin typeface="+mj-lt"/>
              </a:rPr>
              <a:t>خودش ارباب این گروه می‌شود.</a:t>
            </a:r>
            <a:endParaRPr lang="en-US" sz="2200" dirty="0">
              <a:solidFill>
                <a:srgbClr val="0000CD"/>
              </a:solidFill>
              <a:latin typeface="+mj-lt"/>
            </a:endParaRPr>
          </a:p>
          <a:p>
            <a:pPr lvl="1"/>
            <a:r>
              <a:rPr lang="fa-IR" sz="2200" dirty="0">
                <a:solidFill>
                  <a:srgbClr val="0000CD"/>
                </a:solidFill>
                <a:latin typeface="+mj-lt"/>
              </a:rPr>
              <a:t>خودش شناسه صفر و نخ‌های دیگر یک شناسه بین 1 تا </a:t>
            </a:r>
            <a:r>
              <a:rPr lang="en-US" sz="2200" dirty="0">
                <a:solidFill>
                  <a:srgbClr val="0000CD"/>
                </a:solidFill>
                <a:latin typeface="+mj-lt"/>
              </a:rPr>
              <a:t>n</a:t>
            </a:r>
            <a:r>
              <a:rPr lang="fa-IR" sz="2200" dirty="0">
                <a:solidFill>
                  <a:srgbClr val="0000CD"/>
                </a:solidFill>
                <a:latin typeface="+mj-lt"/>
              </a:rPr>
              <a:t> اخذ می‌کنند.</a:t>
            </a:r>
          </a:p>
          <a:p>
            <a:pPr lvl="1"/>
            <a:r>
              <a:rPr lang="fa-IR" sz="2200" dirty="0">
                <a:solidFill>
                  <a:srgbClr val="0000CD"/>
                </a:solidFill>
                <a:latin typeface="+mj-lt"/>
              </a:rPr>
              <a:t>بعد از اتمام بلوک موازی، نخ‌های دیگر غیرفعال می‌شوند و نخ ارباب ادامه می‌دهد. </a:t>
            </a:r>
            <a:endParaRPr lang="en-US" sz="2200" dirty="0">
              <a:latin typeface="+mj-lt"/>
            </a:endParaRPr>
          </a:p>
        </p:txBody>
      </p:sp>
      <p:sp>
        <p:nvSpPr>
          <p:cNvPr id="4" name="Date Placeholder 3"/>
          <p:cNvSpPr>
            <a:spLocks noGrp="1"/>
          </p:cNvSpPr>
          <p:nvPr>
            <p:ph type="dt" sz="half" idx="10"/>
          </p:nvPr>
        </p:nvSpPr>
        <p:spPr/>
        <p:txBody>
          <a:bodyPr/>
          <a:lstStyle/>
          <a:p>
            <a:pPr>
              <a:defRPr/>
            </a:pPr>
            <a:r>
              <a:rPr lang="en-US" altLang="en-US"/>
              <a:t>Parallel Processing</a:t>
            </a:r>
          </a:p>
        </p:txBody>
      </p:sp>
      <p:sp>
        <p:nvSpPr>
          <p:cNvPr id="5" name="Footer Placeholder 4"/>
          <p:cNvSpPr>
            <a:spLocks noGrp="1"/>
          </p:cNvSpPr>
          <p:nvPr>
            <p:ph type="ftr" sz="quarter" idx="11"/>
          </p:nvPr>
        </p:nvSpPr>
        <p:spPr/>
        <p:txBody>
          <a:bodyPr/>
          <a:lstStyle/>
          <a:p>
            <a:pPr>
              <a:defRPr/>
            </a:pPr>
            <a:r>
              <a:rPr lang="en-US" altLang="en-US"/>
              <a:t>7. OpenMP</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A9DCC621-7EE1-4E7E-9D9E-207B534D683D}" type="slidenum">
              <a:rPr lang="en-US" altLang="en-US" smtClean="0"/>
              <a:pPr>
                <a:defRPr/>
              </a:pPr>
              <a:t>13</a:t>
            </a:fld>
            <a:endParaRPr lang="en-US" altLang="en-US"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4425" y="3743325"/>
            <a:ext cx="7038975" cy="2428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3" name="Group 22"/>
          <p:cNvGrpSpPr/>
          <p:nvPr/>
        </p:nvGrpSpPr>
        <p:grpSpPr>
          <a:xfrm>
            <a:off x="5943600" y="5108919"/>
            <a:ext cx="1388852" cy="781101"/>
            <a:chOff x="5943600" y="5023194"/>
            <a:chExt cx="1388852" cy="781101"/>
          </a:xfrm>
        </p:grpSpPr>
        <p:pic>
          <p:nvPicPr>
            <p:cNvPr id="9"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7166" t="6965" r="72273" b="35940"/>
            <a:stretch/>
          </p:blipFill>
          <p:spPr bwMode="auto">
            <a:xfrm>
              <a:off x="6231148" y="5023194"/>
              <a:ext cx="815196" cy="78110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16" name="Straight Arrow Connector 15"/>
            <p:cNvCxnSpPr/>
            <p:nvPr/>
          </p:nvCxnSpPr>
          <p:spPr>
            <a:xfrm>
              <a:off x="5943600" y="5207478"/>
              <a:ext cx="304800" cy="0"/>
            </a:xfrm>
            <a:prstGeom prst="straightConnector1">
              <a:avLst/>
            </a:prstGeom>
            <a:ln w="28575">
              <a:solidFill>
                <a:srgbClr val="0000FF"/>
              </a:solidFill>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7027652" y="5207478"/>
              <a:ext cx="304800" cy="0"/>
            </a:xfrm>
            <a:prstGeom prst="straightConnector1">
              <a:avLst/>
            </a:prstGeom>
            <a:ln w="28575">
              <a:solidFill>
                <a:srgbClr val="0000FF"/>
              </a:solidFill>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a:off x="6400800" y="5148530"/>
              <a:ext cx="457200" cy="0"/>
            </a:xfrm>
            <a:prstGeom prst="straightConnector1">
              <a:avLst/>
            </a:prstGeom>
            <a:ln w="28575">
              <a:solidFill>
                <a:srgbClr val="0000FF"/>
              </a:solidFill>
              <a:tailEnd type="arrow"/>
            </a:ln>
          </p:spPr>
          <p:style>
            <a:lnRef idx="1">
              <a:schemeClr val="accent1"/>
            </a:lnRef>
            <a:fillRef idx="0">
              <a:schemeClr val="accent1"/>
            </a:fillRef>
            <a:effectRef idx="0">
              <a:schemeClr val="accent1"/>
            </a:effectRef>
            <a:fontRef idx="minor">
              <a:schemeClr val="tx1"/>
            </a:fontRef>
          </p:style>
        </p:cxnSp>
      </p:grpSp>
      <p:sp>
        <p:nvSpPr>
          <p:cNvPr id="7" name="TextBox 6"/>
          <p:cNvSpPr txBox="1"/>
          <p:nvPr/>
        </p:nvSpPr>
        <p:spPr>
          <a:xfrm>
            <a:off x="4916130" y="5842329"/>
            <a:ext cx="3339377" cy="369332"/>
          </a:xfrm>
          <a:prstGeom prst="rect">
            <a:avLst/>
          </a:prstGeom>
          <a:noFill/>
        </p:spPr>
        <p:txBody>
          <a:bodyPr wrap="none" rtlCol="0">
            <a:spAutoFit/>
          </a:bodyPr>
          <a:lstStyle/>
          <a:p>
            <a:pPr algn="r" rtl="1"/>
            <a:r>
              <a:rPr lang="fa-IR" dirty="0">
                <a:cs typeface="B Nazanin" panose="00000400000000000000" pitchFamily="2" charset="-78"/>
              </a:rPr>
              <a:t>بلوک‌های موازی تودرتو نیز پشتیبانی می‌شود.</a:t>
            </a:r>
            <a:endParaRPr lang="en-US" dirty="0">
              <a:cs typeface="B Nazanin" panose="00000400000000000000" pitchFamily="2" charset="-78"/>
            </a:endParaRPr>
          </a:p>
        </p:txBody>
      </p:sp>
    </p:spTree>
    <p:extLst>
      <p:ext uri="{BB962C8B-B14F-4D97-AF65-F5344CB8AC3E}">
        <p14:creationId xmlns:p14="http://schemas.microsoft.com/office/powerpoint/2010/main" val="32095097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par>
                                <p:cTn id="31" presetID="10" presetClass="entr" presetSubtype="0" fill="hold" nodeType="withEffect">
                                  <p:stCondLst>
                                    <p:cond delay="0"/>
                                  </p:stCondLst>
                                  <p:childTnLst>
                                    <p:set>
                                      <p:cBhvr>
                                        <p:cTn id="32" dur="1" fill="hold">
                                          <p:stCondLst>
                                            <p:cond delay="0"/>
                                          </p:stCondLst>
                                        </p:cTn>
                                        <p:tgtEl>
                                          <p:spTgt spid="23"/>
                                        </p:tgtEl>
                                        <p:attrNameLst>
                                          <p:attrName>style.visibility</p:attrName>
                                        </p:attrNameLst>
                                      </p:cBhvr>
                                      <p:to>
                                        <p:strVal val="visible"/>
                                      </p:to>
                                    </p:set>
                                    <p:animEffect transition="in" filter="fade">
                                      <p:cBhvr>
                                        <p:cTn id="33"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قالب دستورالعمل‌های </a:t>
            </a:r>
            <a:r>
              <a:rPr lang="en-US" dirty="0" err="1"/>
              <a:t>OpenMP</a:t>
            </a:r>
            <a:endParaRPr lang="en-US" dirty="0"/>
          </a:p>
        </p:txBody>
      </p:sp>
      <p:sp>
        <p:nvSpPr>
          <p:cNvPr id="3" name="Content Placeholder 2"/>
          <p:cNvSpPr>
            <a:spLocks noGrp="1"/>
          </p:cNvSpPr>
          <p:nvPr>
            <p:ph sz="quarter" idx="1"/>
          </p:nvPr>
        </p:nvSpPr>
        <p:spPr/>
        <p:txBody>
          <a:bodyPr/>
          <a:lstStyle/>
          <a:p>
            <a:r>
              <a:rPr lang="fa-IR" sz="2800" dirty="0">
                <a:solidFill>
                  <a:srgbClr val="000000"/>
                </a:solidFill>
                <a:latin typeface="+mj-lt"/>
              </a:rPr>
              <a:t>قالب دستورالعملهای </a:t>
            </a:r>
            <a:r>
              <a:rPr lang="en-US" sz="2800" dirty="0" err="1">
                <a:solidFill>
                  <a:srgbClr val="000000"/>
                </a:solidFill>
                <a:latin typeface="+mj-lt"/>
              </a:rPr>
              <a:t>OpenMP</a:t>
            </a:r>
            <a:r>
              <a:rPr lang="fa-IR" sz="2800" dirty="0">
                <a:solidFill>
                  <a:srgbClr val="000000"/>
                </a:solidFill>
                <a:latin typeface="+mj-lt"/>
              </a:rPr>
              <a:t> شامل:</a:t>
            </a:r>
          </a:p>
          <a:p>
            <a:pPr lvl="1"/>
            <a:r>
              <a:rPr lang="fa-IR" sz="2500" dirty="0">
                <a:solidFill>
                  <a:srgbClr val="000000"/>
                </a:solidFill>
                <a:latin typeface="+mj-lt"/>
              </a:rPr>
              <a:t>یک نام که عملکرد دستوالعمل را توصیف می‌کند.</a:t>
            </a:r>
          </a:p>
          <a:p>
            <a:pPr lvl="1"/>
            <a:r>
              <a:rPr lang="fa-IR" sz="2500" dirty="0">
                <a:solidFill>
                  <a:srgbClr val="000000"/>
                </a:solidFill>
                <a:latin typeface="+mj-lt"/>
              </a:rPr>
              <a:t>تعدادی عبارت که پارامترهای آن دستورالعمل را توصیف می‌کنند.</a:t>
            </a:r>
          </a:p>
          <a:p>
            <a:pPr lvl="1" algn="l" rtl="0"/>
            <a:r>
              <a:rPr lang="en-US" sz="2500" dirty="0">
                <a:solidFill>
                  <a:srgbClr val="000000"/>
                </a:solidFill>
                <a:latin typeface="+mj-lt"/>
              </a:rPr>
              <a:t>#pragma </a:t>
            </a:r>
            <a:r>
              <a:rPr lang="en-US" sz="2500" dirty="0" err="1">
                <a:solidFill>
                  <a:srgbClr val="000000"/>
                </a:solidFill>
                <a:latin typeface="+mj-lt"/>
              </a:rPr>
              <a:t>omp</a:t>
            </a:r>
            <a:r>
              <a:rPr lang="en-US" sz="2500" dirty="0">
                <a:solidFill>
                  <a:srgbClr val="000000"/>
                </a:solidFill>
                <a:latin typeface="+mj-lt"/>
              </a:rPr>
              <a:t> &lt;pragma name&gt; &lt;pragma clauses&gt;</a:t>
            </a:r>
            <a:endParaRPr lang="fa-IR" sz="2500" dirty="0">
              <a:solidFill>
                <a:srgbClr val="000000"/>
              </a:solidFill>
              <a:latin typeface="+mj-lt"/>
            </a:endParaRPr>
          </a:p>
          <a:p>
            <a:pPr algn="r"/>
            <a:endParaRPr lang="en-US" sz="2800" dirty="0">
              <a:solidFill>
                <a:srgbClr val="000000"/>
              </a:solidFill>
              <a:latin typeface="+mj-lt"/>
            </a:endParaRPr>
          </a:p>
          <a:p>
            <a:pPr algn="r"/>
            <a:r>
              <a:rPr lang="fa-IR" sz="2800" dirty="0">
                <a:solidFill>
                  <a:srgbClr val="000000"/>
                </a:solidFill>
                <a:latin typeface="+mj-lt"/>
              </a:rPr>
              <a:t>مثال:</a:t>
            </a:r>
            <a:endParaRPr lang="en-US" sz="2800" dirty="0">
              <a:solidFill>
                <a:srgbClr val="000000"/>
              </a:solidFill>
              <a:latin typeface="+mj-lt"/>
            </a:endParaRPr>
          </a:p>
          <a:p>
            <a:pPr lvl="1" algn="l" rtl="0"/>
            <a:r>
              <a:rPr lang="en-US" sz="2500" dirty="0">
                <a:solidFill>
                  <a:srgbClr val="DE0806"/>
                </a:solidFill>
                <a:latin typeface="+mj-lt"/>
              </a:rPr>
              <a:t>#pragma </a:t>
            </a:r>
            <a:r>
              <a:rPr lang="en-US" sz="2500" dirty="0" err="1">
                <a:solidFill>
                  <a:srgbClr val="DE0806"/>
                </a:solidFill>
                <a:latin typeface="+mj-lt"/>
              </a:rPr>
              <a:t>omp</a:t>
            </a:r>
            <a:r>
              <a:rPr lang="en-US" sz="2500" dirty="0">
                <a:solidFill>
                  <a:srgbClr val="DE0806"/>
                </a:solidFill>
                <a:latin typeface="+mj-lt"/>
              </a:rPr>
              <a:t> parallel default(shared) private(</a:t>
            </a:r>
            <a:r>
              <a:rPr lang="en-US" sz="2500" dirty="0" err="1">
                <a:solidFill>
                  <a:srgbClr val="0000CD"/>
                </a:solidFill>
                <a:latin typeface="+mj-lt"/>
              </a:rPr>
              <a:t>beta,pi</a:t>
            </a:r>
            <a:r>
              <a:rPr lang="en-US" sz="2500" dirty="0">
                <a:solidFill>
                  <a:srgbClr val="DE0806"/>
                </a:solidFill>
                <a:latin typeface="+mj-lt"/>
              </a:rPr>
              <a:t>)</a:t>
            </a:r>
          </a:p>
        </p:txBody>
      </p:sp>
      <p:sp>
        <p:nvSpPr>
          <p:cNvPr id="4" name="Date Placeholder 3"/>
          <p:cNvSpPr>
            <a:spLocks noGrp="1"/>
          </p:cNvSpPr>
          <p:nvPr>
            <p:ph type="dt" sz="half" idx="10"/>
          </p:nvPr>
        </p:nvSpPr>
        <p:spPr/>
        <p:txBody>
          <a:bodyPr/>
          <a:lstStyle/>
          <a:p>
            <a:pPr>
              <a:defRPr/>
            </a:pPr>
            <a:r>
              <a:rPr lang="en-US" altLang="en-US"/>
              <a:t>Parallel Processing</a:t>
            </a:r>
          </a:p>
        </p:txBody>
      </p:sp>
      <p:sp>
        <p:nvSpPr>
          <p:cNvPr id="5" name="Footer Placeholder 4"/>
          <p:cNvSpPr>
            <a:spLocks noGrp="1"/>
          </p:cNvSpPr>
          <p:nvPr>
            <p:ph type="ftr" sz="quarter" idx="11"/>
          </p:nvPr>
        </p:nvSpPr>
        <p:spPr/>
        <p:txBody>
          <a:bodyPr/>
          <a:lstStyle/>
          <a:p>
            <a:pPr>
              <a:defRPr/>
            </a:pPr>
            <a:r>
              <a:rPr lang="en-US" altLang="en-US"/>
              <a:t>7. OpenMP</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A9DCC621-7EE1-4E7E-9D9E-207B534D683D}" type="slidenum">
              <a:rPr lang="en-US" altLang="en-US" smtClean="0"/>
              <a:pPr>
                <a:defRPr/>
              </a:pPr>
              <a:t>14</a:t>
            </a:fld>
            <a:endParaRPr lang="en-US" altLang="en-US" dirty="0"/>
          </a:p>
        </p:txBody>
      </p:sp>
      <p:sp>
        <p:nvSpPr>
          <p:cNvPr id="7" name="Right Brace 6"/>
          <p:cNvSpPr/>
          <p:nvPr/>
        </p:nvSpPr>
        <p:spPr>
          <a:xfrm rot="5400000">
            <a:off x="2133600" y="2286000"/>
            <a:ext cx="228600" cy="1752600"/>
          </a:xfrm>
          <a:prstGeom prst="rightBrace">
            <a:avLst>
              <a:gd name="adj1" fmla="val 34733"/>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TextBox 7"/>
          <p:cNvSpPr txBox="1"/>
          <p:nvPr/>
        </p:nvSpPr>
        <p:spPr>
          <a:xfrm>
            <a:off x="1845689" y="3352800"/>
            <a:ext cx="740908" cy="400110"/>
          </a:xfrm>
          <a:prstGeom prst="rect">
            <a:avLst/>
          </a:prstGeom>
          <a:noFill/>
        </p:spPr>
        <p:txBody>
          <a:bodyPr wrap="none" rtlCol="0">
            <a:spAutoFit/>
          </a:bodyPr>
          <a:lstStyle/>
          <a:p>
            <a:pPr algn="r" rtl="1"/>
            <a:r>
              <a:rPr lang="fa-IR" sz="2000" dirty="0">
                <a:cs typeface="B Nazanin" panose="00000400000000000000" pitchFamily="2" charset="-78"/>
              </a:rPr>
              <a:t>اجباری</a:t>
            </a:r>
            <a:endParaRPr lang="en-US" sz="2000" dirty="0">
              <a:cs typeface="B Nazanin" panose="00000400000000000000" pitchFamily="2" charset="-78"/>
            </a:endParaRPr>
          </a:p>
        </p:txBody>
      </p:sp>
      <p:sp>
        <p:nvSpPr>
          <p:cNvPr id="10" name="Right Brace 9"/>
          <p:cNvSpPr/>
          <p:nvPr/>
        </p:nvSpPr>
        <p:spPr>
          <a:xfrm rot="5400000">
            <a:off x="4114800" y="2286000"/>
            <a:ext cx="228600" cy="1752600"/>
          </a:xfrm>
          <a:prstGeom prst="rightBrace">
            <a:avLst>
              <a:gd name="adj1" fmla="val 34733"/>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TextBox 10"/>
          <p:cNvSpPr txBox="1"/>
          <p:nvPr/>
        </p:nvSpPr>
        <p:spPr>
          <a:xfrm>
            <a:off x="4029749" y="3352800"/>
            <a:ext cx="389851" cy="400110"/>
          </a:xfrm>
          <a:prstGeom prst="rect">
            <a:avLst/>
          </a:prstGeom>
          <a:noFill/>
        </p:spPr>
        <p:txBody>
          <a:bodyPr wrap="none" rtlCol="0">
            <a:spAutoFit/>
          </a:bodyPr>
          <a:lstStyle/>
          <a:p>
            <a:pPr algn="r" rtl="1"/>
            <a:r>
              <a:rPr lang="fa-IR" sz="2000" dirty="0">
                <a:cs typeface="B Nazanin" panose="00000400000000000000" pitchFamily="2" charset="-78"/>
              </a:rPr>
              <a:t>نام</a:t>
            </a:r>
            <a:endParaRPr lang="en-US" sz="2000" dirty="0">
              <a:cs typeface="B Nazanin" panose="00000400000000000000" pitchFamily="2" charset="-78"/>
            </a:endParaRPr>
          </a:p>
        </p:txBody>
      </p:sp>
      <p:sp>
        <p:nvSpPr>
          <p:cNvPr id="12" name="Right Brace 11"/>
          <p:cNvSpPr/>
          <p:nvPr/>
        </p:nvSpPr>
        <p:spPr>
          <a:xfrm rot="5400000">
            <a:off x="6438900" y="2171700"/>
            <a:ext cx="228600" cy="1981200"/>
          </a:xfrm>
          <a:prstGeom prst="rightBrace">
            <a:avLst>
              <a:gd name="adj1" fmla="val 34733"/>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TextBox 12"/>
          <p:cNvSpPr txBox="1"/>
          <p:nvPr/>
        </p:nvSpPr>
        <p:spPr>
          <a:xfrm>
            <a:off x="6096000" y="3352800"/>
            <a:ext cx="770501" cy="400110"/>
          </a:xfrm>
          <a:prstGeom prst="rect">
            <a:avLst/>
          </a:prstGeom>
          <a:noFill/>
        </p:spPr>
        <p:txBody>
          <a:bodyPr wrap="square" rtlCol="0">
            <a:spAutoFit/>
          </a:bodyPr>
          <a:lstStyle/>
          <a:p>
            <a:pPr algn="r" rtl="1"/>
            <a:r>
              <a:rPr lang="fa-IR" sz="2000" dirty="0">
                <a:cs typeface="B Nazanin" panose="00000400000000000000" pitchFamily="2" charset="-78"/>
              </a:rPr>
              <a:t>عبارت</a:t>
            </a:r>
            <a:endParaRPr lang="en-US" sz="2000" dirty="0">
              <a:cs typeface="B Nazanin" panose="00000400000000000000" pitchFamily="2" charset="-78"/>
            </a:endParaRPr>
          </a:p>
        </p:txBody>
      </p:sp>
    </p:spTree>
    <p:extLst>
      <p:ext uri="{BB962C8B-B14F-4D97-AF65-F5344CB8AC3E}">
        <p14:creationId xmlns:p14="http://schemas.microsoft.com/office/powerpoint/2010/main" val="67895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10" grpId="0" animBg="1"/>
      <p:bldP spid="11" grpId="0"/>
      <p:bldP spid="12" grpId="0" animBg="1"/>
      <p:bldP spid="1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ناحیه موازی			</a:t>
            </a:r>
            <a:r>
              <a:rPr lang="en-US" dirty="0"/>
              <a:t>Parallel Region</a:t>
            </a:r>
          </a:p>
        </p:txBody>
      </p:sp>
      <p:sp>
        <p:nvSpPr>
          <p:cNvPr id="3" name="Content Placeholder 2"/>
          <p:cNvSpPr>
            <a:spLocks noGrp="1"/>
          </p:cNvSpPr>
          <p:nvPr>
            <p:ph sz="quarter" idx="1"/>
          </p:nvPr>
        </p:nvSpPr>
        <p:spPr/>
        <p:txBody>
          <a:bodyPr/>
          <a:lstStyle/>
          <a:p>
            <a:pPr marL="0" indent="0" algn="l" rtl="0">
              <a:buNone/>
            </a:pPr>
            <a:r>
              <a:rPr lang="en-US" sz="2000" dirty="0">
                <a:solidFill>
                  <a:srgbClr val="DE0806"/>
                </a:solidFill>
                <a:latin typeface="Droid Sans Mono" panose="020B0609030804020204" pitchFamily="49" charset="0"/>
                <a:ea typeface="Droid Sans Mono" panose="020B0609030804020204" pitchFamily="49" charset="0"/>
                <a:cs typeface="Droid Sans Mono" panose="020B0609030804020204" pitchFamily="49" charset="0"/>
              </a:rPr>
              <a:t>#pragma </a:t>
            </a:r>
            <a:r>
              <a:rPr lang="en-US" sz="2000" dirty="0" err="1">
                <a:solidFill>
                  <a:srgbClr val="DE0806"/>
                </a:solidFill>
                <a:latin typeface="Droid Sans Mono" panose="020B0609030804020204" pitchFamily="49" charset="0"/>
                <a:ea typeface="Droid Sans Mono" panose="020B0609030804020204" pitchFamily="49" charset="0"/>
                <a:cs typeface="Droid Sans Mono" panose="020B0609030804020204" pitchFamily="49" charset="0"/>
              </a:rPr>
              <a:t>omp</a:t>
            </a:r>
            <a:r>
              <a:rPr lang="en-US" sz="2000" dirty="0">
                <a:solidFill>
                  <a:srgbClr val="DE0806"/>
                </a:solidFill>
                <a:latin typeface="Droid Sans Mono" panose="020B0609030804020204" pitchFamily="49" charset="0"/>
                <a:ea typeface="Droid Sans Mono" panose="020B0609030804020204" pitchFamily="49" charset="0"/>
                <a:cs typeface="Droid Sans Mono" panose="020B0609030804020204" pitchFamily="49" charset="0"/>
              </a:rPr>
              <a:t> parallel </a:t>
            </a:r>
            <a:r>
              <a:rPr lang="en-US" sz="2000" dirty="0">
                <a:solidFill>
                  <a:srgbClr val="0000CD"/>
                </a:solidFill>
                <a:latin typeface="Droid Sans Mono" panose="020B0609030804020204" pitchFamily="49" charset="0"/>
                <a:ea typeface="Droid Sans Mono" panose="020B0609030804020204" pitchFamily="49" charset="0"/>
                <a:cs typeface="Droid Sans Mono" panose="020B0609030804020204" pitchFamily="49" charset="0"/>
              </a:rPr>
              <a:t>[clause list]</a:t>
            </a:r>
          </a:p>
          <a:p>
            <a:pPr marL="0" indent="0" algn="l" rtl="0">
              <a:buNone/>
            </a:pPr>
            <a:r>
              <a:rPr lang="en-US" sz="2000" dirty="0">
                <a:solidFill>
                  <a:srgbClr val="0000CD"/>
                </a:solidFill>
                <a:latin typeface="Droid Sans Mono" panose="020B0609030804020204" pitchFamily="49" charset="0"/>
                <a:ea typeface="Droid Sans Mono" panose="020B0609030804020204" pitchFamily="49" charset="0"/>
                <a:cs typeface="Droid Sans Mono" panose="020B0609030804020204" pitchFamily="49" charset="0"/>
              </a:rPr>
              <a:t>{</a:t>
            </a:r>
          </a:p>
          <a:p>
            <a:pPr marL="0" indent="0" algn="l" rtl="0">
              <a:buNone/>
            </a:pPr>
            <a:r>
              <a:rPr lang="en-US" sz="2000" dirty="0">
                <a:solidFill>
                  <a:srgbClr val="0000CD"/>
                </a:solidFill>
                <a:latin typeface="Droid Sans" panose="020B0606030804020204" pitchFamily="34" charset="0"/>
                <a:ea typeface="Droid Sans" panose="020B0606030804020204" pitchFamily="34" charset="0"/>
                <a:cs typeface="Droid Sans" panose="020B0606030804020204" pitchFamily="34" charset="0"/>
              </a:rPr>
              <a:t>       //The code that needs to run in parallel</a:t>
            </a:r>
          </a:p>
          <a:p>
            <a:pPr marL="0" indent="0" algn="l" rtl="0">
              <a:buNone/>
            </a:pPr>
            <a:r>
              <a:rPr lang="en-US" sz="2000" dirty="0">
                <a:solidFill>
                  <a:srgbClr val="0000CD"/>
                </a:solidFill>
                <a:latin typeface="Droid Sans Mono" panose="020B0609030804020204" pitchFamily="49" charset="0"/>
                <a:ea typeface="Droid Sans Mono" panose="020B0609030804020204" pitchFamily="49" charset="0"/>
                <a:cs typeface="Droid Sans Mono" panose="020B0609030804020204" pitchFamily="49" charset="0"/>
              </a:rPr>
              <a:t>}</a:t>
            </a:r>
          </a:p>
          <a:p>
            <a:r>
              <a:rPr lang="fa-IR" sz="2400" dirty="0">
                <a:latin typeface="+mj-lt"/>
              </a:rPr>
              <a:t>یعنی یک این بلوک از کد باید به صورت موازی اجرا شود. </a:t>
            </a:r>
          </a:p>
          <a:p>
            <a:r>
              <a:rPr lang="fa-IR" sz="2400" dirty="0">
                <a:latin typeface="+mj-lt"/>
              </a:rPr>
              <a:t>به طور ضمنی </a:t>
            </a:r>
            <a:r>
              <a:rPr lang="fa-IR" sz="2400" dirty="0">
                <a:solidFill>
                  <a:srgbClr val="FF6600"/>
                </a:solidFill>
                <a:latin typeface="+mj-lt"/>
              </a:rPr>
              <a:t>درخواست ایجاد چند نخ</a:t>
            </a:r>
            <a:r>
              <a:rPr lang="fa-IR" sz="2400" dirty="0">
                <a:latin typeface="+mj-lt"/>
              </a:rPr>
              <a:t> شده است که همه آنها این بلوک از کد را به صورت موازی اجرا می‌کنند. </a:t>
            </a:r>
          </a:p>
          <a:p>
            <a:pPr lvl="1"/>
            <a:r>
              <a:rPr lang="fa-IR" sz="2000" dirty="0">
                <a:latin typeface="+mj-lt"/>
              </a:rPr>
              <a:t>هیچ تضمینی برای انجام این درخواست نیست! سیستم عامل ممکن است این درخواست را اجرا کند یا نکند.</a:t>
            </a:r>
            <a:endParaRPr lang="fa-IR" sz="2000" dirty="0">
              <a:solidFill>
                <a:srgbClr val="0000FF"/>
              </a:solidFill>
              <a:latin typeface="+mj-lt"/>
            </a:endParaRPr>
          </a:p>
          <a:p>
            <a:r>
              <a:rPr lang="fa-IR" sz="2400" dirty="0"/>
              <a:t>لیست عبارات تعیین می‌کند این موازی‌سازی چگونه انجام شود. مثلاً تعداد نخ‌ها را می‌توان از این طریق تعیین کرد. </a:t>
            </a:r>
          </a:p>
          <a:p>
            <a:pPr lvl="1"/>
            <a:endParaRPr lang="fa-IR" sz="1900" dirty="0">
              <a:latin typeface="+mj-lt"/>
            </a:endParaRPr>
          </a:p>
        </p:txBody>
      </p:sp>
      <p:sp>
        <p:nvSpPr>
          <p:cNvPr id="4" name="Date Placeholder 3"/>
          <p:cNvSpPr>
            <a:spLocks noGrp="1"/>
          </p:cNvSpPr>
          <p:nvPr>
            <p:ph type="dt" sz="half" idx="10"/>
          </p:nvPr>
        </p:nvSpPr>
        <p:spPr/>
        <p:txBody>
          <a:bodyPr/>
          <a:lstStyle/>
          <a:p>
            <a:pPr>
              <a:defRPr/>
            </a:pPr>
            <a:r>
              <a:rPr lang="en-US" altLang="en-US"/>
              <a:t>Parallel Processing</a:t>
            </a:r>
          </a:p>
        </p:txBody>
      </p:sp>
      <p:sp>
        <p:nvSpPr>
          <p:cNvPr id="5" name="Footer Placeholder 4"/>
          <p:cNvSpPr>
            <a:spLocks noGrp="1"/>
          </p:cNvSpPr>
          <p:nvPr>
            <p:ph type="ftr" sz="quarter" idx="11"/>
          </p:nvPr>
        </p:nvSpPr>
        <p:spPr/>
        <p:txBody>
          <a:bodyPr/>
          <a:lstStyle/>
          <a:p>
            <a:pPr>
              <a:defRPr/>
            </a:pPr>
            <a:r>
              <a:rPr lang="en-US" altLang="en-US"/>
              <a:t>7. OpenMP</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A9DCC621-7EE1-4E7E-9D9E-207B534D683D}" type="slidenum">
              <a:rPr lang="en-US" altLang="en-US" smtClean="0"/>
              <a:pPr>
                <a:defRPr/>
              </a:pPr>
              <a:t>15</a:t>
            </a:fld>
            <a:endParaRPr lang="en-US" altLang="en-US" dirty="0"/>
          </a:p>
        </p:txBody>
      </p:sp>
    </p:spTree>
    <p:extLst>
      <p:ext uri="{BB962C8B-B14F-4D97-AF65-F5344CB8AC3E}">
        <p14:creationId xmlns:p14="http://schemas.microsoft.com/office/powerpoint/2010/main" val="3993408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مثال اول از ناحیه موازی</a:t>
            </a:r>
            <a:endParaRPr lang="en-US" dirty="0"/>
          </a:p>
        </p:txBody>
      </p:sp>
      <p:sp>
        <p:nvSpPr>
          <p:cNvPr id="3" name="Content Placeholder 2"/>
          <p:cNvSpPr>
            <a:spLocks noGrp="1"/>
          </p:cNvSpPr>
          <p:nvPr>
            <p:ph sz="quarter" idx="1"/>
          </p:nvPr>
        </p:nvSpPr>
        <p:spPr/>
        <p:txBody>
          <a:bodyPr/>
          <a:lstStyle/>
          <a:p>
            <a:pPr marL="46038" indent="0" algn="l" rtl="0">
              <a:buNone/>
            </a:pPr>
            <a:r>
              <a:rPr lang="en-US" sz="1800" dirty="0">
                <a:solidFill>
                  <a:srgbClr val="FF0000"/>
                </a:solidFill>
                <a:latin typeface="Droid Sans Mono" panose="020B0609030804020204" pitchFamily="49" charset="0"/>
                <a:ea typeface="Droid Sans Mono" panose="020B0609030804020204" pitchFamily="49" charset="0"/>
                <a:cs typeface="Droid Sans Mono" panose="020B0609030804020204" pitchFamily="49" charset="0"/>
              </a:rPr>
              <a:t>#include &lt;</a:t>
            </a:r>
            <a:r>
              <a:rPr lang="en-US" sz="1800" dirty="0" err="1">
                <a:solidFill>
                  <a:srgbClr val="FF0000"/>
                </a:solidFill>
                <a:latin typeface="Droid Sans Mono" panose="020B0609030804020204" pitchFamily="49" charset="0"/>
                <a:ea typeface="Droid Sans Mono" panose="020B0609030804020204" pitchFamily="49" charset="0"/>
                <a:cs typeface="Droid Sans Mono" panose="020B0609030804020204" pitchFamily="49" charset="0"/>
              </a:rPr>
              <a:t>omp.h</a:t>
            </a:r>
            <a:r>
              <a:rPr lang="en-US" sz="1800" dirty="0">
                <a:solidFill>
                  <a:srgbClr val="FF0000"/>
                </a:solidFill>
                <a:latin typeface="Droid Sans Mono" panose="020B0609030804020204" pitchFamily="49" charset="0"/>
                <a:ea typeface="Droid Sans Mono" panose="020B0609030804020204" pitchFamily="49" charset="0"/>
                <a:cs typeface="Droid Sans Mono" panose="020B0609030804020204" pitchFamily="49" charset="0"/>
              </a:rPr>
              <a:t>&gt;</a:t>
            </a:r>
          </a:p>
          <a:p>
            <a:pPr marL="46038" indent="0" algn="l" rtl="0">
              <a:buNone/>
            </a:pPr>
            <a:r>
              <a:rPr lang="en-US" sz="1800" dirty="0" err="1">
                <a:latin typeface="Droid Sans Mono" panose="020B0609030804020204" pitchFamily="49" charset="0"/>
                <a:ea typeface="Droid Sans Mono" panose="020B0609030804020204" pitchFamily="49" charset="0"/>
                <a:cs typeface="Droid Sans Mono" panose="020B0609030804020204" pitchFamily="49" charset="0"/>
              </a:rPr>
              <a:t>int</a:t>
            </a:r>
            <a:r>
              <a:rPr lang="en-US" sz="1800" dirty="0">
                <a:latin typeface="Droid Sans Mono" panose="020B0609030804020204" pitchFamily="49" charset="0"/>
                <a:ea typeface="Droid Sans Mono" panose="020B0609030804020204" pitchFamily="49" charset="0"/>
                <a:cs typeface="Droid Sans Mono" panose="020B0609030804020204" pitchFamily="49" charset="0"/>
              </a:rPr>
              <a:t> main()</a:t>
            </a:r>
          </a:p>
          <a:p>
            <a:pPr marL="46038" indent="0" algn="l" rtl="0">
              <a:buNone/>
            </a:pPr>
            <a:r>
              <a:rPr lang="en-US" sz="1800" dirty="0">
                <a:latin typeface="Droid Sans Mono" panose="020B0609030804020204" pitchFamily="49" charset="0"/>
                <a:ea typeface="Droid Sans Mono" panose="020B0609030804020204" pitchFamily="49" charset="0"/>
                <a:cs typeface="Droid Sans Mono" panose="020B0609030804020204" pitchFamily="49" charset="0"/>
              </a:rPr>
              <a:t>{</a:t>
            </a:r>
          </a:p>
          <a:p>
            <a:pPr marL="46038" indent="0" algn="l" rtl="0">
              <a:buNone/>
            </a:pPr>
            <a:r>
              <a:rPr lang="en-US" sz="1800" dirty="0">
                <a:solidFill>
                  <a:srgbClr val="FF0000"/>
                </a:solidFill>
                <a:latin typeface="Droid Sans Mono" panose="020B0609030804020204" pitchFamily="49" charset="0"/>
                <a:ea typeface="Droid Sans Mono" panose="020B0609030804020204" pitchFamily="49" charset="0"/>
                <a:cs typeface="Droid Sans Mono" panose="020B0609030804020204" pitchFamily="49" charset="0"/>
              </a:rPr>
              <a:t>   #pragma </a:t>
            </a:r>
            <a:r>
              <a:rPr lang="en-US" sz="1800" dirty="0" err="1">
                <a:solidFill>
                  <a:srgbClr val="FF0000"/>
                </a:solidFill>
                <a:latin typeface="Droid Sans Mono" panose="020B0609030804020204" pitchFamily="49" charset="0"/>
                <a:ea typeface="Droid Sans Mono" panose="020B0609030804020204" pitchFamily="49" charset="0"/>
                <a:cs typeface="Droid Sans Mono" panose="020B0609030804020204" pitchFamily="49" charset="0"/>
              </a:rPr>
              <a:t>omp</a:t>
            </a:r>
            <a:r>
              <a:rPr lang="en-US" sz="1800" dirty="0">
                <a:solidFill>
                  <a:srgbClr val="FF0000"/>
                </a:solidFill>
                <a:latin typeface="Droid Sans Mono" panose="020B0609030804020204" pitchFamily="49" charset="0"/>
                <a:ea typeface="Droid Sans Mono" panose="020B0609030804020204" pitchFamily="49" charset="0"/>
                <a:cs typeface="Droid Sans Mono" panose="020B0609030804020204" pitchFamily="49" charset="0"/>
              </a:rPr>
              <a:t> parallel </a:t>
            </a:r>
            <a:r>
              <a:rPr lang="en-US" sz="1800" dirty="0" err="1">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num_threads</a:t>
            </a:r>
            <a:r>
              <a:rPr lang="en-US" sz="18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(4)</a:t>
            </a:r>
          </a:p>
          <a:p>
            <a:pPr marL="46038" indent="0" algn="l" rtl="0">
              <a:buNone/>
            </a:pPr>
            <a:r>
              <a:rPr lang="en-US" sz="1800" dirty="0">
                <a:latin typeface="Droid Sans Mono" panose="020B0609030804020204" pitchFamily="49" charset="0"/>
                <a:ea typeface="Droid Sans Mono" panose="020B0609030804020204" pitchFamily="49" charset="0"/>
                <a:cs typeface="Droid Sans Mono" panose="020B0609030804020204" pitchFamily="49" charset="0"/>
              </a:rPr>
              <a:t>   {</a:t>
            </a:r>
          </a:p>
          <a:p>
            <a:pPr marL="46038" indent="0" algn="l" rtl="0">
              <a:buNone/>
            </a:pPr>
            <a:r>
              <a:rPr lang="en-US" sz="1800" dirty="0">
                <a:latin typeface="Droid Sans Mono" panose="020B0609030804020204" pitchFamily="49" charset="0"/>
                <a:ea typeface="Droid Sans Mono" panose="020B0609030804020204" pitchFamily="49" charset="0"/>
                <a:cs typeface="Droid Sans Mono" panose="020B0609030804020204" pitchFamily="49" charset="0"/>
              </a:rPr>
              <a:t>       </a:t>
            </a:r>
            <a:r>
              <a:rPr lang="en-US" sz="1800" dirty="0" err="1">
                <a:latin typeface="Droid Sans Mono" panose="020B0609030804020204" pitchFamily="49" charset="0"/>
                <a:ea typeface="Droid Sans Mono" panose="020B0609030804020204" pitchFamily="49" charset="0"/>
                <a:cs typeface="Droid Sans Mono" panose="020B0609030804020204" pitchFamily="49" charset="0"/>
              </a:rPr>
              <a:t>int</a:t>
            </a:r>
            <a:r>
              <a:rPr lang="en-US" sz="1800" dirty="0">
                <a:latin typeface="Droid Sans Mono" panose="020B0609030804020204" pitchFamily="49" charset="0"/>
                <a:ea typeface="Droid Sans Mono" panose="020B0609030804020204" pitchFamily="49" charset="0"/>
                <a:cs typeface="Droid Sans Mono" panose="020B0609030804020204" pitchFamily="49" charset="0"/>
              </a:rPr>
              <a:t> ID = </a:t>
            </a:r>
            <a:r>
              <a:rPr lang="en-US" sz="1800" dirty="0" err="1">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omp_get_thread_num</a:t>
            </a:r>
            <a:r>
              <a:rPr lang="en-US" sz="18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a:t>
            </a:r>
          </a:p>
          <a:p>
            <a:pPr marL="46038" indent="0" algn="l" rtl="0">
              <a:buNone/>
            </a:pPr>
            <a:r>
              <a:rPr lang="en-US" sz="1800" dirty="0">
                <a:latin typeface="Droid Sans Mono" panose="020B0609030804020204" pitchFamily="49" charset="0"/>
                <a:ea typeface="Droid Sans Mono" panose="020B0609030804020204" pitchFamily="49" charset="0"/>
                <a:cs typeface="Droid Sans Mono" panose="020B0609030804020204" pitchFamily="49" charset="0"/>
              </a:rPr>
              <a:t>       </a:t>
            </a:r>
            <a:r>
              <a:rPr lang="en-US" sz="1800" dirty="0" err="1">
                <a:latin typeface="Droid Sans Mono" panose="020B0609030804020204" pitchFamily="49" charset="0"/>
                <a:ea typeface="Droid Sans Mono" panose="020B0609030804020204" pitchFamily="49" charset="0"/>
                <a:cs typeface="Droid Sans Mono" panose="020B0609030804020204" pitchFamily="49" charset="0"/>
              </a:rPr>
              <a:t>printf</a:t>
            </a:r>
            <a:r>
              <a:rPr lang="en-US" sz="1800" dirty="0">
                <a:latin typeface="Droid Sans Mono" panose="020B0609030804020204" pitchFamily="49" charset="0"/>
                <a:ea typeface="Droid Sans Mono" panose="020B0609030804020204" pitchFamily="49" charset="0"/>
                <a:cs typeface="Droid Sans Mono" panose="020B0609030804020204" pitchFamily="49" charset="0"/>
              </a:rPr>
              <a:t>(“hello(%d)”,ID);</a:t>
            </a:r>
          </a:p>
          <a:p>
            <a:pPr marL="46038" indent="0" algn="l" rtl="0">
              <a:buNone/>
            </a:pPr>
            <a:r>
              <a:rPr lang="en-US" sz="1800" dirty="0">
                <a:latin typeface="Droid Sans Mono" panose="020B0609030804020204" pitchFamily="49" charset="0"/>
                <a:ea typeface="Droid Sans Mono" panose="020B0609030804020204" pitchFamily="49" charset="0"/>
                <a:cs typeface="Droid Sans Mono" panose="020B0609030804020204" pitchFamily="49" charset="0"/>
              </a:rPr>
              <a:t>       </a:t>
            </a:r>
            <a:r>
              <a:rPr lang="en-US" sz="1800" dirty="0" err="1">
                <a:latin typeface="Droid Sans Mono" panose="020B0609030804020204" pitchFamily="49" charset="0"/>
                <a:ea typeface="Droid Sans Mono" panose="020B0609030804020204" pitchFamily="49" charset="0"/>
                <a:cs typeface="Droid Sans Mono" panose="020B0609030804020204" pitchFamily="49" charset="0"/>
              </a:rPr>
              <a:t>printf</a:t>
            </a:r>
            <a:r>
              <a:rPr lang="en-US" sz="1800" dirty="0">
                <a:latin typeface="Droid Sans Mono" panose="020B0609030804020204" pitchFamily="49" charset="0"/>
                <a:ea typeface="Droid Sans Mono" panose="020B0609030804020204" pitchFamily="49" charset="0"/>
                <a:cs typeface="Droid Sans Mono" panose="020B0609030804020204" pitchFamily="49" charset="0"/>
              </a:rPr>
              <a:t>(“ world(%d) \</a:t>
            </a:r>
            <a:r>
              <a:rPr lang="en-US" sz="1800" dirty="0" err="1">
                <a:latin typeface="Droid Sans Mono" panose="020B0609030804020204" pitchFamily="49" charset="0"/>
                <a:ea typeface="Droid Sans Mono" panose="020B0609030804020204" pitchFamily="49" charset="0"/>
                <a:cs typeface="Droid Sans Mono" panose="020B0609030804020204" pitchFamily="49" charset="0"/>
              </a:rPr>
              <a:t>n”,ID</a:t>
            </a:r>
            <a:r>
              <a:rPr lang="en-US" sz="1800" dirty="0">
                <a:latin typeface="Droid Sans Mono" panose="020B0609030804020204" pitchFamily="49" charset="0"/>
                <a:ea typeface="Droid Sans Mono" panose="020B0609030804020204" pitchFamily="49" charset="0"/>
                <a:cs typeface="Droid Sans Mono" panose="020B0609030804020204" pitchFamily="49" charset="0"/>
              </a:rPr>
              <a:t>);</a:t>
            </a:r>
          </a:p>
          <a:p>
            <a:pPr marL="46038" indent="0" algn="l" rtl="0">
              <a:buNone/>
            </a:pPr>
            <a:r>
              <a:rPr lang="en-US" sz="1800" dirty="0">
                <a:latin typeface="Droid Sans Mono" panose="020B0609030804020204" pitchFamily="49" charset="0"/>
                <a:ea typeface="Droid Sans Mono" panose="020B0609030804020204" pitchFamily="49" charset="0"/>
                <a:cs typeface="Droid Sans Mono" panose="020B0609030804020204" pitchFamily="49" charset="0"/>
              </a:rPr>
              <a:t>    }</a:t>
            </a:r>
          </a:p>
          <a:p>
            <a:pPr marL="46038" indent="0" algn="l" rtl="0">
              <a:buNone/>
            </a:pPr>
            <a:r>
              <a:rPr lang="en-US" sz="1800" dirty="0">
                <a:latin typeface="Droid Sans Mono" panose="020B0609030804020204" pitchFamily="49" charset="0"/>
                <a:ea typeface="Droid Sans Mono" panose="020B0609030804020204" pitchFamily="49" charset="0"/>
                <a:cs typeface="Droid Sans Mono" panose="020B0609030804020204" pitchFamily="49" charset="0"/>
              </a:rPr>
              <a:t>}</a:t>
            </a:r>
          </a:p>
          <a:p>
            <a:pPr marL="388938" indent="-342900" algn="l" rtl="0"/>
            <a:endParaRPr lang="en-US" sz="2200" dirty="0"/>
          </a:p>
        </p:txBody>
      </p:sp>
      <p:sp>
        <p:nvSpPr>
          <p:cNvPr id="4" name="Date Placeholder 3"/>
          <p:cNvSpPr>
            <a:spLocks noGrp="1"/>
          </p:cNvSpPr>
          <p:nvPr>
            <p:ph type="dt" sz="half" idx="10"/>
          </p:nvPr>
        </p:nvSpPr>
        <p:spPr/>
        <p:txBody>
          <a:bodyPr/>
          <a:lstStyle/>
          <a:p>
            <a:pPr>
              <a:defRPr/>
            </a:pPr>
            <a:r>
              <a:rPr lang="en-US" altLang="en-US"/>
              <a:t>Parallel Processing</a:t>
            </a:r>
          </a:p>
        </p:txBody>
      </p:sp>
      <p:sp>
        <p:nvSpPr>
          <p:cNvPr id="5" name="Footer Placeholder 4"/>
          <p:cNvSpPr>
            <a:spLocks noGrp="1"/>
          </p:cNvSpPr>
          <p:nvPr>
            <p:ph type="ftr" sz="quarter" idx="11"/>
          </p:nvPr>
        </p:nvSpPr>
        <p:spPr/>
        <p:txBody>
          <a:bodyPr/>
          <a:lstStyle/>
          <a:p>
            <a:pPr>
              <a:defRPr/>
            </a:pPr>
            <a:r>
              <a:rPr lang="en-US" altLang="en-US"/>
              <a:t>7. OpenMP</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A9DCC621-7EE1-4E7E-9D9E-207B534D683D}" type="slidenum">
              <a:rPr lang="en-US" altLang="en-US" smtClean="0"/>
              <a:pPr>
                <a:defRPr/>
              </a:pPr>
              <a:t>16</a:t>
            </a:fld>
            <a:endParaRPr lang="en-US" altLang="en-US" dirty="0"/>
          </a:p>
        </p:txBody>
      </p:sp>
      <p:sp>
        <p:nvSpPr>
          <p:cNvPr id="7" name="Rectangle 6"/>
          <p:cNvSpPr/>
          <p:nvPr/>
        </p:nvSpPr>
        <p:spPr>
          <a:xfrm>
            <a:off x="3778468" y="1250732"/>
            <a:ext cx="4495800" cy="5334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FA5206"/>
                </a:solidFill>
              </a:rPr>
              <a:t>I am using </a:t>
            </a:r>
            <a:r>
              <a:rPr lang="en-US" sz="2000" b="1" dirty="0" err="1">
                <a:solidFill>
                  <a:srgbClr val="FA5206"/>
                </a:solidFill>
              </a:rPr>
              <a:t>OpenMP</a:t>
            </a:r>
            <a:r>
              <a:rPr lang="en-US" sz="2000" b="1" dirty="0">
                <a:solidFill>
                  <a:srgbClr val="FA5206"/>
                </a:solidFill>
              </a:rPr>
              <a:t> directives/functions</a:t>
            </a:r>
          </a:p>
        </p:txBody>
      </p:sp>
      <p:cxnSp>
        <p:nvCxnSpPr>
          <p:cNvPr id="9" name="Straight Arrow Connector 8"/>
          <p:cNvCxnSpPr>
            <a:stCxn id="7" idx="1"/>
          </p:cNvCxnSpPr>
          <p:nvPr/>
        </p:nvCxnSpPr>
        <p:spPr>
          <a:xfrm flipH="1" flipV="1">
            <a:off x="3048000" y="1447800"/>
            <a:ext cx="730468" cy="69632"/>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6208992" y="1905000"/>
            <a:ext cx="2667000" cy="9906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FA5206"/>
                </a:solidFill>
              </a:rPr>
              <a:t>Please give me 4 threads to do the following block of code</a:t>
            </a:r>
          </a:p>
        </p:txBody>
      </p:sp>
      <p:cxnSp>
        <p:nvCxnSpPr>
          <p:cNvPr id="14" name="Straight Arrow Connector 13"/>
          <p:cNvCxnSpPr/>
          <p:nvPr/>
        </p:nvCxnSpPr>
        <p:spPr>
          <a:xfrm flipH="1">
            <a:off x="5906808" y="2362200"/>
            <a:ext cx="341592" cy="11430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 name="Rectangle 18"/>
          <p:cNvSpPr/>
          <p:nvPr/>
        </p:nvSpPr>
        <p:spPr>
          <a:xfrm>
            <a:off x="6027682" y="3124200"/>
            <a:ext cx="2887717" cy="6858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FA5206"/>
                </a:solidFill>
              </a:rPr>
              <a:t>Get the ID of the thread that executes me</a:t>
            </a:r>
          </a:p>
        </p:txBody>
      </p:sp>
      <p:cxnSp>
        <p:nvCxnSpPr>
          <p:cNvPr id="20" name="Straight Arrow Connector 19"/>
          <p:cNvCxnSpPr>
            <a:stCxn id="19" idx="1"/>
          </p:cNvCxnSpPr>
          <p:nvPr/>
        </p:nvCxnSpPr>
        <p:spPr>
          <a:xfrm flipH="1" flipV="1">
            <a:off x="5638800" y="3371851"/>
            <a:ext cx="388882" cy="95249"/>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6" name="Rectangle 25"/>
          <p:cNvSpPr/>
          <p:nvPr/>
        </p:nvSpPr>
        <p:spPr>
          <a:xfrm>
            <a:off x="5715000" y="4191000"/>
            <a:ext cx="2971800" cy="19050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Output</a:t>
            </a:r>
            <a:endParaRPr lang="en-US" sz="2000" b="1" dirty="0">
              <a:solidFill>
                <a:srgbClr val="FA5206"/>
              </a:solidFill>
            </a:endParaRPr>
          </a:p>
          <a:p>
            <a:pPr algn="ctr"/>
            <a:endParaRPr lang="en-US" sz="2000" b="1" dirty="0">
              <a:solidFill>
                <a:srgbClr val="FA5206"/>
              </a:solidFill>
            </a:endParaRPr>
          </a:p>
          <a:p>
            <a:pPr algn="ctr"/>
            <a:r>
              <a:rPr lang="en-US" sz="2000" b="1" dirty="0">
                <a:solidFill>
                  <a:srgbClr val="FA5206"/>
                </a:solidFill>
              </a:rPr>
              <a:t>hello(1) hello(3) world(1) hello(0) world(3) world(0) hello (2) world(2) </a:t>
            </a:r>
          </a:p>
        </p:txBody>
      </p:sp>
    </p:spTree>
    <p:extLst>
      <p:ext uri="{BB962C8B-B14F-4D97-AF65-F5344CB8AC3E}">
        <p14:creationId xmlns:p14="http://schemas.microsoft.com/office/powerpoint/2010/main" val="2214028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par>
                                <p:cTn id="16" presetID="10" presetClass="entr" presetSubtype="0" fill="hold"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500"/>
                                        <p:tgtEl>
                                          <p:spTgt spid="19"/>
                                        </p:tgtEl>
                                      </p:cBhvr>
                                    </p:animEffect>
                                  </p:childTnLst>
                                </p:cTn>
                              </p:par>
                              <p:par>
                                <p:cTn id="24" presetID="10" presetClass="entr" presetSubtype="0" fill="hold" nodeType="withEffect">
                                  <p:stCondLst>
                                    <p:cond delay="0"/>
                                  </p:stCondLst>
                                  <p:childTnLst>
                                    <p:set>
                                      <p:cBhvr>
                                        <p:cTn id="25" dur="1" fill="hold">
                                          <p:stCondLst>
                                            <p:cond delay="0"/>
                                          </p:stCondLst>
                                        </p:cTn>
                                        <p:tgtEl>
                                          <p:spTgt spid="20"/>
                                        </p:tgtEl>
                                        <p:attrNameLst>
                                          <p:attrName>style.visibility</p:attrName>
                                        </p:attrNameLst>
                                      </p:cBhvr>
                                      <p:to>
                                        <p:strVal val="visible"/>
                                      </p:to>
                                    </p:set>
                                    <p:animEffect transition="in" filter="fade">
                                      <p:cBhvr>
                                        <p:cTn id="26" dur="500"/>
                                        <p:tgtEl>
                                          <p:spTgt spid="20"/>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3" grpId="0" animBg="1"/>
      <p:bldP spid="19" grpId="0" animBg="1"/>
      <p:bldP spid="2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rotWithShape="1">
          <a:blip r:embed="rId3">
            <a:extLst>
              <a:ext uri="{BEBA8EAE-BF5A-486C-A8C5-ECC9F3942E4B}">
                <a14:imgProps xmlns:a14="http://schemas.microsoft.com/office/drawing/2010/main">
                  <a14:imgLayer r:embed="rId4">
                    <a14:imgEffect>
                      <a14:sharpenSoften amount="50000"/>
                    </a14:imgEffect>
                  </a14:imgLayer>
                </a14:imgProps>
              </a:ext>
              <a:ext uri="{28A0092B-C50C-407E-A947-70E740481C1C}">
                <a14:useLocalDpi xmlns:a14="http://schemas.microsoft.com/office/drawing/2010/main" val="0"/>
              </a:ext>
            </a:extLst>
          </a:blip>
          <a:srcRect l="9208" t="23060" r="40748" b="26904"/>
          <a:stretch/>
        </p:blipFill>
        <p:spPr bwMode="auto">
          <a:xfrm>
            <a:off x="3715404" y="3227076"/>
            <a:ext cx="5182973" cy="29135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1"/>
          <p:cNvSpPr>
            <a:spLocks noGrp="1"/>
          </p:cNvSpPr>
          <p:nvPr>
            <p:ph type="title"/>
          </p:nvPr>
        </p:nvSpPr>
        <p:spPr/>
        <p:txBody>
          <a:bodyPr/>
          <a:lstStyle/>
          <a:p>
            <a:r>
              <a:rPr lang="fa-IR" sz="4300" dirty="0"/>
              <a:t>مثال دوم از ناحیه موازی</a:t>
            </a:r>
            <a:endParaRPr lang="en-US" sz="4300" dirty="0"/>
          </a:p>
        </p:txBody>
      </p:sp>
      <p:sp>
        <p:nvSpPr>
          <p:cNvPr id="3" name="Content Placeholder 2"/>
          <p:cNvSpPr>
            <a:spLocks noGrp="1"/>
          </p:cNvSpPr>
          <p:nvPr>
            <p:ph sz="quarter" idx="1"/>
          </p:nvPr>
        </p:nvSpPr>
        <p:spPr/>
        <p:txBody>
          <a:bodyPr/>
          <a:lstStyle/>
          <a:p>
            <a:pPr marL="46038" indent="0" algn="l" rtl="0">
              <a:buNone/>
            </a:pPr>
            <a:r>
              <a:rPr lang="en-US" sz="1700" dirty="0">
                <a:latin typeface="Droid Sans Mono" panose="020B0609030804020204" pitchFamily="49" charset="0"/>
                <a:ea typeface="Droid Sans Mono" panose="020B0609030804020204" pitchFamily="49" charset="0"/>
                <a:cs typeface="Droid Sans Mono" panose="020B0609030804020204" pitchFamily="49" charset="0"/>
              </a:rPr>
              <a:t>double A[1000];</a:t>
            </a:r>
          </a:p>
          <a:p>
            <a:pPr marL="46038" indent="0" algn="l" rtl="0">
              <a:buNone/>
            </a:pPr>
            <a:r>
              <a:rPr lang="en-US" sz="1700" dirty="0" err="1">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omp_set_num_threads</a:t>
            </a:r>
            <a:r>
              <a:rPr lang="en-US" sz="17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(4); </a:t>
            </a:r>
          </a:p>
          <a:p>
            <a:pPr marL="46038" indent="0" algn="l" rtl="0">
              <a:buNone/>
            </a:pPr>
            <a:r>
              <a:rPr lang="en-US" sz="1700" dirty="0">
                <a:solidFill>
                  <a:srgbClr val="FF0000"/>
                </a:solidFill>
                <a:latin typeface="Droid Sans Mono" panose="020B0609030804020204" pitchFamily="49" charset="0"/>
                <a:ea typeface="Droid Sans Mono" panose="020B0609030804020204" pitchFamily="49" charset="0"/>
                <a:cs typeface="Droid Sans Mono" panose="020B0609030804020204" pitchFamily="49" charset="0"/>
              </a:rPr>
              <a:t>#pragma </a:t>
            </a:r>
            <a:r>
              <a:rPr lang="en-US" sz="1700" dirty="0" err="1">
                <a:solidFill>
                  <a:srgbClr val="FF0000"/>
                </a:solidFill>
                <a:latin typeface="Droid Sans Mono" panose="020B0609030804020204" pitchFamily="49" charset="0"/>
                <a:ea typeface="Droid Sans Mono" panose="020B0609030804020204" pitchFamily="49" charset="0"/>
                <a:cs typeface="Droid Sans Mono" panose="020B0609030804020204" pitchFamily="49" charset="0"/>
              </a:rPr>
              <a:t>omp</a:t>
            </a:r>
            <a:r>
              <a:rPr lang="en-US" sz="1700" dirty="0">
                <a:solidFill>
                  <a:srgbClr val="FF0000"/>
                </a:solidFill>
                <a:latin typeface="Droid Sans Mono" panose="020B0609030804020204" pitchFamily="49" charset="0"/>
                <a:ea typeface="Droid Sans Mono" panose="020B0609030804020204" pitchFamily="49" charset="0"/>
                <a:cs typeface="Droid Sans Mono" panose="020B0609030804020204" pitchFamily="49" charset="0"/>
              </a:rPr>
              <a:t> parallel</a:t>
            </a:r>
            <a:endParaRPr lang="en-US" sz="17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endParaRPr>
          </a:p>
          <a:p>
            <a:pPr marL="46038" indent="0" algn="l" rtl="0">
              <a:buNone/>
            </a:pPr>
            <a:r>
              <a:rPr lang="en-US" sz="1700" dirty="0">
                <a:latin typeface="Droid Sans Mono" panose="020B0609030804020204" pitchFamily="49" charset="0"/>
                <a:ea typeface="Droid Sans Mono" panose="020B0609030804020204" pitchFamily="49" charset="0"/>
                <a:cs typeface="Droid Sans Mono" panose="020B0609030804020204" pitchFamily="49" charset="0"/>
              </a:rPr>
              <a:t>{</a:t>
            </a:r>
          </a:p>
          <a:p>
            <a:pPr marL="46038" indent="0" algn="l" rtl="0">
              <a:buNone/>
            </a:pPr>
            <a:r>
              <a:rPr lang="en-US" sz="1700" dirty="0">
                <a:latin typeface="Droid Sans Mono" panose="020B0609030804020204" pitchFamily="49" charset="0"/>
                <a:ea typeface="Droid Sans Mono" panose="020B0609030804020204" pitchFamily="49" charset="0"/>
                <a:cs typeface="Droid Sans Mono" panose="020B0609030804020204" pitchFamily="49" charset="0"/>
              </a:rPr>
              <a:t>    </a:t>
            </a:r>
            <a:r>
              <a:rPr lang="en-US" sz="1700" dirty="0" err="1">
                <a:latin typeface="Droid Sans Mono" panose="020B0609030804020204" pitchFamily="49" charset="0"/>
                <a:ea typeface="Droid Sans Mono" panose="020B0609030804020204" pitchFamily="49" charset="0"/>
                <a:cs typeface="Droid Sans Mono" panose="020B0609030804020204" pitchFamily="49" charset="0"/>
              </a:rPr>
              <a:t>int</a:t>
            </a:r>
            <a:r>
              <a:rPr lang="en-US" sz="1700" dirty="0">
                <a:latin typeface="Droid Sans Mono" panose="020B0609030804020204" pitchFamily="49" charset="0"/>
                <a:ea typeface="Droid Sans Mono" panose="020B0609030804020204" pitchFamily="49" charset="0"/>
                <a:cs typeface="Droid Sans Mono" panose="020B0609030804020204" pitchFamily="49" charset="0"/>
              </a:rPr>
              <a:t> ID = </a:t>
            </a:r>
            <a:r>
              <a:rPr lang="en-US" sz="1700" dirty="0" err="1">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omp_get_thread_num</a:t>
            </a:r>
            <a:r>
              <a:rPr lang="en-US" sz="17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a:t>
            </a:r>
            <a:r>
              <a:rPr lang="en-US" sz="1700" dirty="0">
                <a:latin typeface="Droid Sans Mono" panose="020B0609030804020204" pitchFamily="49" charset="0"/>
                <a:ea typeface="Droid Sans Mono" panose="020B0609030804020204" pitchFamily="49" charset="0"/>
                <a:cs typeface="Droid Sans Mono" panose="020B0609030804020204" pitchFamily="49" charset="0"/>
              </a:rPr>
              <a:t>;</a:t>
            </a:r>
          </a:p>
          <a:p>
            <a:pPr marL="46038" indent="0" algn="l" rtl="0">
              <a:buNone/>
            </a:pPr>
            <a:r>
              <a:rPr lang="en-US" sz="1700" dirty="0">
                <a:latin typeface="Droid Sans Mono" panose="020B0609030804020204" pitchFamily="49" charset="0"/>
                <a:ea typeface="Droid Sans Mono" panose="020B0609030804020204" pitchFamily="49" charset="0"/>
                <a:cs typeface="Droid Sans Mono" panose="020B0609030804020204" pitchFamily="49" charset="0"/>
              </a:rPr>
              <a:t>    pooh(ID,A);</a:t>
            </a:r>
          </a:p>
          <a:p>
            <a:pPr marL="46038" indent="0" algn="l" rtl="0">
              <a:buNone/>
            </a:pPr>
            <a:r>
              <a:rPr lang="en-US" sz="1700" dirty="0">
                <a:latin typeface="Droid Sans Mono" panose="020B0609030804020204" pitchFamily="49" charset="0"/>
                <a:ea typeface="Droid Sans Mono" panose="020B0609030804020204" pitchFamily="49" charset="0"/>
                <a:cs typeface="Droid Sans Mono" panose="020B0609030804020204" pitchFamily="49" charset="0"/>
              </a:rPr>
              <a:t>}</a:t>
            </a:r>
          </a:p>
          <a:p>
            <a:pPr marL="46038" indent="0" algn="l" rtl="0">
              <a:buNone/>
            </a:pPr>
            <a:r>
              <a:rPr lang="en-US" sz="1700" dirty="0" err="1">
                <a:latin typeface="Droid Sans Mono" panose="020B0609030804020204" pitchFamily="49" charset="0"/>
                <a:ea typeface="Droid Sans Mono" panose="020B0609030804020204" pitchFamily="49" charset="0"/>
                <a:cs typeface="Droid Sans Mono" panose="020B0609030804020204" pitchFamily="49" charset="0"/>
              </a:rPr>
              <a:t>printf</a:t>
            </a:r>
            <a:r>
              <a:rPr lang="en-US" sz="1700" dirty="0">
                <a:latin typeface="Droid Sans Mono" panose="020B0609030804020204" pitchFamily="49" charset="0"/>
                <a:ea typeface="Droid Sans Mono" panose="020B0609030804020204" pitchFamily="49" charset="0"/>
                <a:cs typeface="Droid Sans Mono" panose="020B0609030804020204" pitchFamily="49" charset="0"/>
              </a:rPr>
              <a:t>(“all done!\n”)</a:t>
            </a:r>
          </a:p>
          <a:p>
            <a:pPr marL="388938" indent="-342900" algn="l" rtl="0"/>
            <a:endParaRPr lang="en-US" sz="2200" dirty="0"/>
          </a:p>
        </p:txBody>
      </p:sp>
      <p:sp>
        <p:nvSpPr>
          <p:cNvPr id="4" name="Date Placeholder 3"/>
          <p:cNvSpPr>
            <a:spLocks noGrp="1"/>
          </p:cNvSpPr>
          <p:nvPr>
            <p:ph type="dt" sz="half" idx="10"/>
          </p:nvPr>
        </p:nvSpPr>
        <p:spPr/>
        <p:txBody>
          <a:bodyPr/>
          <a:lstStyle/>
          <a:p>
            <a:pPr>
              <a:defRPr/>
            </a:pPr>
            <a:r>
              <a:rPr lang="en-US" altLang="en-US"/>
              <a:t>Parallel Processing</a:t>
            </a:r>
          </a:p>
        </p:txBody>
      </p:sp>
      <p:sp>
        <p:nvSpPr>
          <p:cNvPr id="5" name="Footer Placeholder 4"/>
          <p:cNvSpPr>
            <a:spLocks noGrp="1"/>
          </p:cNvSpPr>
          <p:nvPr>
            <p:ph type="ftr" sz="quarter" idx="11"/>
          </p:nvPr>
        </p:nvSpPr>
        <p:spPr/>
        <p:txBody>
          <a:bodyPr/>
          <a:lstStyle/>
          <a:p>
            <a:pPr>
              <a:defRPr/>
            </a:pPr>
            <a:r>
              <a:rPr lang="en-US" altLang="en-US"/>
              <a:t>7. OpenMP</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A9DCC621-7EE1-4E7E-9D9E-207B534D683D}" type="slidenum">
              <a:rPr lang="en-US" altLang="en-US" smtClean="0"/>
              <a:pPr>
                <a:defRPr/>
              </a:pPr>
              <a:t>17</a:t>
            </a:fld>
            <a:endParaRPr lang="en-US" altLang="en-US" dirty="0"/>
          </a:p>
        </p:txBody>
      </p:sp>
      <p:sp>
        <p:nvSpPr>
          <p:cNvPr id="13" name="Rectangle 12"/>
          <p:cNvSpPr/>
          <p:nvPr/>
        </p:nvSpPr>
        <p:spPr>
          <a:xfrm>
            <a:off x="4114801" y="1295400"/>
            <a:ext cx="4800598" cy="9906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FA5206"/>
                </a:solidFill>
              </a:rPr>
              <a:t>A </a:t>
            </a:r>
            <a:r>
              <a:rPr lang="en-US" sz="2000" b="1" dirty="0">
                <a:solidFill>
                  <a:srgbClr val="0000FF"/>
                </a:solidFill>
              </a:rPr>
              <a:t>run-time library routine </a:t>
            </a:r>
            <a:r>
              <a:rPr lang="en-US" sz="2000" b="1" dirty="0">
                <a:solidFill>
                  <a:srgbClr val="FA5206"/>
                </a:solidFill>
              </a:rPr>
              <a:t>that sets (requests) the default number of threads to be 4 (</a:t>
            </a:r>
            <a:r>
              <a:rPr lang="en-US" sz="2000" b="1" dirty="0">
                <a:solidFill>
                  <a:schemeClr val="tx1"/>
                </a:solidFill>
              </a:rPr>
              <a:t>this is the 2</a:t>
            </a:r>
            <a:r>
              <a:rPr lang="en-US" sz="2000" b="1" baseline="30000" dirty="0">
                <a:solidFill>
                  <a:schemeClr val="tx1"/>
                </a:solidFill>
              </a:rPr>
              <a:t>nd</a:t>
            </a:r>
            <a:r>
              <a:rPr lang="en-US" sz="2000" b="1" dirty="0">
                <a:solidFill>
                  <a:schemeClr val="tx1"/>
                </a:solidFill>
              </a:rPr>
              <a:t> way of requesting it</a:t>
            </a:r>
            <a:r>
              <a:rPr lang="en-US" sz="2000" b="1" dirty="0">
                <a:solidFill>
                  <a:srgbClr val="FA5206"/>
                </a:solidFill>
              </a:rPr>
              <a:t>).</a:t>
            </a:r>
          </a:p>
        </p:txBody>
      </p:sp>
      <p:cxnSp>
        <p:nvCxnSpPr>
          <p:cNvPr id="14" name="Straight Arrow Connector 13"/>
          <p:cNvCxnSpPr>
            <a:stCxn id="13" idx="1"/>
          </p:cNvCxnSpPr>
          <p:nvPr/>
        </p:nvCxnSpPr>
        <p:spPr>
          <a:xfrm flipH="1" flipV="1">
            <a:off x="3715405" y="1695450"/>
            <a:ext cx="399396" cy="9525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6096001" y="2971800"/>
            <a:ext cx="2802376" cy="9906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0000FF"/>
                </a:solidFill>
              </a:rPr>
              <a:t>A </a:t>
            </a:r>
            <a:r>
              <a:rPr lang="en-US" sz="2000" b="1" dirty="0">
                <a:solidFill>
                  <a:srgbClr val="FA5206"/>
                </a:solidFill>
              </a:rPr>
              <a:t>is shared among all threads</a:t>
            </a:r>
          </a:p>
        </p:txBody>
      </p:sp>
      <p:cxnSp>
        <p:nvCxnSpPr>
          <p:cNvPr id="28" name="Straight Arrow Connector 27"/>
          <p:cNvCxnSpPr>
            <a:stCxn id="27" idx="1"/>
          </p:cNvCxnSpPr>
          <p:nvPr/>
        </p:nvCxnSpPr>
        <p:spPr>
          <a:xfrm flipH="1">
            <a:off x="5676901" y="3467100"/>
            <a:ext cx="419100" cy="19050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930875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5122"/>
                                        </p:tgtEl>
                                        <p:attrNameLst>
                                          <p:attrName>style.visibility</p:attrName>
                                        </p:attrNameLst>
                                      </p:cBhvr>
                                      <p:to>
                                        <p:strVal val="visible"/>
                                      </p:to>
                                    </p:set>
                                    <p:animEffect transition="in" filter="fade">
                                      <p:cBhvr>
                                        <p:cTn id="15" dur="500"/>
                                        <p:tgtEl>
                                          <p:spTgt spid="5122"/>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27"/>
                                        </p:tgtEl>
                                        <p:attrNameLst>
                                          <p:attrName>style.visibility</p:attrName>
                                        </p:attrNameLst>
                                      </p:cBhvr>
                                      <p:to>
                                        <p:strVal val="visible"/>
                                      </p:to>
                                    </p:set>
                                    <p:animEffect transition="in" filter="fade">
                                      <p:cBhvr>
                                        <p:cTn id="20" dur="500"/>
                                        <p:tgtEl>
                                          <p:spTgt spid="27"/>
                                        </p:tgtEl>
                                      </p:cBhvr>
                                    </p:animEffect>
                                  </p:childTnLst>
                                </p:cTn>
                              </p:par>
                              <p:par>
                                <p:cTn id="21" presetID="10" presetClass="entr" presetSubtype="0" fill="hold" nodeType="withEffect">
                                  <p:stCondLst>
                                    <p:cond delay="0"/>
                                  </p:stCondLst>
                                  <p:childTnLst>
                                    <p:set>
                                      <p:cBhvr>
                                        <p:cTn id="22" dur="1" fill="hold">
                                          <p:stCondLst>
                                            <p:cond delay="0"/>
                                          </p:stCondLst>
                                        </p:cTn>
                                        <p:tgtEl>
                                          <p:spTgt spid="28"/>
                                        </p:tgtEl>
                                        <p:attrNameLst>
                                          <p:attrName>style.visibility</p:attrName>
                                        </p:attrNameLst>
                                      </p:cBhvr>
                                      <p:to>
                                        <p:strVal val="visible"/>
                                      </p:to>
                                    </p:set>
                                    <p:animEffect transition="in" filter="fade">
                                      <p:cBhvr>
                                        <p:cTn id="23"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27"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sz="4300" dirty="0"/>
              <a:t>کامپایلر چه می‌کند؟</a:t>
            </a:r>
            <a:endParaRPr lang="en-US" sz="4300" dirty="0"/>
          </a:p>
        </p:txBody>
      </p:sp>
      <p:sp>
        <p:nvSpPr>
          <p:cNvPr id="3" name="Content Placeholder 2"/>
          <p:cNvSpPr>
            <a:spLocks noGrp="1"/>
          </p:cNvSpPr>
          <p:nvPr>
            <p:ph sz="quarter" idx="1"/>
          </p:nvPr>
        </p:nvSpPr>
        <p:spPr/>
        <p:txBody>
          <a:bodyPr/>
          <a:lstStyle/>
          <a:p>
            <a:pPr marL="388938" indent="-342900"/>
            <a:endParaRPr lang="en-US" sz="2200" dirty="0"/>
          </a:p>
        </p:txBody>
      </p:sp>
      <p:sp>
        <p:nvSpPr>
          <p:cNvPr id="4" name="Date Placeholder 3"/>
          <p:cNvSpPr>
            <a:spLocks noGrp="1"/>
          </p:cNvSpPr>
          <p:nvPr>
            <p:ph type="dt" sz="half" idx="10"/>
          </p:nvPr>
        </p:nvSpPr>
        <p:spPr/>
        <p:txBody>
          <a:bodyPr/>
          <a:lstStyle/>
          <a:p>
            <a:pPr>
              <a:defRPr/>
            </a:pPr>
            <a:r>
              <a:rPr lang="en-US" altLang="en-US"/>
              <a:t>Parallel Processing</a:t>
            </a:r>
          </a:p>
        </p:txBody>
      </p:sp>
      <p:sp>
        <p:nvSpPr>
          <p:cNvPr id="5" name="Footer Placeholder 4"/>
          <p:cNvSpPr>
            <a:spLocks noGrp="1"/>
          </p:cNvSpPr>
          <p:nvPr>
            <p:ph type="ftr" sz="quarter" idx="11"/>
          </p:nvPr>
        </p:nvSpPr>
        <p:spPr/>
        <p:txBody>
          <a:bodyPr/>
          <a:lstStyle/>
          <a:p>
            <a:pPr>
              <a:defRPr/>
            </a:pPr>
            <a:r>
              <a:rPr lang="en-US" altLang="en-US"/>
              <a:t>7. OpenMP</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A9DCC621-7EE1-4E7E-9D9E-207B534D683D}" type="slidenum">
              <a:rPr lang="en-US" altLang="en-US" smtClean="0"/>
              <a:pPr>
                <a:defRPr/>
              </a:pPr>
              <a:t>18</a:t>
            </a:fld>
            <a:endParaRPr lang="en-US" altLang="en-US" dirty="0"/>
          </a:p>
        </p:txBody>
      </p:sp>
      <p:sp>
        <p:nvSpPr>
          <p:cNvPr id="7" name="Rectangle 6"/>
          <p:cNvSpPr/>
          <p:nvPr/>
        </p:nvSpPr>
        <p:spPr>
          <a:xfrm>
            <a:off x="609600" y="1219200"/>
            <a:ext cx="4530264" cy="1283576"/>
          </a:xfrm>
          <a:prstGeom prst="rect">
            <a:avLst/>
          </a:prstGeom>
          <a:noFill/>
          <a:ln w="28575"/>
          <a:effectLst/>
        </p:spPr>
        <p:style>
          <a:lnRef idx="1">
            <a:schemeClr val="accent4"/>
          </a:lnRef>
          <a:fillRef idx="2">
            <a:schemeClr val="accent4"/>
          </a:fillRef>
          <a:effectRef idx="1">
            <a:schemeClr val="accent4"/>
          </a:effectRef>
          <a:fontRef idx="minor">
            <a:schemeClr val="dk1"/>
          </a:fontRef>
        </p:style>
        <p:txBody>
          <a:bodyPr rtlCol="0" anchor="ctr"/>
          <a:lstStyle/>
          <a:p>
            <a:pPr marL="46038" indent="0">
              <a:buNone/>
            </a:pPr>
            <a:r>
              <a:rPr lang="en-US" sz="1600" dirty="0">
                <a:solidFill>
                  <a:srgbClr val="FF0000"/>
                </a:solidFill>
                <a:latin typeface="Droid Sans Mono" panose="020B0609030804020204" pitchFamily="49" charset="0"/>
                <a:ea typeface="Droid Sans Mono" panose="020B0609030804020204" pitchFamily="49" charset="0"/>
                <a:cs typeface="Droid Sans Mono" panose="020B0609030804020204" pitchFamily="49" charset="0"/>
              </a:rPr>
              <a:t>#pragma </a:t>
            </a:r>
            <a:r>
              <a:rPr lang="en-US" sz="1600" dirty="0" err="1">
                <a:solidFill>
                  <a:srgbClr val="FF0000"/>
                </a:solidFill>
                <a:latin typeface="Droid Sans Mono" panose="020B0609030804020204" pitchFamily="49" charset="0"/>
                <a:ea typeface="Droid Sans Mono" panose="020B0609030804020204" pitchFamily="49" charset="0"/>
                <a:cs typeface="Droid Sans Mono" panose="020B0609030804020204" pitchFamily="49" charset="0"/>
              </a:rPr>
              <a:t>omp</a:t>
            </a:r>
            <a:r>
              <a:rPr lang="en-US" sz="1600" dirty="0">
                <a:solidFill>
                  <a:srgbClr val="FF0000"/>
                </a:solidFill>
                <a:latin typeface="Droid Sans Mono" panose="020B0609030804020204" pitchFamily="49" charset="0"/>
                <a:ea typeface="Droid Sans Mono" panose="020B0609030804020204" pitchFamily="49" charset="0"/>
                <a:cs typeface="Droid Sans Mono" panose="020B0609030804020204" pitchFamily="49" charset="0"/>
              </a:rPr>
              <a:t> parallel </a:t>
            </a:r>
            <a:r>
              <a:rPr lang="en-US" sz="1600" dirty="0" err="1">
                <a:solidFill>
                  <a:srgbClr val="FF0000"/>
                </a:solidFill>
                <a:latin typeface="Droid Sans Mono" panose="020B0609030804020204" pitchFamily="49" charset="0"/>
                <a:ea typeface="Droid Sans Mono" panose="020B0609030804020204" pitchFamily="49" charset="0"/>
                <a:cs typeface="Droid Sans Mono" panose="020B0609030804020204" pitchFamily="49" charset="0"/>
              </a:rPr>
              <a:t>num_threads</a:t>
            </a:r>
            <a:r>
              <a:rPr lang="en-US" sz="1600" dirty="0">
                <a:solidFill>
                  <a:srgbClr val="FF0000"/>
                </a:solidFill>
                <a:latin typeface="Droid Sans Mono" panose="020B0609030804020204" pitchFamily="49" charset="0"/>
                <a:ea typeface="Droid Sans Mono" panose="020B0609030804020204" pitchFamily="49" charset="0"/>
                <a:cs typeface="Droid Sans Mono" panose="020B0609030804020204" pitchFamily="49" charset="0"/>
              </a:rPr>
              <a:t>(4)</a:t>
            </a:r>
            <a:endParaRPr lang="en-US" sz="16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endParaRPr>
          </a:p>
          <a:p>
            <a:pPr marL="46038" indent="0">
              <a:buNone/>
            </a:pPr>
            <a:r>
              <a:rPr lang="en-US" sz="16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a:t>
            </a:r>
          </a:p>
          <a:p>
            <a:pPr marL="46038" indent="0">
              <a:buNone/>
            </a:pPr>
            <a:r>
              <a:rPr lang="en-US" sz="16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600" dirty="0" err="1">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foobar</a:t>
            </a:r>
            <a:r>
              <a:rPr lang="en-US" sz="16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a:t>
            </a:r>
          </a:p>
          <a:p>
            <a:pPr marL="46038" indent="0">
              <a:buNone/>
            </a:pPr>
            <a:r>
              <a:rPr lang="en-US" sz="16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a:t>
            </a:r>
          </a:p>
        </p:txBody>
      </p:sp>
      <p:sp>
        <p:nvSpPr>
          <p:cNvPr id="12" name="Rectangle 11"/>
          <p:cNvSpPr/>
          <p:nvPr/>
        </p:nvSpPr>
        <p:spPr>
          <a:xfrm>
            <a:off x="3962400" y="2651234"/>
            <a:ext cx="4800600" cy="3505200"/>
          </a:xfrm>
          <a:prstGeom prst="rect">
            <a:avLst/>
          </a:prstGeom>
          <a:noFill/>
          <a:ln w="28575"/>
          <a:effectLst/>
        </p:spPr>
        <p:style>
          <a:lnRef idx="1">
            <a:schemeClr val="accent1"/>
          </a:lnRef>
          <a:fillRef idx="2">
            <a:schemeClr val="accent1"/>
          </a:fillRef>
          <a:effectRef idx="1">
            <a:schemeClr val="accent1"/>
          </a:effectRef>
          <a:fontRef idx="minor">
            <a:schemeClr val="dk1"/>
          </a:fontRef>
        </p:style>
        <p:txBody>
          <a:bodyPr rtlCol="0" anchor="ctr"/>
          <a:lstStyle/>
          <a:p>
            <a:pPr marL="46038" indent="0">
              <a:buNone/>
            </a:pP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void </a:t>
            </a:r>
            <a:r>
              <a:rPr lang="en-US" sz="1600" dirty="0" err="1">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thunk</a:t>
            </a: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a:t>
            </a:r>
          </a:p>
          <a:p>
            <a:pPr marL="46038" indent="0">
              <a:buNone/>
            </a:pP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a:t>
            </a:r>
          </a:p>
          <a:p>
            <a:pPr marL="46038" indent="0">
              <a:buNone/>
            </a:pP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600" dirty="0" err="1">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foobar</a:t>
            </a: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a:t>
            </a:r>
          </a:p>
          <a:p>
            <a:pPr marL="46038" indent="0">
              <a:buNone/>
            </a:pP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a:t>
            </a:r>
          </a:p>
          <a:p>
            <a:pPr marL="46038" indent="0">
              <a:buNone/>
            </a:pPr>
            <a:endPar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endParaRPr>
          </a:p>
          <a:p>
            <a:pPr marL="46038" indent="0">
              <a:buNone/>
            </a:pPr>
            <a:r>
              <a:rPr lang="en-US" sz="1600" dirty="0" err="1">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pthread_t</a:t>
            </a: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600" dirty="0" err="1">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tid</a:t>
            </a: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[4];</a:t>
            </a:r>
          </a:p>
          <a:p>
            <a:pPr marL="46038" indent="0">
              <a:buNone/>
            </a:pP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for (</a:t>
            </a:r>
            <a:r>
              <a:rPr lang="en-US" sz="1600" dirty="0" err="1">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int</a:t>
            </a: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600" dirty="0" err="1">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i</a:t>
            </a: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 1; </a:t>
            </a:r>
            <a:r>
              <a:rPr lang="en-US" sz="1600" dirty="0" err="1">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i</a:t>
            </a: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&lt; 4; ++</a:t>
            </a:r>
            <a:r>
              <a:rPr lang="en-US" sz="1600" dirty="0" err="1">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i</a:t>
            </a: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a:t>
            </a:r>
          </a:p>
          <a:p>
            <a:pPr marL="46038" indent="0">
              <a:buNone/>
            </a:pP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600" dirty="0" err="1">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pthread_create</a:t>
            </a: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(&amp;</a:t>
            </a:r>
            <a:r>
              <a:rPr lang="en-US" sz="1600" dirty="0" err="1">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tid</a:t>
            </a: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a:t>
            </a:r>
            <a:r>
              <a:rPr lang="en-US" sz="1600" dirty="0" err="1">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i</a:t>
            </a: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],0,</a:t>
            </a:r>
            <a:r>
              <a:rPr lang="en-US" sz="16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thunk</a:t>
            </a: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,0);</a:t>
            </a:r>
          </a:p>
          <a:p>
            <a:pPr marL="46038" indent="0">
              <a:buNone/>
            </a:pPr>
            <a:endPar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endParaRPr>
          </a:p>
          <a:p>
            <a:pPr marL="46038" indent="0">
              <a:buNone/>
            </a:pPr>
            <a:r>
              <a:rPr lang="en-US" sz="1600" dirty="0" err="1">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thunk</a:t>
            </a: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a:t>
            </a:r>
          </a:p>
          <a:p>
            <a:pPr marL="46038" indent="0">
              <a:buNone/>
            </a:pPr>
            <a:endPar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endParaRPr>
          </a:p>
          <a:p>
            <a:pPr marL="46038" indent="0">
              <a:buNone/>
            </a:pP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for (</a:t>
            </a:r>
            <a:r>
              <a:rPr lang="en-US" sz="1600" dirty="0" err="1">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int</a:t>
            </a: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600" dirty="0" err="1">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i</a:t>
            </a: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 1; </a:t>
            </a:r>
            <a:r>
              <a:rPr lang="en-US" sz="1600" dirty="0" err="1">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i</a:t>
            </a: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&lt; 4; ++</a:t>
            </a:r>
            <a:r>
              <a:rPr lang="en-US" sz="1600" dirty="0" err="1">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i</a:t>
            </a: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a:t>
            </a:r>
          </a:p>
          <a:p>
            <a:pPr marL="46038" indent="0">
              <a:buNone/>
            </a:pP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600" dirty="0" err="1">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pthread_join</a:t>
            </a: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600" dirty="0" err="1">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tid</a:t>
            </a: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a:t>
            </a:r>
            <a:r>
              <a:rPr lang="en-US" sz="1600" dirty="0" err="1">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i</a:t>
            </a: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a:t>
            </a:r>
          </a:p>
        </p:txBody>
      </p:sp>
      <p:sp>
        <p:nvSpPr>
          <p:cNvPr id="8" name="Bent Arrow 7"/>
          <p:cNvSpPr/>
          <p:nvPr/>
        </p:nvSpPr>
        <p:spPr>
          <a:xfrm rot="16200000" flipH="1" flipV="1">
            <a:off x="5222564" y="1952118"/>
            <a:ext cx="607719" cy="678527"/>
          </a:xfrm>
          <a:prstGeom prst="bentArrow">
            <a:avLst>
              <a:gd name="adj1" fmla="val 24128"/>
              <a:gd name="adj2" fmla="val 25111"/>
              <a:gd name="adj3" fmla="val 25000"/>
              <a:gd name="adj4" fmla="val 4375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Box 8"/>
          <p:cNvSpPr txBox="1"/>
          <p:nvPr/>
        </p:nvSpPr>
        <p:spPr>
          <a:xfrm>
            <a:off x="5362902" y="1295400"/>
            <a:ext cx="3566746" cy="707886"/>
          </a:xfrm>
          <a:prstGeom prst="rect">
            <a:avLst/>
          </a:prstGeom>
          <a:noFill/>
        </p:spPr>
        <p:txBody>
          <a:bodyPr wrap="none" rtlCol="0">
            <a:spAutoFit/>
          </a:bodyPr>
          <a:lstStyle/>
          <a:p>
            <a:pPr algn="ctr"/>
            <a:r>
              <a:rPr lang="en-US" sz="2000" dirty="0">
                <a:latin typeface="+mj-lt"/>
              </a:rPr>
              <a:t>Linux / OS X use </a:t>
            </a:r>
            <a:r>
              <a:rPr lang="en-US" sz="2000" dirty="0" err="1">
                <a:latin typeface="+mj-lt"/>
              </a:rPr>
              <a:t>Pthread</a:t>
            </a:r>
            <a:endParaRPr lang="en-US" sz="2000" dirty="0">
              <a:latin typeface="+mj-lt"/>
            </a:endParaRPr>
          </a:p>
          <a:p>
            <a:pPr algn="ctr"/>
            <a:r>
              <a:rPr lang="en-US" sz="2000" dirty="0">
                <a:latin typeface="+mj-lt"/>
              </a:rPr>
              <a:t>Windows uses Win32/64 Thread</a:t>
            </a:r>
          </a:p>
        </p:txBody>
      </p:sp>
      <p:sp>
        <p:nvSpPr>
          <p:cNvPr id="16" name="Rectangle 15"/>
          <p:cNvSpPr/>
          <p:nvPr/>
        </p:nvSpPr>
        <p:spPr>
          <a:xfrm>
            <a:off x="533400" y="2743200"/>
            <a:ext cx="3047999" cy="9906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FA5206"/>
                </a:solidFill>
              </a:rPr>
              <a:t>It packages the body of the structured block into a function</a:t>
            </a:r>
            <a:endParaRPr lang="en-US" sz="2000" b="1" dirty="0">
              <a:solidFill>
                <a:srgbClr val="0000FF"/>
              </a:solidFill>
            </a:endParaRPr>
          </a:p>
        </p:txBody>
      </p:sp>
      <p:cxnSp>
        <p:nvCxnSpPr>
          <p:cNvPr id="17" name="Straight Arrow Connector 16"/>
          <p:cNvCxnSpPr>
            <a:stCxn id="16" idx="3"/>
          </p:cNvCxnSpPr>
          <p:nvPr/>
        </p:nvCxnSpPr>
        <p:spPr>
          <a:xfrm flipV="1">
            <a:off x="3581399" y="2971800"/>
            <a:ext cx="381001" cy="26670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3" name="Rectangle 22"/>
          <p:cNvSpPr/>
          <p:nvPr/>
        </p:nvSpPr>
        <p:spPr>
          <a:xfrm>
            <a:off x="536031" y="3965436"/>
            <a:ext cx="3047999" cy="682764"/>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FA5206"/>
                </a:solidFill>
              </a:rPr>
              <a:t>It then creates 3 threads (</a:t>
            </a:r>
            <a:r>
              <a:rPr lang="en-US" sz="2000" b="1" dirty="0" err="1">
                <a:solidFill>
                  <a:srgbClr val="FA5206"/>
                </a:solidFill>
              </a:rPr>
              <a:t>Pthreads</a:t>
            </a:r>
            <a:r>
              <a:rPr lang="en-US" sz="2000" b="1" dirty="0">
                <a:solidFill>
                  <a:srgbClr val="FA5206"/>
                </a:solidFill>
              </a:rPr>
              <a:t>) to run </a:t>
            </a:r>
            <a:r>
              <a:rPr lang="en-US" sz="2000" b="1" dirty="0" err="1">
                <a:solidFill>
                  <a:srgbClr val="0000FF"/>
                </a:solidFill>
              </a:rPr>
              <a:t>thunk</a:t>
            </a:r>
            <a:r>
              <a:rPr lang="en-US" sz="2000" b="1" dirty="0">
                <a:solidFill>
                  <a:srgbClr val="0000FF"/>
                </a:solidFill>
              </a:rPr>
              <a:t>()</a:t>
            </a:r>
          </a:p>
        </p:txBody>
      </p:sp>
      <p:cxnSp>
        <p:nvCxnSpPr>
          <p:cNvPr id="24" name="Straight Arrow Connector 23"/>
          <p:cNvCxnSpPr>
            <a:stCxn id="23" idx="3"/>
            <a:endCxn id="12" idx="1"/>
          </p:cNvCxnSpPr>
          <p:nvPr/>
        </p:nvCxnSpPr>
        <p:spPr>
          <a:xfrm>
            <a:off x="3584030" y="4306818"/>
            <a:ext cx="378370" cy="97016"/>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8" name="Rectangle 27"/>
          <p:cNvSpPr/>
          <p:nvPr/>
        </p:nvSpPr>
        <p:spPr>
          <a:xfrm>
            <a:off x="536030" y="4737535"/>
            <a:ext cx="3047999" cy="691011"/>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FA5206"/>
                </a:solidFill>
              </a:rPr>
              <a:t>It then runs </a:t>
            </a:r>
            <a:r>
              <a:rPr lang="en-US" sz="2000" b="1" dirty="0" err="1">
                <a:solidFill>
                  <a:srgbClr val="0000FF"/>
                </a:solidFill>
              </a:rPr>
              <a:t>thunk</a:t>
            </a:r>
            <a:r>
              <a:rPr lang="en-US" sz="2000" b="1" dirty="0">
                <a:solidFill>
                  <a:srgbClr val="0000FF"/>
                </a:solidFill>
              </a:rPr>
              <a:t>() </a:t>
            </a:r>
            <a:r>
              <a:rPr lang="en-US" sz="2000" b="1" dirty="0">
                <a:solidFill>
                  <a:srgbClr val="FA5206"/>
                </a:solidFill>
              </a:rPr>
              <a:t>itself as the master thread</a:t>
            </a:r>
          </a:p>
        </p:txBody>
      </p:sp>
      <p:cxnSp>
        <p:nvCxnSpPr>
          <p:cNvPr id="29" name="Straight Arrow Connector 28"/>
          <p:cNvCxnSpPr>
            <a:stCxn id="28" idx="3"/>
          </p:cNvCxnSpPr>
          <p:nvPr/>
        </p:nvCxnSpPr>
        <p:spPr>
          <a:xfrm flipV="1">
            <a:off x="3584029" y="5083040"/>
            <a:ext cx="378371" cy="1"/>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0" name="Rectangle 29"/>
          <p:cNvSpPr/>
          <p:nvPr/>
        </p:nvSpPr>
        <p:spPr>
          <a:xfrm>
            <a:off x="536029" y="5491610"/>
            <a:ext cx="3047999" cy="626475"/>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FA5206"/>
                </a:solidFill>
              </a:rPr>
              <a:t>Finally, it waits for all the threads to finish</a:t>
            </a:r>
          </a:p>
        </p:txBody>
      </p:sp>
      <p:cxnSp>
        <p:nvCxnSpPr>
          <p:cNvPr id="31" name="Straight Arrow Connector 30"/>
          <p:cNvCxnSpPr>
            <a:stCxn id="30" idx="3"/>
          </p:cNvCxnSpPr>
          <p:nvPr/>
        </p:nvCxnSpPr>
        <p:spPr>
          <a:xfrm flipV="1">
            <a:off x="3584028" y="5720212"/>
            <a:ext cx="378372" cy="84636"/>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8228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par>
                                <p:cTn id="8" presetID="10" presetClass="entr" presetSubtype="0" fill="hold"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5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500"/>
                                        <p:tgtEl>
                                          <p:spTgt spid="23"/>
                                        </p:tgtEl>
                                      </p:cBhvr>
                                    </p:animEffect>
                                  </p:childTnLst>
                                </p:cTn>
                              </p:par>
                              <p:par>
                                <p:cTn id="16" presetID="10" presetClass="entr" presetSubtype="0" fill="hold" nodeType="withEffect">
                                  <p:stCondLst>
                                    <p:cond delay="0"/>
                                  </p:stCondLst>
                                  <p:childTnLst>
                                    <p:set>
                                      <p:cBhvr>
                                        <p:cTn id="17" dur="1" fill="hold">
                                          <p:stCondLst>
                                            <p:cond delay="0"/>
                                          </p:stCondLst>
                                        </p:cTn>
                                        <p:tgtEl>
                                          <p:spTgt spid="24"/>
                                        </p:tgtEl>
                                        <p:attrNameLst>
                                          <p:attrName>style.visibility</p:attrName>
                                        </p:attrNameLst>
                                      </p:cBhvr>
                                      <p:to>
                                        <p:strVal val="visible"/>
                                      </p:to>
                                    </p:set>
                                    <p:animEffect transition="in" filter="fade">
                                      <p:cBhvr>
                                        <p:cTn id="18" dur="500"/>
                                        <p:tgtEl>
                                          <p:spTgt spid="2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8"/>
                                        </p:tgtEl>
                                        <p:attrNameLst>
                                          <p:attrName>style.visibility</p:attrName>
                                        </p:attrNameLst>
                                      </p:cBhvr>
                                      <p:to>
                                        <p:strVal val="visible"/>
                                      </p:to>
                                    </p:set>
                                    <p:animEffect transition="in" filter="fade">
                                      <p:cBhvr>
                                        <p:cTn id="23" dur="500"/>
                                        <p:tgtEl>
                                          <p:spTgt spid="28"/>
                                        </p:tgtEl>
                                      </p:cBhvr>
                                    </p:animEffect>
                                  </p:childTnLst>
                                </p:cTn>
                              </p:par>
                              <p:par>
                                <p:cTn id="24" presetID="10" presetClass="entr" presetSubtype="0" fill="hold" nodeType="withEffect">
                                  <p:stCondLst>
                                    <p:cond delay="0"/>
                                  </p:stCondLst>
                                  <p:childTnLst>
                                    <p:set>
                                      <p:cBhvr>
                                        <p:cTn id="25" dur="1" fill="hold">
                                          <p:stCondLst>
                                            <p:cond delay="0"/>
                                          </p:stCondLst>
                                        </p:cTn>
                                        <p:tgtEl>
                                          <p:spTgt spid="29"/>
                                        </p:tgtEl>
                                        <p:attrNameLst>
                                          <p:attrName>style.visibility</p:attrName>
                                        </p:attrNameLst>
                                      </p:cBhvr>
                                      <p:to>
                                        <p:strVal val="visible"/>
                                      </p:to>
                                    </p:set>
                                    <p:animEffect transition="in" filter="fade">
                                      <p:cBhvr>
                                        <p:cTn id="26" dur="500"/>
                                        <p:tgtEl>
                                          <p:spTgt spid="29"/>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500"/>
                                        <p:tgtEl>
                                          <p:spTgt spid="30"/>
                                        </p:tgtEl>
                                      </p:cBhvr>
                                    </p:animEffect>
                                  </p:childTnLst>
                                </p:cTn>
                              </p:par>
                              <p:par>
                                <p:cTn id="32" presetID="10" presetClass="entr" presetSubtype="0" fill="hold" nodeType="withEffect">
                                  <p:stCondLst>
                                    <p:cond delay="0"/>
                                  </p:stCondLst>
                                  <p:childTnLst>
                                    <p:set>
                                      <p:cBhvr>
                                        <p:cTn id="33" dur="1" fill="hold">
                                          <p:stCondLst>
                                            <p:cond delay="0"/>
                                          </p:stCondLst>
                                        </p:cTn>
                                        <p:tgtEl>
                                          <p:spTgt spid="31"/>
                                        </p:tgtEl>
                                        <p:attrNameLst>
                                          <p:attrName>style.visibility</p:attrName>
                                        </p:attrNameLst>
                                      </p:cBhvr>
                                      <p:to>
                                        <p:strVal val="visible"/>
                                      </p:to>
                                    </p:set>
                                    <p:animEffect transition="in" filter="fade">
                                      <p:cBhvr>
                                        <p:cTn id="34"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23" grpId="0" animBg="1"/>
      <p:bldP spid="28" grpId="0" animBg="1"/>
      <p:bldP spid="30"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1315212"/>
            <a:ext cx="2657475" cy="1066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a14="http://schemas.microsoft.com/office/drawing/2010/main">
        <mc:Choice Requires="a14">
          <p:sp>
            <p:nvSpPr>
              <p:cNvPr id="2" name="Title 1"/>
              <p:cNvSpPr>
                <a:spLocks noGrp="1"/>
              </p:cNvSpPr>
              <p:nvPr>
                <p:ph type="title"/>
              </p:nvPr>
            </p:nvSpPr>
            <p:spPr/>
            <p:txBody>
              <a:bodyPr/>
              <a:lstStyle/>
              <a:p>
                <a:r>
                  <a:rPr lang="fa-IR" sz="4300" dirty="0"/>
                  <a:t>مثال: برنامه محاسبه </a:t>
                </a:r>
                <a14:m>
                  <m:oMath xmlns:m="http://schemas.openxmlformats.org/officeDocument/2006/math">
                    <m:r>
                      <a:rPr lang="en-US" sz="4300" b="0" i="1" smtClean="0">
                        <a:latin typeface="Cambria Math" panose="02040503050406030204" pitchFamily="18" charset="0"/>
                      </a:rPr>
                      <m:t>𝜋</m:t>
                    </m:r>
                  </m:oMath>
                </a14:m>
                <a:r>
                  <a:rPr lang="fa-IR" sz="4300" dirty="0"/>
                  <a:t>  </a:t>
                </a:r>
                <a:endParaRPr lang="en-US" sz="4300" dirty="0"/>
              </a:p>
            </p:txBody>
          </p:sp>
        </mc:Choice>
        <mc:Fallback xmlns="">
          <p:sp>
            <p:nvSpPr>
              <p:cNvPr id="2" name="Title 1"/>
              <p:cNvSpPr>
                <a:spLocks noGrp="1" noRot="1" noChangeAspect="1" noMove="1" noResize="1" noEditPoints="1" noAdjustHandles="1" noChangeArrowheads="1" noChangeShapeType="1" noTextEdit="1"/>
              </p:cNvSpPr>
              <p:nvPr>
                <p:ph type="title"/>
              </p:nvPr>
            </p:nvSpPr>
            <p:spPr>
              <a:blipFill rotWithShape="0">
                <a:blip r:embed="rId6"/>
                <a:stretch>
                  <a:fillRect t="-18750" r="-2917" b="-50000"/>
                </a:stretch>
              </a:blipFill>
            </p:spPr>
            <p:txBody>
              <a:bodyPr/>
              <a:lstStyle/>
              <a:p>
                <a:r>
                  <a:rPr lang="en-US">
                    <a:noFill/>
                  </a:rPr>
                  <a:t> </a:t>
                </a:r>
              </a:p>
            </p:txBody>
          </p:sp>
        </mc:Fallback>
      </mc:AlternateContent>
      <p:sp>
        <p:nvSpPr>
          <p:cNvPr id="3" name="Content Placeholder 2"/>
          <p:cNvSpPr>
            <a:spLocks noGrp="1"/>
          </p:cNvSpPr>
          <p:nvPr>
            <p:ph sz="quarter" idx="1"/>
          </p:nvPr>
        </p:nvSpPr>
        <p:spPr/>
        <p:txBody>
          <a:bodyPr/>
          <a:lstStyle/>
          <a:p>
            <a:pPr marL="388938" indent="-342900"/>
            <a:r>
              <a:rPr lang="en-US" sz="2200" dirty="0"/>
              <a:t>Calculating  </a:t>
            </a:r>
            <a:r>
              <a:rPr lang="el-GR" sz="2400" dirty="0">
                <a:latin typeface="Calibri"/>
              </a:rPr>
              <a:t>π</a:t>
            </a:r>
            <a:r>
              <a:rPr lang="en-US" sz="2400" dirty="0">
                <a:latin typeface="Calibri"/>
              </a:rPr>
              <a:t>:</a:t>
            </a:r>
            <a:endParaRPr lang="en-US" sz="2200" dirty="0"/>
          </a:p>
          <a:p>
            <a:pPr marL="388938" indent="-342900"/>
            <a:endParaRPr lang="en-US" sz="2200" dirty="0"/>
          </a:p>
          <a:p>
            <a:pPr marL="388938" indent="-342900"/>
            <a:endParaRPr lang="en-US" sz="2200" dirty="0"/>
          </a:p>
        </p:txBody>
      </p:sp>
      <p:sp>
        <p:nvSpPr>
          <p:cNvPr id="4" name="Date Placeholder 3"/>
          <p:cNvSpPr>
            <a:spLocks noGrp="1"/>
          </p:cNvSpPr>
          <p:nvPr>
            <p:ph type="dt" sz="half" idx="10"/>
          </p:nvPr>
        </p:nvSpPr>
        <p:spPr/>
        <p:txBody>
          <a:bodyPr/>
          <a:lstStyle/>
          <a:p>
            <a:pPr>
              <a:defRPr/>
            </a:pPr>
            <a:r>
              <a:rPr lang="en-US" altLang="en-US"/>
              <a:t>Parallel Processing</a:t>
            </a:r>
          </a:p>
        </p:txBody>
      </p:sp>
      <p:sp>
        <p:nvSpPr>
          <p:cNvPr id="5" name="Footer Placeholder 4"/>
          <p:cNvSpPr>
            <a:spLocks noGrp="1"/>
          </p:cNvSpPr>
          <p:nvPr>
            <p:ph type="ftr" sz="quarter" idx="11"/>
          </p:nvPr>
        </p:nvSpPr>
        <p:spPr/>
        <p:txBody>
          <a:bodyPr/>
          <a:lstStyle/>
          <a:p>
            <a:pPr>
              <a:defRPr/>
            </a:pPr>
            <a:r>
              <a:rPr lang="en-US" altLang="en-US"/>
              <a:t>7. OpenMP</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A9DCC621-7EE1-4E7E-9D9E-207B534D683D}" type="slidenum">
              <a:rPr lang="en-US" altLang="en-US" smtClean="0"/>
              <a:pPr>
                <a:defRPr/>
              </a:pPr>
              <a:t>19</a:t>
            </a:fld>
            <a:endParaRPr lang="en-US" altLang="en-US" dirty="0"/>
          </a:p>
        </p:txBody>
      </p:sp>
      <p:pic>
        <p:nvPicPr>
          <p:cNvPr id="7170" name="Picture 2"/>
          <p:cNvPicPr>
            <a:picLocks noChangeAspect="1" noChangeArrowheads="1"/>
          </p:cNvPicPr>
          <p:nvPr/>
        </p:nvPicPr>
        <p:blipFill rotWithShape="1">
          <a:blip r:embed="rId7">
            <a:extLst>
              <a:ext uri="{28A0092B-C50C-407E-A947-70E740481C1C}">
                <a14:useLocalDpi xmlns:a14="http://schemas.microsoft.com/office/drawing/2010/main" val="0"/>
              </a:ext>
            </a:extLst>
          </a:blip>
          <a:srcRect l="58645" t="9699" r="9608" b="9375"/>
          <a:stretch/>
        </p:blipFill>
        <p:spPr bwMode="auto">
          <a:xfrm>
            <a:off x="5334000" y="1190298"/>
            <a:ext cx="3439388" cy="492935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6" name="Rectangle 15"/>
          <p:cNvSpPr/>
          <p:nvPr/>
        </p:nvSpPr>
        <p:spPr>
          <a:xfrm>
            <a:off x="685800" y="2514600"/>
            <a:ext cx="4419600" cy="3505200"/>
          </a:xfrm>
          <a:prstGeom prst="rect">
            <a:avLst/>
          </a:prstGeom>
          <a:noFill/>
          <a:ln w="28575">
            <a:solidFill>
              <a:schemeClr val="accent1">
                <a:lumMod val="75000"/>
              </a:schemeClr>
            </a:solidFill>
          </a:ln>
          <a:effectLst/>
        </p:spPr>
        <p:style>
          <a:lnRef idx="1">
            <a:schemeClr val="accent4"/>
          </a:lnRef>
          <a:fillRef idx="2">
            <a:schemeClr val="accent4"/>
          </a:fillRef>
          <a:effectRef idx="1">
            <a:schemeClr val="accent4"/>
          </a:effectRef>
          <a:fontRef idx="minor">
            <a:schemeClr val="dk1"/>
          </a:fontRef>
        </p:style>
        <p:txBody>
          <a:bodyPr rtlCol="0" anchor="ctr"/>
          <a:lstStyle/>
          <a:p>
            <a:pPr indent="0">
              <a:buNone/>
            </a:pPr>
            <a:r>
              <a:rPr lang="en-US" sz="16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static</a:t>
            </a: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6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long</a:t>
            </a: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600" dirty="0" err="1">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num_steps</a:t>
            </a: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 100000;</a:t>
            </a:r>
          </a:p>
          <a:p>
            <a:pPr indent="0">
              <a:buNone/>
            </a:pPr>
            <a:r>
              <a:rPr lang="en-US" sz="16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double</a:t>
            </a: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step;</a:t>
            </a:r>
          </a:p>
          <a:p>
            <a:pPr indent="0">
              <a:buNone/>
            </a:pP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void </a:t>
            </a:r>
            <a:r>
              <a:rPr lang="en-US" sz="16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main</a:t>
            </a: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a:t>
            </a:r>
          </a:p>
          <a:p>
            <a:pPr indent="0">
              <a:buNone/>
            </a:pP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a:t>
            </a:r>
          </a:p>
          <a:p>
            <a:pPr indent="0">
              <a:buNone/>
            </a:pP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600" dirty="0" err="1">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int</a:t>
            </a:r>
            <a:r>
              <a:rPr lang="en-US" sz="16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600" dirty="0" err="1">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i</a:t>
            </a: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6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double</a:t>
            </a: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x, pi, sum = 0.0;</a:t>
            </a:r>
          </a:p>
          <a:p>
            <a:pPr indent="0">
              <a:buNone/>
            </a:pP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step = 1.0/(</a:t>
            </a:r>
            <a:r>
              <a:rPr lang="en-US" sz="16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double</a:t>
            </a: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600" dirty="0" err="1">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num_steps</a:t>
            </a: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a:t>
            </a:r>
          </a:p>
          <a:p>
            <a:pPr indent="0">
              <a:buNone/>
            </a:pPr>
            <a:endPar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endParaRPr>
          </a:p>
          <a:p>
            <a:pPr indent="0">
              <a:buNone/>
            </a:pP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6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for</a:t>
            </a: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600" dirty="0" err="1">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i</a:t>
            </a: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=0; </a:t>
            </a:r>
            <a:r>
              <a:rPr lang="en-US" sz="1600" dirty="0" err="1">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i</a:t>
            </a: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&lt;</a:t>
            </a:r>
            <a:r>
              <a:rPr lang="en-US" sz="1600" dirty="0" err="1">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num_steps</a:t>
            </a: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600" dirty="0" err="1">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i</a:t>
            </a: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a:t>
            </a:r>
          </a:p>
          <a:p>
            <a:pPr indent="0">
              <a:buNone/>
            </a:pP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x = (i+0.5)*step;</a:t>
            </a:r>
          </a:p>
          <a:p>
            <a:pPr indent="0">
              <a:buNone/>
            </a:pP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sum = sum + 4.0/(1.0+x*x);</a:t>
            </a:r>
          </a:p>
          <a:p>
            <a:pPr indent="0">
              <a:buNone/>
            </a:pP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a:t>
            </a:r>
          </a:p>
          <a:p>
            <a:pPr indent="0">
              <a:buNone/>
            </a:pP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pi = step * sum;</a:t>
            </a:r>
          </a:p>
          <a:p>
            <a:pPr indent="0">
              <a:buNone/>
            </a:pP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a:t>
            </a:r>
          </a:p>
        </p:txBody>
      </p:sp>
    </p:spTree>
    <p:extLst>
      <p:ext uri="{BB962C8B-B14F-4D97-AF65-F5344CB8AC3E}">
        <p14:creationId xmlns:p14="http://schemas.microsoft.com/office/powerpoint/2010/main" val="2512757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p:txBody>
              <a:bodyPr/>
              <a:lstStyle/>
              <a:p>
                <a:r>
                  <a:rPr lang="fa-IR" sz="4300" dirty="0"/>
                  <a:t>مثال: برنامه محاسبه </a:t>
                </a:r>
                <a14:m>
                  <m:oMath xmlns:m="http://schemas.openxmlformats.org/officeDocument/2006/math">
                    <m:r>
                      <a:rPr lang="en-US" sz="4300" i="1">
                        <a:latin typeface="Cambria Math" panose="02040503050406030204" pitchFamily="18" charset="0"/>
                      </a:rPr>
                      <m:t>𝜋</m:t>
                    </m:r>
                  </m:oMath>
                </a14:m>
                <a:r>
                  <a:rPr lang="fa-IR" sz="4300" dirty="0"/>
                  <a:t> </a:t>
                </a:r>
                <a:endParaRPr lang="en-US" sz="4300" dirty="0"/>
              </a:p>
            </p:txBody>
          </p:sp>
        </mc:Choice>
        <mc:Fallback xmlns="">
          <p:sp>
            <p:nvSpPr>
              <p:cNvPr id="2" name="Title 1"/>
              <p:cNvSpPr>
                <a:spLocks noGrp="1" noRot="1" noChangeAspect="1" noMove="1" noResize="1" noEditPoints="1" noAdjustHandles="1" noChangeArrowheads="1" noChangeShapeType="1" noTextEdit="1"/>
              </p:cNvSpPr>
              <p:nvPr>
                <p:ph type="title"/>
              </p:nvPr>
            </p:nvSpPr>
            <p:spPr>
              <a:blipFill rotWithShape="0">
                <a:blip r:embed="rId4"/>
                <a:stretch>
                  <a:fillRect t="-18750" r="-2917" b="-50000"/>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pPr>
              <a:defRPr/>
            </a:pPr>
            <a:r>
              <a:rPr lang="en-US" altLang="en-US"/>
              <a:t>Parallel Processing</a:t>
            </a:r>
          </a:p>
        </p:txBody>
      </p:sp>
      <p:sp>
        <p:nvSpPr>
          <p:cNvPr id="5" name="Footer Placeholder 4"/>
          <p:cNvSpPr>
            <a:spLocks noGrp="1"/>
          </p:cNvSpPr>
          <p:nvPr>
            <p:ph type="ftr" sz="quarter" idx="11"/>
          </p:nvPr>
        </p:nvSpPr>
        <p:spPr/>
        <p:txBody>
          <a:bodyPr/>
          <a:lstStyle/>
          <a:p>
            <a:pPr>
              <a:defRPr/>
            </a:pPr>
            <a:r>
              <a:rPr lang="en-US" altLang="en-US"/>
              <a:t>7. OpenMP</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A9DCC621-7EE1-4E7E-9D9E-207B534D683D}" type="slidenum">
              <a:rPr lang="en-US" altLang="en-US" smtClean="0"/>
              <a:pPr>
                <a:defRPr/>
              </a:pPr>
              <a:t>20</a:t>
            </a:fld>
            <a:endParaRPr lang="en-US" altLang="en-US" dirty="0"/>
          </a:p>
        </p:txBody>
      </p:sp>
      <p:sp>
        <p:nvSpPr>
          <p:cNvPr id="10" name="Rectangle 9"/>
          <p:cNvSpPr/>
          <p:nvPr/>
        </p:nvSpPr>
        <p:spPr>
          <a:xfrm>
            <a:off x="609600" y="1219200"/>
            <a:ext cx="8077200" cy="4953000"/>
          </a:xfrm>
          <a:prstGeom prst="rect">
            <a:avLst/>
          </a:prstGeom>
          <a:noFill/>
          <a:ln w="28575">
            <a:solidFill>
              <a:schemeClr val="accent1">
                <a:lumMod val="75000"/>
              </a:schemeClr>
            </a:solidFill>
          </a:ln>
          <a:effectLst/>
        </p:spPr>
        <p:style>
          <a:lnRef idx="1">
            <a:schemeClr val="accent4"/>
          </a:lnRef>
          <a:fillRef idx="2">
            <a:schemeClr val="accent4"/>
          </a:fillRef>
          <a:effectRef idx="1">
            <a:schemeClr val="accent4"/>
          </a:effectRef>
          <a:fontRef idx="minor">
            <a:schemeClr val="dk1"/>
          </a:fontRef>
        </p:style>
        <p:txBody>
          <a:bodyPr rtlCol="0" anchor="ctr"/>
          <a:lstStyle/>
          <a:p>
            <a:pPr indent="0">
              <a:buNone/>
            </a:pPr>
            <a:r>
              <a:rPr lang="en-US" sz="17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#include &lt;</a:t>
            </a:r>
            <a:r>
              <a:rPr lang="en-US" sz="1700"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omp.h</a:t>
            </a:r>
            <a:r>
              <a:rPr lang="en-US" sz="17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&gt;</a:t>
            </a:r>
          </a:p>
          <a:p>
            <a:pPr indent="0">
              <a:buNone/>
            </a:pPr>
            <a:r>
              <a:rPr lang="en-US" sz="16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static</a:t>
            </a: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6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long</a:t>
            </a: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600" dirty="0" err="1">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num_steps</a:t>
            </a: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 100000; </a:t>
            </a:r>
            <a:r>
              <a:rPr lang="en-US" sz="16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double</a:t>
            </a: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step;</a:t>
            </a:r>
          </a:p>
          <a:p>
            <a:pPr indent="0">
              <a:buNone/>
            </a:pPr>
            <a:r>
              <a:rPr lang="en-US" sz="16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#define NUM_THREADS 2</a:t>
            </a:r>
          </a:p>
          <a:p>
            <a:pPr indent="0">
              <a:buNone/>
            </a:pPr>
            <a:r>
              <a:rPr lang="en-US" sz="16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void</a:t>
            </a: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6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main </a:t>
            </a: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a:t>
            </a:r>
          </a:p>
          <a:p>
            <a:pPr indent="0">
              <a:buNone/>
            </a:pP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600" dirty="0" err="1">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int</a:t>
            </a:r>
            <a:r>
              <a:rPr lang="en-US" sz="16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600" dirty="0" err="1">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i</a:t>
            </a: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600" dirty="0" err="1">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nthreads</a:t>
            </a: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6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double</a:t>
            </a: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pi, sum[NUM_THREADS];</a:t>
            </a:r>
          </a:p>
          <a:p>
            <a:pPr indent="0">
              <a:buNone/>
            </a:pP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step = 1.0/(</a:t>
            </a:r>
            <a:r>
              <a:rPr lang="en-US" sz="16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double</a:t>
            </a: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600" dirty="0" err="1">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num_steps</a:t>
            </a: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a:t>
            </a:r>
          </a:p>
          <a:p>
            <a:pPr indent="0">
              <a:buNone/>
            </a:pPr>
            <a:r>
              <a:rPr lang="en-US" sz="16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600"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omp_set_num_threads</a:t>
            </a:r>
            <a:r>
              <a:rPr lang="en-US" sz="16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(NUM_THREADS);</a:t>
            </a:r>
          </a:p>
          <a:p>
            <a:pPr indent="0">
              <a:buNone/>
            </a:pPr>
            <a:r>
              <a:rPr lang="en-US" sz="16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#pragma </a:t>
            </a:r>
            <a:r>
              <a:rPr lang="en-US" sz="1600"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omp</a:t>
            </a:r>
            <a:r>
              <a:rPr lang="en-US" sz="16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parallel</a:t>
            </a:r>
          </a:p>
          <a:p>
            <a:pPr indent="0">
              <a:buNone/>
            </a:pP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a:t>
            </a:r>
          </a:p>
          <a:p>
            <a:pPr indent="0">
              <a:buNone/>
            </a:pPr>
            <a:r>
              <a:rPr lang="en-US" sz="16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600" dirty="0" err="1">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int</a:t>
            </a:r>
            <a:r>
              <a:rPr lang="en-US" sz="16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600" dirty="0" err="1">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i</a:t>
            </a: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id, </a:t>
            </a:r>
            <a:r>
              <a:rPr lang="en-US" sz="1600" dirty="0" err="1">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nthrds</a:t>
            </a: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6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double</a:t>
            </a: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x;</a:t>
            </a:r>
          </a:p>
          <a:p>
            <a:pPr indent="0">
              <a:buNone/>
            </a:pP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6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id = </a:t>
            </a:r>
            <a:r>
              <a:rPr lang="en-US" sz="1600"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omp_get_thread_num</a:t>
            </a:r>
            <a:r>
              <a:rPr lang="en-US" sz="16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a:t>
            </a:r>
          </a:p>
          <a:p>
            <a:pPr indent="0">
              <a:buNone/>
            </a:pPr>
            <a:r>
              <a:rPr lang="en-US" sz="16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600"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nthrds</a:t>
            </a:r>
            <a:r>
              <a:rPr lang="en-US" sz="16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 </a:t>
            </a:r>
            <a:r>
              <a:rPr lang="en-US" sz="1600"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omp_get_num_threads</a:t>
            </a:r>
            <a:r>
              <a:rPr lang="en-US" sz="16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a:t>
            </a:r>
          </a:p>
          <a:p>
            <a:pPr indent="0">
              <a:buNone/>
            </a:pPr>
            <a:r>
              <a:rPr lang="en-US" sz="16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if (id == 0) </a:t>
            </a:r>
            <a:r>
              <a:rPr lang="en-US" sz="1600"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nthreads</a:t>
            </a:r>
            <a:r>
              <a:rPr lang="en-US" sz="16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 </a:t>
            </a:r>
            <a:r>
              <a:rPr lang="en-US" sz="1600"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nthrds</a:t>
            </a:r>
            <a:r>
              <a:rPr lang="en-US" sz="16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a:t>
            </a:r>
          </a:p>
          <a:p>
            <a:pPr indent="0">
              <a:buNone/>
            </a:pP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6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for</a:t>
            </a: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600" dirty="0" err="1">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i</a:t>
            </a: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a:t>
            </a:r>
            <a:r>
              <a:rPr lang="en-US" sz="1600" dirty="0" err="1">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id,sum</a:t>
            </a: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[id]=0.0; </a:t>
            </a:r>
            <a:r>
              <a:rPr lang="en-US" sz="1600" dirty="0" err="1">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i</a:t>
            </a: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&lt;</a:t>
            </a:r>
            <a:r>
              <a:rPr lang="en-US" sz="1600" dirty="0" err="1">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num_steps</a:t>
            </a: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600" dirty="0" err="1">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i</a:t>
            </a: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a:t>
            </a:r>
            <a:r>
              <a:rPr lang="en-US" sz="1600" dirty="0" err="1">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i+nthrds</a:t>
            </a: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a:t>
            </a:r>
          </a:p>
          <a:p>
            <a:pPr indent="0">
              <a:buNone/>
            </a:pP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x = (i+0.5)*step;</a:t>
            </a:r>
          </a:p>
          <a:p>
            <a:pPr indent="0">
              <a:buNone/>
            </a:pP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sum[id] += 4.0/(1.0+x*x);</a:t>
            </a:r>
          </a:p>
          <a:p>
            <a:pPr indent="0">
              <a:buNone/>
            </a:pP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a:t>
            </a:r>
          </a:p>
          <a:p>
            <a:pPr indent="0">
              <a:buNone/>
            </a:pP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a:t>
            </a:r>
          </a:p>
          <a:p>
            <a:pPr indent="0">
              <a:buNone/>
            </a:pP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6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for</a:t>
            </a: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600" dirty="0" err="1">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i</a:t>
            </a: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=0,pi=0.0; </a:t>
            </a:r>
            <a:r>
              <a:rPr lang="en-US" sz="1600" dirty="0" err="1">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i</a:t>
            </a: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&lt;</a:t>
            </a:r>
            <a:r>
              <a:rPr lang="en-US" sz="1600" dirty="0" err="1">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nthreads</a:t>
            </a: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600" dirty="0" err="1">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i</a:t>
            </a: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pi += step * sum[</a:t>
            </a:r>
            <a:r>
              <a:rPr lang="en-US" sz="1600" dirty="0" err="1">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i</a:t>
            </a: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a:t>
            </a:r>
          </a:p>
          <a:p>
            <a:pPr indent="0">
              <a:buNone/>
            </a:pP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a:t>
            </a:r>
          </a:p>
        </p:txBody>
      </p:sp>
    </p:spTree>
    <p:extLst>
      <p:ext uri="{BB962C8B-B14F-4D97-AF65-F5344CB8AC3E}">
        <p14:creationId xmlns:p14="http://schemas.microsoft.com/office/powerpoint/2010/main" val="37541102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p:txBody>
              <a:bodyPr/>
              <a:lstStyle/>
              <a:p>
                <a:r>
                  <a:rPr lang="fa-IR" sz="4300" dirty="0"/>
                  <a:t>مثال: برنامه محاسبه </a:t>
                </a:r>
                <a14:m>
                  <m:oMath xmlns:m="http://schemas.openxmlformats.org/officeDocument/2006/math">
                    <m:r>
                      <a:rPr lang="en-US" sz="4300" i="1">
                        <a:latin typeface="Cambria Math" panose="02040503050406030204" pitchFamily="18" charset="0"/>
                      </a:rPr>
                      <m:t>𝜋</m:t>
                    </m:r>
                  </m:oMath>
                </a14:m>
                <a:r>
                  <a:rPr lang="fa-IR" sz="4300" dirty="0"/>
                  <a:t> </a:t>
                </a:r>
                <a:endParaRPr lang="en-US" sz="4300" dirty="0"/>
              </a:p>
            </p:txBody>
          </p:sp>
        </mc:Choice>
        <mc:Fallback xmlns="">
          <p:sp>
            <p:nvSpPr>
              <p:cNvPr id="2" name="Title 1"/>
              <p:cNvSpPr>
                <a:spLocks noGrp="1" noRot="1" noChangeAspect="1" noMove="1" noResize="1" noEditPoints="1" noAdjustHandles="1" noChangeArrowheads="1" noChangeShapeType="1" noTextEdit="1"/>
              </p:cNvSpPr>
              <p:nvPr>
                <p:ph type="title"/>
              </p:nvPr>
            </p:nvSpPr>
            <p:spPr>
              <a:blipFill rotWithShape="0">
                <a:blip r:embed="rId4"/>
                <a:stretch>
                  <a:fillRect t="-18750" r="-2917" b="-50000"/>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pPr>
              <a:defRPr/>
            </a:pPr>
            <a:r>
              <a:rPr lang="en-US" altLang="en-US"/>
              <a:t>Parallel Processing</a:t>
            </a:r>
          </a:p>
        </p:txBody>
      </p:sp>
      <p:sp>
        <p:nvSpPr>
          <p:cNvPr id="5" name="Footer Placeholder 4"/>
          <p:cNvSpPr>
            <a:spLocks noGrp="1"/>
          </p:cNvSpPr>
          <p:nvPr>
            <p:ph type="ftr" sz="quarter" idx="11"/>
          </p:nvPr>
        </p:nvSpPr>
        <p:spPr/>
        <p:txBody>
          <a:bodyPr/>
          <a:lstStyle/>
          <a:p>
            <a:pPr>
              <a:defRPr/>
            </a:pPr>
            <a:r>
              <a:rPr lang="en-US" altLang="en-US"/>
              <a:t>7. OpenMP</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A9DCC621-7EE1-4E7E-9D9E-207B534D683D}" type="slidenum">
              <a:rPr lang="en-US" altLang="en-US" smtClean="0"/>
              <a:pPr>
                <a:defRPr/>
              </a:pPr>
              <a:t>21</a:t>
            </a:fld>
            <a:endParaRPr lang="en-US" altLang="en-US" dirty="0"/>
          </a:p>
        </p:txBody>
      </p:sp>
      <p:sp>
        <p:nvSpPr>
          <p:cNvPr id="8" name="Content Placeholder 2"/>
          <p:cNvSpPr>
            <a:spLocks noGrp="1"/>
          </p:cNvSpPr>
          <p:nvPr>
            <p:ph sz="quarter" idx="1"/>
          </p:nvPr>
        </p:nvSpPr>
        <p:spPr>
          <a:xfrm>
            <a:off x="612648" y="1219200"/>
            <a:ext cx="8153400" cy="4876800"/>
          </a:xfrm>
        </p:spPr>
        <p:txBody>
          <a:bodyPr/>
          <a:lstStyle/>
          <a:p>
            <a:pPr marL="0" indent="0" algn="ctr" rtl="0">
              <a:buNone/>
            </a:pPr>
            <a:r>
              <a:rPr lang="en-US" sz="2800" dirty="0">
                <a:latin typeface="+mj-lt"/>
              </a:rPr>
              <a:t>Results</a:t>
            </a:r>
          </a:p>
          <a:p>
            <a:pPr marL="0" indent="0" algn="ctr" rtl="0">
              <a:buNone/>
            </a:pPr>
            <a:r>
              <a:rPr lang="en-US" sz="2400" dirty="0">
                <a:latin typeface="+mj-lt"/>
              </a:rPr>
              <a:t>Original Serial Program with 100000 steps ran in 1.83s</a:t>
            </a:r>
          </a:p>
          <a:p>
            <a:pPr marL="0" lvl="0" indent="0" algn="l" rtl="0" eaLnBrk="1" hangingPunct="1">
              <a:spcBef>
                <a:spcPct val="0"/>
              </a:spcBef>
              <a:buClrTx/>
              <a:buSzTx/>
              <a:buNone/>
            </a:pPr>
            <a:endParaRPr lang="en-US" sz="12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endParaRPr>
          </a:p>
          <a:p>
            <a:pPr marL="0" lvl="0" indent="0" algn="l" rtl="0" eaLnBrk="1" hangingPunct="1">
              <a:spcBef>
                <a:spcPct val="0"/>
              </a:spcBef>
              <a:buClrTx/>
              <a:buSzTx/>
              <a:buNone/>
            </a:pPr>
            <a:r>
              <a:rPr lang="en-US" sz="12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#include &lt;</a:t>
            </a:r>
            <a:r>
              <a:rPr lang="en-US" sz="1200"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omp.h</a:t>
            </a:r>
            <a:r>
              <a:rPr lang="en-US" sz="12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&gt;</a:t>
            </a:r>
          </a:p>
          <a:p>
            <a:pPr marL="0" lvl="0" indent="0" algn="l" rtl="0" eaLnBrk="1" hangingPunct="1">
              <a:spcBef>
                <a:spcPct val="0"/>
              </a:spcBef>
              <a:buClrTx/>
              <a:buSzTx/>
              <a:buNone/>
            </a:pPr>
            <a:r>
              <a:rPr lang="en-US" sz="11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static</a:t>
            </a:r>
            <a:r>
              <a:rPr lang="en-US" sz="1100" dirty="0">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1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long</a:t>
            </a:r>
            <a:r>
              <a:rPr lang="en-US" sz="1100" dirty="0">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100" dirty="0" err="1">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num_steps</a:t>
            </a:r>
            <a:r>
              <a:rPr lang="en-US" sz="1100" dirty="0">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 = 100000; </a:t>
            </a:r>
            <a:r>
              <a:rPr lang="en-US" sz="11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double</a:t>
            </a:r>
            <a:r>
              <a:rPr lang="en-US" sz="1100" dirty="0">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 step;</a:t>
            </a:r>
          </a:p>
          <a:p>
            <a:pPr marL="0" lvl="0" indent="0" algn="l" rtl="0" eaLnBrk="1" hangingPunct="1">
              <a:spcBef>
                <a:spcPct val="0"/>
              </a:spcBef>
              <a:buClrTx/>
              <a:buSzTx/>
              <a:buNone/>
            </a:pPr>
            <a:r>
              <a:rPr lang="en-US" sz="11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#define NUM_THREADS 2</a:t>
            </a:r>
          </a:p>
          <a:p>
            <a:pPr marL="0" lvl="0" indent="0" algn="l" rtl="0" eaLnBrk="1" hangingPunct="1">
              <a:spcBef>
                <a:spcPct val="0"/>
              </a:spcBef>
              <a:buClrTx/>
              <a:buSzTx/>
              <a:buNone/>
            </a:pPr>
            <a:r>
              <a:rPr lang="en-US" sz="11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void</a:t>
            </a:r>
            <a:r>
              <a:rPr lang="en-US" sz="1100" dirty="0">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1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main </a:t>
            </a:r>
            <a:r>
              <a:rPr lang="en-US" sz="1100" dirty="0">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 {</a:t>
            </a:r>
          </a:p>
          <a:p>
            <a:pPr marL="0" lvl="0" indent="0" algn="l" rtl="0" eaLnBrk="1" hangingPunct="1">
              <a:spcBef>
                <a:spcPct val="0"/>
              </a:spcBef>
              <a:buClrTx/>
              <a:buSzTx/>
              <a:buNone/>
            </a:pPr>
            <a:r>
              <a:rPr lang="en-US" sz="1100" dirty="0">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100" dirty="0" err="1">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int</a:t>
            </a:r>
            <a:r>
              <a:rPr lang="en-US" sz="11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100" dirty="0" err="1">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i</a:t>
            </a:r>
            <a:r>
              <a:rPr lang="en-US" sz="1100" dirty="0">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100" dirty="0" err="1">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nthreads</a:t>
            </a:r>
            <a:r>
              <a:rPr lang="en-US" sz="1100" dirty="0">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1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double</a:t>
            </a:r>
            <a:r>
              <a:rPr lang="en-US" sz="1100" dirty="0">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 pi, sum[NUM_THREADS];</a:t>
            </a:r>
          </a:p>
          <a:p>
            <a:pPr marL="0" lvl="0" indent="0" algn="l" rtl="0" eaLnBrk="1" hangingPunct="1">
              <a:spcBef>
                <a:spcPct val="0"/>
              </a:spcBef>
              <a:buClrTx/>
              <a:buSzTx/>
              <a:buNone/>
            </a:pPr>
            <a:r>
              <a:rPr lang="en-US" sz="1100" dirty="0">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   step = 1.0/(</a:t>
            </a:r>
            <a:r>
              <a:rPr lang="en-US" sz="11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double</a:t>
            </a:r>
            <a:r>
              <a:rPr lang="en-US" sz="1100" dirty="0">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100" dirty="0" err="1">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num_steps</a:t>
            </a:r>
            <a:r>
              <a:rPr lang="en-US" sz="1100" dirty="0">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a:t>
            </a:r>
          </a:p>
          <a:p>
            <a:pPr marL="0" lvl="0" indent="0" algn="l" rtl="0" eaLnBrk="1" hangingPunct="1">
              <a:spcBef>
                <a:spcPct val="0"/>
              </a:spcBef>
              <a:buClrTx/>
              <a:buSzTx/>
              <a:buNone/>
            </a:pPr>
            <a:r>
              <a:rPr lang="en-US" sz="11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100"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omp_set_num_threads</a:t>
            </a:r>
            <a:r>
              <a:rPr lang="en-US" sz="11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(NUM_THREADS);</a:t>
            </a:r>
          </a:p>
          <a:p>
            <a:pPr marL="0" lvl="0" indent="0" algn="l" rtl="0" eaLnBrk="1" hangingPunct="1">
              <a:spcBef>
                <a:spcPct val="0"/>
              </a:spcBef>
              <a:buClrTx/>
              <a:buSzTx/>
              <a:buNone/>
            </a:pPr>
            <a:r>
              <a:rPr lang="en-US" sz="11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#pragma </a:t>
            </a:r>
            <a:r>
              <a:rPr lang="en-US" sz="1100"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omp</a:t>
            </a:r>
            <a:r>
              <a:rPr lang="en-US" sz="11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parallel</a:t>
            </a:r>
          </a:p>
          <a:p>
            <a:pPr marL="0" lvl="0" indent="0" algn="l" rtl="0" eaLnBrk="1" hangingPunct="1">
              <a:spcBef>
                <a:spcPct val="0"/>
              </a:spcBef>
              <a:buClrTx/>
              <a:buSzTx/>
              <a:buNone/>
            </a:pPr>
            <a:r>
              <a:rPr lang="en-US" sz="1100" dirty="0">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   {</a:t>
            </a:r>
          </a:p>
          <a:p>
            <a:pPr marL="0" lvl="0" indent="0" algn="l" rtl="0" eaLnBrk="1" hangingPunct="1">
              <a:spcBef>
                <a:spcPct val="0"/>
              </a:spcBef>
              <a:buClrTx/>
              <a:buSzTx/>
              <a:buNone/>
            </a:pPr>
            <a:r>
              <a:rPr lang="en-US" sz="11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100" dirty="0" err="1">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int</a:t>
            </a:r>
            <a:r>
              <a:rPr lang="en-US" sz="11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100" dirty="0" err="1">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i</a:t>
            </a:r>
            <a:r>
              <a:rPr lang="en-US" sz="1100" dirty="0">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 id, </a:t>
            </a:r>
            <a:r>
              <a:rPr lang="en-US" sz="1100" dirty="0" err="1">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nthrds</a:t>
            </a:r>
            <a:r>
              <a:rPr lang="en-US" sz="1100" dirty="0">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1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double</a:t>
            </a:r>
            <a:r>
              <a:rPr lang="en-US" sz="1100" dirty="0">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 x;</a:t>
            </a:r>
          </a:p>
          <a:p>
            <a:pPr marL="0" lvl="0" indent="0" algn="l" rtl="0" eaLnBrk="1" hangingPunct="1">
              <a:spcBef>
                <a:spcPct val="0"/>
              </a:spcBef>
              <a:buClrTx/>
              <a:buSzTx/>
              <a:buNone/>
            </a:pPr>
            <a:r>
              <a:rPr lang="en-US" sz="1100" dirty="0">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1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id = </a:t>
            </a:r>
            <a:r>
              <a:rPr lang="en-US" sz="1100"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omp_get_thread_num</a:t>
            </a:r>
            <a:r>
              <a:rPr lang="en-US" sz="11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a:t>
            </a:r>
          </a:p>
          <a:p>
            <a:pPr marL="0" lvl="0" indent="0" algn="l" rtl="0" eaLnBrk="1" hangingPunct="1">
              <a:spcBef>
                <a:spcPct val="0"/>
              </a:spcBef>
              <a:buClrTx/>
              <a:buSzTx/>
              <a:buNone/>
            </a:pPr>
            <a:r>
              <a:rPr lang="en-US" sz="11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100"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nthrds</a:t>
            </a:r>
            <a:r>
              <a:rPr lang="en-US" sz="11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 </a:t>
            </a:r>
            <a:r>
              <a:rPr lang="en-US" sz="1100"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omp_get_num_threads</a:t>
            </a:r>
            <a:r>
              <a:rPr lang="en-US" sz="11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a:t>
            </a:r>
          </a:p>
          <a:p>
            <a:pPr marL="0" lvl="0" indent="0" algn="l" rtl="0" eaLnBrk="1" hangingPunct="1">
              <a:spcBef>
                <a:spcPct val="0"/>
              </a:spcBef>
              <a:buClrTx/>
              <a:buSzTx/>
              <a:buNone/>
            </a:pPr>
            <a:r>
              <a:rPr lang="en-US" sz="11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if (id == 0) </a:t>
            </a:r>
            <a:r>
              <a:rPr lang="en-US" sz="1100"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nthreads</a:t>
            </a:r>
            <a:r>
              <a:rPr lang="en-US" sz="11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 </a:t>
            </a:r>
            <a:r>
              <a:rPr lang="en-US" sz="1100"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nthrds</a:t>
            </a:r>
            <a:r>
              <a:rPr lang="en-US" sz="11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a:t>
            </a:r>
          </a:p>
          <a:p>
            <a:pPr marL="0" lvl="0" indent="0" algn="l" rtl="0" eaLnBrk="1" hangingPunct="1">
              <a:spcBef>
                <a:spcPct val="0"/>
              </a:spcBef>
              <a:buClrTx/>
              <a:buSzTx/>
              <a:buNone/>
            </a:pPr>
            <a:r>
              <a:rPr lang="en-US" sz="1100" dirty="0">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1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for</a:t>
            </a:r>
            <a:r>
              <a:rPr lang="en-US" sz="1100" dirty="0">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100" dirty="0" err="1">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i</a:t>
            </a:r>
            <a:r>
              <a:rPr lang="en-US" sz="1100" dirty="0">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a:t>
            </a:r>
            <a:r>
              <a:rPr lang="en-US" sz="1100" dirty="0" err="1">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id,sum</a:t>
            </a:r>
            <a:r>
              <a:rPr lang="en-US" sz="1100" dirty="0">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[id]=0.0; </a:t>
            </a:r>
            <a:r>
              <a:rPr lang="en-US" sz="1100" dirty="0" err="1">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i</a:t>
            </a:r>
            <a:r>
              <a:rPr lang="en-US" sz="1100" dirty="0">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&lt;</a:t>
            </a:r>
            <a:r>
              <a:rPr lang="en-US" sz="1100" dirty="0" err="1">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num_steps</a:t>
            </a:r>
            <a:r>
              <a:rPr lang="en-US" sz="1100" dirty="0">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100" dirty="0" err="1">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i</a:t>
            </a:r>
            <a:r>
              <a:rPr lang="en-US" sz="1100" dirty="0">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a:t>
            </a:r>
            <a:r>
              <a:rPr lang="en-US" sz="1100" dirty="0" err="1">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i+nthrds</a:t>
            </a:r>
            <a:r>
              <a:rPr lang="en-US" sz="1100" dirty="0">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a:t>
            </a:r>
          </a:p>
          <a:p>
            <a:pPr marL="0" lvl="0" indent="0" algn="l" rtl="0" eaLnBrk="1" hangingPunct="1">
              <a:spcBef>
                <a:spcPct val="0"/>
              </a:spcBef>
              <a:buClrTx/>
              <a:buSzTx/>
              <a:buNone/>
            </a:pPr>
            <a:r>
              <a:rPr lang="en-US" sz="1100" dirty="0">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         x = (i+0.5)*step;</a:t>
            </a:r>
          </a:p>
          <a:p>
            <a:pPr marL="0" lvl="0" indent="0" algn="l" rtl="0" eaLnBrk="1" hangingPunct="1">
              <a:spcBef>
                <a:spcPct val="0"/>
              </a:spcBef>
              <a:buClrTx/>
              <a:buSzTx/>
              <a:buNone/>
            </a:pPr>
            <a:r>
              <a:rPr lang="en-US" sz="1100" dirty="0">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         sum[id] += 4.0/(1.0+x*x);</a:t>
            </a:r>
          </a:p>
          <a:p>
            <a:pPr marL="0" lvl="0" indent="0" algn="l" rtl="0" eaLnBrk="1" hangingPunct="1">
              <a:spcBef>
                <a:spcPct val="0"/>
              </a:spcBef>
              <a:buClrTx/>
              <a:buSzTx/>
              <a:buNone/>
            </a:pPr>
            <a:r>
              <a:rPr lang="en-US" sz="1100" dirty="0">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      }</a:t>
            </a:r>
          </a:p>
          <a:p>
            <a:pPr marL="0" lvl="0" indent="0" algn="l" rtl="0" eaLnBrk="1" hangingPunct="1">
              <a:spcBef>
                <a:spcPct val="0"/>
              </a:spcBef>
              <a:buClrTx/>
              <a:buSzTx/>
              <a:buNone/>
            </a:pPr>
            <a:r>
              <a:rPr lang="en-US" sz="1100" dirty="0">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   }</a:t>
            </a:r>
          </a:p>
          <a:p>
            <a:pPr marL="0" lvl="0" indent="0" algn="l" rtl="0" eaLnBrk="1" hangingPunct="1">
              <a:spcBef>
                <a:spcPct val="0"/>
              </a:spcBef>
              <a:buClrTx/>
              <a:buSzTx/>
              <a:buNone/>
            </a:pPr>
            <a:r>
              <a:rPr lang="en-US" sz="1100" dirty="0">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1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for</a:t>
            </a:r>
            <a:r>
              <a:rPr lang="en-US" sz="1100" dirty="0">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100" dirty="0" err="1">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i</a:t>
            </a:r>
            <a:r>
              <a:rPr lang="en-US" sz="1100" dirty="0">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=0,pi=0.0; </a:t>
            </a:r>
            <a:r>
              <a:rPr lang="en-US" sz="1100" dirty="0" err="1">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i</a:t>
            </a:r>
            <a:r>
              <a:rPr lang="en-US" sz="1100" dirty="0">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&lt;</a:t>
            </a:r>
            <a:r>
              <a:rPr lang="en-US" sz="1100" dirty="0" err="1">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nthreads</a:t>
            </a:r>
            <a:r>
              <a:rPr lang="en-US" sz="1100" dirty="0">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100" dirty="0" err="1">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i</a:t>
            </a:r>
            <a:r>
              <a:rPr lang="en-US" sz="1100" dirty="0">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  pi += step * sum[</a:t>
            </a:r>
            <a:r>
              <a:rPr lang="en-US" sz="1100" dirty="0" err="1">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i</a:t>
            </a:r>
            <a:r>
              <a:rPr lang="en-US" sz="1100" dirty="0">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a:t>
            </a:r>
          </a:p>
          <a:p>
            <a:pPr marL="0" lvl="0" indent="0" algn="l" rtl="0" eaLnBrk="1" hangingPunct="1">
              <a:spcBef>
                <a:spcPct val="0"/>
              </a:spcBef>
              <a:buClrTx/>
              <a:buSzTx/>
              <a:buNone/>
            </a:pPr>
            <a:r>
              <a:rPr lang="en-US" sz="1100" dirty="0">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 </a:t>
            </a:r>
          </a:p>
          <a:p>
            <a:pPr marL="0" indent="0" algn="ctr" rtl="0">
              <a:buNone/>
            </a:pPr>
            <a:endParaRPr lang="en-US" sz="2400" dirty="0">
              <a:latin typeface="+mj-lt"/>
            </a:endParaRPr>
          </a:p>
        </p:txBody>
      </p:sp>
      <p:graphicFrame>
        <p:nvGraphicFramePr>
          <p:cNvPr id="9" name="Table 8"/>
          <p:cNvGraphicFramePr>
            <a:graphicFrameLocks noGrp="1"/>
          </p:cNvGraphicFramePr>
          <p:nvPr/>
        </p:nvGraphicFramePr>
        <p:xfrm>
          <a:off x="5791200" y="2667000"/>
          <a:ext cx="2667000" cy="1854200"/>
        </p:xfrm>
        <a:graphic>
          <a:graphicData uri="http://schemas.openxmlformats.org/drawingml/2006/table">
            <a:tbl>
              <a:tblPr firstRow="1" bandRow="1">
                <a:tableStyleId>{9DCAF9ED-07DC-4A11-8D7F-57B35C25682E}</a:tableStyleId>
              </a:tblPr>
              <a:tblGrid>
                <a:gridCol w="1333500">
                  <a:extLst>
                    <a:ext uri="{9D8B030D-6E8A-4147-A177-3AD203B41FA5}">
                      <a16:colId xmlns:a16="http://schemas.microsoft.com/office/drawing/2014/main" val="20000"/>
                    </a:ext>
                  </a:extLst>
                </a:gridCol>
                <a:gridCol w="1333500">
                  <a:extLst>
                    <a:ext uri="{9D8B030D-6E8A-4147-A177-3AD203B41FA5}">
                      <a16:colId xmlns:a16="http://schemas.microsoft.com/office/drawing/2014/main" val="20001"/>
                    </a:ext>
                  </a:extLst>
                </a:gridCol>
              </a:tblGrid>
              <a:tr h="370840">
                <a:tc>
                  <a:txBody>
                    <a:bodyPr/>
                    <a:lstStyle/>
                    <a:p>
                      <a:pPr algn="ctr"/>
                      <a:r>
                        <a:rPr lang="en-US" dirty="0"/>
                        <a:t>Threads</a:t>
                      </a:r>
                    </a:p>
                  </a:txBody>
                  <a:tcPr/>
                </a:tc>
                <a:tc>
                  <a:txBody>
                    <a:bodyPr/>
                    <a:lstStyle/>
                    <a:p>
                      <a:pPr algn="ctr"/>
                      <a:r>
                        <a:rPr lang="en-US" dirty="0"/>
                        <a:t>1</a:t>
                      </a:r>
                      <a:r>
                        <a:rPr lang="en-US" baseline="30000" dirty="0"/>
                        <a:t>st</a:t>
                      </a:r>
                      <a:r>
                        <a:rPr lang="en-US" dirty="0"/>
                        <a:t> SPMD</a:t>
                      </a:r>
                    </a:p>
                  </a:txBody>
                  <a:tcPr/>
                </a:tc>
                <a:extLst>
                  <a:ext uri="{0D108BD9-81ED-4DB2-BD59-A6C34878D82A}">
                    <a16:rowId xmlns:a16="http://schemas.microsoft.com/office/drawing/2014/main" val="10000"/>
                  </a:ext>
                </a:extLst>
              </a:tr>
              <a:tr h="370840">
                <a:tc>
                  <a:txBody>
                    <a:bodyPr/>
                    <a:lstStyle/>
                    <a:p>
                      <a:pPr algn="ctr"/>
                      <a:r>
                        <a:rPr lang="en-US" dirty="0"/>
                        <a:t>1</a:t>
                      </a:r>
                    </a:p>
                  </a:txBody>
                  <a:tcPr/>
                </a:tc>
                <a:tc>
                  <a:txBody>
                    <a:bodyPr/>
                    <a:lstStyle/>
                    <a:p>
                      <a:pPr algn="ctr"/>
                      <a:r>
                        <a:rPr lang="en-US" dirty="0"/>
                        <a:t>1.86</a:t>
                      </a:r>
                    </a:p>
                  </a:txBody>
                  <a:tcPr/>
                </a:tc>
                <a:extLst>
                  <a:ext uri="{0D108BD9-81ED-4DB2-BD59-A6C34878D82A}">
                    <a16:rowId xmlns:a16="http://schemas.microsoft.com/office/drawing/2014/main" val="10001"/>
                  </a:ext>
                </a:extLst>
              </a:tr>
              <a:tr h="370840">
                <a:tc>
                  <a:txBody>
                    <a:bodyPr/>
                    <a:lstStyle/>
                    <a:p>
                      <a:pPr algn="ctr"/>
                      <a:r>
                        <a:rPr lang="en-US" dirty="0"/>
                        <a:t>2</a:t>
                      </a:r>
                    </a:p>
                  </a:txBody>
                  <a:tcPr/>
                </a:tc>
                <a:tc>
                  <a:txBody>
                    <a:bodyPr/>
                    <a:lstStyle/>
                    <a:p>
                      <a:pPr algn="ctr"/>
                      <a:r>
                        <a:rPr lang="en-US" dirty="0"/>
                        <a:t>1.03</a:t>
                      </a:r>
                      <a:r>
                        <a:rPr lang="en-US" baseline="0" dirty="0"/>
                        <a:t> </a:t>
                      </a:r>
                      <a:endParaRPr lang="en-US" dirty="0"/>
                    </a:p>
                  </a:txBody>
                  <a:tcPr/>
                </a:tc>
                <a:extLst>
                  <a:ext uri="{0D108BD9-81ED-4DB2-BD59-A6C34878D82A}">
                    <a16:rowId xmlns:a16="http://schemas.microsoft.com/office/drawing/2014/main" val="10002"/>
                  </a:ext>
                </a:extLst>
              </a:tr>
              <a:tr h="370840">
                <a:tc>
                  <a:txBody>
                    <a:bodyPr/>
                    <a:lstStyle/>
                    <a:p>
                      <a:pPr algn="ctr"/>
                      <a:r>
                        <a:rPr lang="en-US" dirty="0"/>
                        <a:t>3</a:t>
                      </a:r>
                    </a:p>
                  </a:txBody>
                  <a:tcPr/>
                </a:tc>
                <a:tc>
                  <a:txBody>
                    <a:bodyPr/>
                    <a:lstStyle/>
                    <a:p>
                      <a:pPr algn="ctr"/>
                      <a:r>
                        <a:rPr lang="en-US" dirty="0"/>
                        <a:t>1.08</a:t>
                      </a:r>
                    </a:p>
                  </a:txBody>
                  <a:tcPr/>
                </a:tc>
                <a:extLst>
                  <a:ext uri="{0D108BD9-81ED-4DB2-BD59-A6C34878D82A}">
                    <a16:rowId xmlns:a16="http://schemas.microsoft.com/office/drawing/2014/main" val="10003"/>
                  </a:ext>
                </a:extLst>
              </a:tr>
              <a:tr h="370840">
                <a:tc>
                  <a:txBody>
                    <a:bodyPr/>
                    <a:lstStyle/>
                    <a:p>
                      <a:pPr algn="ctr"/>
                      <a:r>
                        <a:rPr lang="en-US" dirty="0"/>
                        <a:t>4</a:t>
                      </a:r>
                    </a:p>
                  </a:txBody>
                  <a:tcPr/>
                </a:tc>
                <a:tc>
                  <a:txBody>
                    <a:bodyPr/>
                    <a:lstStyle/>
                    <a:p>
                      <a:pPr algn="ctr"/>
                      <a:r>
                        <a:rPr lang="en-US" dirty="0"/>
                        <a:t>0.97</a:t>
                      </a:r>
                    </a:p>
                  </a:txBody>
                  <a:tcPr/>
                </a:tc>
                <a:extLst>
                  <a:ext uri="{0D108BD9-81ED-4DB2-BD59-A6C34878D82A}">
                    <a16:rowId xmlns:a16="http://schemas.microsoft.com/office/drawing/2014/main" val="10004"/>
                  </a:ext>
                </a:extLst>
              </a:tr>
            </a:tbl>
          </a:graphicData>
        </a:graphic>
      </p:graphicFrame>
      <p:sp>
        <p:nvSpPr>
          <p:cNvPr id="11" name="TextBox 10"/>
          <p:cNvSpPr txBox="1"/>
          <p:nvPr/>
        </p:nvSpPr>
        <p:spPr>
          <a:xfrm>
            <a:off x="6406229" y="4572000"/>
            <a:ext cx="1491114" cy="646331"/>
          </a:xfrm>
          <a:prstGeom prst="rect">
            <a:avLst/>
          </a:prstGeom>
          <a:noFill/>
        </p:spPr>
        <p:txBody>
          <a:bodyPr wrap="none" rtlCol="0">
            <a:spAutoFit/>
          </a:bodyPr>
          <a:lstStyle/>
          <a:p>
            <a:pPr algn="ctr"/>
            <a:r>
              <a:rPr lang="fa-IR" b="1" dirty="0">
                <a:solidFill>
                  <a:srgbClr val="FF0000"/>
                </a:solidFill>
                <a:latin typeface="+mj-lt"/>
                <a:cs typeface="B Nazanin" panose="00000400000000000000" pitchFamily="2" charset="-78"/>
              </a:rPr>
              <a:t>مقیاس‌پذیری کم</a:t>
            </a:r>
          </a:p>
          <a:p>
            <a:pPr algn="ctr"/>
            <a:r>
              <a:rPr lang="fa-IR" b="1" dirty="0">
                <a:solidFill>
                  <a:srgbClr val="FF0000"/>
                </a:solidFill>
                <a:latin typeface="+mj-lt"/>
                <a:cs typeface="B Nazanin" panose="00000400000000000000" pitchFamily="2" charset="-78"/>
              </a:rPr>
              <a:t>چرا؟</a:t>
            </a:r>
            <a:endParaRPr lang="en-US" b="1" dirty="0">
              <a:solidFill>
                <a:srgbClr val="FF0000"/>
              </a:solidFill>
              <a:latin typeface="+mj-lt"/>
              <a:cs typeface="B Nazanin" panose="00000400000000000000" pitchFamily="2" charset="-78"/>
            </a:endParaRPr>
          </a:p>
        </p:txBody>
      </p:sp>
      <p:sp>
        <p:nvSpPr>
          <p:cNvPr id="12" name="TextBox 11"/>
          <p:cNvSpPr txBox="1"/>
          <p:nvPr/>
        </p:nvSpPr>
        <p:spPr>
          <a:xfrm>
            <a:off x="1752600" y="5879068"/>
            <a:ext cx="6041975" cy="338554"/>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sz="1600" dirty="0">
                <a:latin typeface="+mj-lt"/>
              </a:rPr>
              <a:t>Intel Core i5 dual core (4 HW thread) 1.7 </a:t>
            </a:r>
            <a:r>
              <a:rPr lang="en-US" sz="1600" dirty="0" err="1">
                <a:latin typeface="+mj-lt"/>
              </a:rPr>
              <a:t>Ghz</a:t>
            </a:r>
            <a:r>
              <a:rPr lang="en-US" sz="1600" dirty="0">
                <a:latin typeface="+mj-lt"/>
              </a:rPr>
              <a:t>, with 4GB DDR3 memory</a:t>
            </a:r>
          </a:p>
        </p:txBody>
      </p:sp>
    </p:spTree>
    <p:extLst>
      <p:ext uri="{BB962C8B-B14F-4D97-AF65-F5344CB8AC3E}">
        <p14:creationId xmlns:p14="http://schemas.microsoft.com/office/powerpoint/2010/main" val="1799030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sz="4000" dirty="0"/>
              <a:t>علت مقیاس‌پذیری کم مثال قبل: </a:t>
            </a:r>
            <a:r>
              <a:rPr lang="en-US" sz="4000" dirty="0"/>
              <a:t>False Sharing</a:t>
            </a:r>
          </a:p>
        </p:txBody>
      </p:sp>
      <p:sp>
        <p:nvSpPr>
          <p:cNvPr id="3" name="Content Placeholder 2"/>
          <p:cNvSpPr>
            <a:spLocks noGrp="1"/>
          </p:cNvSpPr>
          <p:nvPr>
            <p:ph sz="quarter" idx="1"/>
          </p:nvPr>
        </p:nvSpPr>
        <p:spPr>
          <a:xfrm>
            <a:off x="612648" y="1143000"/>
            <a:ext cx="8153400" cy="4876800"/>
          </a:xfrm>
        </p:spPr>
        <p:txBody>
          <a:bodyPr/>
          <a:lstStyle/>
          <a:p>
            <a:pPr marL="0" indent="0" algn="ctr">
              <a:buNone/>
            </a:pPr>
            <a:r>
              <a:rPr lang="fa-IR" sz="2000" dirty="0"/>
              <a:t>اگر داده‌های مستقل، به طور اتفاقی بر روی یک خط از حافظه نهان قرار گرفته باشند، با هر بار به‌روزرسانی هر کدام از آنها، همه داده‌ها بین حافظه‌نهان پردازنده‌ها جابجا می‌شوند. </a:t>
            </a:r>
            <a:endParaRPr lang="en-US" sz="2000" dirty="0"/>
          </a:p>
          <a:p>
            <a:pPr marL="0" indent="0" algn="ctr">
              <a:buNone/>
            </a:pPr>
            <a:endParaRPr lang="en-US" sz="2000" dirty="0"/>
          </a:p>
          <a:p>
            <a:pPr marL="0" indent="0" algn="ctr">
              <a:buNone/>
            </a:pPr>
            <a:endParaRPr lang="en-US" sz="2000" dirty="0"/>
          </a:p>
          <a:p>
            <a:pPr marL="0" indent="0" algn="ctr">
              <a:buNone/>
            </a:pPr>
            <a:endParaRPr lang="en-US" sz="2000" dirty="0"/>
          </a:p>
          <a:p>
            <a:pPr marL="0" indent="0" algn="ctr">
              <a:buNone/>
            </a:pPr>
            <a:endParaRPr lang="en-US" sz="2000" dirty="0"/>
          </a:p>
          <a:p>
            <a:pPr marL="0" indent="0" algn="ctr">
              <a:buNone/>
            </a:pPr>
            <a:endParaRPr lang="en-US" sz="2000" dirty="0"/>
          </a:p>
          <a:p>
            <a:pPr marL="0" indent="0" algn="ctr">
              <a:buNone/>
            </a:pPr>
            <a:endParaRPr lang="en-US" sz="2000" dirty="0"/>
          </a:p>
          <a:p>
            <a:pPr marL="0" indent="0" algn="ctr">
              <a:buNone/>
            </a:pPr>
            <a:endParaRPr lang="en-US" sz="2000" dirty="0"/>
          </a:p>
          <a:p>
            <a:pPr marL="0" indent="0" algn="ctr">
              <a:buNone/>
            </a:pPr>
            <a:endParaRPr lang="en-US" sz="2000" dirty="0"/>
          </a:p>
          <a:p>
            <a:pPr marL="0" indent="0" algn="ctr">
              <a:buNone/>
            </a:pPr>
            <a:r>
              <a:rPr lang="fa-IR" sz="2000" dirty="0">
                <a:solidFill>
                  <a:srgbClr val="FF0000"/>
                </a:solidFill>
              </a:rPr>
              <a:t>با به‌روز‌رسانی </a:t>
            </a:r>
            <a:r>
              <a:rPr lang="en-US" sz="2000" dirty="0">
                <a:solidFill>
                  <a:srgbClr val="FF0000"/>
                </a:solidFill>
              </a:rPr>
              <a:t>sum0</a:t>
            </a:r>
            <a:r>
              <a:rPr lang="fa-IR" sz="2000" dirty="0">
                <a:solidFill>
                  <a:srgbClr val="FF0000"/>
                </a:solidFill>
              </a:rPr>
              <a:t> در حافظه نهان </a:t>
            </a:r>
            <a:r>
              <a:rPr lang="en-US" sz="2000" dirty="0">
                <a:solidFill>
                  <a:srgbClr val="FF0000"/>
                </a:solidFill>
              </a:rPr>
              <a:t>core0</a:t>
            </a:r>
            <a:r>
              <a:rPr lang="fa-IR" sz="2000" dirty="0">
                <a:solidFill>
                  <a:srgbClr val="FF0000"/>
                </a:solidFill>
              </a:rPr>
              <a:t>، همه چهار </a:t>
            </a:r>
            <a:r>
              <a:rPr lang="en-US" sz="2000" dirty="0">
                <a:solidFill>
                  <a:srgbClr val="FF0000"/>
                </a:solidFill>
              </a:rPr>
              <a:t>sum</a:t>
            </a:r>
            <a:r>
              <a:rPr lang="fa-IR" sz="2000" dirty="0">
                <a:solidFill>
                  <a:srgbClr val="FF0000"/>
                </a:solidFill>
              </a:rPr>
              <a:t>‌ هم‌جوار حافظه نهان </a:t>
            </a:r>
            <a:r>
              <a:rPr lang="en-US" sz="2000" dirty="0">
                <a:solidFill>
                  <a:srgbClr val="FF0000"/>
                </a:solidFill>
              </a:rPr>
              <a:t>core1</a:t>
            </a:r>
            <a:r>
              <a:rPr lang="fa-IR" sz="2000" dirty="0">
                <a:solidFill>
                  <a:srgbClr val="FF0000"/>
                </a:solidFill>
              </a:rPr>
              <a:t> نامعتبر می‌شوند و باید دوباره از حافظه اصلی خوانده شوند. در صورتی که واقعاً نیاز به به‌روزرسانی آنها نیست. این امر باعث کند شدن برنامه می‌شود.</a:t>
            </a:r>
          </a:p>
        </p:txBody>
      </p:sp>
      <p:sp>
        <p:nvSpPr>
          <p:cNvPr id="4" name="Date Placeholder 3"/>
          <p:cNvSpPr>
            <a:spLocks noGrp="1"/>
          </p:cNvSpPr>
          <p:nvPr>
            <p:ph type="dt" sz="half" idx="10"/>
          </p:nvPr>
        </p:nvSpPr>
        <p:spPr/>
        <p:txBody>
          <a:bodyPr/>
          <a:lstStyle/>
          <a:p>
            <a:pPr>
              <a:defRPr/>
            </a:pPr>
            <a:r>
              <a:rPr lang="en-US" altLang="en-US"/>
              <a:t>Parallel Processing</a:t>
            </a:r>
          </a:p>
        </p:txBody>
      </p:sp>
      <p:sp>
        <p:nvSpPr>
          <p:cNvPr id="5" name="Footer Placeholder 4"/>
          <p:cNvSpPr>
            <a:spLocks noGrp="1"/>
          </p:cNvSpPr>
          <p:nvPr>
            <p:ph type="ftr" sz="quarter" idx="11"/>
          </p:nvPr>
        </p:nvSpPr>
        <p:spPr/>
        <p:txBody>
          <a:bodyPr/>
          <a:lstStyle/>
          <a:p>
            <a:pPr>
              <a:defRPr/>
            </a:pPr>
            <a:r>
              <a:rPr lang="en-US" altLang="en-US"/>
              <a:t>7. OpenMP</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A9DCC621-7EE1-4E7E-9D9E-207B534D683D}" type="slidenum">
              <a:rPr lang="en-US" altLang="en-US" smtClean="0"/>
              <a:pPr>
                <a:defRPr/>
              </a:pPr>
              <a:t>22</a:t>
            </a:fld>
            <a:endParaRPr lang="en-US" altLang="en-US" dirty="0"/>
          </a:p>
        </p:txBody>
      </p:sp>
      <p:pic>
        <p:nvPicPr>
          <p:cNvPr id="102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14540" t="31897" r="14576" b="21372"/>
          <a:stretch/>
        </p:blipFill>
        <p:spPr bwMode="auto">
          <a:xfrm>
            <a:off x="838200" y="1981200"/>
            <a:ext cx="7635766" cy="283023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Oval 6"/>
          <p:cNvSpPr/>
          <p:nvPr/>
        </p:nvSpPr>
        <p:spPr>
          <a:xfrm>
            <a:off x="1447800" y="3353846"/>
            <a:ext cx="838200" cy="30691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7543800" y="3336204"/>
            <a:ext cx="838200" cy="30691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p:cNvCxnSpPr/>
          <p:nvPr/>
        </p:nvCxnSpPr>
        <p:spPr>
          <a:xfrm>
            <a:off x="1866900" y="2592492"/>
            <a:ext cx="0" cy="761354"/>
          </a:xfrm>
          <a:prstGeom prst="straightConnector1">
            <a:avLst/>
          </a:prstGeom>
          <a:ln w="28575">
            <a:solidFill>
              <a:srgbClr val="00206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cxnSpLocks/>
          </p:cNvCxnSpPr>
          <p:nvPr/>
        </p:nvCxnSpPr>
        <p:spPr>
          <a:xfrm>
            <a:off x="6400800" y="2592492"/>
            <a:ext cx="1228398" cy="864986"/>
          </a:xfrm>
          <a:prstGeom prst="straightConnector1">
            <a:avLst/>
          </a:prstGeom>
          <a:ln w="28575">
            <a:solidFill>
              <a:srgbClr val="002060"/>
            </a:solidFill>
            <a:headEnd type="arrow"/>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08595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a:xfrm>
                <a:off x="457200" y="228600"/>
                <a:ext cx="8308848" cy="685800"/>
              </a:xfrm>
            </p:spPr>
            <p:txBody>
              <a:bodyPr/>
              <a:lstStyle/>
              <a:p>
                <a:r>
                  <a:rPr lang="fa-IR" sz="4000" dirty="0"/>
                  <a:t>مثال: برنامه محاسبه </a:t>
                </a:r>
                <a14:m>
                  <m:oMath xmlns:m="http://schemas.openxmlformats.org/officeDocument/2006/math">
                    <m:r>
                      <a:rPr lang="en-US" sz="4000" i="1">
                        <a:latin typeface="Cambria Math" panose="02040503050406030204" pitchFamily="18" charset="0"/>
                      </a:rPr>
                      <m:t>𝜋</m:t>
                    </m:r>
                  </m:oMath>
                </a14:m>
                <a:r>
                  <a:rPr lang="fa-IR" sz="4000" dirty="0"/>
                  <a:t> با استفاده از پدکردن</a:t>
                </a:r>
                <a:endParaRPr lang="en-US" sz="3900" dirty="0"/>
              </a:p>
            </p:txBody>
          </p:sp>
        </mc:Choice>
        <mc:Fallback xmlns="">
          <p:sp>
            <p:nvSpPr>
              <p:cNvPr id="2" name="Title 1"/>
              <p:cNvSpPr>
                <a:spLocks noGrp="1" noRot="1" noChangeAspect="1" noMove="1" noResize="1" noEditPoints="1" noAdjustHandles="1" noChangeArrowheads="1" noChangeShapeType="1" noTextEdit="1"/>
              </p:cNvSpPr>
              <p:nvPr>
                <p:ph type="title"/>
              </p:nvPr>
            </p:nvSpPr>
            <p:spPr>
              <a:xfrm>
                <a:off x="457200" y="228600"/>
                <a:ext cx="8308848" cy="685800"/>
              </a:xfrm>
              <a:blipFill rotWithShape="0">
                <a:blip r:embed="rId4"/>
                <a:stretch>
                  <a:fillRect t="-14286" r="-2568" b="-42857"/>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pPr>
              <a:defRPr/>
            </a:pPr>
            <a:r>
              <a:rPr lang="en-US" altLang="en-US"/>
              <a:t>Parallel Processing</a:t>
            </a:r>
          </a:p>
        </p:txBody>
      </p:sp>
      <p:sp>
        <p:nvSpPr>
          <p:cNvPr id="5" name="Footer Placeholder 4"/>
          <p:cNvSpPr>
            <a:spLocks noGrp="1"/>
          </p:cNvSpPr>
          <p:nvPr>
            <p:ph type="ftr" sz="quarter" idx="11"/>
          </p:nvPr>
        </p:nvSpPr>
        <p:spPr/>
        <p:txBody>
          <a:bodyPr/>
          <a:lstStyle/>
          <a:p>
            <a:pPr>
              <a:defRPr/>
            </a:pPr>
            <a:r>
              <a:rPr lang="en-US" altLang="en-US"/>
              <a:t>7. OpenMP</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A9DCC621-7EE1-4E7E-9D9E-207B534D683D}" type="slidenum">
              <a:rPr lang="en-US" altLang="en-US" smtClean="0"/>
              <a:pPr>
                <a:defRPr/>
              </a:pPr>
              <a:t>23</a:t>
            </a:fld>
            <a:endParaRPr lang="en-US" altLang="en-US" dirty="0"/>
          </a:p>
        </p:txBody>
      </p:sp>
      <p:sp>
        <p:nvSpPr>
          <p:cNvPr id="7" name="Rectangle 6"/>
          <p:cNvSpPr/>
          <p:nvPr/>
        </p:nvSpPr>
        <p:spPr>
          <a:xfrm>
            <a:off x="609600" y="1219200"/>
            <a:ext cx="8077200" cy="4953000"/>
          </a:xfrm>
          <a:prstGeom prst="rect">
            <a:avLst/>
          </a:prstGeom>
          <a:noFill/>
          <a:ln w="28575">
            <a:solidFill>
              <a:schemeClr val="accent1">
                <a:lumMod val="75000"/>
              </a:schemeClr>
            </a:solidFill>
          </a:ln>
          <a:effectLst/>
        </p:spPr>
        <p:style>
          <a:lnRef idx="1">
            <a:schemeClr val="accent4"/>
          </a:lnRef>
          <a:fillRef idx="2">
            <a:schemeClr val="accent4"/>
          </a:fillRef>
          <a:effectRef idx="1">
            <a:schemeClr val="accent4"/>
          </a:effectRef>
          <a:fontRef idx="minor">
            <a:schemeClr val="dk1"/>
          </a:fontRef>
        </p:style>
        <p:txBody>
          <a:bodyPr rtlCol="0" anchor="ctr"/>
          <a:lstStyle/>
          <a:p>
            <a:pPr indent="0">
              <a:buNone/>
            </a:pPr>
            <a:r>
              <a:rPr lang="en-US" sz="15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#include </a:t>
            </a:r>
            <a:r>
              <a:rPr lang="en-US" sz="15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&lt;</a:t>
            </a:r>
            <a:r>
              <a:rPr lang="en-US" sz="1500" dirty="0" err="1">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omp.h</a:t>
            </a:r>
            <a:r>
              <a:rPr lang="en-US" sz="15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&gt;</a:t>
            </a:r>
          </a:p>
          <a:p>
            <a:pPr indent="0">
              <a:buNone/>
            </a:pPr>
            <a:r>
              <a:rPr lang="en-US" sz="15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static</a:t>
            </a:r>
            <a:r>
              <a:rPr lang="en-US" sz="15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5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long</a:t>
            </a:r>
            <a:r>
              <a:rPr lang="en-US" sz="15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500" dirty="0" err="1">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num_steps</a:t>
            </a:r>
            <a:r>
              <a:rPr lang="en-US" sz="15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 100000; </a:t>
            </a:r>
            <a:r>
              <a:rPr lang="en-US" sz="15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double</a:t>
            </a:r>
            <a:r>
              <a:rPr lang="en-US" sz="15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step;</a:t>
            </a:r>
          </a:p>
          <a:p>
            <a:r>
              <a:rPr lang="en-US" sz="1500" dirty="0">
                <a:solidFill>
                  <a:srgbClr val="FF0000"/>
                </a:solidFill>
                <a:latin typeface="Droid Sans Mono" panose="020B0609030804020204" pitchFamily="49" charset="0"/>
                <a:ea typeface="Droid Sans Mono" panose="020B0609030804020204" pitchFamily="49" charset="0"/>
                <a:cs typeface="Droid Sans Mono" panose="020B0609030804020204" pitchFamily="49" charset="0"/>
              </a:rPr>
              <a:t>#define PAD 8 		//assume 64 byte L1 cache line size</a:t>
            </a:r>
          </a:p>
          <a:p>
            <a:pPr indent="0">
              <a:buNone/>
            </a:pPr>
            <a:r>
              <a:rPr lang="en-US" sz="15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#define </a:t>
            </a:r>
            <a:r>
              <a:rPr lang="en-US" sz="15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NUM_THREADS 2</a:t>
            </a:r>
          </a:p>
          <a:p>
            <a:pPr indent="0">
              <a:buNone/>
            </a:pPr>
            <a:r>
              <a:rPr lang="en-US" sz="15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void</a:t>
            </a:r>
            <a:r>
              <a:rPr lang="en-US" sz="15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5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main </a:t>
            </a:r>
            <a:r>
              <a:rPr lang="en-US" sz="15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a:t>
            </a:r>
          </a:p>
          <a:p>
            <a:pPr indent="0">
              <a:buNone/>
            </a:pPr>
            <a:r>
              <a:rPr lang="en-US" sz="15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500" dirty="0" err="1">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int</a:t>
            </a:r>
            <a:r>
              <a:rPr lang="en-US" sz="15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500" dirty="0" err="1">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i</a:t>
            </a:r>
            <a:r>
              <a:rPr lang="en-US" sz="15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500" dirty="0" err="1">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nthreads</a:t>
            </a:r>
            <a:r>
              <a:rPr lang="en-US" sz="15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5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double</a:t>
            </a:r>
            <a:r>
              <a:rPr lang="en-US" sz="15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pi, </a:t>
            </a:r>
            <a:r>
              <a:rPr lang="en-US" sz="1500" dirty="0">
                <a:solidFill>
                  <a:srgbClr val="FF0000"/>
                </a:solidFill>
                <a:latin typeface="Droid Sans Mono" panose="020B0609030804020204" pitchFamily="49" charset="0"/>
                <a:ea typeface="Droid Sans Mono" panose="020B0609030804020204" pitchFamily="49" charset="0"/>
                <a:cs typeface="Droid Sans Mono" panose="020B0609030804020204" pitchFamily="49" charset="0"/>
              </a:rPr>
              <a:t>sum[NUM_THREADS][PAD]</a:t>
            </a:r>
            <a:r>
              <a:rPr lang="en-US" sz="15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a:t>
            </a:r>
          </a:p>
          <a:p>
            <a:pPr indent="0">
              <a:buNone/>
            </a:pPr>
            <a:r>
              <a:rPr lang="en-US" sz="15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step = 1.0/(</a:t>
            </a:r>
            <a:r>
              <a:rPr lang="en-US" sz="15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double</a:t>
            </a:r>
            <a:r>
              <a:rPr lang="en-US" sz="15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500" dirty="0" err="1">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num_steps</a:t>
            </a:r>
            <a:r>
              <a:rPr lang="en-US" sz="15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a:t>
            </a:r>
          </a:p>
          <a:p>
            <a:pPr indent="0">
              <a:buNone/>
            </a:pPr>
            <a:r>
              <a:rPr lang="en-US" sz="15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500" dirty="0" err="1">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omp_set_num_threads</a:t>
            </a:r>
            <a:r>
              <a:rPr lang="en-US" sz="15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(NUM_THREADS);</a:t>
            </a:r>
          </a:p>
          <a:p>
            <a:pPr indent="0">
              <a:buNone/>
            </a:pPr>
            <a:r>
              <a:rPr lang="en-US" sz="15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#pragma </a:t>
            </a:r>
            <a:r>
              <a:rPr lang="en-US" sz="1500" dirty="0" err="1">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omp</a:t>
            </a:r>
            <a:r>
              <a:rPr lang="en-US" sz="15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parallel</a:t>
            </a:r>
          </a:p>
          <a:p>
            <a:pPr indent="0">
              <a:buNone/>
            </a:pPr>
            <a:r>
              <a:rPr lang="en-US" sz="15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a:t>
            </a:r>
          </a:p>
          <a:p>
            <a:pPr indent="0">
              <a:buNone/>
            </a:pPr>
            <a:r>
              <a:rPr lang="en-US" sz="15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500" dirty="0" err="1">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int</a:t>
            </a:r>
            <a:r>
              <a:rPr lang="en-US" sz="15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500" dirty="0" err="1">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i</a:t>
            </a:r>
            <a:r>
              <a:rPr lang="en-US" sz="15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id, </a:t>
            </a:r>
            <a:r>
              <a:rPr lang="en-US" sz="1500" dirty="0" err="1">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nthrds</a:t>
            </a:r>
            <a:r>
              <a:rPr lang="en-US" sz="15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5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double</a:t>
            </a:r>
            <a:r>
              <a:rPr lang="en-US" sz="15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x;</a:t>
            </a:r>
          </a:p>
          <a:p>
            <a:pPr indent="0">
              <a:buNone/>
            </a:pPr>
            <a:r>
              <a:rPr lang="en-US" sz="15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id = </a:t>
            </a:r>
            <a:r>
              <a:rPr lang="en-US" sz="1500" dirty="0" err="1">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omp_get_thread_num</a:t>
            </a:r>
            <a:r>
              <a:rPr lang="en-US" sz="15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a:t>
            </a:r>
          </a:p>
          <a:p>
            <a:pPr indent="0">
              <a:buNone/>
            </a:pPr>
            <a:r>
              <a:rPr lang="en-US" sz="15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500" dirty="0" err="1">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nthrds</a:t>
            </a:r>
            <a:r>
              <a:rPr lang="en-US" sz="15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 </a:t>
            </a:r>
            <a:r>
              <a:rPr lang="en-US" sz="1500" dirty="0" err="1">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omp_get_num_threads</a:t>
            </a:r>
            <a:r>
              <a:rPr lang="en-US" sz="15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a:t>
            </a:r>
          </a:p>
          <a:p>
            <a:pPr indent="0">
              <a:buNone/>
            </a:pPr>
            <a:r>
              <a:rPr lang="en-US" sz="15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5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if</a:t>
            </a:r>
            <a:r>
              <a:rPr lang="en-US" sz="15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(id == 0) </a:t>
            </a:r>
            <a:r>
              <a:rPr lang="en-US" sz="1500" dirty="0" err="1">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nthreads</a:t>
            </a:r>
            <a:r>
              <a:rPr lang="en-US" sz="15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 </a:t>
            </a:r>
            <a:r>
              <a:rPr lang="en-US" sz="1500" dirty="0" err="1">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nthrds</a:t>
            </a:r>
            <a:r>
              <a:rPr lang="en-US" sz="15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a:t>
            </a:r>
          </a:p>
          <a:p>
            <a:pPr indent="0">
              <a:buNone/>
            </a:pPr>
            <a:r>
              <a:rPr lang="en-US" sz="15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5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for</a:t>
            </a:r>
            <a:r>
              <a:rPr lang="en-US" sz="15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500" dirty="0" err="1">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i</a:t>
            </a:r>
            <a:r>
              <a:rPr lang="en-US" sz="15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a:t>
            </a:r>
            <a:r>
              <a:rPr lang="en-US" sz="1500" dirty="0" err="1">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id,</a:t>
            </a:r>
            <a:r>
              <a:rPr lang="en-US" sz="1500" dirty="0" err="1">
                <a:solidFill>
                  <a:srgbClr val="FF0000"/>
                </a:solidFill>
                <a:latin typeface="Droid Sans Mono" panose="020B0609030804020204" pitchFamily="49" charset="0"/>
                <a:ea typeface="Droid Sans Mono" panose="020B0609030804020204" pitchFamily="49" charset="0"/>
                <a:cs typeface="Droid Sans Mono" panose="020B0609030804020204" pitchFamily="49" charset="0"/>
              </a:rPr>
              <a:t>sum</a:t>
            </a:r>
            <a:r>
              <a:rPr lang="en-US" sz="1500" dirty="0">
                <a:solidFill>
                  <a:srgbClr val="FF0000"/>
                </a:solidFill>
                <a:latin typeface="Droid Sans Mono" panose="020B0609030804020204" pitchFamily="49" charset="0"/>
                <a:ea typeface="Droid Sans Mono" panose="020B0609030804020204" pitchFamily="49" charset="0"/>
                <a:cs typeface="Droid Sans Mono" panose="020B0609030804020204" pitchFamily="49" charset="0"/>
              </a:rPr>
              <a:t>[id][0]=</a:t>
            </a:r>
            <a:r>
              <a:rPr lang="en-US" sz="15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0.0; </a:t>
            </a:r>
            <a:r>
              <a:rPr lang="en-US" sz="1500" dirty="0" err="1">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i</a:t>
            </a:r>
            <a:r>
              <a:rPr lang="en-US" sz="15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&lt;</a:t>
            </a:r>
            <a:r>
              <a:rPr lang="en-US" sz="1500" dirty="0" err="1">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num_steps</a:t>
            </a:r>
            <a:r>
              <a:rPr lang="en-US" sz="15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500" dirty="0" err="1">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i</a:t>
            </a:r>
            <a:r>
              <a:rPr lang="en-US" sz="15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a:t>
            </a:r>
            <a:r>
              <a:rPr lang="en-US" sz="1500" dirty="0" err="1">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i+nthrds</a:t>
            </a:r>
            <a:r>
              <a:rPr lang="en-US" sz="15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a:t>
            </a:r>
          </a:p>
          <a:p>
            <a:pPr indent="0">
              <a:buNone/>
            </a:pPr>
            <a:r>
              <a:rPr lang="en-US" sz="15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x = (i+0.5)*step;</a:t>
            </a:r>
          </a:p>
          <a:p>
            <a:pPr indent="0">
              <a:buNone/>
            </a:pPr>
            <a:r>
              <a:rPr lang="en-US" sz="15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500" dirty="0">
                <a:solidFill>
                  <a:srgbClr val="FF0000"/>
                </a:solidFill>
                <a:latin typeface="Droid Sans Mono" panose="020B0609030804020204" pitchFamily="49" charset="0"/>
                <a:ea typeface="Droid Sans Mono" panose="020B0609030804020204" pitchFamily="49" charset="0"/>
                <a:cs typeface="Droid Sans Mono" panose="020B0609030804020204" pitchFamily="49" charset="0"/>
              </a:rPr>
              <a:t>sum[id][0] </a:t>
            </a:r>
            <a:r>
              <a:rPr lang="en-US" sz="15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4.0/(1.0+x*x);</a:t>
            </a:r>
          </a:p>
          <a:p>
            <a:pPr indent="0">
              <a:buNone/>
            </a:pPr>
            <a:r>
              <a:rPr lang="en-US" sz="15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a:t>
            </a:r>
          </a:p>
          <a:p>
            <a:pPr indent="0">
              <a:buNone/>
            </a:pPr>
            <a:r>
              <a:rPr lang="en-US" sz="15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a:t>
            </a:r>
          </a:p>
          <a:p>
            <a:pPr indent="0">
              <a:buNone/>
            </a:pPr>
            <a:r>
              <a:rPr lang="en-US" sz="15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5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for</a:t>
            </a:r>
            <a:r>
              <a:rPr lang="en-US" sz="15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500" dirty="0" err="1">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i</a:t>
            </a:r>
            <a:r>
              <a:rPr lang="en-US" sz="15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=0,pi=0.0; </a:t>
            </a:r>
            <a:r>
              <a:rPr lang="en-US" sz="1500" dirty="0" err="1">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i</a:t>
            </a:r>
            <a:r>
              <a:rPr lang="en-US" sz="15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&lt;</a:t>
            </a:r>
            <a:r>
              <a:rPr lang="en-US" sz="1500" dirty="0" err="1">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nthreads</a:t>
            </a:r>
            <a:r>
              <a:rPr lang="en-US" sz="15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500" dirty="0" err="1">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i</a:t>
            </a:r>
            <a:r>
              <a:rPr lang="en-US" sz="15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pi += step * </a:t>
            </a:r>
            <a:r>
              <a:rPr lang="en-US" sz="1500" dirty="0">
                <a:solidFill>
                  <a:srgbClr val="FF0000"/>
                </a:solidFill>
                <a:latin typeface="Droid Sans Mono" panose="020B0609030804020204" pitchFamily="49" charset="0"/>
                <a:ea typeface="Droid Sans Mono" panose="020B0609030804020204" pitchFamily="49" charset="0"/>
                <a:cs typeface="Droid Sans Mono" panose="020B0609030804020204" pitchFamily="49" charset="0"/>
              </a:rPr>
              <a:t>sum[</a:t>
            </a:r>
            <a:r>
              <a:rPr lang="en-US" sz="1500" dirty="0" err="1">
                <a:solidFill>
                  <a:srgbClr val="FF0000"/>
                </a:solidFill>
                <a:latin typeface="Droid Sans Mono" panose="020B0609030804020204" pitchFamily="49" charset="0"/>
                <a:ea typeface="Droid Sans Mono" panose="020B0609030804020204" pitchFamily="49" charset="0"/>
                <a:cs typeface="Droid Sans Mono" panose="020B0609030804020204" pitchFamily="49" charset="0"/>
              </a:rPr>
              <a:t>i</a:t>
            </a:r>
            <a:r>
              <a:rPr lang="en-US" sz="1500" dirty="0">
                <a:solidFill>
                  <a:srgbClr val="FF0000"/>
                </a:solidFill>
                <a:latin typeface="Droid Sans Mono" panose="020B0609030804020204" pitchFamily="49" charset="0"/>
                <a:ea typeface="Droid Sans Mono" panose="020B0609030804020204" pitchFamily="49" charset="0"/>
                <a:cs typeface="Droid Sans Mono" panose="020B0609030804020204" pitchFamily="49" charset="0"/>
              </a:rPr>
              <a:t>][0]</a:t>
            </a:r>
            <a:r>
              <a:rPr lang="en-US" sz="15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a:t>
            </a:r>
          </a:p>
          <a:p>
            <a:pPr indent="0">
              <a:buNone/>
            </a:pPr>
            <a:r>
              <a:rPr lang="en-US" sz="15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a:t>
            </a:r>
          </a:p>
        </p:txBody>
      </p:sp>
    </p:spTree>
    <p:extLst>
      <p:ext uri="{BB962C8B-B14F-4D97-AF65-F5344CB8AC3E}">
        <p14:creationId xmlns:p14="http://schemas.microsoft.com/office/powerpoint/2010/main" val="23086663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p:txBody>
              <a:bodyPr/>
              <a:lstStyle/>
              <a:p>
                <a:r>
                  <a:rPr lang="fa-IR" sz="4000" dirty="0"/>
                  <a:t>مثال: برنامه محاسبه </a:t>
                </a:r>
                <a14:m>
                  <m:oMath xmlns:m="http://schemas.openxmlformats.org/officeDocument/2006/math">
                    <m:r>
                      <a:rPr lang="en-US" sz="4000" i="1">
                        <a:latin typeface="Cambria Math" panose="02040503050406030204" pitchFamily="18" charset="0"/>
                      </a:rPr>
                      <m:t>𝜋</m:t>
                    </m:r>
                  </m:oMath>
                </a14:m>
                <a:r>
                  <a:rPr lang="fa-IR" sz="4000" dirty="0"/>
                  <a:t> با استفاده از پدکردن</a:t>
                </a:r>
                <a:endParaRPr lang="en-US" sz="4300" dirty="0"/>
              </a:p>
            </p:txBody>
          </p:sp>
        </mc:Choice>
        <mc:Fallback xmlns="">
          <p:sp>
            <p:nvSpPr>
              <p:cNvPr id="2" name="Title 1"/>
              <p:cNvSpPr>
                <a:spLocks noGrp="1" noRot="1" noChangeAspect="1" noMove="1" noResize="1" noEditPoints="1" noAdjustHandles="1" noChangeArrowheads="1" noChangeShapeType="1" noTextEdit="1"/>
              </p:cNvSpPr>
              <p:nvPr>
                <p:ph type="title"/>
              </p:nvPr>
            </p:nvSpPr>
            <p:spPr>
              <a:blipFill rotWithShape="0">
                <a:blip r:embed="rId5"/>
                <a:stretch>
                  <a:fillRect t="-14286" r="-2618" b="-42857"/>
                </a:stretch>
              </a:blipFill>
            </p:spPr>
            <p:txBody>
              <a:bodyPr/>
              <a:lstStyle/>
              <a:p>
                <a:r>
                  <a:rPr lang="en-US">
                    <a:noFill/>
                  </a:rPr>
                  <a:t> </a:t>
                </a:r>
              </a:p>
            </p:txBody>
          </p:sp>
        </mc:Fallback>
      </mc:AlternateContent>
      <p:sp>
        <p:nvSpPr>
          <p:cNvPr id="3" name="Content Placeholder 2"/>
          <p:cNvSpPr>
            <a:spLocks noGrp="1"/>
          </p:cNvSpPr>
          <p:nvPr>
            <p:ph sz="quarter" idx="1"/>
          </p:nvPr>
        </p:nvSpPr>
        <p:spPr/>
        <p:txBody>
          <a:bodyPr/>
          <a:lstStyle/>
          <a:p>
            <a:pPr marL="0" lvl="0" indent="0" algn="ctr" rtl="0">
              <a:buClr>
                <a:srgbClr val="DD8047"/>
              </a:buClr>
              <a:buNone/>
            </a:pPr>
            <a:r>
              <a:rPr lang="en-US" sz="2800" dirty="0">
                <a:solidFill>
                  <a:prstClr val="black"/>
                </a:solidFill>
              </a:rPr>
              <a:t>Results</a:t>
            </a:r>
          </a:p>
          <a:p>
            <a:pPr marL="0" lvl="0" indent="0" algn="ctr" rtl="0">
              <a:buClr>
                <a:srgbClr val="DD8047"/>
              </a:buClr>
              <a:buNone/>
            </a:pPr>
            <a:r>
              <a:rPr lang="en-US" sz="2400" dirty="0">
                <a:solidFill>
                  <a:prstClr val="black"/>
                </a:solidFill>
              </a:rPr>
              <a:t>Original Serial Program with 100000 steps ran in 1.83s</a:t>
            </a:r>
          </a:p>
          <a:p>
            <a:pPr marL="0" lvl="0" indent="0" algn="l" rtl="0" eaLnBrk="1" hangingPunct="1">
              <a:spcBef>
                <a:spcPct val="0"/>
              </a:spcBef>
              <a:buClrTx/>
              <a:buSzTx/>
              <a:buNone/>
            </a:pPr>
            <a:endParaRPr lang="en-US" sz="11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endParaRPr>
          </a:p>
          <a:p>
            <a:pPr marL="0" lvl="0" indent="0" algn="l" rtl="0" eaLnBrk="1" hangingPunct="1">
              <a:spcBef>
                <a:spcPct val="0"/>
              </a:spcBef>
              <a:buClrTx/>
              <a:buSzTx/>
              <a:buNone/>
            </a:pPr>
            <a:r>
              <a:rPr lang="en-US" sz="11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#include </a:t>
            </a:r>
            <a:r>
              <a:rPr lang="en-US" sz="1100" dirty="0">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&lt;</a:t>
            </a:r>
            <a:r>
              <a:rPr lang="en-US" sz="1100" dirty="0" err="1">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omp.h</a:t>
            </a:r>
            <a:r>
              <a:rPr lang="en-US" sz="1100" dirty="0">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&gt;</a:t>
            </a:r>
          </a:p>
          <a:p>
            <a:pPr marL="0" lvl="0" indent="0" algn="l" rtl="0" eaLnBrk="1" hangingPunct="1">
              <a:spcBef>
                <a:spcPct val="0"/>
              </a:spcBef>
              <a:buClrTx/>
              <a:buSzTx/>
              <a:buNone/>
            </a:pPr>
            <a:r>
              <a:rPr lang="en-US" sz="11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static</a:t>
            </a:r>
            <a:r>
              <a:rPr lang="en-US" sz="1100" dirty="0">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1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long</a:t>
            </a:r>
            <a:r>
              <a:rPr lang="en-US" sz="1100" dirty="0">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100" dirty="0" err="1">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num_steps</a:t>
            </a:r>
            <a:r>
              <a:rPr lang="en-US" sz="1100" dirty="0">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 = 100000; </a:t>
            </a:r>
            <a:r>
              <a:rPr lang="en-US" sz="11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double</a:t>
            </a:r>
            <a:r>
              <a:rPr lang="en-US" sz="1100" dirty="0">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 step;</a:t>
            </a:r>
          </a:p>
          <a:p>
            <a:pPr marL="0" lvl="0" indent="0" algn="l" rtl="0" eaLnBrk="1" hangingPunct="1">
              <a:spcBef>
                <a:spcPct val="0"/>
              </a:spcBef>
              <a:buClrTx/>
              <a:buSzTx/>
              <a:buNone/>
            </a:pPr>
            <a:r>
              <a:rPr lang="en-US" sz="1100" dirty="0">
                <a:solidFill>
                  <a:srgbClr val="FF0000"/>
                </a:solidFill>
                <a:latin typeface="Droid Sans Mono" panose="020B0609030804020204" pitchFamily="49" charset="0"/>
                <a:ea typeface="Droid Sans Mono" panose="020B0609030804020204" pitchFamily="49" charset="0"/>
                <a:cs typeface="Droid Sans Mono" panose="020B0609030804020204" pitchFamily="49" charset="0"/>
              </a:rPr>
              <a:t>#define PAD 8 		//assume 64 byte L1 cache line size</a:t>
            </a:r>
          </a:p>
          <a:p>
            <a:pPr marL="0" lvl="0" indent="0" algn="l" rtl="0" eaLnBrk="1" hangingPunct="1">
              <a:spcBef>
                <a:spcPct val="0"/>
              </a:spcBef>
              <a:buClrTx/>
              <a:buSzTx/>
              <a:buNone/>
            </a:pPr>
            <a:r>
              <a:rPr lang="en-US" sz="11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#define </a:t>
            </a:r>
            <a:r>
              <a:rPr lang="en-US" sz="1100" dirty="0">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NUM_THREADS 2</a:t>
            </a:r>
          </a:p>
          <a:p>
            <a:pPr marL="0" lvl="0" indent="0" algn="l" rtl="0" eaLnBrk="1" hangingPunct="1">
              <a:spcBef>
                <a:spcPct val="0"/>
              </a:spcBef>
              <a:buClrTx/>
              <a:buSzTx/>
              <a:buNone/>
            </a:pPr>
            <a:r>
              <a:rPr lang="en-US" sz="11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void</a:t>
            </a:r>
            <a:r>
              <a:rPr lang="en-US" sz="1100" dirty="0">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1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main </a:t>
            </a:r>
            <a:r>
              <a:rPr lang="en-US" sz="1100" dirty="0">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 {</a:t>
            </a:r>
          </a:p>
          <a:p>
            <a:pPr marL="0" lvl="0" indent="0" algn="l" rtl="0" eaLnBrk="1" hangingPunct="1">
              <a:spcBef>
                <a:spcPct val="0"/>
              </a:spcBef>
              <a:buClrTx/>
              <a:buSzTx/>
              <a:buNone/>
            </a:pPr>
            <a:r>
              <a:rPr lang="en-US" sz="1100" dirty="0">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100" dirty="0" err="1">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int</a:t>
            </a:r>
            <a:r>
              <a:rPr lang="en-US" sz="11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100" dirty="0" err="1">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i</a:t>
            </a:r>
            <a:r>
              <a:rPr lang="en-US" sz="1100" dirty="0">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100" dirty="0" err="1">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nthreads</a:t>
            </a:r>
            <a:r>
              <a:rPr lang="en-US" sz="1100" dirty="0">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1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double</a:t>
            </a:r>
            <a:r>
              <a:rPr lang="en-US" sz="1100" dirty="0">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 pi, </a:t>
            </a:r>
            <a:r>
              <a:rPr lang="en-US" sz="1100" dirty="0">
                <a:solidFill>
                  <a:srgbClr val="FF0000"/>
                </a:solidFill>
                <a:latin typeface="Droid Sans Mono" panose="020B0609030804020204" pitchFamily="49" charset="0"/>
                <a:ea typeface="Droid Sans Mono" panose="020B0609030804020204" pitchFamily="49" charset="0"/>
                <a:cs typeface="Droid Sans Mono" panose="020B0609030804020204" pitchFamily="49" charset="0"/>
              </a:rPr>
              <a:t>sum[NUM_THREADS][PAD]</a:t>
            </a:r>
            <a:r>
              <a:rPr lang="en-US" sz="1100" dirty="0">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a:t>
            </a:r>
          </a:p>
          <a:p>
            <a:pPr marL="0" lvl="0" indent="0" algn="l" rtl="0" eaLnBrk="1" hangingPunct="1">
              <a:spcBef>
                <a:spcPct val="0"/>
              </a:spcBef>
              <a:buClrTx/>
              <a:buSzTx/>
              <a:buNone/>
            </a:pPr>
            <a:r>
              <a:rPr lang="en-US" sz="1100" dirty="0">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   step = 1.0/(</a:t>
            </a:r>
            <a:r>
              <a:rPr lang="en-US" sz="11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double</a:t>
            </a:r>
            <a:r>
              <a:rPr lang="en-US" sz="1100" dirty="0">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100" dirty="0" err="1">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num_steps</a:t>
            </a:r>
            <a:r>
              <a:rPr lang="en-US" sz="1100" dirty="0">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a:t>
            </a:r>
          </a:p>
          <a:p>
            <a:pPr marL="0" lvl="0" indent="0" algn="l" rtl="0" eaLnBrk="1" hangingPunct="1">
              <a:spcBef>
                <a:spcPct val="0"/>
              </a:spcBef>
              <a:buClrTx/>
              <a:buSzTx/>
              <a:buNone/>
            </a:pPr>
            <a:r>
              <a:rPr lang="en-US" sz="11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100" dirty="0" err="1">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omp_set_num_threads</a:t>
            </a:r>
            <a:r>
              <a:rPr lang="en-US" sz="1100" dirty="0">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(NUM_THREADS);</a:t>
            </a:r>
          </a:p>
          <a:p>
            <a:pPr marL="0" lvl="0" indent="0" algn="l" rtl="0" eaLnBrk="1" hangingPunct="1">
              <a:spcBef>
                <a:spcPct val="0"/>
              </a:spcBef>
              <a:buClrTx/>
              <a:buSzTx/>
              <a:buNone/>
            </a:pPr>
            <a:r>
              <a:rPr lang="en-US" sz="1100" dirty="0">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   #pragma </a:t>
            </a:r>
            <a:r>
              <a:rPr lang="en-US" sz="1100" dirty="0" err="1">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omp</a:t>
            </a:r>
            <a:r>
              <a:rPr lang="en-US" sz="1100" dirty="0">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 parallel</a:t>
            </a:r>
          </a:p>
          <a:p>
            <a:pPr marL="0" lvl="0" indent="0" algn="l" rtl="0" eaLnBrk="1" hangingPunct="1">
              <a:spcBef>
                <a:spcPct val="0"/>
              </a:spcBef>
              <a:buClrTx/>
              <a:buSzTx/>
              <a:buNone/>
            </a:pPr>
            <a:r>
              <a:rPr lang="en-US" sz="1100" dirty="0">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   {</a:t>
            </a:r>
          </a:p>
          <a:p>
            <a:pPr marL="0" lvl="0" indent="0" algn="l" rtl="0" eaLnBrk="1" hangingPunct="1">
              <a:spcBef>
                <a:spcPct val="0"/>
              </a:spcBef>
              <a:buClrTx/>
              <a:buSzTx/>
              <a:buNone/>
            </a:pPr>
            <a:r>
              <a:rPr lang="en-US" sz="11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100" dirty="0" err="1">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int</a:t>
            </a:r>
            <a:r>
              <a:rPr lang="en-US" sz="11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100" dirty="0" err="1">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i</a:t>
            </a:r>
            <a:r>
              <a:rPr lang="en-US" sz="1100" dirty="0">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 id, </a:t>
            </a:r>
            <a:r>
              <a:rPr lang="en-US" sz="1100" dirty="0" err="1">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nthrds</a:t>
            </a:r>
            <a:r>
              <a:rPr lang="en-US" sz="1100" dirty="0">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1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double</a:t>
            </a:r>
            <a:r>
              <a:rPr lang="en-US" sz="1100" dirty="0">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 x;</a:t>
            </a:r>
          </a:p>
          <a:p>
            <a:pPr marL="0" lvl="0" indent="0" algn="l" rtl="0" eaLnBrk="1" hangingPunct="1">
              <a:spcBef>
                <a:spcPct val="0"/>
              </a:spcBef>
              <a:buClrTx/>
              <a:buSzTx/>
              <a:buNone/>
            </a:pPr>
            <a:r>
              <a:rPr lang="en-US" sz="1100" dirty="0">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      id = </a:t>
            </a:r>
            <a:r>
              <a:rPr lang="en-US" sz="1100" dirty="0" err="1">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omp_get_thread_num</a:t>
            </a:r>
            <a:r>
              <a:rPr lang="en-US" sz="1100" dirty="0">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a:t>
            </a:r>
          </a:p>
          <a:p>
            <a:pPr marL="0" lvl="0" indent="0" algn="l" rtl="0" eaLnBrk="1" hangingPunct="1">
              <a:spcBef>
                <a:spcPct val="0"/>
              </a:spcBef>
              <a:buClrTx/>
              <a:buSzTx/>
              <a:buNone/>
            </a:pPr>
            <a:r>
              <a:rPr lang="en-US" sz="1100" dirty="0">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100" dirty="0" err="1">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nthrds</a:t>
            </a:r>
            <a:r>
              <a:rPr lang="en-US" sz="1100" dirty="0">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 = </a:t>
            </a:r>
            <a:r>
              <a:rPr lang="en-US" sz="1100" dirty="0" err="1">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omp_get_num_threads</a:t>
            </a:r>
            <a:r>
              <a:rPr lang="en-US" sz="1100" dirty="0">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a:t>
            </a:r>
          </a:p>
          <a:p>
            <a:pPr marL="0" lvl="0" indent="0" algn="l" rtl="0" eaLnBrk="1" hangingPunct="1">
              <a:spcBef>
                <a:spcPct val="0"/>
              </a:spcBef>
              <a:buClrTx/>
              <a:buSzTx/>
              <a:buNone/>
            </a:pPr>
            <a:r>
              <a:rPr lang="en-US" sz="1100" dirty="0">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1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if</a:t>
            </a:r>
            <a:r>
              <a:rPr lang="en-US" sz="1100" dirty="0">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 (id == 0) </a:t>
            </a:r>
            <a:r>
              <a:rPr lang="en-US" sz="1100" dirty="0" err="1">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nthreads</a:t>
            </a:r>
            <a:r>
              <a:rPr lang="en-US" sz="1100" dirty="0">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 = </a:t>
            </a:r>
            <a:r>
              <a:rPr lang="en-US" sz="1100" dirty="0" err="1">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nthrds</a:t>
            </a:r>
            <a:r>
              <a:rPr lang="en-US" sz="1100" dirty="0">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a:t>
            </a:r>
          </a:p>
          <a:p>
            <a:pPr marL="0" lvl="0" indent="0" algn="l" rtl="0" eaLnBrk="1" hangingPunct="1">
              <a:spcBef>
                <a:spcPct val="0"/>
              </a:spcBef>
              <a:buClrTx/>
              <a:buSzTx/>
              <a:buNone/>
            </a:pPr>
            <a:r>
              <a:rPr lang="en-US" sz="1100" dirty="0">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1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for</a:t>
            </a:r>
            <a:r>
              <a:rPr lang="en-US" sz="1100" dirty="0">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100" dirty="0" err="1">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i</a:t>
            </a:r>
            <a:r>
              <a:rPr lang="en-US" sz="1100" dirty="0">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a:t>
            </a:r>
            <a:r>
              <a:rPr lang="en-US" sz="1100" dirty="0" err="1">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id,</a:t>
            </a:r>
            <a:r>
              <a:rPr lang="en-US" sz="1100" dirty="0" err="1">
                <a:solidFill>
                  <a:srgbClr val="FF0000"/>
                </a:solidFill>
                <a:latin typeface="Droid Sans Mono" panose="020B0609030804020204" pitchFamily="49" charset="0"/>
                <a:ea typeface="Droid Sans Mono" panose="020B0609030804020204" pitchFamily="49" charset="0"/>
                <a:cs typeface="Droid Sans Mono" panose="020B0609030804020204" pitchFamily="49" charset="0"/>
              </a:rPr>
              <a:t>sum</a:t>
            </a:r>
            <a:r>
              <a:rPr lang="en-US" sz="1100" dirty="0">
                <a:solidFill>
                  <a:srgbClr val="FF0000"/>
                </a:solidFill>
                <a:latin typeface="Droid Sans Mono" panose="020B0609030804020204" pitchFamily="49" charset="0"/>
                <a:ea typeface="Droid Sans Mono" panose="020B0609030804020204" pitchFamily="49" charset="0"/>
                <a:cs typeface="Droid Sans Mono" panose="020B0609030804020204" pitchFamily="49" charset="0"/>
              </a:rPr>
              <a:t>[id][0]=</a:t>
            </a:r>
            <a:r>
              <a:rPr lang="en-US" sz="1100" dirty="0">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0.0; </a:t>
            </a:r>
            <a:r>
              <a:rPr lang="en-US" sz="1100" dirty="0" err="1">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i</a:t>
            </a:r>
            <a:r>
              <a:rPr lang="en-US" sz="1100" dirty="0">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&lt;</a:t>
            </a:r>
            <a:r>
              <a:rPr lang="en-US" sz="1100" dirty="0" err="1">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num_steps</a:t>
            </a:r>
            <a:r>
              <a:rPr lang="en-US" sz="1100" dirty="0">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100" dirty="0" err="1">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i</a:t>
            </a:r>
            <a:r>
              <a:rPr lang="en-US" sz="1100" dirty="0">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a:t>
            </a:r>
            <a:r>
              <a:rPr lang="en-US" sz="1100" dirty="0" err="1">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i+nthrds</a:t>
            </a:r>
            <a:r>
              <a:rPr lang="en-US" sz="1100" dirty="0">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a:t>
            </a:r>
          </a:p>
          <a:p>
            <a:pPr marL="0" lvl="0" indent="0" algn="l" rtl="0" eaLnBrk="1" hangingPunct="1">
              <a:spcBef>
                <a:spcPct val="0"/>
              </a:spcBef>
              <a:buClrTx/>
              <a:buSzTx/>
              <a:buNone/>
            </a:pPr>
            <a:r>
              <a:rPr lang="en-US" sz="1100" dirty="0">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         x = (i+0.5)*step;</a:t>
            </a:r>
          </a:p>
          <a:p>
            <a:pPr marL="0" lvl="0" indent="0" algn="l" rtl="0" eaLnBrk="1" hangingPunct="1">
              <a:spcBef>
                <a:spcPct val="0"/>
              </a:spcBef>
              <a:buClrTx/>
              <a:buSzTx/>
              <a:buNone/>
            </a:pPr>
            <a:r>
              <a:rPr lang="en-US" sz="1100" dirty="0">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100" dirty="0">
                <a:solidFill>
                  <a:srgbClr val="FF0000"/>
                </a:solidFill>
                <a:latin typeface="Droid Sans Mono" panose="020B0609030804020204" pitchFamily="49" charset="0"/>
                <a:ea typeface="Droid Sans Mono" panose="020B0609030804020204" pitchFamily="49" charset="0"/>
                <a:cs typeface="Droid Sans Mono" panose="020B0609030804020204" pitchFamily="49" charset="0"/>
              </a:rPr>
              <a:t>sum[id][0] </a:t>
            </a:r>
            <a:r>
              <a:rPr lang="en-US" sz="1100" dirty="0">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 4.0/(1.0+x*x);</a:t>
            </a:r>
          </a:p>
          <a:p>
            <a:pPr marL="0" lvl="0" indent="0" algn="l" rtl="0" eaLnBrk="1" hangingPunct="1">
              <a:spcBef>
                <a:spcPct val="0"/>
              </a:spcBef>
              <a:buClrTx/>
              <a:buSzTx/>
              <a:buNone/>
            </a:pPr>
            <a:r>
              <a:rPr lang="en-US" sz="1100" dirty="0">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      }</a:t>
            </a:r>
          </a:p>
          <a:p>
            <a:pPr marL="0" lvl="0" indent="0" algn="l" rtl="0" eaLnBrk="1" hangingPunct="1">
              <a:spcBef>
                <a:spcPct val="0"/>
              </a:spcBef>
              <a:buClrTx/>
              <a:buSzTx/>
              <a:buNone/>
            </a:pPr>
            <a:r>
              <a:rPr lang="en-US" sz="1100" dirty="0">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   }</a:t>
            </a:r>
          </a:p>
          <a:p>
            <a:pPr marL="0" lvl="0" indent="0" algn="l" rtl="0" eaLnBrk="1" hangingPunct="1">
              <a:spcBef>
                <a:spcPct val="0"/>
              </a:spcBef>
              <a:buClrTx/>
              <a:buSzTx/>
              <a:buNone/>
            </a:pPr>
            <a:r>
              <a:rPr lang="en-US" sz="1100" dirty="0">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1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for</a:t>
            </a:r>
            <a:r>
              <a:rPr lang="en-US" sz="1100" dirty="0">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100" dirty="0" err="1">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i</a:t>
            </a:r>
            <a:r>
              <a:rPr lang="en-US" sz="1100" dirty="0">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=0,pi=0.0; </a:t>
            </a:r>
            <a:r>
              <a:rPr lang="en-US" sz="1100" dirty="0" err="1">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i</a:t>
            </a:r>
            <a:r>
              <a:rPr lang="en-US" sz="1100" dirty="0">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&lt;</a:t>
            </a:r>
            <a:r>
              <a:rPr lang="en-US" sz="1100" dirty="0" err="1">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nthreads</a:t>
            </a:r>
            <a:r>
              <a:rPr lang="en-US" sz="1100" dirty="0">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100" dirty="0" err="1">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i</a:t>
            </a:r>
            <a:r>
              <a:rPr lang="en-US" sz="1100" dirty="0">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  pi += step * </a:t>
            </a:r>
            <a:r>
              <a:rPr lang="en-US" sz="1100" dirty="0">
                <a:solidFill>
                  <a:srgbClr val="FF0000"/>
                </a:solidFill>
                <a:latin typeface="Droid Sans Mono" panose="020B0609030804020204" pitchFamily="49" charset="0"/>
                <a:ea typeface="Droid Sans Mono" panose="020B0609030804020204" pitchFamily="49" charset="0"/>
                <a:cs typeface="Droid Sans Mono" panose="020B0609030804020204" pitchFamily="49" charset="0"/>
              </a:rPr>
              <a:t>sum[</a:t>
            </a:r>
            <a:r>
              <a:rPr lang="en-US" sz="1100" dirty="0" err="1">
                <a:solidFill>
                  <a:srgbClr val="FF0000"/>
                </a:solidFill>
                <a:latin typeface="Droid Sans Mono" panose="020B0609030804020204" pitchFamily="49" charset="0"/>
                <a:ea typeface="Droid Sans Mono" panose="020B0609030804020204" pitchFamily="49" charset="0"/>
                <a:cs typeface="Droid Sans Mono" panose="020B0609030804020204" pitchFamily="49" charset="0"/>
              </a:rPr>
              <a:t>i</a:t>
            </a:r>
            <a:r>
              <a:rPr lang="en-US" sz="1100" dirty="0">
                <a:solidFill>
                  <a:srgbClr val="FF0000"/>
                </a:solidFill>
                <a:latin typeface="Droid Sans Mono" panose="020B0609030804020204" pitchFamily="49" charset="0"/>
                <a:ea typeface="Droid Sans Mono" panose="020B0609030804020204" pitchFamily="49" charset="0"/>
                <a:cs typeface="Droid Sans Mono" panose="020B0609030804020204" pitchFamily="49" charset="0"/>
              </a:rPr>
              <a:t>][0]</a:t>
            </a:r>
            <a:r>
              <a:rPr lang="en-US" sz="1100" dirty="0">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a:t>
            </a:r>
          </a:p>
          <a:p>
            <a:pPr marL="0" lvl="0" indent="0" algn="l" rtl="0" eaLnBrk="1" hangingPunct="1">
              <a:spcBef>
                <a:spcPct val="0"/>
              </a:spcBef>
              <a:buClrTx/>
              <a:buSzTx/>
              <a:buNone/>
            </a:pPr>
            <a:r>
              <a:rPr lang="en-US" sz="1100" dirty="0">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 </a:t>
            </a:r>
          </a:p>
        </p:txBody>
      </p:sp>
      <p:sp>
        <p:nvSpPr>
          <p:cNvPr id="4" name="Date Placeholder 3"/>
          <p:cNvSpPr>
            <a:spLocks noGrp="1"/>
          </p:cNvSpPr>
          <p:nvPr>
            <p:ph type="dt" sz="half" idx="10"/>
          </p:nvPr>
        </p:nvSpPr>
        <p:spPr/>
        <p:txBody>
          <a:bodyPr/>
          <a:lstStyle/>
          <a:p>
            <a:pPr>
              <a:defRPr/>
            </a:pPr>
            <a:r>
              <a:rPr lang="en-US" altLang="en-US"/>
              <a:t>Parallel Processing</a:t>
            </a:r>
          </a:p>
        </p:txBody>
      </p:sp>
      <p:sp>
        <p:nvSpPr>
          <p:cNvPr id="5" name="Footer Placeholder 4"/>
          <p:cNvSpPr>
            <a:spLocks noGrp="1"/>
          </p:cNvSpPr>
          <p:nvPr>
            <p:ph type="ftr" sz="quarter" idx="11"/>
          </p:nvPr>
        </p:nvSpPr>
        <p:spPr/>
        <p:txBody>
          <a:bodyPr/>
          <a:lstStyle/>
          <a:p>
            <a:pPr>
              <a:defRPr/>
            </a:pPr>
            <a:r>
              <a:rPr lang="en-US" altLang="en-US"/>
              <a:t>7. OpenMP</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A9DCC621-7EE1-4E7E-9D9E-207B534D683D}" type="slidenum">
              <a:rPr lang="en-US" altLang="en-US" smtClean="0"/>
              <a:pPr>
                <a:defRPr/>
              </a:pPr>
              <a:t>24</a:t>
            </a:fld>
            <a:endParaRPr lang="en-US" altLang="en-US" dirty="0"/>
          </a:p>
        </p:txBody>
      </p:sp>
      <p:graphicFrame>
        <p:nvGraphicFramePr>
          <p:cNvPr id="7" name="Table 6"/>
          <p:cNvGraphicFramePr>
            <a:graphicFrameLocks noGrp="1"/>
          </p:cNvGraphicFramePr>
          <p:nvPr/>
        </p:nvGraphicFramePr>
        <p:xfrm>
          <a:off x="5867400" y="2971800"/>
          <a:ext cx="2971799" cy="2032000"/>
        </p:xfrm>
        <a:graphic>
          <a:graphicData uri="http://schemas.openxmlformats.org/drawingml/2006/table">
            <a:tbl>
              <a:tblPr firstRow="1" bandRow="1">
                <a:tableStyleId>{9DCAF9ED-07DC-4A11-8D7F-57B35C25682E}</a:tableStyleId>
              </a:tblPr>
              <a:tblGrid>
                <a:gridCol w="990600">
                  <a:extLst>
                    <a:ext uri="{9D8B030D-6E8A-4147-A177-3AD203B41FA5}">
                      <a16:colId xmlns:a16="http://schemas.microsoft.com/office/drawing/2014/main" val="20000"/>
                    </a:ext>
                  </a:extLst>
                </a:gridCol>
                <a:gridCol w="990600">
                  <a:extLst>
                    <a:ext uri="{9D8B030D-6E8A-4147-A177-3AD203B41FA5}">
                      <a16:colId xmlns:a16="http://schemas.microsoft.com/office/drawing/2014/main" val="20001"/>
                    </a:ext>
                  </a:extLst>
                </a:gridCol>
                <a:gridCol w="990599">
                  <a:extLst>
                    <a:ext uri="{9D8B030D-6E8A-4147-A177-3AD203B41FA5}">
                      <a16:colId xmlns:a16="http://schemas.microsoft.com/office/drawing/2014/main" val="20002"/>
                    </a:ext>
                  </a:extLst>
                </a:gridCol>
              </a:tblGrid>
              <a:tr h="370840">
                <a:tc>
                  <a:txBody>
                    <a:bodyPr/>
                    <a:lstStyle/>
                    <a:p>
                      <a:pPr algn="ctr"/>
                      <a:r>
                        <a:rPr lang="en-US" dirty="0"/>
                        <a:t>Threads</a:t>
                      </a:r>
                    </a:p>
                  </a:txBody>
                  <a:tcPr marL="0" marR="0" marT="0" marB="0" anchor="ctr"/>
                </a:tc>
                <a:tc>
                  <a:txBody>
                    <a:bodyPr/>
                    <a:lstStyle/>
                    <a:p>
                      <a:pPr algn="ctr"/>
                      <a:r>
                        <a:rPr lang="en-US" dirty="0"/>
                        <a:t>1</a:t>
                      </a:r>
                      <a:r>
                        <a:rPr lang="en-US" baseline="30000" dirty="0"/>
                        <a:t>st</a:t>
                      </a:r>
                      <a:r>
                        <a:rPr lang="en-US" dirty="0"/>
                        <a:t> SPMD</a:t>
                      </a:r>
                    </a:p>
                  </a:txBody>
                  <a:tcPr marL="0" marR="0" marT="0" marB="0" anchor="ctr"/>
                </a:tc>
                <a:tc>
                  <a:txBody>
                    <a:bodyPr/>
                    <a:lstStyle/>
                    <a:p>
                      <a:pPr algn="ctr"/>
                      <a:r>
                        <a:rPr lang="en-US" dirty="0"/>
                        <a:t>1</a:t>
                      </a:r>
                      <a:r>
                        <a:rPr lang="en-US" baseline="30000" dirty="0"/>
                        <a:t>st</a:t>
                      </a:r>
                      <a:r>
                        <a:rPr lang="en-US" dirty="0"/>
                        <a:t> SPMD</a:t>
                      </a:r>
                    </a:p>
                    <a:p>
                      <a:pPr algn="ctr"/>
                      <a:r>
                        <a:rPr lang="en-US" dirty="0"/>
                        <a:t>Padded</a:t>
                      </a:r>
                    </a:p>
                  </a:txBody>
                  <a:tcPr marL="0" marR="0" marT="0" marB="0" anchor="ctr"/>
                </a:tc>
                <a:extLst>
                  <a:ext uri="{0D108BD9-81ED-4DB2-BD59-A6C34878D82A}">
                    <a16:rowId xmlns:a16="http://schemas.microsoft.com/office/drawing/2014/main" val="10000"/>
                  </a:ext>
                </a:extLst>
              </a:tr>
              <a:tr h="370840">
                <a:tc>
                  <a:txBody>
                    <a:bodyPr/>
                    <a:lstStyle/>
                    <a:p>
                      <a:pPr algn="ctr"/>
                      <a:r>
                        <a:rPr lang="en-US" dirty="0"/>
                        <a:t>1</a:t>
                      </a:r>
                    </a:p>
                  </a:txBody>
                  <a:tcPr anchor="ctr"/>
                </a:tc>
                <a:tc>
                  <a:txBody>
                    <a:bodyPr/>
                    <a:lstStyle/>
                    <a:p>
                      <a:pPr algn="ctr"/>
                      <a:r>
                        <a:rPr lang="en-US" dirty="0"/>
                        <a:t>1.86</a:t>
                      </a:r>
                    </a:p>
                  </a:txBody>
                  <a:tcPr anchor="ctr"/>
                </a:tc>
                <a:tc>
                  <a:txBody>
                    <a:bodyPr/>
                    <a:lstStyle/>
                    <a:p>
                      <a:pPr algn="ctr"/>
                      <a:r>
                        <a:rPr lang="en-US" dirty="0"/>
                        <a:t>1.86</a:t>
                      </a:r>
                    </a:p>
                  </a:txBody>
                  <a:tcPr anchor="ctr"/>
                </a:tc>
                <a:extLst>
                  <a:ext uri="{0D108BD9-81ED-4DB2-BD59-A6C34878D82A}">
                    <a16:rowId xmlns:a16="http://schemas.microsoft.com/office/drawing/2014/main" val="10001"/>
                  </a:ext>
                </a:extLst>
              </a:tr>
              <a:tr h="370840">
                <a:tc>
                  <a:txBody>
                    <a:bodyPr/>
                    <a:lstStyle/>
                    <a:p>
                      <a:pPr algn="ctr"/>
                      <a:r>
                        <a:rPr lang="en-US" dirty="0"/>
                        <a:t>2</a:t>
                      </a:r>
                    </a:p>
                  </a:txBody>
                  <a:tcPr anchor="ctr"/>
                </a:tc>
                <a:tc>
                  <a:txBody>
                    <a:bodyPr/>
                    <a:lstStyle/>
                    <a:p>
                      <a:pPr algn="ctr"/>
                      <a:r>
                        <a:rPr lang="en-US" dirty="0"/>
                        <a:t>1.03</a:t>
                      </a:r>
                      <a:r>
                        <a:rPr lang="en-US" baseline="0" dirty="0"/>
                        <a:t> </a:t>
                      </a:r>
                      <a:endParaRPr lang="en-US" dirty="0"/>
                    </a:p>
                  </a:txBody>
                  <a:tcPr anchor="ctr"/>
                </a:tc>
                <a:tc>
                  <a:txBody>
                    <a:bodyPr/>
                    <a:lstStyle/>
                    <a:p>
                      <a:pPr algn="ctr"/>
                      <a:r>
                        <a:rPr lang="en-US" dirty="0"/>
                        <a:t>1.01</a:t>
                      </a:r>
                    </a:p>
                  </a:txBody>
                  <a:tcPr anchor="ctr"/>
                </a:tc>
                <a:extLst>
                  <a:ext uri="{0D108BD9-81ED-4DB2-BD59-A6C34878D82A}">
                    <a16:rowId xmlns:a16="http://schemas.microsoft.com/office/drawing/2014/main" val="10002"/>
                  </a:ext>
                </a:extLst>
              </a:tr>
              <a:tr h="370840">
                <a:tc>
                  <a:txBody>
                    <a:bodyPr/>
                    <a:lstStyle/>
                    <a:p>
                      <a:pPr algn="ctr"/>
                      <a:r>
                        <a:rPr lang="en-US" dirty="0"/>
                        <a:t>3</a:t>
                      </a:r>
                    </a:p>
                  </a:txBody>
                  <a:tcPr anchor="ctr"/>
                </a:tc>
                <a:tc>
                  <a:txBody>
                    <a:bodyPr/>
                    <a:lstStyle/>
                    <a:p>
                      <a:pPr algn="ctr"/>
                      <a:r>
                        <a:rPr lang="en-US" dirty="0"/>
                        <a:t>1.08</a:t>
                      </a:r>
                    </a:p>
                  </a:txBody>
                  <a:tcPr anchor="ctr"/>
                </a:tc>
                <a:tc>
                  <a:txBody>
                    <a:bodyPr/>
                    <a:lstStyle/>
                    <a:p>
                      <a:pPr algn="ctr"/>
                      <a:r>
                        <a:rPr lang="en-US" dirty="0"/>
                        <a:t>0.69</a:t>
                      </a:r>
                    </a:p>
                  </a:txBody>
                  <a:tcPr anchor="ctr"/>
                </a:tc>
                <a:extLst>
                  <a:ext uri="{0D108BD9-81ED-4DB2-BD59-A6C34878D82A}">
                    <a16:rowId xmlns:a16="http://schemas.microsoft.com/office/drawing/2014/main" val="10003"/>
                  </a:ext>
                </a:extLst>
              </a:tr>
              <a:tr h="370840">
                <a:tc>
                  <a:txBody>
                    <a:bodyPr/>
                    <a:lstStyle/>
                    <a:p>
                      <a:pPr algn="ctr"/>
                      <a:r>
                        <a:rPr lang="en-US" dirty="0"/>
                        <a:t>4</a:t>
                      </a:r>
                    </a:p>
                  </a:txBody>
                  <a:tcPr anchor="ctr"/>
                </a:tc>
                <a:tc>
                  <a:txBody>
                    <a:bodyPr/>
                    <a:lstStyle/>
                    <a:p>
                      <a:pPr algn="ctr"/>
                      <a:r>
                        <a:rPr lang="en-US" dirty="0"/>
                        <a:t>0.97</a:t>
                      </a:r>
                    </a:p>
                  </a:txBody>
                  <a:tcPr anchor="ctr"/>
                </a:tc>
                <a:tc>
                  <a:txBody>
                    <a:bodyPr/>
                    <a:lstStyle/>
                    <a:p>
                      <a:pPr algn="ctr"/>
                      <a:r>
                        <a:rPr lang="en-US" dirty="0"/>
                        <a:t>0.53</a:t>
                      </a:r>
                    </a:p>
                  </a:txBody>
                  <a:tcPr anchor="ctr"/>
                </a:tc>
                <a:extLst>
                  <a:ext uri="{0D108BD9-81ED-4DB2-BD59-A6C34878D82A}">
                    <a16:rowId xmlns:a16="http://schemas.microsoft.com/office/drawing/2014/main" val="10004"/>
                  </a:ext>
                </a:extLst>
              </a:tr>
            </a:tbl>
          </a:graphicData>
        </a:graphic>
      </p:graphicFrame>
      <p:sp>
        <p:nvSpPr>
          <p:cNvPr id="8" name="TextBox 7"/>
          <p:cNvSpPr txBox="1"/>
          <p:nvPr/>
        </p:nvSpPr>
        <p:spPr>
          <a:xfrm>
            <a:off x="1752600" y="5879068"/>
            <a:ext cx="6041975" cy="338554"/>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sz="1600" dirty="0">
                <a:latin typeface="+mj-lt"/>
              </a:rPr>
              <a:t>Intel Core i5 dual core (4 HW thread) 1.7 </a:t>
            </a:r>
            <a:r>
              <a:rPr lang="en-US" sz="1600" dirty="0" err="1">
                <a:latin typeface="+mj-lt"/>
              </a:rPr>
              <a:t>Ghz</a:t>
            </a:r>
            <a:r>
              <a:rPr lang="en-US" sz="1600" dirty="0">
                <a:latin typeface="+mj-lt"/>
              </a:rPr>
              <a:t>, with 4GB DDR3 memory</a:t>
            </a:r>
          </a:p>
        </p:txBody>
      </p:sp>
      <p:sp>
        <p:nvSpPr>
          <p:cNvPr id="9" name="TextBox 8"/>
          <p:cNvSpPr txBox="1"/>
          <p:nvPr/>
        </p:nvSpPr>
        <p:spPr>
          <a:xfrm>
            <a:off x="5262495" y="5068669"/>
            <a:ext cx="3778599" cy="646331"/>
          </a:xfrm>
          <a:prstGeom prst="rect">
            <a:avLst/>
          </a:prstGeom>
          <a:noFill/>
        </p:spPr>
        <p:txBody>
          <a:bodyPr wrap="none" rtlCol="0">
            <a:spAutoFit/>
          </a:bodyPr>
          <a:lstStyle/>
          <a:p>
            <a:pPr algn="ctr" rtl="1"/>
            <a:r>
              <a:rPr lang="fa-IR" b="1" dirty="0">
                <a:solidFill>
                  <a:srgbClr val="FF0000"/>
                </a:solidFill>
                <a:latin typeface="+mj-lt"/>
                <a:cs typeface="B Nazanin" panose="00000400000000000000" pitchFamily="2" charset="-78"/>
              </a:rPr>
              <a:t>مقیاس‌پذیری خوب. ولی کد قابل حمل نیست.</a:t>
            </a:r>
          </a:p>
          <a:p>
            <a:pPr algn="ctr"/>
            <a:r>
              <a:rPr lang="fa-IR" b="1" dirty="0">
                <a:solidFill>
                  <a:srgbClr val="FF0000"/>
                </a:solidFill>
                <a:latin typeface="+mj-lt"/>
                <a:cs typeface="B Nazanin" panose="00000400000000000000" pitchFamily="2" charset="-78"/>
              </a:rPr>
              <a:t>چرا؟</a:t>
            </a:r>
            <a:endParaRPr lang="en-US" b="1" dirty="0">
              <a:solidFill>
                <a:srgbClr val="FF0000"/>
              </a:solidFill>
              <a:latin typeface="+mj-lt"/>
              <a:cs typeface="B Nazanin" panose="00000400000000000000" pitchFamily="2" charset="-78"/>
            </a:endParaRPr>
          </a:p>
        </p:txBody>
      </p:sp>
    </p:spTree>
    <p:extLst>
      <p:ext uri="{BB962C8B-B14F-4D97-AF65-F5344CB8AC3E}">
        <p14:creationId xmlns:p14="http://schemas.microsoft.com/office/powerpoint/2010/main" val="5701489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همگام‌سازی</a:t>
            </a:r>
            <a:endParaRPr lang="en-US" dirty="0"/>
          </a:p>
        </p:txBody>
      </p:sp>
      <p:sp>
        <p:nvSpPr>
          <p:cNvPr id="3" name="Content Placeholder 2"/>
          <p:cNvSpPr>
            <a:spLocks noGrp="1"/>
          </p:cNvSpPr>
          <p:nvPr>
            <p:ph sz="quarter" idx="1"/>
          </p:nvPr>
        </p:nvSpPr>
        <p:spPr/>
        <p:txBody>
          <a:bodyPr/>
          <a:lstStyle/>
          <a:p>
            <a:r>
              <a:rPr lang="en-US" dirty="0" err="1"/>
              <a:t>OpenMP</a:t>
            </a:r>
            <a:r>
              <a:rPr lang="fa-IR" dirty="0"/>
              <a:t> یک مدل موازی‌سازی برای سیستم‌های حافظه مشترک است.</a:t>
            </a:r>
          </a:p>
          <a:p>
            <a:r>
              <a:rPr lang="fa-IR" dirty="0"/>
              <a:t>هرگاه چند نخ بخواهند همزمان به یک منبع مشترک دسترسی پیدا کنند، و خروجی برنامه به ترتیب دسترسی وابسته شود، </a:t>
            </a:r>
            <a:r>
              <a:rPr lang="fa-IR" dirty="0">
                <a:solidFill>
                  <a:srgbClr val="FF6600"/>
                </a:solidFill>
              </a:rPr>
              <a:t>شرایط مسابقه</a:t>
            </a:r>
            <a:r>
              <a:rPr lang="fa-IR" dirty="0"/>
              <a:t> رخ داده است. </a:t>
            </a:r>
            <a:endParaRPr lang="en-US" dirty="0"/>
          </a:p>
          <a:p>
            <a:r>
              <a:rPr lang="fa-IR" dirty="0"/>
              <a:t>برای جلوگیری از مسابقه، از مکانیزم‌های همگام‌سازی استفاده می‌کنیم.</a:t>
            </a:r>
          </a:p>
          <a:p>
            <a:r>
              <a:rPr lang="fa-IR" dirty="0"/>
              <a:t>همگام‌سازی سربار زمانی دارد. سعی کنید برنامه را طوری بنویسید که به کمترین همگام‌سازی نیاز داشته باشد.</a:t>
            </a:r>
          </a:p>
        </p:txBody>
      </p:sp>
      <p:sp>
        <p:nvSpPr>
          <p:cNvPr id="4" name="Date Placeholder 3"/>
          <p:cNvSpPr>
            <a:spLocks noGrp="1"/>
          </p:cNvSpPr>
          <p:nvPr>
            <p:ph type="dt" sz="half" idx="10"/>
          </p:nvPr>
        </p:nvSpPr>
        <p:spPr/>
        <p:txBody>
          <a:bodyPr/>
          <a:lstStyle/>
          <a:p>
            <a:pPr>
              <a:defRPr/>
            </a:pPr>
            <a:r>
              <a:rPr lang="en-US" altLang="en-US"/>
              <a:t>Parallel Processing</a:t>
            </a:r>
          </a:p>
        </p:txBody>
      </p:sp>
      <p:sp>
        <p:nvSpPr>
          <p:cNvPr id="5" name="Footer Placeholder 4"/>
          <p:cNvSpPr>
            <a:spLocks noGrp="1"/>
          </p:cNvSpPr>
          <p:nvPr>
            <p:ph type="ftr" sz="quarter" idx="11"/>
          </p:nvPr>
        </p:nvSpPr>
        <p:spPr/>
        <p:txBody>
          <a:bodyPr/>
          <a:lstStyle/>
          <a:p>
            <a:pPr>
              <a:defRPr/>
            </a:pPr>
            <a:r>
              <a:rPr lang="en-US" altLang="en-US"/>
              <a:t>7. OpenMP</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A9DCC621-7EE1-4E7E-9D9E-207B534D683D}" type="slidenum">
              <a:rPr lang="en-US" altLang="en-US" smtClean="0"/>
              <a:pPr>
                <a:defRPr/>
              </a:pPr>
              <a:t>25</a:t>
            </a:fld>
            <a:endParaRPr lang="en-US" altLang="en-US" dirty="0"/>
          </a:p>
        </p:txBody>
      </p:sp>
    </p:spTree>
    <p:extLst>
      <p:ext uri="{BB962C8B-B14F-4D97-AF65-F5344CB8AC3E}">
        <p14:creationId xmlns:p14="http://schemas.microsoft.com/office/powerpoint/2010/main" val="16312254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2"/>
          <p:cNvSpPr txBox="1">
            <a:spLocks/>
          </p:cNvSpPr>
          <p:nvPr/>
        </p:nvSpPr>
        <p:spPr bwMode="auto">
          <a:xfrm>
            <a:off x="612648" y="1219200"/>
            <a:ext cx="81534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19088" indent="-319088" algn="l" rtl="0" eaLnBrk="0" fontAlgn="base" hangingPunct="0">
              <a:spcBef>
                <a:spcPts val="200"/>
              </a:spcBef>
              <a:spcAft>
                <a:spcPct val="0"/>
              </a:spcAft>
              <a:buClr>
                <a:schemeClr val="accent2"/>
              </a:buClr>
              <a:buSzPct val="60000"/>
              <a:buFont typeface="Wingdings" pitchFamily="2" charset="2"/>
              <a:buChar char=""/>
              <a:defRPr sz="2900" kern="1200">
                <a:solidFill>
                  <a:schemeClr val="tx1"/>
                </a:solidFill>
                <a:latin typeface="+mn-lt"/>
                <a:ea typeface="+mn-ea"/>
                <a:cs typeface="+mn-cs"/>
              </a:defRPr>
            </a:lvl1pPr>
            <a:lvl2pPr marL="639763" indent="-273050" algn="l" rtl="0" eaLnBrk="0" fontAlgn="base" hangingPunct="0">
              <a:spcBef>
                <a:spcPts val="200"/>
              </a:spcBef>
              <a:spcAft>
                <a:spcPct val="0"/>
              </a:spcAft>
              <a:buClr>
                <a:schemeClr val="accent1"/>
              </a:buClr>
              <a:buSzPct val="70000"/>
              <a:buFont typeface="Wingdings 2" pitchFamily="18" charset="2"/>
              <a:buChar char=""/>
              <a:defRPr sz="2600" kern="1200">
                <a:solidFill>
                  <a:schemeClr val="tx1"/>
                </a:solidFill>
                <a:latin typeface="+mn-lt"/>
                <a:ea typeface="+mn-ea"/>
                <a:cs typeface="+mn-cs"/>
              </a:defRPr>
            </a:lvl2pPr>
            <a:lvl3pPr marL="914400" indent="-228600" algn="l" rtl="0" eaLnBrk="0" fontAlgn="base" hangingPunct="0">
              <a:spcBef>
                <a:spcPts val="200"/>
              </a:spcBef>
              <a:spcAft>
                <a:spcPct val="0"/>
              </a:spcAft>
              <a:buClr>
                <a:schemeClr val="accent2"/>
              </a:buClr>
              <a:buSzPct val="75000"/>
              <a:buFont typeface="Wingdings" pitchFamily="2" charset="2"/>
              <a:buChar char=""/>
              <a:defRPr sz="2300" kern="1200">
                <a:solidFill>
                  <a:schemeClr val="tx1"/>
                </a:solidFill>
                <a:latin typeface="+mn-lt"/>
                <a:ea typeface="+mn-ea"/>
                <a:cs typeface="+mn-cs"/>
              </a:defRPr>
            </a:lvl3pPr>
            <a:lvl4pPr marL="1371600" indent="-228600" algn="l" rtl="0" eaLnBrk="0" fontAlgn="base" hangingPunct="0">
              <a:spcBef>
                <a:spcPts val="200"/>
              </a:spcBef>
              <a:spcAft>
                <a:spcPct val="0"/>
              </a:spcAft>
              <a:buClr>
                <a:srgbClr val="A5AB81"/>
              </a:buClr>
              <a:buSzPct val="75000"/>
              <a:buFont typeface="Wingdings" pitchFamily="2" charset="2"/>
              <a:buChar char=""/>
              <a:defRPr sz="2000" kern="1200">
                <a:solidFill>
                  <a:schemeClr val="tx1"/>
                </a:solidFill>
                <a:latin typeface="+mn-lt"/>
                <a:ea typeface="+mn-ea"/>
                <a:cs typeface="+mn-cs"/>
              </a:defRPr>
            </a:lvl4pPr>
            <a:lvl5pPr marL="1828800" indent="-228600" algn="l" rtl="0" eaLnBrk="0" fontAlgn="base" hangingPunct="0">
              <a:spcBef>
                <a:spcPts val="200"/>
              </a:spcBef>
              <a:spcAft>
                <a:spcPct val="0"/>
              </a:spcAft>
              <a:buClr>
                <a:srgbClr val="D8B25C"/>
              </a:buClr>
              <a:buSzPct val="65000"/>
              <a:buFont typeface="Wingdings" pitchFamily="2" charset="2"/>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pPr marL="0" indent="0">
              <a:buFont typeface="Wingdings" pitchFamily="2" charset="2"/>
              <a:buNone/>
            </a:pPr>
            <a:endParaRPr lang="en-US" sz="2000" dirty="0">
              <a:latin typeface="Droid Sans Mono" panose="020B0609030804020204" pitchFamily="49" charset="0"/>
              <a:ea typeface="Droid Sans Mono" panose="020B0609030804020204" pitchFamily="49" charset="0"/>
              <a:cs typeface="Droid Sans Mono" panose="020B0609030804020204" pitchFamily="49" charset="0"/>
            </a:endParaRPr>
          </a:p>
          <a:p>
            <a:pPr marL="0" indent="0">
              <a:buFont typeface="Wingdings" pitchFamily="2" charset="2"/>
              <a:buNone/>
            </a:pPr>
            <a:r>
              <a:rPr lang="en-US" sz="2000" dirty="0" err="1">
                <a:latin typeface="Droid Sans Mono" panose="020B0609030804020204" pitchFamily="49" charset="0"/>
                <a:ea typeface="Droid Sans Mono" panose="020B0609030804020204" pitchFamily="49" charset="0"/>
                <a:cs typeface="Droid Sans Mono" panose="020B0609030804020204" pitchFamily="49" charset="0"/>
              </a:rPr>
              <a:t>int</a:t>
            </a:r>
            <a:r>
              <a:rPr lang="en-US" sz="2000" dirty="0">
                <a:latin typeface="Droid Sans Mono" panose="020B0609030804020204" pitchFamily="49" charset="0"/>
                <a:ea typeface="Droid Sans Mono" panose="020B0609030804020204" pitchFamily="49" charset="0"/>
                <a:cs typeface="Droid Sans Mono" panose="020B0609030804020204" pitchFamily="49" charset="0"/>
              </a:rPr>
              <a:t> </a:t>
            </a:r>
            <a:r>
              <a:rPr lang="en-US" sz="2000" dirty="0">
                <a:solidFill>
                  <a:srgbClr val="FF0000"/>
                </a:solidFill>
                <a:latin typeface="Droid Sans Mono" panose="020B0609030804020204" pitchFamily="49" charset="0"/>
                <a:ea typeface="Droid Sans Mono" panose="020B0609030804020204" pitchFamily="49" charset="0"/>
                <a:cs typeface="Droid Sans Mono" panose="020B0609030804020204" pitchFamily="49" charset="0"/>
              </a:rPr>
              <a:t>count</a:t>
            </a:r>
            <a:r>
              <a:rPr lang="en-US" sz="2000" dirty="0">
                <a:latin typeface="Droid Sans Mono" panose="020B0609030804020204" pitchFamily="49" charset="0"/>
                <a:ea typeface="Droid Sans Mono" panose="020B0609030804020204" pitchFamily="49" charset="0"/>
                <a:cs typeface="Droid Sans Mono" panose="020B0609030804020204" pitchFamily="49" charset="0"/>
              </a:rPr>
              <a:t> = </a:t>
            </a:r>
            <a:r>
              <a:rPr lang="en-US" sz="20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10</a:t>
            </a:r>
            <a:r>
              <a:rPr lang="en-US" sz="2000" dirty="0">
                <a:latin typeface="Droid Sans Mono" panose="020B0609030804020204" pitchFamily="49" charset="0"/>
                <a:ea typeface="Droid Sans Mono" panose="020B0609030804020204" pitchFamily="49" charset="0"/>
                <a:cs typeface="Droid Sans Mono" panose="020B0609030804020204" pitchFamily="49" charset="0"/>
              </a:rPr>
              <a:t>;</a:t>
            </a:r>
          </a:p>
          <a:p>
            <a:pPr marL="0" indent="0">
              <a:buFont typeface="Wingdings" pitchFamily="2" charset="2"/>
              <a:buNone/>
            </a:pPr>
            <a:endParaRPr lang="en-US" dirty="0">
              <a:solidFill>
                <a:srgbClr val="FF0000"/>
              </a:solidFill>
            </a:endParaRPr>
          </a:p>
        </p:txBody>
      </p:sp>
      <p:sp>
        <p:nvSpPr>
          <p:cNvPr id="2" name="Title 1"/>
          <p:cNvSpPr>
            <a:spLocks noGrp="1"/>
          </p:cNvSpPr>
          <p:nvPr>
            <p:ph type="title"/>
          </p:nvPr>
        </p:nvSpPr>
        <p:spPr/>
        <p:txBody>
          <a:bodyPr/>
          <a:lstStyle/>
          <a:p>
            <a:r>
              <a:rPr lang="fa-IR" dirty="0"/>
              <a:t>همگام‌سازی - مثالی از شرایط مسابقه</a:t>
            </a:r>
            <a:endParaRPr lang="en-US" dirty="0"/>
          </a:p>
        </p:txBody>
      </p:sp>
      <p:graphicFrame>
        <p:nvGraphicFramePr>
          <p:cNvPr id="7" name="Content Placeholder 6"/>
          <p:cNvGraphicFramePr>
            <a:graphicFrameLocks noGrp="1"/>
          </p:cNvGraphicFramePr>
          <p:nvPr>
            <p:ph sz="quarter" idx="1"/>
            <p:extLst>
              <p:ext uri="{D42A27DB-BD31-4B8C-83A1-F6EECF244321}">
                <p14:modId xmlns:p14="http://schemas.microsoft.com/office/powerpoint/2010/main" val="3526090345"/>
              </p:ext>
            </p:extLst>
          </p:nvPr>
        </p:nvGraphicFramePr>
        <p:xfrm>
          <a:off x="612775" y="4241800"/>
          <a:ext cx="8153400" cy="1854200"/>
        </p:xfrm>
        <a:graphic>
          <a:graphicData uri="http://schemas.openxmlformats.org/drawingml/2006/table">
            <a:tbl>
              <a:tblPr firstRow="1" bandRow="1">
                <a:tableStyleId>{0660B408-B3CF-4A94-85FC-2B1E0A45F4A2}</a:tableStyleId>
              </a:tblPr>
              <a:tblGrid>
                <a:gridCol w="4076700">
                  <a:extLst>
                    <a:ext uri="{9D8B030D-6E8A-4147-A177-3AD203B41FA5}">
                      <a16:colId xmlns:a16="http://schemas.microsoft.com/office/drawing/2014/main" val="20000"/>
                    </a:ext>
                  </a:extLst>
                </a:gridCol>
                <a:gridCol w="4076700">
                  <a:extLst>
                    <a:ext uri="{9D8B030D-6E8A-4147-A177-3AD203B41FA5}">
                      <a16:colId xmlns:a16="http://schemas.microsoft.com/office/drawing/2014/main" val="20001"/>
                    </a:ext>
                  </a:extLst>
                </a:gridCol>
              </a:tblGrid>
              <a:tr h="370840">
                <a:tc>
                  <a:txBody>
                    <a:bodyPr/>
                    <a:lstStyle/>
                    <a:p>
                      <a:pPr algn="ctr"/>
                      <a:r>
                        <a:rPr lang="fa-IR" dirty="0">
                          <a:cs typeface="B Nazanin" panose="00000400000000000000" pitchFamily="2" charset="-78"/>
                        </a:rPr>
                        <a:t>همگام‌سازی سطح بالا</a:t>
                      </a:r>
                      <a:endParaRPr lang="en-US" dirty="0">
                        <a:cs typeface="B Nazanin" panose="00000400000000000000" pitchFamily="2" charset="-78"/>
                      </a:endParaRPr>
                    </a:p>
                  </a:txBody>
                  <a:tcPr anchor="ctr"/>
                </a:tc>
                <a:tc>
                  <a:txBody>
                    <a:bodyPr/>
                    <a:lstStyle/>
                    <a:p>
                      <a:pPr algn="ctr"/>
                      <a:r>
                        <a:rPr lang="fa-IR" dirty="0">
                          <a:cs typeface="B Nazanin" panose="00000400000000000000" pitchFamily="2" charset="-78"/>
                        </a:rPr>
                        <a:t>همگام‌سازی</a:t>
                      </a:r>
                      <a:r>
                        <a:rPr lang="fa-IR" baseline="0" dirty="0">
                          <a:cs typeface="B Nazanin" panose="00000400000000000000" pitchFamily="2" charset="-78"/>
                        </a:rPr>
                        <a:t> سطح پایین</a:t>
                      </a:r>
                      <a:endParaRPr lang="en-US" dirty="0">
                        <a:cs typeface="B Nazanin" panose="00000400000000000000" pitchFamily="2" charset="-78"/>
                      </a:endParaRPr>
                    </a:p>
                  </a:txBody>
                  <a:tcPr anchor="ctr"/>
                </a:tc>
                <a:extLst>
                  <a:ext uri="{0D108BD9-81ED-4DB2-BD59-A6C34878D82A}">
                    <a16:rowId xmlns:a16="http://schemas.microsoft.com/office/drawing/2014/main" val="10000"/>
                  </a:ext>
                </a:extLst>
              </a:tr>
              <a:tr h="370840">
                <a:tc>
                  <a:txBody>
                    <a:bodyPr/>
                    <a:lstStyle/>
                    <a:p>
                      <a:pPr algn="ctr"/>
                      <a:r>
                        <a:rPr lang="en-US" dirty="0"/>
                        <a:t>Critical</a:t>
                      </a:r>
                      <a:r>
                        <a:rPr lang="en-US" baseline="0" dirty="0"/>
                        <a:t> Section (Mutual Exclusion)</a:t>
                      </a:r>
                      <a:endParaRPr lang="en-US" dirty="0"/>
                    </a:p>
                  </a:txBody>
                  <a:tcPr anchor="ctr"/>
                </a:tc>
                <a:tc>
                  <a:txBody>
                    <a:bodyPr/>
                    <a:lstStyle/>
                    <a:p>
                      <a:pPr algn="ctr"/>
                      <a:r>
                        <a:rPr lang="en-US" dirty="0"/>
                        <a:t>Flush</a:t>
                      </a:r>
                    </a:p>
                  </a:txBody>
                  <a:tcPr anchor="ctr"/>
                </a:tc>
                <a:extLst>
                  <a:ext uri="{0D108BD9-81ED-4DB2-BD59-A6C34878D82A}">
                    <a16:rowId xmlns:a16="http://schemas.microsoft.com/office/drawing/2014/main" val="10001"/>
                  </a:ext>
                </a:extLst>
              </a:tr>
              <a:tr h="370840">
                <a:tc>
                  <a:txBody>
                    <a:bodyPr/>
                    <a:lstStyle/>
                    <a:p>
                      <a:pPr algn="ctr"/>
                      <a:r>
                        <a:rPr lang="en-US" dirty="0"/>
                        <a:t>Atomic</a:t>
                      </a:r>
                    </a:p>
                  </a:txBody>
                  <a:tcPr anchor="ctr"/>
                </a:tc>
                <a:tc>
                  <a:txBody>
                    <a:bodyPr/>
                    <a:lstStyle/>
                    <a:p>
                      <a:pPr algn="ctr"/>
                      <a:r>
                        <a:rPr lang="en-US" dirty="0"/>
                        <a:t>Lock</a:t>
                      </a:r>
                    </a:p>
                  </a:txBody>
                  <a:tcPr anchor="ctr"/>
                </a:tc>
                <a:extLst>
                  <a:ext uri="{0D108BD9-81ED-4DB2-BD59-A6C34878D82A}">
                    <a16:rowId xmlns:a16="http://schemas.microsoft.com/office/drawing/2014/main" val="10002"/>
                  </a:ext>
                </a:extLst>
              </a:tr>
              <a:tr h="370840">
                <a:tc>
                  <a:txBody>
                    <a:bodyPr/>
                    <a:lstStyle/>
                    <a:p>
                      <a:pPr algn="ctr"/>
                      <a:r>
                        <a:rPr lang="en-US" dirty="0"/>
                        <a:t>Barrier</a:t>
                      </a:r>
                    </a:p>
                  </a:txBody>
                  <a:tcPr anchor="ctr"/>
                </a:tc>
                <a:tc>
                  <a:txBody>
                    <a:bodyPr/>
                    <a:lstStyle/>
                    <a:p>
                      <a:pPr algn="ctr"/>
                      <a:endParaRPr lang="en-US" dirty="0"/>
                    </a:p>
                  </a:txBody>
                  <a:tcPr anchor="ctr"/>
                </a:tc>
                <a:extLst>
                  <a:ext uri="{0D108BD9-81ED-4DB2-BD59-A6C34878D82A}">
                    <a16:rowId xmlns:a16="http://schemas.microsoft.com/office/drawing/2014/main" val="10003"/>
                  </a:ext>
                </a:extLst>
              </a:tr>
              <a:tr h="370840">
                <a:tc>
                  <a:txBody>
                    <a:bodyPr/>
                    <a:lstStyle/>
                    <a:p>
                      <a:pPr algn="ctr"/>
                      <a:r>
                        <a:rPr lang="en-US" dirty="0"/>
                        <a:t>Ordered</a:t>
                      </a:r>
                    </a:p>
                  </a:txBody>
                  <a:tcPr anchor="ctr"/>
                </a:tc>
                <a:tc>
                  <a:txBody>
                    <a:bodyPr/>
                    <a:lstStyle/>
                    <a:p>
                      <a:pPr algn="ctr"/>
                      <a:endParaRPr lang="en-US" dirty="0"/>
                    </a:p>
                  </a:txBody>
                  <a:tcPr anchor="ctr"/>
                </a:tc>
                <a:extLst>
                  <a:ext uri="{0D108BD9-81ED-4DB2-BD59-A6C34878D82A}">
                    <a16:rowId xmlns:a16="http://schemas.microsoft.com/office/drawing/2014/main" val="10004"/>
                  </a:ext>
                </a:extLst>
              </a:tr>
            </a:tbl>
          </a:graphicData>
        </a:graphic>
      </p:graphicFrame>
      <p:sp>
        <p:nvSpPr>
          <p:cNvPr id="4" name="Date Placeholder 3"/>
          <p:cNvSpPr>
            <a:spLocks noGrp="1"/>
          </p:cNvSpPr>
          <p:nvPr>
            <p:ph type="dt" sz="half" idx="10"/>
          </p:nvPr>
        </p:nvSpPr>
        <p:spPr/>
        <p:txBody>
          <a:bodyPr/>
          <a:lstStyle/>
          <a:p>
            <a:pPr>
              <a:defRPr/>
            </a:pPr>
            <a:r>
              <a:rPr lang="en-US" altLang="en-US"/>
              <a:t>Parallel Processing</a:t>
            </a:r>
          </a:p>
        </p:txBody>
      </p:sp>
      <p:sp>
        <p:nvSpPr>
          <p:cNvPr id="5" name="Footer Placeholder 4"/>
          <p:cNvSpPr>
            <a:spLocks noGrp="1"/>
          </p:cNvSpPr>
          <p:nvPr>
            <p:ph type="ftr" sz="quarter" idx="11"/>
          </p:nvPr>
        </p:nvSpPr>
        <p:spPr/>
        <p:txBody>
          <a:bodyPr/>
          <a:lstStyle/>
          <a:p>
            <a:pPr>
              <a:defRPr/>
            </a:pPr>
            <a:r>
              <a:rPr lang="en-US" altLang="en-US"/>
              <a:t>7. OpenMP</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A9DCC621-7EE1-4E7E-9D9E-207B534D683D}" type="slidenum">
              <a:rPr lang="en-US" altLang="en-US" smtClean="0"/>
              <a:pPr>
                <a:defRPr/>
              </a:pPr>
              <a:t>26</a:t>
            </a:fld>
            <a:endParaRPr lang="en-US" altLang="en-US" dirty="0"/>
          </a:p>
        </p:txBody>
      </p:sp>
      <p:sp>
        <p:nvSpPr>
          <p:cNvPr id="9" name="Oval 8"/>
          <p:cNvSpPr/>
          <p:nvPr/>
        </p:nvSpPr>
        <p:spPr>
          <a:xfrm>
            <a:off x="4724400" y="1295400"/>
            <a:ext cx="1600200" cy="762000"/>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b="1" dirty="0"/>
              <a:t>Thread 0</a:t>
            </a:r>
          </a:p>
        </p:txBody>
      </p:sp>
      <p:sp>
        <p:nvSpPr>
          <p:cNvPr id="10" name="Oval 9"/>
          <p:cNvSpPr/>
          <p:nvPr/>
        </p:nvSpPr>
        <p:spPr>
          <a:xfrm>
            <a:off x="7162800" y="1295400"/>
            <a:ext cx="1600200" cy="762000"/>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b="1" dirty="0"/>
              <a:t>Thread 1</a:t>
            </a:r>
          </a:p>
        </p:txBody>
      </p:sp>
      <p:cxnSp>
        <p:nvCxnSpPr>
          <p:cNvPr id="12" name="Straight Connector 11"/>
          <p:cNvCxnSpPr>
            <a:stCxn id="9" idx="4"/>
          </p:cNvCxnSpPr>
          <p:nvPr/>
        </p:nvCxnSpPr>
        <p:spPr>
          <a:xfrm>
            <a:off x="5524500" y="2057400"/>
            <a:ext cx="0" cy="1752600"/>
          </a:xfrm>
          <a:prstGeom prst="line">
            <a:avLst/>
          </a:prstGeom>
          <a:ln w="57150">
            <a:prstDash val="dash"/>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7979979" y="2057400"/>
            <a:ext cx="0" cy="1752600"/>
          </a:xfrm>
          <a:prstGeom prst="line">
            <a:avLst/>
          </a:prstGeom>
          <a:ln w="57150">
            <a:prstDash val="dash"/>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4876800" y="2743200"/>
            <a:ext cx="1287532" cy="369332"/>
          </a:xfrm>
          <a:prstGeom prst="rect">
            <a:avLst/>
          </a:prstGeom>
          <a:solidFill>
            <a:schemeClr val="bg1"/>
          </a:solidFill>
        </p:spPr>
        <p:txBody>
          <a:bodyPr wrap="none" rtlCol="0">
            <a:spAutoFit/>
          </a:bodyPr>
          <a:lstStyle/>
          <a:p>
            <a:r>
              <a:rPr lang="en-US" dirty="0">
                <a:solidFill>
                  <a:srgbClr val="FF0000"/>
                </a:solidFill>
                <a:latin typeface="Droid Sans Mono" panose="020B0609030804020204" pitchFamily="49" charset="0"/>
                <a:ea typeface="Droid Sans Mono" panose="020B0609030804020204" pitchFamily="49" charset="0"/>
                <a:cs typeface="Droid Sans Mono" panose="020B0609030804020204" pitchFamily="49" charset="0"/>
              </a:rPr>
              <a:t>count ++</a:t>
            </a:r>
          </a:p>
        </p:txBody>
      </p:sp>
      <p:sp>
        <p:nvSpPr>
          <p:cNvPr id="15" name="TextBox 14"/>
          <p:cNvSpPr txBox="1"/>
          <p:nvPr/>
        </p:nvSpPr>
        <p:spPr>
          <a:xfrm>
            <a:off x="7315200" y="2743200"/>
            <a:ext cx="1287532" cy="369332"/>
          </a:xfrm>
          <a:prstGeom prst="rect">
            <a:avLst/>
          </a:prstGeom>
          <a:solidFill>
            <a:schemeClr val="bg1"/>
          </a:solidFill>
        </p:spPr>
        <p:txBody>
          <a:bodyPr wrap="none" rtlCol="0">
            <a:spAutoFit/>
          </a:bodyPr>
          <a:lstStyle/>
          <a:p>
            <a:r>
              <a:rPr lang="en-US" dirty="0">
                <a:solidFill>
                  <a:srgbClr val="FF0000"/>
                </a:solidFill>
                <a:latin typeface="Droid Sans Mono" panose="020B0609030804020204" pitchFamily="49" charset="0"/>
                <a:ea typeface="Droid Sans Mono" panose="020B0609030804020204" pitchFamily="49" charset="0"/>
                <a:cs typeface="Droid Sans Mono" panose="020B0609030804020204" pitchFamily="49" charset="0"/>
              </a:rPr>
              <a:t>count --</a:t>
            </a:r>
          </a:p>
        </p:txBody>
      </p:sp>
      <p:sp>
        <p:nvSpPr>
          <p:cNvPr id="16" name="TextBox 15"/>
          <p:cNvSpPr txBox="1"/>
          <p:nvPr/>
        </p:nvSpPr>
        <p:spPr>
          <a:xfrm>
            <a:off x="5410200" y="3745468"/>
            <a:ext cx="2666114" cy="369332"/>
          </a:xfrm>
          <a:prstGeom prst="rect">
            <a:avLst/>
          </a:prstGeom>
          <a:solidFill>
            <a:schemeClr val="bg1"/>
          </a:solidFill>
        </p:spPr>
        <p:txBody>
          <a:bodyPr wrap="none" rtlCol="0">
            <a:spAutoFit/>
          </a:bodyPr>
          <a:lstStyle/>
          <a:p>
            <a:r>
              <a:rPr lang="en-US" dirty="0">
                <a:solidFill>
                  <a:srgbClr val="FF0000"/>
                </a:solidFill>
                <a:latin typeface="Droid Sans Mono" panose="020B0609030804020204" pitchFamily="49" charset="0"/>
                <a:ea typeface="Droid Sans Mono" panose="020B0609030804020204" pitchFamily="49" charset="0"/>
                <a:cs typeface="Droid Sans Mono" panose="020B0609030804020204" pitchFamily="49" charset="0"/>
              </a:rPr>
              <a:t>count = </a:t>
            </a:r>
            <a:r>
              <a:rPr lang="en-US"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9, 10, 11?</a:t>
            </a:r>
          </a:p>
        </p:txBody>
      </p:sp>
    </p:spTree>
    <p:extLst>
      <p:ext uri="{BB962C8B-B14F-4D97-AF65-F5344CB8AC3E}">
        <p14:creationId xmlns:p14="http://schemas.microsoft.com/office/powerpoint/2010/main" val="654665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مانع</a:t>
            </a:r>
            <a:endParaRPr lang="en-US" dirty="0"/>
          </a:p>
        </p:txBody>
      </p:sp>
      <p:sp>
        <p:nvSpPr>
          <p:cNvPr id="4" name="Date Placeholder 3"/>
          <p:cNvSpPr>
            <a:spLocks noGrp="1"/>
          </p:cNvSpPr>
          <p:nvPr>
            <p:ph type="dt" sz="half" idx="10"/>
          </p:nvPr>
        </p:nvSpPr>
        <p:spPr/>
        <p:txBody>
          <a:bodyPr/>
          <a:lstStyle/>
          <a:p>
            <a:pPr>
              <a:defRPr/>
            </a:pPr>
            <a:r>
              <a:rPr lang="en-US" altLang="en-US"/>
              <a:t>Parallel Processing</a:t>
            </a:r>
          </a:p>
        </p:txBody>
      </p:sp>
      <p:sp>
        <p:nvSpPr>
          <p:cNvPr id="5" name="Footer Placeholder 4"/>
          <p:cNvSpPr>
            <a:spLocks noGrp="1"/>
          </p:cNvSpPr>
          <p:nvPr>
            <p:ph type="ftr" sz="quarter" idx="11"/>
          </p:nvPr>
        </p:nvSpPr>
        <p:spPr/>
        <p:txBody>
          <a:bodyPr/>
          <a:lstStyle/>
          <a:p>
            <a:pPr>
              <a:defRPr/>
            </a:pPr>
            <a:r>
              <a:rPr lang="en-US" altLang="en-US"/>
              <a:t>7. OpenMP</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A9DCC621-7EE1-4E7E-9D9E-207B534D683D}" type="slidenum">
              <a:rPr lang="en-US" altLang="en-US" smtClean="0"/>
              <a:pPr>
                <a:defRPr/>
              </a:pPr>
              <a:t>27</a:t>
            </a:fld>
            <a:endParaRPr lang="en-US" altLang="en-US" dirty="0"/>
          </a:p>
        </p:txBody>
      </p:sp>
      <p:sp>
        <p:nvSpPr>
          <p:cNvPr id="3" name="Content Placeholder 2"/>
          <p:cNvSpPr>
            <a:spLocks noGrp="1"/>
          </p:cNvSpPr>
          <p:nvPr>
            <p:ph sz="quarter" idx="1"/>
          </p:nvPr>
        </p:nvSpPr>
        <p:spPr/>
        <p:txBody>
          <a:bodyPr/>
          <a:lstStyle/>
          <a:p>
            <a:pPr algn="r"/>
            <a:r>
              <a:rPr lang="fa-IR" dirty="0"/>
              <a:t>مانع </a:t>
            </a:r>
            <a:r>
              <a:rPr lang="en-US" dirty="0"/>
              <a:t>Barrier</a:t>
            </a:r>
          </a:p>
          <a:p>
            <a:pPr lvl="1" algn="r"/>
            <a:r>
              <a:rPr lang="fa-IR" dirty="0">
                <a:solidFill>
                  <a:srgbClr val="0000FF"/>
                </a:solidFill>
              </a:rPr>
              <a:t>مکانی از کد که هیچ نخی اجازه عبور از آن </a:t>
            </a:r>
          </a:p>
          <a:p>
            <a:pPr marL="366713" lvl="1" indent="0" algn="r">
              <a:buNone/>
            </a:pPr>
            <a:r>
              <a:rPr lang="fa-IR" dirty="0">
                <a:solidFill>
                  <a:srgbClr val="0000FF"/>
                </a:solidFill>
              </a:rPr>
              <a:t>را ندارد، مگر اینکه بقیه نخ‌ها نیز به آنجا رسیده</a:t>
            </a:r>
          </a:p>
          <a:p>
            <a:pPr marL="366713" lvl="1" indent="0" algn="r">
              <a:buNone/>
            </a:pPr>
            <a:r>
              <a:rPr lang="fa-IR" dirty="0">
                <a:solidFill>
                  <a:srgbClr val="0000FF"/>
                </a:solidFill>
              </a:rPr>
              <a:t>باشند.</a:t>
            </a:r>
            <a:endParaRPr lang="en-US" dirty="0">
              <a:solidFill>
                <a:srgbClr val="0000FF"/>
              </a:solidFill>
            </a:endParaRPr>
          </a:p>
          <a:p>
            <a:pPr lvl="1" algn="r"/>
            <a:endParaRPr lang="en-US" dirty="0">
              <a:solidFill>
                <a:srgbClr val="0000FF"/>
              </a:solidFill>
            </a:endParaRPr>
          </a:p>
        </p:txBody>
      </p:sp>
      <p:pic>
        <p:nvPicPr>
          <p:cNvPr id="11"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r="73695"/>
          <a:stretch/>
        </p:blipFill>
        <p:spPr bwMode="auto">
          <a:xfrm rot="16200000">
            <a:off x="1627460" y="2715942"/>
            <a:ext cx="1926682" cy="24383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Rectangle 8"/>
          <p:cNvSpPr/>
          <p:nvPr/>
        </p:nvSpPr>
        <p:spPr>
          <a:xfrm>
            <a:off x="4038600" y="4833124"/>
            <a:ext cx="609600" cy="664117"/>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2000" b="1" dirty="0">
                <a:solidFill>
                  <a:srgbClr val="0000FF"/>
                </a:solidFill>
                <a:cs typeface="B Nazanin" panose="00000400000000000000" pitchFamily="2" charset="-78"/>
              </a:rPr>
              <a:t>مانع</a:t>
            </a:r>
            <a:endParaRPr lang="en-US" sz="2000" b="1" dirty="0">
              <a:solidFill>
                <a:srgbClr val="0000FF"/>
              </a:solidFill>
              <a:cs typeface="B Nazanin" panose="00000400000000000000" pitchFamily="2" charset="-78"/>
            </a:endParaRPr>
          </a:p>
        </p:txBody>
      </p:sp>
      <p:cxnSp>
        <p:nvCxnSpPr>
          <p:cNvPr id="12" name="Straight Arrow Connector 11"/>
          <p:cNvCxnSpPr>
            <a:stCxn id="9" idx="1"/>
          </p:cNvCxnSpPr>
          <p:nvPr/>
        </p:nvCxnSpPr>
        <p:spPr>
          <a:xfrm flipH="1" flipV="1">
            <a:off x="3200400" y="4893063"/>
            <a:ext cx="838200" cy="27212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78161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مانع: مثال</a:t>
            </a:r>
            <a:endParaRPr lang="en-US" dirty="0"/>
          </a:p>
        </p:txBody>
      </p:sp>
      <p:sp>
        <p:nvSpPr>
          <p:cNvPr id="3" name="Content Placeholder 2"/>
          <p:cNvSpPr>
            <a:spLocks noGrp="1"/>
          </p:cNvSpPr>
          <p:nvPr>
            <p:ph sz="quarter" idx="1"/>
          </p:nvPr>
        </p:nvSpPr>
        <p:spPr/>
        <p:txBody>
          <a:bodyPr/>
          <a:lstStyle/>
          <a:p>
            <a:pPr marL="0" indent="0" algn="l" rtl="0">
              <a:buNone/>
            </a:pPr>
            <a:r>
              <a:rPr lang="en-US" sz="2200" dirty="0">
                <a:latin typeface="Droid Sans Mono" panose="020B0609030804020204" pitchFamily="49" charset="0"/>
                <a:ea typeface="Droid Sans Mono" panose="020B0609030804020204" pitchFamily="49" charset="0"/>
                <a:cs typeface="Droid Sans Mono" panose="020B0609030804020204" pitchFamily="49" charset="0"/>
              </a:rPr>
              <a:t>#pragma </a:t>
            </a:r>
            <a:r>
              <a:rPr lang="en-US" sz="2200" dirty="0" err="1">
                <a:latin typeface="Droid Sans Mono" panose="020B0609030804020204" pitchFamily="49" charset="0"/>
                <a:ea typeface="Droid Sans Mono" panose="020B0609030804020204" pitchFamily="49" charset="0"/>
                <a:cs typeface="Droid Sans Mono" panose="020B0609030804020204" pitchFamily="49" charset="0"/>
              </a:rPr>
              <a:t>omp</a:t>
            </a:r>
            <a:r>
              <a:rPr lang="en-US" sz="2200" dirty="0">
                <a:latin typeface="Droid Sans Mono" panose="020B0609030804020204" pitchFamily="49" charset="0"/>
                <a:ea typeface="Droid Sans Mono" panose="020B0609030804020204" pitchFamily="49" charset="0"/>
                <a:cs typeface="Droid Sans Mono" panose="020B0609030804020204" pitchFamily="49" charset="0"/>
              </a:rPr>
              <a:t> parallel</a:t>
            </a:r>
          </a:p>
          <a:p>
            <a:pPr marL="0" indent="0" algn="l" rtl="0">
              <a:buNone/>
            </a:pPr>
            <a:r>
              <a:rPr lang="en-US" sz="2200" dirty="0">
                <a:latin typeface="Droid Sans Mono" panose="020B0609030804020204" pitchFamily="49" charset="0"/>
                <a:ea typeface="Droid Sans Mono" panose="020B0609030804020204" pitchFamily="49" charset="0"/>
                <a:cs typeface="Droid Sans Mono" panose="020B0609030804020204" pitchFamily="49" charset="0"/>
              </a:rPr>
              <a:t>{</a:t>
            </a:r>
          </a:p>
          <a:p>
            <a:pPr marL="0" indent="0" algn="l" rtl="0">
              <a:buNone/>
            </a:pPr>
            <a:r>
              <a:rPr lang="en-US" sz="2200" dirty="0">
                <a:latin typeface="Droid Sans Mono" panose="020B0609030804020204" pitchFamily="49" charset="0"/>
                <a:ea typeface="Droid Sans Mono" panose="020B0609030804020204" pitchFamily="49" charset="0"/>
                <a:cs typeface="Droid Sans Mono" panose="020B0609030804020204" pitchFamily="49" charset="0"/>
              </a:rPr>
              <a:t>   </a:t>
            </a:r>
            <a:r>
              <a:rPr lang="en-US" sz="2200" dirty="0" err="1">
                <a:latin typeface="Droid Sans Mono" panose="020B0609030804020204" pitchFamily="49" charset="0"/>
                <a:ea typeface="Droid Sans Mono" panose="020B0609030804020204" pitchFamily="49" charset="0"/>
                <a:cs typeface="Droid Sans Mono" panose="020B0609030804020204" pitchFamily="49" charset="0"/>
              </a:rPr>
              <a:t>int</a:t>
            </a:r>
            <a:r>
              <a:rPr lang="en-US" sz="2200" dirty="0">
                <a:latin typeface="Droid Sans Mono" panose="020B0609030804020204" pitchFamily="49" charset="0"/>
                <a:ea typeface="Droid Sans Mono" panose="020B0609030804020204" pitchFamily="49" charset="0"/>
                <a:cs typeface="Droid Sans Mono" panose="020B0609030804020204" pitchFamily="49" charset="0"/>
              </a:rPr>
              <a:t> id = </a:t>
            </a:r>
            <a:r>
              <a:rPr lang="en-US" sz="2200" dirty="0" err="1">
                <a:latin typeface="Droid Sans Mono" panose="020B0609030804020204" pitchFamily="49" charset="0"/>
                <a:ea typeface="Droid Sans Mono" panose="020B0609030804020204" pitchFamily="49" charset="0"/>
                <a:cs typeface="Droid Sans Mono" panose="020B0609030804020204" pitchFamily="49" charset="0"/>
              </a:rPr>
              <a:t>omp_get_thread_num</a:t>
            </a:r>
            <a:r>
              <a:rPr lang="en-US" sz="2200" dirty="0">
                <a:latin typeface="Droid Sans Mono" panose="020B0609030804020204" pitchFamily="49" charset="0"/>
                <a:ea typeface="Droid Sans Mono" panose="020B0609030804020204" pitchFamily="49" charset="0"/>
                <a:cs typeface="Droid Sans Mono" panose="020B0609030804020204" pitchFamily="49" charset="0"/>
              </a:rPr>
              <a:t>();</a:t>
            </a:r>
          </a:p>
          <a:p>
            <a:pPr marL="0" indent="0" algn="l" rtl="0">
              <a:buNone/>
            </a:pPr>
            <a:r>
              <a:rPr lang="en-US" sz="2200" dirty="0">
                <a:latin typeface="Droid Sans Mono" panose="020B0609030804020204" pitchFamily="49" charset="0"/>
                <a:ea typeface="Droid Sans Mono" panose="020B0609030804020204" pitchFamily="49" charset="0"/>
                <a:cs typeface="Droid Sans Mono" panose="020B0609030804020204" pitchFamily="49" charset="0"/>
              </a:rPr>
              <a:t>   A[id] = big_calc1(id);</a:t>
            </a:r>
          </a:p>
          <a:p>
            <a:pPr marL="0" indent="0" algn="l" rtl="0">
              <a:buNone/>
            </a:pPr>
            <a:endParaRPr lang="en-US" sz="2200" dirty="0">
              <a:latin typeface="Droid Sans Mono" panose="020B0609030804020204" pitchFamily="49" charset="0"/>
              <a:ea typeface="Droid Sans Mono" panose="020B0609030804020204" pitchFamily="49" charset="0"/>
              <a:cs typeface="Droid Sans Mono" panose="020B0609030804020204" pitchFamily="49" charset="0"/>
            </a:endParaRPr>
          </a:p>
          <a:p>
            <a:pPr marL="0" indent="0" algn="l" rtl="0">
              <a:buNone/>
            </a:pPr>
            <a:r>
              <a:rPr lang="en-US" sz="22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#pragma </a:t>
            </a:r>
            <a:r>
              <a:rPr lang="en-US" sz="2200"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omp</a:t>
            </a:r>
            <a:r>
              <a:rPr lang="en-US" sz="22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barrier</a:t>
            </a:r>
          </a:p>
          <a:p>
            <a:pPr marL="0" indent="0" algn="l" rtl="0">
              <a:buNone/>
            </a:pPr>
            <a:endParaRPr lang="en-US" sz="2200" dirty="0">
              <a:latin typeface="Droid Sans Mono" panose="020B0609030804020204" pitchFamily="49" charset="0"/>
              <a:ea typeface="Droid Sans Mono" panose="020B0609030804020204" pitchFamily="49" charset="0"/>
              <a:cs typeface="Droid Sans Mono" panose="020B0609030804020204" pitchFamily="49" charset="0"/>
            </a:endParaRPr>
          </a:p>
          <a:p>
            <a:pPr marL="0" indent="0" algn="l" rtl="0">
              <a:buNone/>
            </a:pPr>
            <a:r>
              <a:rPr lang="en-US" sz="2200" dirty="0">
                <a:latin typeface="Droid Sans Mono" panose="020B0609030804020204" pitchFamily="49" charset="0"/>
                <a:ea typeface="Droid Sans Mono" panose="020B0609030804020204" pitchFamily="49" charset="0"/>
                <a:cs typeface="Droid Sans Mono" panose="020B0609030804020204" pitchFamily="49" charset="0"/>
              </a:rPr>
              <a:t>   B[id] = big_calc2(</a:t>
            </a:r>
            <a:r>
              <a:rPr lang="en-US" sz="2200" dirty="0" err="1">
                <a:latin typeface="Droid Sans Mono" panose="020B0609030804020204" pitchFamily="49" charset="0"/>
                <a:ea typeface="Droid Sans Mono" panose="020B0609030804020204" pitchFamily="49" charset="0"/>
                <a:cs typeface="Droid Sans Mono" panose="020B0609030804020204" pitchFamily="49" charset="0"/>
              </a:rPr>
              <a:t>id,A</a:t>
            </a:r>
            <a:r>
              <a:rPr lang="en-US" sz="2200" dirty="0">
                <a:latin typeface="Droid Sans Mono" panose="020B0609030804020204" pitchFamily="49" charset="0"/>
                <a:ea typeface="Droid Sans Mono" panose="020B0609030804020204" pitchFamily="49" charset="0"/>
                <a:cs typeface="Droid Sans Mono" panose="020B0609030804020204" pitchFamily="49" charset="0"/>
              </a:rPr>
              <a:t>);</a:t>
            </a:r>
          </a:p>
          <a:p>
            <a:pPr marL="0" indent="0" algn="l" rtl="0">
              <a:buNone/>
            </a:pPr>
            <a:r>
              <a:rPr lang="en-US" sz="2200" dirty="0">
                <a:latin typeface="Droid Sans Mono" panose="020B0609030804020204" pitchFamily="49" charset="0"/>
                <a:ea typeface="Droid Sans Mono" panose="020B0609030804020204" pitchFamily="49" charset="0"/>
                <a:cs typeface="Droid Sans Mono" panose="020B0609030804020204" pitchFamily="49" charset="0"/>
              </a:rPr>
              <a:t>}</a:t>
            </a:r>
          </a:p>
        </p:txBody>
      </p:sp>
      <p:sp>
        <p:nvSpPr>
          <p:cNvPr id="4" name="Date Placeholder 3"/>
          <p:cNvSpPr>
            <a:spLocks noGrp="1"/>
          </p:cNvSpPr>
          <p:nvPr>
            <p:ph type="dt" sz="half" idx="10"/>
          </p:nvPr>
        </p:nvSpPr>
        <p:spPr/>
        <p:txBody>
          <a:bodyPr/>
          <a:lstStyle/>
          <a:p>
            <a:pPr>
              <a:defRPr/>
            </a:pPr>
            <a:r>
              <a:rPr lang="en-US" altLang="en-US"/>
              <a:t>Parallel Processing</a:t>
            </a:r>
          </a:p>
        </p:txBody>
      </p:sp>
      <p:sp>
        <p:nvSpPr>
          <p:cNvPr id="5" name="Footer Placeholder 4"/>
          <p:cNvSpPr>
            <a:spLocks noGrp="1"/>
          </p:cNvSpPr>
          <p:nvPr>
            <p:ph type="ftr" sz="quarter" idx="11"/>
          </p:nvPr>
        </p:nvSpPr>
        <p:spPr/>
        <p:txBody>
          <a:bodyPr/>
          <a:lstStyle/>
          <a:p>
            <a:pPr>
              <a:defRPr/>
            </a:pPr>
            <a:r>
              <a:rPr lang="en-US" altLang="en-US"/>
              <a:t>7. OpenMP</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A9DCC621-7EE1-4E7E-9D9E-207B534D683D}" type="slidenum">
              <a:rPr lang="en-US" altLang="en-US" smtClean="0"/>
              <a:pPr>
                <a:defRPr/>
              </a:pPr>
              <a:t>28</a:t>
            </a:fld>
            <a:endParaRPr lang="en-US" altLang="en-US" dirty="0"/>
          </a:p>
        </p:txBody>
      </p:sp>
      <p:sp>
        <p:nvSpPr>
          <p:cNvPr id="7" name="Rectangle 6"/>
          <p:cNvSpPr/>
          <p:nvPr/>
        </p:nvSpPr>
        <p:spPr>
          <a:xfrm>
            <a:off x="5382987" y="3352800"/>
            <a:ext cx="3352799" cy="4572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2000" b="1" dirty="0">
                <a:solidFill>
                  <a:srgbClr val="0000FF"/>
                </a:solidFill>
                <a:cs typeface="B Nazanin" panose="00000400000000000000" pitchFamily="2" charset="-78"/>
              </a:rPr>
              <a:t>چرا اینجا به مانع نیاز است؟</a:t>
            </a:r>
            <a:endParaRPr lang="en-US" sz="2000" b="1" dirty="0">
              <a:solidFill>
                <a:srgbClr val="0000FF"/>
              </a:solidFill>
              <a:cs typeface="B Nazanin" panose="00000400000000000000" pitchFamily="2" charset="-78"/>
            </a:endParaRPr>
          </a:p>
        </p:txBody>
      </p:sp>
      <p:cxnSp>
        <p:nvCxnSpPr>
          <p:cNvPr id="8" name="Straight Arrow Connector 7"/>
          <p:cNvCxnSpPr>
            <a:stCxn id="7" idx="1"/>
          </p:cNvCxnSpPr>
          <p:nvPr/>
        </p:nvCxnSpPr>
        <p:spPr>
          <a:xfrm flipH="1">
            <a:off x="4495801" y="3581400"/>
            <a:ext cx="887186"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74400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چگونه یک مانع بسازیم؟</a:t>
            </a:r>
            <a:endParaRPr lang="en-US" dirty="0"/>
          </a:p>
        </p:txBody>
      </p:sp>
      <p:sp>
        <p:nvSpPr>
          <p:cNvPr id="3" name="Content Placeholder 2"/>
          <p:cNvSpPr>
            <a:spLocks noGrp="1"/>
          </p:cNvSpPr>
          <p:nvPr>
            <p:ph sz="quarter" idx="1"/>
          </p:nvPr>
        </p:nvSpPr>
        <p:spPr/>
        <p:txBody>
          <a:bodyPr/>
          <a:lstStyle/>
          <a:p>
            <a:r>
              <a:rPr lang="en-US" dirty="0"/>
              <a:t>Software Implementation</a:t>
            </a:r>
          </a:p>
          <a:p>
            <a:pPr lvl="1"/>
            <a:r>
              <a:rPr lang="en-US" dirty="0">
                <a:solidFill>
                  <a:srgbClr val="0000FF"/>
                </a:solidFill>
              </a:rPr>
              <a:t>use low-level synchronization mechanisms (e.g. locks)</a:t>
            </a:r>
          </a:p>
          <a:p>
            <a:endParaRPr lang="en-US" dirty="0"/>
          </a:p>
          <a:p>
            <a:endParaRPr lang="en-US" dirty="0"/>
          </a:p>
          <a:p>
            <a:endParaRPr lang="en-US" dirty="0"/>
          </a:p>
          <a:p>
            <a:endParaRPr lang="en-US" dirty="0"/>
          </a:p>
          <a:p>
            <a:endParaRPr lang="en-US" dirty="0"/>
          </a:p>
          <a:p>
            <a:r>
              <a:rPr lang="en-US" dirty="0"/>
              <a:t>Hardware Implementation</a:t>
            </a:r>
          </a:p>
          <a:p>
            <a:pPr lvl="1"/>
            <a:r>
              <a:rPr lang="en-US" dirty="0">
                <a:solidFill>
                  <a:srgbClr val="0000FF"/>
                </a:solidFill>
              </a:rPr>
              <a:t>dedicated bus with open-collector connection?</a:t>
            </a:r>
          </a:p>
        </p:txBody>
      </p:sp>
      <p:sp>
        <p:nvSpPr>
          <p:cNvPr id="4" name="Date Placeholder 3"/>
          <p:cNvSpPr>
            <a:spLocks noGrp="1"/>
          </p:cNvSpPr>
          <p:nvPr>
            <p:ph type="dt" sz="half" idx="10"/>
          </p:nvPr>
        </p:nvSpPr>
        <p:spPr/>
        <p:txBody>
          <a:bodyPr/>
          <a:lstStyle/>
          <a:p>
            <a:pPr>
              <a:defRPr/>
            </a:pPr>
            <a:r>
              <a:rPr lang="en-US" altLang="en-US"/>
              <a:t>Parallel Processing</a:t>
            </a:r>
          </a:p>
        </p:txBody>
      </p:sp>
      <p:sp>
        <p:nvSpPr>
          <p:cNvPr id="5" name="Footer Placeholder 4"/>
          <p:cNvSpPr>
            <a:spLocks noGrp="1"/>
          </p:cNvSpPr>
          <p:nvPr>
            <p:ph type="ftr" sz="quarter" idx="11"/>
          </p:nvPr>
        </p:nvSpPr>
        <p:spPr/>
        <p:txBody>
          <a:bodyPr/>
          <a:lstStyle/>
          <a:p>
            <a:pPr>
              <a:defRPr/>
            </a:pPr>
            <a:r>
              <a:rPr lang="en-US" altLang="en-US"/>
              <a:t>7. OpenMP</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A9DCC621-7EE1-4E7E-9D9E-207B534D683D}" type="slidenum">
              <a:rPr lang="en-US" altLang="en-US" smtClean="0"/>
              <a:pPr>
                <a:defRPr/>
              </a:pPr>
              <a:t>29</a:t>
            </a:fld>
            <a:endParaRPr lang="en-US" altLang="en-US" dirty="0"/>
          </a:p>
        </p:txBody>
      </p:sp>
      <p:sp>
        <p:nvSpPr>
          <p:cNvPr id="7" name="TextBox 6"/>
          <p:cNvSpPr txBox="1"/>
          <p:nvPr/>
        </p:nvSpPr>
        <p:spPr>
          <a:xfrm>
            <a:off x="1447800" y="2317532"/>
            <a:ext cx="6221575" cy="2492990"/>
          </a:xfrm>
          <a:prstGeom prst="rect">
            <a:avLst/>
          </a:prstGeom>
          <a:ln w="38100"/>
        </p:spPr>
        <p:style>
          <a:lnRef idx="2">
            <a:schemeClr val="accent2"/>
          </a:lnRef>
          <a:fillRef idx="1">
            <a:schemeClr val="lt1"/>
          </a:fillRef>
          <a:effectRef idx="0">
            <a:schemeClr val="accent2"/>
          </a:effectRef>
          <a:fontRef idx="minor">
            <a:schemeClr val="dk1"/>
          </a:fontRef>
        </p:style>
        <p:txBody>
          <a:bodyPr wrap="none" rtlCol="0">
            <a:spAutoFit/>
          </a:bodyPr>
          <a:lstStyle/>
          <a:p>
            <a:pPr>
              <a:spcBef>
                <a:spcPts val="600"/>
              </a:spcBef>
            </a:pPr>
            <a:r>
              <a:rPr lang="en-US" dirty="0">
                <a:latin typeface="Droid Sans Mono" panose="020B0609030804020204" pitchFamily="49" charset="0"/>
                <a:ea typeface="Droid Sans Mono" panose="020B0609030804020204" pitchFamily="49" charset="0"/>
                <a:cs typeface="Droid Sans Mono" panose="020B0609030804020204" pitchFamily="49" charset="0"/>
              </a:rPr>
              <a:t>INIT BAR=0</a:t>
            </a:r>
          </a:p>
          <a:p>
            <a:pPr>
              <a:spcBef>
                <a:spcPts val="600"/>
              </a:spcBef>
            </a:pPr>
            <a:r>
              <a:rPr lang="en-US" b="1"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Thread1 			Thread2</a:t>
            </a:r>
          </a:p>
          <a:p>
            <a:pPr>
              <a:spcBef>
                <a:spcPts val="600"/>
              </a:spcBef>
            </a:pPr>
            <a:r>
              <a:rPr lang="en-US" dirty="0">
                <a:latin typeface="Droid Sans Mono" panose="020B0609030804020204" pitchFamily="49" charset="0"/>
                <a:ea typeface="Droid Sans Mono" panose="020B0609030804020204" pitchFamily="49" charset="0"/>
                <a:cs typeface="Droid Sans Mono" panose="020B0609030804020204" pitchFamily="49" charset="0"/>
              </a:rPr>
              <a:t>... 				...</a:t>
            </a:r>
          </a:p>
          <a:p>
            <a:pPr>
              <a:spcBef>
                <a:spcPts val="600"/>
              </a:spcBef>
            </a:pPr>
            <a:r>
              <a:rPr lang="en-US" dirty="0">
                <a:latin typeface="Droid Sans Mono" panose="020B0609030804020204" pitchFamily="49" charset="0"/>
                <a:ea typeface="Droid Sans Mono" panose="020B0609030804020204" pitchFamily="49" charset="0"/>
                <a:cs typeface="Droid Sans Mono" panose="020B0609030804020204" pitchFamily="49" charset="0"/>
              </a:rPr>
              <a:t>Lock(</a:t>
            </a:r>
            <a:r>
              <a:rPr lang="en-US" dirty="0" err="1">
                <a:latin typeface="Droid Sans Mono" panose="020B0609030804020204" pitchFamily="49" charset="0"/>
                <a:ea typeface="Droid Sans Mono" panose="020B0609030804020204" pitchFamily="49" charset="0"/>
                <a:cs typeface="Droid Sans Mono" panose="020B0609030804020204" pitchFamily="49" charset="0"/>
              </a:rPr>
              <a:t>bar_lock</a:t>
            </a:r>
            <a:r>
              <a:rPr lang="en-US" dirty="0">
                <a:latin typeface="Droid Sans Mono" panose="020B0609030804020204" pitchFamily="49" charset="0"/>
                <a:ea typeface="Droid Sans Mono" panose="020B0609030804020204" pitchFamily="49" charset="0"/>
                <a:cs typeface="Droid Sans Mono" panose="020B0609030804020204" pitchFamily="49" charset="0"/>
              </a:rPr>
              <a:t>); 		Lock(</a:t>
            </a:r>
            <a:r>
              <a:rPr lang="en-US" dirty="0" err="1">
                <a:latin typeface="Droid Sans Mono" panose="020B0609030804020204" pitchFamily="49" charset="0"/>
                <a:ea typeface="Droid Sans Mono" panose="020B0609030804020204" pitchFamily="49" charset="0"/>
                <a:cs typeface="Droid Sans Mono" panose="020B0609030804020204" pitchFamily="49" charset="0"/>
              </a:rPr>
              <a:t>bar_lock</a:t>
            </a:r>
            <a:r>
              <a:rPr lang="en-US" dirty="0">
                <a:latin typeface="Droid Sans Mono" panose="020B0609030804020204" pitchFamily="49" charset="0"/>
                <a:ea typeface="Droid Sans Mono" panose="020B0609030804020204" pitchFamily="49" charset="0"/>
                <a:cs typeface="Droid Sans Mono" panose="020B0609030804020204" pitchFamily="49" charset="0"/>
              </a:rPr>
              <a:t>);</a:t>
            </a:r>
          </a:p>
          <a:p>
            <a:pPr>
              <a:spcBef>
                <a:spcPts val="600"/>
              </a:spcBef>
            </a:pPr>
            <a:r>
              <a:rPr lang="en-US" dirty="0">
                <a:latin typeface="Droid Sans Mono" panose="020B0609030804020204" pitchFamily="49" charset="0"/>
                <a:ea typeface="Droid Sans Mono" panose="020B0609030804020204" pitchFamily="49" charset="0"/>
                <a:cs typeface="Droid Sans Mono" panose="020B0609030804020204" pitchFamily="49" charset="0"/>
              </a:rPr>
              <a:t>BAR= BAR+1 ; 			BAR= BAR +1;</a:t>
            </a:r>
          </a:p>
          <a:p>
            <a:pPr>
              <a:spcBef>
                <a:spcPts val="600"/>
              </a:spcBef>
            </a:pPr>
            <a:r>
              <a:rPr lang="en-US" dirty="0">
                <a:latin typeface="Droid Sans Mono" panose="020B0609030804020204" pitchFamily="49" charset="0"/>
                <a:ea typeface="Droid Sans Mono" panose="020B0609030804020204" pitchFamily="49" charset="0"/>
                <a:cs typeface="Droid Sans Mono" panose="020B0609030804020204" pitchFamily="49" charset="0"/>
              </a:rPr>
              <a:t>Unlock(</a:t>
            </a:r>
            <a:r>
              <a:rPr lang="en-US" dirty="0" err="1">
                <a:latin typeface="Droid Sans Mono" panose="020B0609030804020204" pitchFamily="49" charset="0"/>
                <a:ea typeface="Droid Sans Mono" panose="020B0609030804020204" pitchFamily="49" charset="0"/>
                <a:cs typeface="Droid Sans Mono" panose="020B0609030804020204" pitchFamily="49" charset="0"/>
              </a:rPr>
              <a:t>bar_lock</a:t>
            </a:r>
            <a:r>
              <a:rPr lang="en-US" dirty="0">
                <a:latin typeface="Droid Sans Mono" panose="020B0609030804020204" pitchFamily="49" charset="0"/>
                <a:ea typeface="Droid Sans Mono" panose="020B0609030804020204" pitchFamily="49" charset="0"/>
                <a:cs typeface="Droid Sans Mono" panose="020B0609030804020204" pitchFamily="49" charset="0"/>
              </a:rPr>
              <a:t>); 		Unlock(</a:t>
            </a:r>
            <a:r>
              <a:rPr lang="en-US" dirty="0" err="1">
                <a:latin typeface="Droid Sans Mono" panose="020B0609030804020204" pitchFamily="49" charset="0"/>
                <a:ea typeface="Droid Sans Mono" panose="020B0609030804020204" pitchFamily="49" charset="0"/>
                <a:cs typeface="Droid Sans Mono" panose="020B0609030804020204" pitchFamily="49" charset="0"/>
              </a:rPr>
              <a:t>bar_lock</a:t>
            </a:r>
            <a:r>
              <a:rPr lang="en-US" dirty="0">
                <a:latin typeface="Droid Sans Mono" panose="020B0609030804020204" pitchFamily="49" charset="0"/>
                <a:ea typeface="Droid Sans Mono" panose="020B0609030804020204" pitchFamily="49" charset="0"/>
                <a:cs typeface="Droid Sans Mono" panose="020B0609030804020204" pitchFamily="49" charset="0"/>
              </a:rPr>
              <a:t>);</a:t>
            </a:r>
          </a:p>
          <a:p>
            <a:pPr>
              <a:spcBef>
                <a:spcPts val="600"/>
              </a:spcBef>
            </a:pPr>
            <a:r>
              <a:rPr lang="en-US" dirty="0">
                <a:latin typeface="Droid Sans Mono" panose="020B0609030804020204" pitchFamily="49" charset="0"/>
                <a:ea typeface="Droid Sans Mono" panose="020B0609030804020204" pitchFamily="49" charset="0"/>
                <a:cs typeface="Droid Sans Mono" panose="020B0609030804020204" pitchFamily="49" charset="0"/>
              </a:rPr>
              <a:t>while (BAR &lt; 2); 		while (BAR &lt; 2);</a:t>
            </a:r>
          </a:p>
        </p:txBody>
      </p:sp>
    </p:spTree>
    <p:extLst>
      <p:ext uri="{BB962C8B-B14F-4D97-AF65-F5344CB8AC3E}">
        <p14:creationId xmlns:p14="http://schemas.microsoft.com/office/powerpoint/2010/main" val="19599777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ناحیه بحرانی</a:t>
            </a:r>
            <a:endParaRPr lang="en-US" dirty="0"/>
          </a:p>
        </p:txBody>
      </p:sp>
      <p:sp>
        <p:nvSpPr>
          <p:cNvPr id="4" name="Date Placeholder 3"/>
          <p:cNvSpPr>
            <a:spLocks noGrp="1"/>
          </p:cNvSpPr>
          <p:nvPr>
            <p:ph type="dt" sz="half" idx="10"/>
          </p:nvPr>
        </p:nvSpPr>
        <p:spPr/>
        <p:txBody>
          <a:bodyPr/>
          <a:lstStyle/>
          <a:p>
            <a:pPr>
              <a:defRPr/>
            </a:pPr>
            <a:r>
              <a:rPr lang="en-US" altLang="en-US"/>
              <a:t>Parallel Processing</a:t>
            </a:r>
          </a:p>
        </p:txBody>
      </p:sp>
      <p:sp>
        <p:nvSpPr>
          <p:cNvPr id="5" name="Footer Placeholder 4"/>
          <p:cNvSpPr>
            <a:spLocks noGrp="1"/>
          </p:cNvSpPr>
          <p:nvPr>
            <p:ph type="ftr" sz="quarter" idx="11"/>
          </p:nvPr>
        </p:nvSpPr>
        <p:spPr/>
        <p:txBody>
          <a:bodyPr/>
          <a:lstStyle/>
          <a:p>
            <a:pPr>
              <a:defRPr/>
            </a:pPr>
            <a:r>
              <a:rPr lang="en-US" altLang="en-US"/>
              <a:t>7. OpenMP</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A9DCC621-7EE1-4E7E-9D9E-207B534D683D}" type="slidenum">
              <a:rPr lang="en-US" altLang="en-US" smtClean="0"/>
              <a:pPr>
                <a:defRPr/>
              </a:pPr>
              <a:t>30</a:t>
            </a:fld>
            <a:endParaRPr lang="en-US" altLang="en-US" dirty="0"/>
          </a:p>
        </p:txBody>
      </p:sp>
      <p:sp>
        <p:nvSpPr>
          <p:cNvPr id="3" name="Content Placeholder 2"/>
          <p:cNvSpPr>
            <a:spLocks noGrp="1"/>
          </p:cNvSpPr>
          <p:nvPr>
            <p:ph sz="quarter" idx="1"/>
          </p:nvPr>
        </p:nvSpPr>
        <p:spPr/>
        <p:txBody>
          <a:bodyPr/>
          <a:lstStyle/>
          <a:p>
            <a:pPr algn="r"/>
            <a:r>
              <a:rPr lang="fa-IR" dirty="0"/>
              <a:t>انحصار متقابل </a:t>
            </a:r>
            <a:r>
              <a:rPr lang="en-US" dirty="0"/>
              <a:t> Mutual Exclusion</a:t>
            </a:r>
            <a:r>
              <a:rPr lang="fa-IR" dirty="0"/>
              <a:t>یا </a:t>
            </a:r>
            <a:r>
              <a:rPr lang="fa-IR" dirty="0">
                <a:solidFill>
                  <a:srgbClr val="FF0000"/>
                </a:solidFill>
              </a:rPr>
              <a:t>ناحیه بحرانی</a:t>
            </a:r>
            <a:endParaRPr lang="en-US" dirty="0">
              <a:solidFill>
                <a:srgbClr val="FF0000"/>
              </a:solidFill>
            </a:endParaRPr>
          </a:p>
          <a:p>
            <a:pPr lvl="1" algn="r"/>
            <a:r>
              <a:rPr lang="fa-IR" dirty="0">
                <a:solidFill>
                  <a:srgbClr val="0000FF"/>
                </a:solidFill>
              </a:rPr>
              <a:t>بلوکی از کد که در هر زمان فقط</a:t>
            </a:r>
          </a:p>
          <a:p>
            <a:pPr marL="366713" lvl="1" indent="0" algn="r">
              <a:buNone/>
            </a:pPr>
            <a:r>
              <a:rPr lang="fa-IR" dirty="0">
                <a:solidFill>
                  <a:srgbClr val="0000FF"/>
                </a:solidFill>
              </a:rPr>
              <a:t>یک نخ اجازه ورود به آن را دارد.</a:t>
            </a:r>
            <a:endParaRPr lang="en-US" dirty="0">
              <a:solidFill>
                <a:srgbClr val="0000FF"/>
              </a:solidFill>
            </a:endParaRPr>
          </a:p>
          <a:p>
            <a:pPr algn="r"/>
            <a:endParaRPr lang="en-US" dirty="0"/>
          </a:p>
          <a:p>
            <a:pPr lvl="1" algn="r"/>
            <a:endParaRPr lang="en-US" dirty="0">
              <a:solidFill>
                <a:srgbClr val="0000FF"/>
              </a:solidFill>
            </a:endParaRPr>
          </a:p>
        </p:txBody>
      </p:sp>
      <p:pic>
        <p:nvPicPr>
          <p:cNvPr id="10"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r="73228"/>
          <a:stretch/>
        </p:blipFill>
        <p:spPr bwMode="auto">
          <a:xfrm rot="16200000">
            <a:off x="2247898" y="2171702"/>
            <a:ext cx="1676401" cy="403859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7069361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ناحیه بحرانی: مثال</a:t>
            </a:r>
            <a:endParaRPr lang="en-US" dirty="0"/>
          </a:p>
        </p:txBody>
      </p:sp>
      <p:sp>
        <p:nvSpPr>
          <p:cNvPr id="4" name="Date Placeholder 3"/>
          <p:cNvSpPr>
            <a:spLocks noGrp="1"/>
          </p:cNvSpPr>
          <p:nvPr>
            <p:ph type="dt" sz="half" idx="10"/>
          </p:nvPr>
        </p:nvSpPr>
        <p:spPr/>
        <p:txBody>
          <a:bodyPr/>
          <a:lstStyle/>
          <a:p>
            <a:pPr>
              <a:defRPr/>
            </a:pPr>
            <a:r>
              <a:rPr lang="en-US" altLang="en-US"/>
              <a:t>Parallel Processing</a:t>
            </a:r>
          </a:p>
        </p:txBody>
      </p:sp>
      <p:sp>
        <p:nvSpPr>
          <p:cNvPr id="5" name="Footer Placeholder 4"/>
          <p:cNvSpPr>
            <a:spLocks noGrp="1"/>
          </p:cNvSpPr>
          <p:nvPr>
            <p:ph type="ftr" sz="quarter" idx="11"/>
          </p:nvPr>
        </p:nvSpPr>
        <p:spPr/>
        <p:txBody>
          <a:bodyPr/>
          <a:lstStyle/>
          <a:p>
            <a:pPr>
              <a:defRPr/>
            </a:pPr>
            <a:r>
              <a:rPr lang="en-US" altLang="en-US"/>
              <a:t>7. OpenMP</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A9DCC621-7EE1-4E7E-9D9E-207B534D683D}" type="slidenum">
              <a:rPr lang="en-US" altLang="en-US" smtClean="0"/>
              <a:pPr>
                <a:defRPr/>
              </a:pPr>
              <a:t>31</a:t>
            </a:fld>
            <a:endParaRPr lang="en-US" altLang="en-US" dirty="0"/>
          </a:p>
        </p:txBody>
      </p:sp>
      <p:sp>
        <p:nvSpPr>
          <p:cNvPr id="7" name="Content Placeholder 2"/>
          <p:cNvSpPr>
            <a:spLocks noGrp="1"/>
          </p:cNvSpPr>
          <p:nvPr>
            <p:ph sz="quarter" idx="1"/>
          </p:nvPr>
        </p:nvSpPr>
        <p:spPr>
          <a:xfrm>
            <a:off x="609600" y="1219200"/>
            <a:ext cx="8153400" cy="4876800"/>
          </a:xfrm>
        </p:spPr>
        <p:txBody>
          <a:bodyPr/>
          <a:lstStyle/>
          <a:p>
            <a:pPr marL="0" indent="0" algn="l" rtl="0">
              <a:buNone/>
            </a:pPr>
            <a:r>
              <a:rPr lang="en-US" sz="2200" dirty="0">
                <a:latin typeface="Droid Sans Mono" panose="020B0609030804020204" pitchFamily="49" charset="0"/>
                <a:ea typeface="Droid Sans Mono" panose="020B0609030804020204" pitchFamily="49" charset="0"/>
                <a:cs typeface="Droid Sans Mono" panose="020B0609030804020204" pitchFamily="49" charset="0"/>
              </a:rPr>
              <a:t>float res;</a:t>
            </a:r>
          </a:p>
          <a:p>
            <a:pPr marL="0" indent="0" algn="l" rtl="0">
              <a:buNone/>
            </a:pPr>
            <a:r>
              <a:rPr lang="en-US" sz="2200" dirty="0">
                <a:latin typeface="Droid Sans Mono" panose="020B0609030804020204" pitchFamily="49" charset="0"/>
                <a:ea typeface="Droid Sans Mono" panose="020B0609030804020204" pitchFamily="49" charset="0"/>
                <a:cs typeface="Droid Sans Mono" panose="020B0609030804020204" pitchFamily="49" charset="0"/>
              </a:rPr>
              <a:t>#pragma </a:t>
            </a:r>
            <a:r>
              <a:rPr lang="en-US" sz="2200" dirty="0" err="1">
                <a:latin typeface="Droid Sans Mono" panose="020B0609030804020204" pitchFamily="49" charset="0"/>
                <a:ea typeface="Droid Sans Mono" panose="020B0609030804020204" pitchFamily="49" charset="0"/>
                <a:cs typeface="Droid Sans Mono" panose="020B0609030804020204" pitchFamily="49" charset="0"/>
              </a:rPr>
              <a:t>omp</a:t>
            </a:r>
            <a:r>
              <a:rPr lang="en-US" sz="2200" dirty="0">
                <a:latin typeface="Droid Sans Mono" panose="020B0609030804020204" pitchFamily="49" charset="0"/>
                <a:ea typeface="Droid Sans Mono" panose="020B0609030804020204" pitchFamily="49" charset="0"/>
                <a:cs typeface="Droid Sans Mono" panose="020B0609030804020204" pitchFamily="49" charset="0"/>
              </a:rPr>
              <a:t> parallel</a:t>
            </a:r>
          </a:p>
          <a:p>
            <a:pPr marL="0" indent="0" algn="l" rtl="0">
              <a:buNone/>
            </a:pPr>
            <a:r>
              <a:rPr lang="en-US" sz="2200" dirty="0">
                <a:latin typeface="Droid Sans Mono" panose="020B0609030804020204" pitchFamily="49" charset="0"/>
                <a:ea typeface="Droid Sans Mono" panose="020B0609030804020204" pitchFamily="49" charset="0"/>
                <a:cs typeface="Droid Sans Mono" panose="020B0609030804020204" pitchFamily="49" charset="0"/>
              </a:rPr>
              <a:t>{</a:t>
            </a:r>
          </a:p>
          <a:p>
            <a:pPr marL="0" indent="0" algn="l" rtl="0">
              <a:buNone/>
            </a:pPr>
            <a:r>
              <a:rPr lang="en-US" sz="2200" dirty="0">
                <a:latin typeface="Droid Sans Mono" panose="020B0609030804020204" pitchFamily="49" charset="0"/>
                <a:ea typeface="Droid Sans Mono" panose="020B0609030804020204" pitchFamily="49" charset="0"/>
                <a:cs typeface="Droid Sans Mono" panose="020B0609030804020204" pitchFamily="49" charset="0"/>
              </a:rPr>
              <a:t>   float B, </a:t>
            </a:r>
            <a:r>
              <a:rPr lang="en-US" sz="2200" dirty="0" err="1">
                <a:latin typeface="Droid Sans Mono" panose="020B0609030804020204" pitchFamily="49" charset="0"/>
                <a:ea typeface="Droid Sans Mono" panose="020B0609030804020204" pitchFamily="49" charset="0"/>
                <a:cs typeface="Droid Sans Mono" panose="020B0609030804020204" pitchFamily="49" charset="0"/>
              </a:rPr>
              <a:t>int</a:t>
            </a:r>
            <a:r>
              <a:rPr lang="en-US" sz="2200" dirty="0">
                <a:latin typeface="Droid Sans Mono" panose="020B0609030804020204" pitchFamily="49" charset="0"/>
                <a:ea typeface="Droid Sans Mono" panose="020B0609030804020204" pitchFamily="49" charset="0"/>
                <a:cs typeface="Droid Sans Mono" panose="020B0609030804020204" pitchFamily="49" charset="0"/>
              </a:rPr>
              <a:t> </a:t>
            </a:r>
            <a:r>
              <a:rPr lang="en-US" sz="2200" dirty="0" err="1">
                <a:latin typeface="Droid Sans Mono" panose="020B0609030804020204" pitchFamily="49" charset="0"/>
                <a:ea typeface="Droid Sans Mono" panose="020B0609030804020204" pitchFamily="49" charset="0"/>
                <a:cs typeface="Droid Sans Mono" panose="020B0609030804020204" pitchFamily="49" charset="0"/>
              </a:rPr>
              <a:t>i</a:t>
            </a:r>
            <a:r>
              <a:rPr lang="en-US" sz="2200" dirty="0">
                <a:latin typeface="Droid Sans Mono" panose="020B0609030804020204" pitchFamily="49" charset="0"/>
                <a:ea typeface="Droid Sans Mono" panose="020B0609030804020204" pitchFamily="49" charset="0"/>
                <a:cs typeface="Droid Sans Mono" panose="020B0609030804020204" pitchFamily="49" charset="0"/>
              </a:rPr>
              <a:t>, id, </a:t>
            </a:r>
            <a:r>
              <a:rPr lang="en-US" sz="2200" dirty="0" err="1">
                <a:latin typeface="Droid Sans Mono" panose="020B0609030804020204" pitchFamily="49" charset="0"/>
                <a:ea typeface="Droid Sans Mono" panose="020B0609030804020204" pitchFamily="49" charset="0"/>
                <a:cs typeface="Droid Sans Mono" panose="020B0609030804020204" pitchFamily="49" charset="0"/>
              </a:rPr>
              <a:t>nthrds</a:t>
            </a:r>
            <a:r>
              <a:rPr lang="en-US" sz="2200" dirty="0">
                <a:latin typeface="Droid Sans Mono" panose="020B0609030804020204" pitchFamily="49" charset="0"/>
                <a:ea typeface="Droid Sans Mono" panose="020B0609030804020204" pitchFamily="49" charset="0"/>
                <a:cs typeface="Droid Sans Mono" panose="020B0609030804020204" pitchFamily="49" charset="0"/>
              </a:rPr>
              <a:t>;</a:t>
            </a:r>
          </a:p>
          <a:p>
            <a:pPr marL="0" indent="0" algn="l" rtl="0">
              <a:buNone/>
            </a:pPr>
            <a:r>
              <a:rPr lang="en-US" sz="2200" dirty="0">
                <a:latin typeface="Droid Sans Mono" panose="020B0609030804020204" pitchFamily="49" charset="0"/>
                <a:ea typeface="Droid Sans Mono" panose="020B0609030804020204" pitchFamily="49" charset="0"/>
                <a:cs typeface="Droid Sans Mono" panose="020B0609030804020204" pitchFamily="49" charset="0"/>
              </a:rPr>
              <a:t>   id = </a:t>
            </a:r>
            <a:r>
              <a:rPr lang="en-US" sz="2200" dirty="0" err="1">
                <a:latin typeface="Droid Sans Mono" panose="020B0609030804020204" pitchFamily="49" charset="0"/>
                <a:ea typeface="Droid Sans Mono" panose="020B0609030804020204" pitchFamily="49" charset="0"/>
                <a:cs typeface="Droid Sans Mono" panose="020B0609030804020204" pitchFamily="49" charset="0"/>
              </a:rPr>
              <a:t>omp_get_thread_num</a:t>
            </a:r>
            <a:r>
              <a:rPr lang="en-US" sz="2200" dirty="0">
                <a:latin typeface="Droid Sans Mono" panose="020B0609030804020204" pitchFamily="49" charset="0"/>
                <a:ea typeface="Droid Sans Mono" panose="020B0609030804020204" pitchFamily="49" charset="0"/>
                <a:cs typeface="Droid Sans Mono" panose="020B0609030804020204" pitchFamily="49" charset="0"/>
              </a:rPr>
              <a:t>();</a:t>
            </a:r>
          </a:p>
          <a:p>
            <a:pPr marL="0" indent="0" algn="l" rtl="0">
              <a:buNone/>
            </a:pPr>
            <a:r>
              <a:rPr lang="en-US" sz="2200" dirty="0">
                <a:latin typeface="Droid Sans Mono" panose="020B0609030804020204" pitchFamily="49" charset="0"/>
                <a:ea typeface="Droid Sans Mono" panose="020B0609030804020204" pitchFamily="49" charset="0"/>
                <a:cs typeface="Droid Sans Mono" panose="020B0609030804020204" pitchFamily="49" charset="0"/>
              </a:rPr>
              <a:t>   </a:t>
            </a:r>
            <a:r>
              <a:rPr lang="en-US" sz="2200" dirty="0" err="1">
                <a:latin typeface="Droid Sans Mono" panose="020B0609030804020204" pitchFamily="49" charset="0"/>
                <a:ea typeface="Droid Sans Mono" panose="020B0609030804020204" pitchFamily="49" charset="0"/>
                <a:cs typeface="Droid Sans Mono" panose="020B0609030804020204" pitchFamily="49" charset="0"/>
              </a:rPr>
              <a:t>nthrds</a:t>
            </a:r>
            <a:r>
              <a:rPr lang="en-US" sz="2200" dirty="0">
                <a:latin typeface="Droid Sans Mono" panose="020B0609030804020204" pitchFamily="49" charset="0"/>
                <a:ea typeface="Droid Sans Mono" panose="020B0609030804020204" pitchFamily="49" charset="0"/>
                <a:cs typeface="Droid Sans Mono" panose="020B0609030804020204" pitchFamily="49" charset="0"/>
              </a:rPr>
              <a:t> = </a:t>
            </a:r>
            <a:r>
              <a:rPr lang="en-US" sz="2200" dirty="0" err="1">
                <a:latin typeface="Droid Sans Mono" panose="020B0609030804020204" pitchFamily="49" charset="0"/>
                <a:ea typeface="Droid Sans Mono" panose="020B0609030804020204" pitchFamily="49" charset="0"/>
                <a:cs typeface="Droid Sans Mono" panose="020B0609030804020204" pitchFamily="49" charset="0"/>
              </a:rPr>
              <a:t>omp_get_num_threads</a:t>
            </a:r>
            <a:r>
              <a:rPr lang="en-US" sz="2200" dirty="0">
                <a:latin typeface="Droid Sans Mono" panose="020B0609030804020204" pitchFamily="49" charset="0"/>
                <a:ea typeface="Droid Sans Mono" panose="020B0609030804020204" pitchFamily="49" charset="0"/>
                <a:cs typeface="Droid Sans Mono" panose="020B0609030804020204" pitchFamily="49" charset="0"/>
              </a:rPr>
              <a:t>();</a:t>
            </a:r>
          </a:p>
          <a:p>
            <a:pPr marL="0" indent="0" algn="l" rtl="0">
              <a:buNone/>
            </a:pPr>
            <a:r>
              <a:rPr lang="en-US" sz="2200" dirty="0">
                <a:latin typeface="Droid Sans Mono" panose="020B0609030804020204" pitchFamily="49" charset="0"/>
                <a:ea typeface="Droid Sans Mono" panose="020B0609030804020204" pitchFamily="49" charset="0"/>
                <a:cs typeface="Droid Sans Mono" panose="020B0609030804020204" pitchFamily="49" charset="0"/>
              </a:rPr>
              <a:t>   for (</a:t>
            </a:r>
            <a:r>
              <a:rPr lang="en-US" sz="2200" dirty="0" err="1">
                <a:latin typeface="Droid Sans Mono" panose="020B0609030804020204" pitchFamily="49" charset="0"/>
                <a:ea typeface="Droid Sans Mono" panose="020B0609030804020204" pitchFamily="49" charset="0"/>
                <a:cs typeface="Droid Sans Mono" panose="020B0609030804020204" pitchFamily="49" charset="0"/>
              </a:rPr>
              <a:t>i</a:t>
            </a:r>
            <a:r>
              <a:rPr lang="en-US" sz="2200" dirty="0">
                <a:latin typeface="Droid Sans Mono" panose="020B0609030804020204" pitchFamily="49" charset="0"/>
                <a:ea typeface="Droid Sans Mono" panose="020B0609030804020204" pitchFamily="49" charset="0"/>
                <a:cs typeface="Droid Sans Mono" panose="020B0609030804020204" pitchFamily="49" charset="0"/>
              </a:rPr>
              <a:t>=id, </a:t>
            </a:r>
            <a:r>
              <a:rPr lang="en-US" sz="2200" dirty="0" err="1">
                <a:latin typeface="Droid Sans Mono" panose="020B0609030804020204" pitchFamily="49" charset="0"/>
                <a:ea typeface="Droid Sans Mono" panose="020B0609030804020204" pitchFamily="49" charset="0"/>
                <a:cs typeface="Droid Sans Mono" panose="020B0609030804020204" pitchFamily="49" charset="0"/>
              </a:rPr>
              <a:t>i</a:t>
            </a:r>
            <a:r>
              <a:rPr lang="en-US" sz="2200" dirty="0">
                <a:latin typeface="Droid Sans Mono" panose="020B0609030804020204" pitchFamily="49" charset="0"/>
                <a:ea typeface="Droid Sans Mono" panose="020B0609030804020204" pitchFamily="49" charset="0"/>
                <a:cs typeface="Droid Sans Mono" panose="020B0609030804020204" pitchFamily="49" charset="0"/>
              </a:rPr>
              <a:t>&lt;niters; </a:t>
            </a:r>
            <a:r>
              <a:rPr lang="en-US" sz="2200" dirty="0" err="1">
                <a:latin typeface="Droid Sans Mono" panose="020B0609030804020204" pitchFamily="49" charset="0"/>
                <a:ea typeface="Droid Sans Mono" panose="020B0609030804020204" pitchFamily="49" charset="0"/>
                <a:cs typeface="Droid Sans Mono" panose="020B0609030804020204" pitchFamily="49" charset="0"/>
              </a:rPr>
              <a:t>i</a:t>
            </a:r>
            <a:r>
              <a:rPr lang="en-US" sz="2200" dirty="0">
                <a:latin typeface="Droid Sans Mono" panose="020B0609030804020204" pitchFamily="49" charset="0"/>
                <a:ea typeface="Droid Sans Mono" panose="020B0609030804020204" pitchFamily="49" charset="0"/>
                <a:cs typeface="Droid Sans Mono" panose="020B0609030804020204" pitchFamily="49" charset="0"/>
              </a:rPr>
              <a:t>+=</a:t>
            </a:r>
            <a:r>
              <a:rPr lang="en-US" sz="2200" dirty="0" err="1">
                <a:latin typeface="Droid Sans Mono" panose="020B0609030804020204" pitchFamily="49" charset="0"/>
                <a:ea typeface="Droid Sans Mono" panose="020B0609030804020204" pitchFamily="49" charset="0"/>
                <a:cs typeface="Droid Sans Mono" panose="020B0609030804020204" pitchFamily="49" charset="0"/>
              </a:rPr>
              <a:t>nthrds</a:t>
            </a:r>
            <a:r>
              <a:rPr lang="en-US" sz="2200" dirty="0">
                <a:latin typeface="Droid Sans Mono" panose="020B0609030804020204" pitchFamily="49" charset="0"/>
                <a:ea typeface="Droid Sans Mono" panose="020B0609030804020204" pitchFamily="49" charset="0"/>
                <a:cs typeface="Droid Sans Mono" panose="020B0609030804020204" pitchFamily="49" charset="0"/>
              </a:rPr>
              <a:t>){</a:t>
            </a:r>
          </a:p>
          <a:p>
            <a:pPr marL="0" indent="0" algn="l" rtl="0">
              <a:buNone/>
            </a:pPr>
            <a:r>
              <a:rPr lang="en-US" sz="2200">
                <a:latin typeface="Droid Sans Mono" panose="020B0609030804020204" pitchFamily="49" charset="0"/>
                <a:ea typeface="Droid Sans Mono" panose="020B0609030804020204" pitchFamily="49" charset="0"/>
                <a:cs typeface="Droid Sans Mono" panose="020B0609030804020204" pitchFamily="49" charset="0"/>
              </a:rPr>
              <a:t>      B </a:t>
            </a:r>
            <a:r>
              <a:rPr lang="en-US" sz="2200" dirty="0">
                <a:latin typeface="Droid Sans Mono" panose="020B0609030804020204" pitchFamily="49" charset="0"/>
                <a:ea typeface="Droid Sans Mono" panose="020B0609030804020204" pitchFamily="49" charset="0"/>
                <a:cs typeface="Droid Sans Mono" panose="020B0609030804020204" pitchFamily="49" charset="0"/>
              </a:rPr>
              <a:t>= </a:t>
            </a:r>
            <a:r>
              <a:rPr lang="en-US" sz="2200" dirty="0" err="1">
                <a:latin typeface="Droid Sans Mono" panose="020B0609030804020204" pitchFamily="49" charset="0"/>
                <a:ea typeface="Droid Sans Mono" panose="020B0609030804020204" pitchFamily="49" charset="0"/>
                <a:cs typeface="Droid Sans Mono" panose="020B0609030804020204" pitchFamily="49" charset="0"/>
              </a:rPr>
              <a:t>big_job</a:t>
            </a:r>
            <a:r>
              <a:rPr lang="en-US" sz="2200" dirty="0">
                <a:latin typeface="Droid Sans Mono" panose="020B0609030804020204" pitchFamily="49" charset="0"/>
                <a:ea typeface="Droid Sans Mono" panose="020B0609030804020204" pitchFamily="49" charset="0"/>
                <a:cs typeface="Droid Sans Mono" panose="020B0609030804020204" pitchFamily="49" charset="0"/>
              </a:rPr>
              <a:t>(</a:t>
            </a:r>
            <a:r>
              <a:rPr lang="en-US" sz="2200" dirty="0" err="1">
                <a:latin typeface="Droid Sans Mono" panose="020B0609030804020204" pitchFamily="49" charset="0"/>
                <a:ea typeface="Droid Sans Mono" panose="020B0609030804020204" pitchFamily="49" charset="0"/>
                <a:cs typeface="Droid Sans Mono" panose="020B0609030804020204" pitchFamily="49" charset="0"/>
              </a:rPr>
              <a:t>i</a:t>
            </a:r>
            <a:r>
              <a:rPr lang="en-US" sz="2200" dirty="0">
                <a:latin typeface="Droid Sans Mono" panose="020B0609030804020204" pitchFamily="49" charset="0"/>
                <a:ea typeface="Droid Sans Mono" panose="020B0609030804020204" pitchFamily="49" charset="0"/>
                <a:cs typeface="Droid Sans Mono" panose="020B0609030804020204" pitchFamily="49" charset="0"/>
              </a:rPr>
              <a:t>);</a:t>
            </a:r>
          </a:p>
          <a:p>
            <a:pPr marL="0" indent="0" algn="l" rtl="0">
              <a:buNone/>
            </a:pPr>
            <a:r>
              <a:rPr lang="en-US" sz="22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#pragma </a:t>
            </a:r>
            <a:r>
              <a:rPr lang="en-US" sz="2200"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omp</a:t>
            </a:r>
            <a:r>
              <a:rPr lang="en-US" sz="22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critical</a:t>
            </a:r>
          </a:p>
          <a:p>
            <a:pPr marL="0" indent="0" algn="l" rtl="0">
              <a:buNone/>
            </a:pPr>
            <a:r>
              <a:rPr lang="en-US" sz="2200" dirty="0">
                <a:latin typeface="Droid Sans Mono" panose="020B0609030804020204" pitchFamily="49" charset="0"/>
                <a:ea typeface="Droid Sans Mono" panose="020B0609030804020204" pitchFamily="49" charset="0"/>
                <a:cs typeface="Droid Sans Mono" panose="020B0609030804020204" pitchFamily="49" charset="0"/>
              </a:rPr>
              <a:t>      res += consume(B);</a:t>
            </a:r>
          </a:p>
          <a:p>
            <a:pPr marL="0" indent="0" algn="l" rtl="0">
              <a:buNone/>
            </a:pPr>
            <a:r>
              <a:rPr lang="en-US" sz="2200" dirty="0">
                <a:latin typeface="Droid Sans Mono" panose="020B0609030804020204" pitchFamily="49" charset="0"/>
                <a:ea typeface="Droid Sans Mono" panose="020B0609030804020204" pitchFamily="49" charset="0"/>
                <a:cs typeface="Droid Sans Mono" panose="020B0609030804020204" pitchFamily="49" charset="0"/>
              </a:rPr>
              <a:t>   }</a:t>
            </a:r>
          </a:p>
          <a:p>
            <a:pPr marL="0" indent="0" algn="l" rtl="0">
              <a:buNone/>
            </a:pPr>
            <a:r>
              <a:rPr lang="en-US" sz="2200" dirty="0">
                <a:latin typeface="Droid Sans Mono" panose="020B0609030804020204" pitchFamily="49" charset="0"/>
                <a:ea typeface="Droid Sans Mono" panose="020B0609030804020204" pitchFamily="49" charset="0"/>
                <a:cs typeface="Droid Sans Mono" panose="020B0609030804020204" pitchFamily="49" charset="0"/>
              </a:rPr>
              <a:t>}</a:t>
            </a:r>
          </a:p>
        </p:txBody>
      </p:sp>
      <p:sp>
        <p:nvSpPr>
          <p:cNvPr id="8" name="Rectangle 7"/>
          <p:cNvSpPr/>
          <p:nvPr/>
        </p:nvSpPr>
        <p:spPr>
          <a:xfrm>
            <a:off x="5257801" y="4572000"/>
            <a:ext cx="3429000" cy="5334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2000" b="1" dirty="0">
                <a:solidFill>
                  <a:srgbClr val="0000FF"/>
                </a:solidFill>
                <a:cs typeface="B Nazanin" panose="00000400000000000000" pitchFamily="2" charset="-78"/>
              </a:rPr>
              <a:t>چرا اینجا به ناحیه بحرانی نیاز است؟</a:t>
            </a:r>
            <a:endParaRPr lang="en-US" sz="2000" b="1" dirty="0">
              <a:solidFill>
                <a:srgbClr val="FA5206"/>
              </a:solidFill>
              <a:cs typeface="B Nazanin" panose="00000400000000000000" pitchFamily="2" charset="-78"/>
            </a:endParaRPr>
          </a:p>
        </p:txBody>
      </p:sp>
      <p:cxnSp>
        <p:nvCxnSpPr>
          <p:cNvPr id="9" name="Straight Arrow Connector 8"/>
          <p:cNvCxnSpPr>
            <a:stCxn id="8" idx="1"/>
          </p:cNvCxnSpPr>
          <p:nvPr/>
        </p:nvCxnSpPr>
        <p:spPr>
          <a:xfrm flipH="1">
            <a:off x="4648205" y="4838700"/>
            <a:ext cx="609596"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86913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7">
                                            <p:txEl>
                                              <p:pRg st="8" end="8"/>
                                            </p:txEl>
                                          </p:spTgt>
                                        </p:tgtEl>
                                        <p:attrNameLst>
                                          <p:attrName>style.visibility</p:attrName>
                                        </p:attrNameLst>
                                      </p:cBhvr>
                                      <p:to>
                                        <p:strVal val="visible"/>
                                      </p:to>
                                    </p:set>
                                    <p:animEffect transition="in" filter="fade">
                                      <p:cBhvr>
                                        <p:cTn id="13" dur="500"/>
                                        <p:tgtEl>
                                          <p:spTgt spid="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عملیات اتمی	       </a:t>
            </a:r>
            <a:r>
              <a:rPr lang="en-US" dirty="0"/>
              <a:t>Atomic Operations</a:t>
            </a:r>
          </a:p>
        </p:txBody>
      </p:sp>
      <p:sp>
        <p:nvSpPr>
          <p:cNvPr id="4" name="Date Placeholder 3"/>
          <p:cNvSpPr>
            <a:spLocks noGrp="1"/>
          </p:cNvSpPr>
          <p:nvPr>
            <p:ph type="dt" sz="half" idx="10"/>
          </p:nvPr>
        </p:nvSpPr>
        <p:spPr/>
        <p:txBody>
          <a:bodyPr/>
          <a:lstStyle/>
          <a:p>
            <a:pPr>
              <a:defRPr/>
            </a:pPr>
            <a:r>
              <a:rPr lang="en-US" altLang="en-US"/>
              <a:t>Parallel Processing</a:t>
            </a:r>
          </a:p>
        </p:txBody>
      </p:sp>
      <p:sp>
        <p:nvSpPr>
          <p:cNvPr id="5" name="Footer Placeholder 4"/>
          <p:cNvSpPr>
            <a:spLocks noGrp="1"/>
          </p:cNvSpPr>
          <p:nvPr>
            <p:ph type="ftr" sz="quarter" idx="11"/>
          </p:nvPr>
        </p:nvSpPr>
        <p:spPr/>
        <p:txBody>
          <a:bodyPr/>
          <a:lstStyle/>
          <a:p>
            <a:pPr>
              <a:defRPr/>
            </a:pPr>
            <a:r>
              <a:rPr lang="en-US" altLang="en-US"/>
              <a:t>7. OpenMP</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A9DCC621-7EE1-4E7E-9D9E-207B534D683D}" type="slidenum">
              <a:rPr lang="en-US" altLang="en-US" smtClean="0"/>
              <a:pPr>
                <a:defRPr/>
              </a:pPr>
              <a:t>32</a:t>
            </a:fld>
            <a:endParaRPr lang="en-US" altLang="en-US" dirty="0"/>
          </a:p>
        </p:txBody>
      </p:sp>
      <p:sp>
        <p:nvSpPr>
          <p:cNvPr id="7" name="Content Placeholder 2"/>
          <p:cNvSpPr txBox="1">
            <a:spLocks/>
          </p:cNvSpPr>
          <p:nvPr/>
        </p:nvSpPr>
        <p:spPr bwMode="auto">
          <a:xfrm>
            <a:off x="609600" y="1219200"/>
            <a:ext cx="81534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19088" indent="-319088" algn="l" rtl="0" eaLnBrk="0" fontAlgn="base" hangingPunct="0">
              <a:spcBef>
                <a:spcPts val="200"/>
              </a:spcBef>
              <a:spcAft>
                <a:spcPct val="0"/>
              </a:spcAft>
              <a:buClr>
                <a:schemeClr val="accent2"/>
              </a:buClr>
              <a:buSzPct val="60000"/>
              <a:buFont typeface="Wingdings" pitchFamily="2" charset="2"/>
              <a:buChar char=""/>
              <a:defRPr sz="2900" kern="1200">
                <a:solidFill>
                  <a:schemeClr val="tx1"/>
                </a:solidFill>
                <a:latin typeface="+mn-lt"/>
                <a:ea typeface="+mn-ea"/>
                <a:cs typeface="+mn-cs"/>
              </a:defRPr>
            </a:lvl1pPr>
            <a:lvl2pPr marL="639763" indent="-273050" algn="l" rtl="0" eaLnBrk="0" fontAlgn="base" hangingPunct="0">
              <a:spcBef>
                <a:spcPts val="200"/>
              </a:spcBef>
              <a:spcAft>
                <a:spcPct val="0"/>
              </a:spcAft>
              <a:buClr>
                <a:schemeClr val="accent1"/>
              </a:buClr>
              <a:buSzPct val="70000"/>
              <a:buFont typeface="Wingdings 2" pitchFamily="18" charset="2"/>
              <a:buChar char=""/>
              <a:defRPr sz="2600" kern="1200">
                <a:solidFill>
                  <a:schemeClr val="tx1"/>
                </a:solidFill>
                <a:latin typeface="+mn-lt"/>
                <a:ea typeface="+mn-ea"/>
                <a:cs typeface="+mn-cs"/>
              </a:defRPr>
            </a:lvl2pPr>
            <a:lvl3pPr marL="914400" indent="-228600" algn="l" rtl="0" eaLnBrk="0" fontAlgn="base" hangingPunct="0">
              <a:spcBef>
                <a:spcPts val="200"/>
              </a:spcBef>
              <a:spcAft>
                <a:spcPct val="0"/>
              </a:spcAft>
              <a:buClr>
                <a:schemeClr val="accent2"/>
              </a:buClr>
              <a:buSzPct val="75000"/>
              <a:buFont typeface="Wingdings" pitchFamily="2" charset="2"/>
              <a:buChar char=""/>
              <a:defRPr sz="2300" kern="1200">
                <a:solidFill>
                  <a:schemeClr val="tx1"/>
                </a:solidFill>
                <a:latin typeface="+mn-lt"/>
                <a:ea typeface="+mn-ea"/>
                <a:cs typeface="+mn-cs"/>
              </a:defRPr>
            </a:lvl3pPr>
            <a:lvl4pPr marL="1371600" indent="-228600" algn="l" rtl="0" eaLnBrk="0" fontAlgn="base" hangingPunct="0">
              <a:spcBef>
                <a:spcPts val="200"/>
              </a:spcBef>
              <a:spcAft>
                <a:spcPct val="0"/>
              </a:spcAft>
              <a:buClr>
                <a:srgbClr val="A5AB81"/>
              </a:buClr>
              <a:buSzPct val="75000"/>
              <a:buFont typeface="Wingdings" pitchFamily="2" charset="2"/>
              <a:buChar char=""/>
              <a:defRPr sz="2000" kern="1200">
                <a:solidFill>
                  <a:schemeClr val="tx1"/>
                </a:solidFill>
                <a:latin typeface="+mn-lt"/>
                <a:ea typeface="+mn-ea"/>
                <a:cs typeface="+mn-cs"/>
              </a:defRPr>
            </a:lvl4pPr>
            <a:lvl5pPr marL="1828800" indent="-228600" algn="l" rtl="0" eaLnBrk="0" fontAlgn="base" hangingPunct="0">
              <a:spcBef>
                <a:spcPts val="200"/>
              </a:spcBef>
              <a:spcAft>
                <a:spcPct val="0"/>
              </a:spcAft>
              <a:buClr>
                <a:srgbClr val="D8B25C"/>
              </a:buClr>
              <a:buSzPct val="65000"/>
              <a:buFont typeface="Wingdings" pitchFamily="2" charset="2"/>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pPr marL="0" indent="0">
              <a:buFont typeface="Wingdings" pitchFamily="2" charset="2"/>
              <a:buNone/>
            </a:pPr>
            <a:endParaRPr lang="en-US" sz="2200" dirty="0">
              <a:latin typeface="Droid Sans Mono" panose="020B0609030804020204" pitchFamily="49" charset="0"/>
              <a:ea typeface="Droid Sans Mono" panose="020B0609030804020204" pitchFamily="49" charset="0"/>
              <a:cs typeface="Droid Sans Mono" panose="020B0609030804020204" pitchFamily="49" charset="0"/>
            </a:endParaRPr>
          </a:p>
          <a:p>
            <a:pPr marL="0" indent="0">
              <a:buFont typeface="Wingdings" pitchFamily="2" charset="2"/>
              <a:buNone/>
            </a:pPr>
            <a:r>
              <a:rPr lang="en-US" sz="2200" dirty="0">
                <a:latin typeface="Droid Sans Mono" panose="020B0609030804020204" pitchFamily="49" charset="0"/>
                <a:ea typeface="Droid Sans Mono" panose="020B0609030804020204" pitchFamily="49" charset="0"/>
                <a:cs typeface="Droid Sans Mono" panose="020B0609030804020204" pitchFamily="49" charset="0"/>
              </a:rPr>
              <a:t>#pragma </a:t>
            </a:r>
            <a:r>
              <a:rPr lang="en-US" sz="2200" dirty="0" err="1">
                <a:latin typeface="Droid Sans Mono" panose="020B0609030804020204" pitchFamily="49" charset="0"/>
                <a:ea typeface="Droid Sans Mono" panose="020B0609030804020204" pitchFamily="49" charset="0"/>
                <a:cs typeface="Droid Sans Mono" panose="020B0609030804020204" pitchFamily="49" charset="0"/>
              </a:rPr>
              <a:t>omp</a:t>
            </a:r>
            <a:r>
              <a:rPr lang="en-US" sz="2200" dirty="0">
                <a:latin typeface="Droid Sans Mono" panose="020B0609030804020204" pitchFamily="49" charset="0"/>
                <a:ea typeface="Droid Sans Mono" panose="020B0609030804020204" pitchFamily="49" charset="0"/>
                <a:cs typeface="Droid Sans Mono" panose="020B0609030804020204" pitchFamily="49" charset="0"/>
              </a:rPr>
              <a:t> parallel</a:t>
            </a:r>
          </a:p>
          <a:p>
            <a:pPr marL="0" indent="0">
              <a:buFont typeface="Wingdings" pitchFamily="2" charset="2"/>
              <a:buNone/>
            </a:pPr>
            <a:r>
              <a:rPr lang="en-US" sz="2200" dirty="0">
                <a:latin typeface="Droid Sans Mono" panose="020B0609030804020204" pitchFamily="49" charset="0"/>
                <a:ea typeface="Droid Sans Mono" panose="020B0609030804020204" pitchFamily="49" charset="0"/>
                <a:cs typeface="Droid Sans Mono" panose="020B0609030804020204" pitchFamily="49" charset="0"/>
              </a:rPr>
              <a:t>{</a:t>
            </a:r>
          </a:p>
          <a:p>
            <a:pPr marL="0" indent="0">
              <a:buFont typeface="Wingdings" pitchFamily="2" charset="2"/>
              <a:buNone/>
            </a:pPr>
            <a:r>
              <a:rPr lang="en-US" sz="2200" dirty="0">
                <a:latin typeface="Droid Sans Mono" panose="020B0609030804020204" pitchFamily="49" charset="0"/>
                <a:ea typeface="Droid Sans Mono" panose="020B0609030804020204" pitchFamily="49" charset="0"/>
                <a:cs typeface="Droid Sans Mono" panose="020B0609030804020204" pitchFamily="49" charset="0"/>
              </a:rPr>
              <a:t>   double </a:t>
            </a:r>
            <a:r>
              <a:rPr lang="en-US" sz="2200" dirty="0" err="1">
                <a:latin typeface="Droid Sans Mono" panose="020B0609030804020204" pitchFamily="49" charset="0"/>
                <a:ea typeface="Droid Sans Mono" panose="020B0609030804020204" pitchFamily="49" charset="0"/>
                <a:cs typeface="Droid Sans Mono" panose="020B0609030804020204" pitchFamily="49" charset="0"/>
              </a:rPr>
              <a:t>tmp</a:t>
            </a:r>
            <a:r>
              <a:rPr lang="en-US" sz="2200" dirty="0">
                <a:latin typeface="Droid Sans Mono" panose="020B0609030804020204" pitchFamily="49" charset="0"/>
                <a:ea typeface="Droid Sans Mono" panose="020B0609030804020204" pitchFamily="49" charset="0"/>
                <a:cs typeface="Droid Sans Mono" panose="020B0609030804020204" pitchFamily="49" charset="0"/>
              </a:rPr>
              <a:t>, B;</a:t>
            </a:r>
          </a:p>
          <a:p>
            <a:pPr marL="0" indent="0">
              <a:buFont typeface="Wingdings" pitchFamily="2" charset="2"/>
              <a:buNone/>
            </a:pPr>
            <a:r>
              <a:rPr lang="en-US" sz="2200" dirty="0">
                <a:latin typeface="Droid Sans Mono" panose="020B0609030804020204" pitchFamily="49" charset="0"/>
                <a:ea typeface="Droid Sans Mono" panose="020B0609030804020204" pitchFamily="49" charset="0"/>
                <a:cs typeface="Droid Sans Mono" panose="020B0609030804020204" pitchFamily="49" charset="0"/>
              </a:rPr>
              <a:t>   B = DOIT();</a:t>
            </a:r>
          </a:p>
          <a:p>
            <a:pPr marL="0" indent="0">
              <a:buFont typeface="Wingdings" pitchFamily="2" charset="2"/>
              <a:buNone/>
            </a:pPr>
            <a:r>
              <a:rPr lang="en-US" sz="2200" dirty="0">
                <a:latin typeface="Droid Sans Mono" panose="020B0609030804020204" pitchFamily="49" charset="0"/>
                <a:ea typeface="Droid Sans Mono" panose="020B0609030804020204" pitchFamily="49" charset="0"/>
                <a:cs typeface="Droid Sans Mono" panose="020B0609030804020204" pitchFamily="49" charset="0"/>
              </a:rPr>
              <a:t>   </a:t>
            </a:r>
            <a:r>
              <a:rPr lang="en-US" sz="2200" dirty="0" err="1">
                <a:latin typeface="Droid Sans Mono" panose="020B0609030804020204" pitchFamily="49" charset="0"/>
                <a:ea typeface="Droid Sans Mono" panose="020B0609030804020204" pitchFamily="49" charset="0"/>
                <a:cs typeface="Droid Sans Mono" panose="020B0609030804020204" pitchFamily="49" charset="0"/>
              </a:rPr>
              <a:t>tmp</a:t>
            </a:r>
            <a:r>
              <a:rPr lang="en-US" sz="2200" dirty="0">
                <a:latin typeface="Droid Sans Mono" panose="020B0609030804020204" pitchFamily="49" charset="0"/>
                <a:ea typeface="Droid Sans Mono" panose="020B0609030804020204" pitchFamily="49" charset="0"/>
                <a:cs typeface="Droid Sans Mono" panose="020B0609030804020204" pitchFamily="49" charset="0"/>
              </a:rPr>
              <a:t> = </a:t>
            </a:r>
            <a:r>
              <a:rPr lang="en-US" sz="2200" dirty="0" err="1">
                <a:latin typeface="Droid Sans Mono" panose="020B0609030804020204" pitchFamily="49" charset="0"/>
                <a:ea typeface="Droid Sans Mono" panose="020B0609030804020204" pitchFamily="49" charset="0"/>
                <a:cs typeface="Droid Sans Mono" panose="020B0609030804020204" pitchFamily="49" charset="0"/>
              </a:rPr>
              <a:t>big_ugly</a:t>
            </a:r>
            <a:r>
              <a:rPr lang="en-US" sz="2200" dirty="0">
                <a:latin typeface="Droid Sans Mono" panose="020B0609030804020204" pitchFamily="49" charset="0"/>
                <a:ea typeface="Droid Sans Mono" panose="020B0609030804020204" pitchFamily="49" charset="0"/>
                <a:cs typeface="Droid Sans Mono" panose="020B0609030804020204" pitchFamily="49" charset="0"/>
              </a:rPr>
              <a:t>(B);</a:t>
            </a:r>
          </a:p>
          <a:p>
            <a:pPr marL="0" indent="0">
              <a:buFont typeface="Wingdings" pitchFamily="2" charset="2"/>
              <a:buNone/>
            </a:pPr>
            <a:endParaRPr lang="en-US" sz="2200" dirty="0">
              <a:latin typeface="Droid Sans Mono" panose="020B0609030804020204" pitchFamily="49" charset="0"/>
              <a:ea typeface="Droid Sans Mono" panose="020B0609030804020204" pitchFamily="49" charset="0"/>
              <a:cs typeface="Droid Sans Mono" panose="020B0609030804020204" pitchFamily="49" charset="0"/>
            </a:endParaRPr>
          </a:p>
          <a:p>
            <a:pPr marL="0" indent="0">
              <a:buFont typeface="Wingdings" pitchFamily="2" charset="2"/>
              <a:buNone/>
            </a:pPr>
            <a:r>
              <a:rPr lang="en-US" sz="22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#pragma </a:t>
            </a:r>
            <a:r>
              <a:rPr lang="en-US" sz="2200"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omp</a:t>
            </a:r>
            <a:r>
              <a:rPr lang="en-US" sz="22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atomic</a:t>
            </a:r>
          </a:p>
          <a:p>
            <a:pPr marL="0" indent="0">
              <a:buFont typeface="Wingdings" pitchFamily="2" charset="2"/>
              <a:buNone/>
            </a:pPr>
            <a:r>
              <a:rPr lang="en-US" sz="2200" dirty="0">
                <a:latin typeface="Droid Sans Mono" panose="020B0609030804020204" pitchFamily="49" charset="0"/>
                <a:ea typeface="Droid Sans Mono" panose="020B0609030804020204" pitchFamily="49" charset="0"/>
                <a:cs typeface="Droid Sans Mono" panose="020B0609030804020204" pitchFamily="49" charset="0"/>
              </a:rPr>
              <a:t>      X += </a:t>
            </a:r>
            <a:r>
              <a:rPr lang="en-US" sz="2200" dirty="0" err="1">
                <a:latin typeface="Droid Sans Mono" panose="020B0609030804020204" pitchFamily="49" charset="0"/>
                <a:ea typeface="Droid Sans Mono" panose="020B0609030804020204" pitchFamily="49" charset="0"/>
                <a:cs typeface="Droid Sans Mono" panose="020B0609030804020204" pitchFamily="49" charset="0"/>
              </a:rPr>
              <a:t>tmp</a:t>
            </a:r>
            <a:r>
              <a:rPr lang="en-US" sz="2200" dirty="0">
                <a:latin typeface="Droid Sans Mono" panose="020B0609030804020204" pitchFamily="49" charset="0"/>
                <a:ea typeface="Droid Sans Mono" panose="020B0609030804020204" pitchFamily="49" charset="0"/>
                <a:cs typeface="Droid Sans Mono" panose="020B0609030804020204" pitchFamily="49" charset="0"/>
              </a:rPr>
              <a:t>;</a:t>
            </a:r>
          </a:p>
          <a:p>
            <a:pPr marL="0" indent="0">
              <a:buFont typeface="Wingdings" pitchFamily="2" charset="2"/>
              <a:buNone/>
            </a:pPr>
            <a:r>
              <a:rPr lang="en-US" sz="2200" dirty="0">
                <a:latin typeface="Droid Sans Mono" panose="020B0609030804020204" pitchFamily="49" charset="0"/>
                <a:ea typeface="Droid Sans Mono" panose="020B0609030804020204" pitchFamily="49" charset="0"/>
                <a:cs typeface="Droid Sans Mono" panose="020B0609030804020204" pitchFamily="49" charset="0"/>
              </a:rPr>
              <a:t>   }</a:t>
            </a:r>
          </a:p>
          <a:p>
            <a:pPr marL="0" indent="0">
              <a:buFont typeface="Wingdings" pitchFamily="2" charset="2"/>
              <a:buNone/>
            </a:pPr>
            <a:r>
              <a:rPr lang="en-US" sz="2200" dirty="0">
                <a:latin typeface="Droid Sans Mono" panose="020B0609030804020204" pitchFamily="49" charset="0"/>
                <a:ea typeface="Droid Sans Mono" panose="020B0609030804020204" pitchFamily="49" charset="0"/>
                <a:cs typeface="Droid Sans Mono" panose="020B0609030804020204" pitchFamily="49" charset="0"/>
              </a:rPr>
              <a:t>}</a:t>
            </a:r>
          </a:p>
          <a:p>
            <a:pPr marL="0" indent="0">
              <a:buFont typeface="Wingdings" pitchFamily="2" charset="2"/>
              <a:buNone/>
            </a:pPr>
            <a:endParaRPr lang="en-US" sz="2200" dirty="0">
              <a:latin typeface="Droid Sans Mono" panose="020B0609030804020204" pitchFamily="49" charset="0"/>
              <a:ea typeface="Droid Sans Mono" panose="020B0609030804020204" pitchFamily="49" charset="0"/>
              <a:cs typeface="Droid Sans Mono" panose="020B0609030804020204" pitchFamily="49" charset="0"/>
            </a:endParaRPr>
          </a:p>
        </p:txBody>
      </p:sp>
      <p:sp>
        <p:nvSpPr>
          <p:cNvPr id="8" name="Rectangle 7"/>
          <p:cNvSpPr/>
          <p:nvPr/>
        </p:nvSpPr>
        <p:spPr>
          <a:xfrm>
            <a:off x="5181601" y="3886200"/>
            <a:ext cx="3124199" cy="9906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fa-IR" sz="2000" b="1" dirty="0">
                <a:solidFill>
                  <a:srgbClr val="0000FF"/>
                </a:solidFill>
                <a:cs typeface="B Nazanin" panose="00000400000000000000" pitchFamily="2" charset="-78"/>
              </a:rPr>
              <a:t>مانند ناحیه بحرانی، فقط در هر زمان به یک نخ اجازه به‌روزرسانی </a:t>
            </a:r>
            <a:r>
              <a:rPr lang="en-US" sz="2000" b="1" dirty="0">
                <a:solidFill>
                  <a:srgbClr val="0000FF"/>
                </a:solidFill>
                <a:cs typeface="B Nazanin" panose="00000400000000000000" pitchFamily="2" charset="-78"/>
              </a:rPr>
              <a:t>X</a:t>
            </a:r>
            <a:r>
              <a:rPr lang="fa-IR" sz="2000" b="1" dirty="0">
                <a:solidFill>
                  <a:srgbClr val="0000FF"/>
                </a:solidFill>
                <a:cs typeface="B Nazanin" panose="00000400000000000000" pitchFamily="2" charset="-78"/>
              </a:rPr>
              <a:t> را می‌دهد.</a:t>
            </a:r>
            <a:endParaRPr lang="en-US" sz="2000" b="1" dirty="0">
              <a:solidFill>
                <a:srgbClr val="FA5206"/>
              </a:solidFill>
              <a:cs typeface="B Nazanin" panose="00000400000000000000" pitchFamily="2" charset="-78"/>
            </a:endParaRPr>
          </a:p>
        </p:txBody>
      </p:sp>
      <p:cxnSp>
        <p:nvCxnSpPr>
          <p:cNvPr id="9" name="Straight Arrow Connector 8"/>
          <p:cNvCxnSpPr>
            <a:stCxn id="8" idx="1"/>
          </p:cNvCxnSpPr>
          <p:nvPr/>
        </p:nvCxnSpPr>
        <p:spPr>
          <a:xfrm flipH="1" flipV="1">
            <a:off x="4305300" y="4038600"/>
            <a:ext cx="876301" cy="34290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5181601" y="1447799"/>
            <a:ext cx="3304189" cy="2205037"/>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2000" b="1" dirty="0">
                <a:solidFill>
                  <a:schemeClr val="tx1"/>
                </a:solidFill>
                <a:cs typeface="B Nazanin" panose="00000400000000000000" pitchFamily="2" charset="-78"/>
              </a:rPr>
              <a:t>عملیات فقط یکی از موارد زیر می‌تواند باشد:</a:t>
            </a:r>
            <a:endParaRPr lang="en-US" sz="2000" b="1" dirty="0">
              <a:solidFill>
                <a:schemeClr val="tx1"/>
              </a:solidFill>
              <a:cs typeface="B Nazanin" panose="00000400000000000000" pitchFamily="2" charset="-78"/>
            </a:endParaRPr>
          </a:p>
          <a:p>
            <a:pPr algn="ctr"/>
            <a:r>
              <a:rPr lang="en-US" sz="2000" b="1" dirty="0">
                <a:solidFill>
                  <a:srgbClr val="FF0000"/>
                </a:solidFill>
                <a:cs typeface="B Nazanin" panose="00000400000000000000" pitchFamily="2" charset="-78"/>
              </a:rPr>
              <a:t>X </a:t>
            </a:r>
            <a:r>
              <a:rPr lang="en-US" sz="2000" b="1" dirty="0" err="1">
                <a:solidFill>
                  <a:srgbClr val="FF0000"/>
                </a:solidFill>
                <a:cs typeface="B Nazanin" panose="00000400000000000000" pitchFamily="2" charset="-78"/>
              </a:rPr>
              <a:t>binop</a:t>
            </a:r>
            <a:r>
              <a:rPr lang="en-US" sz="2000" b="1" dirty="0">
                <a:solidFill>
                  <a:srgbClr val="FF0000"/>
                </a:solidFill>
                <a:cs typeface="B Nazanin" panose="00000400000000000000" pitchFamily="2" charset="-78"/>
              </a:rPr>
              <a:t> = expr</a:t>
            </a:r>
          </a:p>
          <a:p>
            <a:pPr algn="ctr"/>
            <a:r>
              <a:rPr lang="en-US" sz="2000" b="1" dirty="0">
                <a:solidFill>
                  <a:srgbClr val="FF0000"/>
                </a:solidFill>
                <a:cs typeface="B Nazanin" panose="00000400000000000000" pitchFamily="2" charset="-78"/>
              </a:rPr>
              <a:t>x++</a:t>
            </a:r>
          </a:p>
          <a:p>
            <a:pPr algn="ctr"/>
            <a:r>
              <a:rPr lang="en-US" sz="2000" b="1" dirty="0">
                <a:solidFill>
                  <a:srgbClr val="FF0000"/>
                </a:solidFill>
                <a:cs typeface="B Nazanin" panose="00000400000000000000" pitchFamily="2" charset="-78"/>
              </a:rPr>
              <a:t>++x</a:t>
            </a:r>
          </a:p>
          <a:p>
            <a:pPr algn="ctr"/>
            <a:r>
              <a:rPr lang="en-US" sz="2000" b="1" dirty="0">
                <a:solidFill>
                  <a:srgbClr val="FF0000"/>
                </a:solidFill>
                <a:cs typeface="B Nazanin" panose="00000400000000000000" pitchFamily="2" charset="-78"/>
              </a:rPr>
              <a:t>x--</a:t>
            </a:r>
          </a:p>
          <a:p>
            <a:pPr algn="ctr"/>
            <a:r>
              <a:rPr lang="en-US" sz="2000" b="1" dirty="0">
                <a:solidFill>
                  <a:srgbClr val="FF0000"/>
                </a:solidFill>
                <a:cs typeface="B Nazanin" panose="00000400000000000000" pitchFamily="2" charset="-78"/>
              </a:rPr>
              <a:t>--x</a:t>
            </a:r>
          </a:p>
        </p:txBody>
      </p:sp>
      <p:sp>
        <p:nvSpPr>
          <p:cNvPr id="11" name="Rectangle 10"/>
          <p:cNvSpPr/>
          <p:nvPr/>
        </p:nvSpPr>
        <p:spPr>
          <a:xfrm>
            <a:off x="1257301" y="5110164"/>
            <a:ext cx="6591299" cy="1062036"/>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fa-IR" sz="2000" b="1" dirty="0">
                <a:solidFill>
                  <a:srgbClr val="FA5206"/>
                </a:solidFill>
                <a:cs typeface="B Nazanin" panose="00000400000000000000" pitchFamily="2" charset="-78"/>
              </a:rPr>
              <a:t>بعداً خواهید دید استفاده از عملیات اتمی می‌تواند سریعتر از ناحیه بحرانی باشد. کامپایلر می‌تواند عملیات اتمی را با استفاده از مکانیزم‌های سخت‌افزاری موجود بهتر پیاده‌سازی کند. </a:t>
            </a:r>
            <a:endParaRPr lang="en-US" sz="2000" b="1" dirty="0">
              <a:solidFill>
                <a:srgbClr val="FA5206"/>
              </a:solidFill>
              <a:cs typeface="B Nazanin" panose="00000400000000000000" pitchFamily="2" charset="-78"/>
            </a:endParaRPr>
          </a:p>
        </p:txBody>
      </p:sp>
    </p:spTree>
    <p:extLst>
      <p:ext uri="{BB962C8B-B14F-4D97-AF65-F5344CB8AC3E}">
        <p14:creationId xmlns:p14="http://schemas.microsoft.com/office/powerpoint/2010/main" val="2123299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p:txBody>
              <a:bodyPr/>
              <a:lstStyle/>
              <a:p>
                <a:r>
                  <a:rPr lang="fa-IR" sz="4000" dirty="0"/>
                  <a:t>مثال: برنامه محاسبه </a:t>
                </a:r>
                <a14:m>
                  <m:oMath xmlns:m="http://schemas.openxmlformats.org/officeDocument/2006/math">
                    <m:r>
                      <a:rPr lang="en-US" sz="4000" i="1">
                        <a:latin typeface="Cambria Math" panose="02040503050406030204" pitchFamily="18" charset="0"/>
                      </a:rPr>
                      <m:t>𝜋</m:t>
                    </m:r>
                  </m:oMath>
                </a14:m>
                <a:r>
                  <a:rPr lang="fa-IR" sz="4000" dirty="0"/>
                  <a:t> با استفاده از ناحیه بحرانی</a:t>
                </a:r>
                <a:endParaRPr lang="en-US" sz="4000" dirty="0"/>
              </a:p>
            </p:txBody>
          </p:sp>
        </mc:Choice>
        <mc:Fallback xmlns="">
          <p:sp>
            <p:nvSpPr>
              <p:cNvPr id="2" name="Title 1"/>
              <p:cNvSpPr>
                <a:spLocks noGrp="1" noRot="1" noChangeAspect="1" noMove="1" noResize="1" noEditPoints="1" noAdjustHandles="1" noChangeArrowheads="1" noChangeShapeType="1" noTextEdit="1"/>
              </p:cNvSpPr>
              <p:nvPr>
                <p:ph type="title"/>
              </p:nvPr>
            </p:nvSpPr>
            <p:spPr>
              <a:blipFill rotWithShape="0">
                <a:blip r:embed="rId4"/>
                <a:stretch>
                  <a:fillRect t="-14286" r="-2618" b="-42857"/>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pPr>
              <a:defRPr/>
            </a:pPr>
            <a:r>
              <a:rPr lang="en-US" altLang="en-US"/>
              <a:t>Parallel Processing</a:t>
            </a:r>
          </a:p>
        </p:txBody>
      </p:sp>
      <p:sp>
        <p:nvSpPr>
          <p:cNvPr id="5" name="Footer Placeholder 4"/>
          <p:cNvSpPr>
            <a:spLocks noGrp="1"/>
          </p:cNvSpPr>
          <p:nvPr>
            <p:ph type="ftr" sz="quarter" idx="11"/>
          </p:nvPr>
        </p:nvSpPr>
        <p:spPr/>
        <p:txBody>
          <a:bodyPr/>
          <a:lstStyle/>
          <a:p>
            <a:pPr>
              <a:defRPr/>
            </a:pPr>
            <a:r>
              <a:rPr lang="en-US" altLang="en-US"/>
              <a:t>7. OpenMP</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A9DCC621-7EE1-4E7E-9D9E-207B534D683D}" type="slidenum">
              <a:rPr lang="en-US" altLang="en-US" smtClean="0"/>
              <a:pPr>
                <a:defRPr/>
              </a:pPr>
              <a:t>33</a:t>
            </a:fld>
            <a:endParaRPr lang="en-US" altLang="en-US" dirty="0"/>
          </a:p>
        </p:txBody>
      </p:sp>
      <p:sp>
        <p:nvSpPr>
          <p:cNvPr id="10" name="Rectangle 9"/>
          <p:cNvSpPr/>
          <p:nvPr/>
        </p:nvSpPr>
        <p:spPr>
          <a:xfrm>
            <a:off x="609600" y="1219200"/>
            <a:ext cx="8077200" cy="4953000"/>
          </a:xfrm>
          <a:prstGeom prst="rect">
            <a:avLst/>
          </a:prstGeom>
          <a:noFill/>
          <a:ln w="28575">
            <a:solidFill>
              <a:schemeClr val="accent1">
                <a:lumMod val="75000"/>
              </a:schemeClr>
            </a:solidFill>
          </a:ln>
          <a:effectLst/>
        </p:spPr>
        <p:style>
          <a:lnRef idx="1">
            <a:schemeClr val="accent4"/>
          </a:lnRef>
          <a:fillRef idx="2">
            <a:schemeClr val="accent4"/>
          </a:fillRef>
          <a:effectRef idx="1">
            <a:schemeClr val="accent4"/>
          </a:effectRef>
          <a:fontRef idx="minor">
            <a:schemeClr val="dk1"/>
          </a:fontRef>
        </p:style>
        <p:txBody>
          <a:bodyPr rtlCol="0" anchor="ctr"/>
          <a:lstStyle/>
          <a:p>
            <a:pPr indent="0">
              <a:buNone/>
            </a:pPr>
            <a:r>
              <a:rPr lang="en-US" sz="17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#include &lt;</a:t>
            </a:r>
            <a:r>
              <a:rPr lang="en-US" sz="1700"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omp.h</a:t>
            </a:r>
            <a:r>
              <a:rPr lang="en-US" sz="17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&gt;</a:t>
            </a:r>
          </a:p>
          <a:p>
            <a:pPr indent="0">
              <a:buNone/>
            </a:pPr>
            <a:r>
              <a:rPr lang="en-US" sz="16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static</a:t>
            </a: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6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long</a:t>
            </a: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600" dirty="0" err="1">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num_steps</a:t>
            </a: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 100000; </a:t>
            </a:r>
            <a:r>
              <a:rPr lang="en-US" sz="16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double</a:t>
            </a: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step;</a:t>
            </a:r>
          </a:p>
          <a:p>
            <a:pPr indent="0">
              <a:buNone/>
            </a:pPr>
            <a:r>
              <a:rPr lang="en-US" sz="16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#define NUM_THREADS 2</a:t>
            </a:r>
          </a:p>
          <a:p>
            <a:pPr indent="0">
              <a:buNone/>
            </a:pPr>
            <a:r>
              <a:rPr lang="en-US" sz="16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void</a:t>
            </a: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6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main </a:t>
            </a: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a:t>
            </a:r>
          </a:p>
          <a:p>
            <a:pPr indent="0">
              <a:buNone/>
            </a:pP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6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double</a:t>
            </a: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pi;</a:t>
            </a:r>
          </a:p>
          <a:p>
            <a:pPr indent="0">
              <a:buNone/>
            </a:pP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step = 1.0/(</a:t>
            </a:r>
            <a:r>
              <a:rPr lang="en-US" sz="16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double</a:t>
            </a: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600" dirty="0" err="1">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num_steps</a:t>
            </a: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a:t>
            </a:r>
          </a:p>
          <a:p>
            <a:pPr indent="0">
              <a:buNone/>
            </a:pPr>
            <a:r>
              <a:rPr lang="en-US" sz="16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600"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omp_set_num_threads</a:t>
            </a:r>
            <a:r>
              <a:rPr lang="en-US" sz="16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(NUM_THREADS);</a:t>
            </a:r>
          </a:p>
          <a:p>
            <a:pPr indent="0">
              <a:buNone/>
            </a:pPr>
            <a:r>
              <a:rPr lang="en-US" sz="16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#pragma </a:t>
            </a:r>
            <a:r>
              <a:rPr lang="en-US" sz="1600"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omp</a:t>
            </a:r>
            <a:r>
              <a:rPr lang="en-US" sz="16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parallel</a:t>
            </a:r>
          </a:p>
          <a:p>
            <a:pPr indent="0">
              <a:buNone/>
            </a:pP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a:t>
            </a:r>
          </a:p>
          <a:p>
            <a:pPr indent="0">
              <a:buNone/>
            </a:pPr>
            <a:r>
              <a:rPr lang="en-US" sz="16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600" dirty="0" err="1">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int</a:t>
            </a:r>
            <a:r>
              <a:rPr lang="en-US" sz="16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600" dirty="0" err="1">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i</a:t>
            </a: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id, </a:t>
            </a:r>
            <a:r>
              <a:rPr lang="en-US" sz="1600" dirty="0" err="1">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nthrds</a:t>
            </a: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6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double</a:t>
            </a: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x, sum;</a:t>
            </a:r>
          </a:p>
          <a:p>
            <a:pPr indent="0">
              <a:buNone/>
            </a:pP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6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id = </a:t>
            </a:r>
            <a:r>
              <a:rPr lang="en-US" sz="1600"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omp_get_thread_num</a:t>
            </a:r>
            <a:r>
              <a:rPr lang="en-US" sz="16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a:t>
            </a:r>
          </a:p>
          <a:p>
            <a:pPr indent="0">
              <a:buNone/>
            </a:pPr>
            <a:r>
              <a:rPr lang="en-US" sz="16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600"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nthrds</a:t>
            </a:r>
            <a:r>
              <a:rPr lang="en-US" sz="16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 </a:t>
            </a:r>
            <a:r>
              <a:rPr lang="en-US" sz="1600"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omp_get_num_threads</a:t>
            </a:r>
            <a:r>
              <a:rPr lang="en-US" sz="16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a:t>
            </a:r>
          </a:p>
          <a:p>
            <a:pPr indent="0">
              <a:buNone/>
            </a:pPr>
            <a:r>
              <a:rPr lang="en-US" sz="160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      for</a:t>
            </a: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600" dirty="0" err="1">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i</a:t>
            </a: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a:t>
            </a:r>
            <a:r>
              <a:rPr lang="en-US" sz="1600" dirty="0" err="1">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id,sum</a:t>
            </a: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=0.0; </a:t>
            </a:r>
            <a:r>
              <a:rPr lang="en-US" sz="1600" dirty="0" err="1">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i</a:t>
            </a: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&lt;</a:t>
            </a:r>
            <a:r>
              <a:rPr lang="en-US" sz="1600" dirty="0" err="1">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num_steps</a:t>
            </a: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600" dirty="0" err="1">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i</a:t>
            </a: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a:t>
            </a:r>
            <a:r>
              <a:rPr lang="en-US" sz="1600" dirty="0" err="1">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i+nthrds</a:t>
            </a: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a:t>
            </a:r>
          </a:p>
          <a:p>
            <a:pPr indent="0">
              <a:buNone/>
            </a:pP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x = (i+0.5)*step;</a:t>
            </a:r>
          </a:p>
          <a:p>
            <a:pPr indent="0">
              <a:buNone/>
            </a:pP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sum += 4.0/(1.0+x*x);</a:t>
            </a:r>
          </a:p>
          <a:p>
            <a:pPr indent="0">
              <a:buNone/>
            </a:pP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a:t>
            </a:r>
          </a:p>
          <a:p>
            <a:pPr indent="0">
              <a:buNone/>
            </a:pPr>
            <a:r>
              <a:rPr lang="en-US" sz="16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#pragma </a:t>
            </a:r>
            <a:r>
              <a:rPr lang="en-US" sz="1600"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omp</a:t>
            </a:r>
            <a:r>
              <a:rPr lang="en-US" sz="16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critical</a:t>
            </a:r>
          </a:p>
          <a:p>
            <a:pPr indent="0">
              <a:buNone/>
            </a:pP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pi += sum * step;</a:t>
            </a:r>
          </a:p>
          <a:p>
            <a:pPr indent="0">
              <a:buNone/>
            </a:pP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a:t>
            </a:r>
          </a:p>
          <a:p>
            <a:pPr indent="0">
              <a:buNone/>
            </a:pPr>
            <a:r>
              <a:rPr lang="en-US" sz="1600" dirty="0">
                <a:solidFill>
                  <a:schemeClr val="tx1"/>
                </a:solidFill>
                <a:latin typeface="Droid Sans Mono" panose="020B0609030804020204" pitchFamily="49" charset="0"/>
                <a:ea typeface="Droid Sans Mono" panose="020B0609030804020204" pitchFamily="49" charset="0"/>
                <a:cs typeface="Droid Sans Mono" panose="020B0609030804020204" pitchFamily="49" charset="0"/>
              </a:rPr>
              <a:t>} </a:t>
            </a:r>
          </a:p>
        </p:txBody>
      </p:sp>
      <p:sp>
        <p:nvSpPr>
          <p:cNvPr id="7" name="Rectangle 6"/>
          <p:cNvSpPr/>
          <p:nvPr/>
        </p:nvSpPr>
        <p:spPr>
          <a:xfrm>
            <a:off x="6629400" y="2638425"/>
            <a:ext cx="1828799" cy="4953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0000FF"/>
                </a:solidFill>
              </a:rPr>
              <a:t>Use local </a:t>
            </a:r>
            <a:r>
              <a:rPr lang="en-US" sz="2000" b="1" dirty="0">
                <a:solidFill>
                  <a:srgbClr val="FA5206"/>
                </a:solidFill>
              </a:rPr>
              <a:t>Sum</a:t>
            </a:r>
          </a:p>
        </p:txBody>
      </p:sp>
      <p:cxnSp>
        <p:nvCxnSpPr>
          <p:cNvPr id="8" name="Straight Arrow Connector 7"/>
          <p:cNvCxnSpPr>
            <a:stCxn id="7" idx="1"/>
          </p:cNvCxnSpPr>
          <p:nvPr/>
        </p:nvCxnSpPr>
        <p:spPr>
          <a:xfrm flipH="1">
            <a:off x="5257800" y="2886075"/>
            <a:ext cx="1371600" cy="542925"/>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5562602" y="4876800"/>
            <a:ext cx="2895598" cy="9906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0000FF"/>
                </a:solidFill>
              </a:rPr>
              <a:t>Make sure only one thread at a time can update </a:t>
            </a:r>
            <a:r>
              <a:rPr lang="en-US" sz="2000" b="1" dirty="0">
                <a:solidFill>
                  <a:srgbClr val="FA5206"/>
                </a:solidFill>
              </a:rPr>
              <a:t>pi</a:t>
            </a:r>
          </a:p>
        </p:txBody>
      </p:sp>
      <p:cxnSp>
        <p:nvCxnSpPr>
          <p:cNvPr id="15" name="Straight Arrow Connector 14"/>
          <p:cNvCxnSpPr>
            <a:stCxn id="14" idx="1"/>
          </p:cNvCxnSpPr>
          <p:nvPr/>
        </p:nvCxnSpPr>
        <p:spPr>
          <a:xfrm flipH="1">
            <a:off x="3962402" y="5372100"/>
            <a:ext cx="1600200" cy="11430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63884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par>
                                <p:cTn id="16" presetID="10" presetClass="entr" presetSubtype="0" fill="hold" nodeType="with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4"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p:txBody>
              <a:bodyPr/>
              <a:lstStyle/>
              <a:p>
                <a:r>
                  <a:rPr lang="fa-IR" sz="4000" dirty="0"/>
                  <a:t>مثال: برنامه محاسبه </a:t>
                </a:r>
                <a14:m>
                  <m:oMath xmlns:m="http://schemas.openxmlformats.org/officeDocument/2006/math">
                    <m:r>
                      <a:rPr lang="en-US" sz="4000" i="1">
                        <a:latin typeface="Cambria Math" panose="02040503050406030204" pitchFamily="18" charset="0"/>
                      </a:rPr>
                      <m:t>𝜋</m:t>
                    </m:r>
                  </m:oMath>
                </a14:m>
                <a:r>
                  <a:rPr lang="fa-IR" sz="4000" dirty="0"/>
                  <a:t> با استفاده از ناحیه بحرانی</a:t>
                </a:r>
                <a:endParaRPr lang="en-US" sz="4300" dirty="0"/>
              </a:p>
            </p:txBody>
          </p:sp>
        </mc:Choice>
        <mc:Fallback xmlns="">
          <p:sp>
            <p:nvSpPr>
              <p:cNvPr id="2" name="Title 1"/>
              <p:cNvSpPr>
                <a:spLocks noGrp="1" noRot="1" noChangeAspect="1" noMove="1" noResize="1" noEditPoints="1" noAdjustHandles="1" noChangeArrowheads="1" noChangeShapeType="1" noTextEdit="1"/>
              </p:cNvSpPr>
              <p:nvPr>
                <p:ph type="title"/>
              </p:nvPr>
            </p:nvSpPr>
            <p:spPr>
              <a:blipFill rotWithShape="0">
                <a:blip r:embed="rId5"/>
                <a:stretch>
                  <a:fillRect t="-14286" r="-2618" b="-42857"/>
                </a:stretch>
              </a:blipFill>
            </p:spPr>
            <p:txBody>
              <a:bodyPr/>
              <a:lstStyle/>
              <a:p>
                <a:r>
                  <a:rPr lang="en-US">
                    <a:noFill/>
                  </a:rPr>
                  <a:t> </a:t>
                </a:r>
              </a:p>
            </p:txBody>
          </p:sp>
        </mc:Fallback>
      </mc:AlternateContent>
      <p:sp>
        <p:nvSpPr>
          <p:cNvPr id="3" name="Content Placeholder 2"/>
          <p:cNvSpPr>
            <a:spLocks noGrp="1"/>
          </p:cNvSpPr>
          <p:nvPr>
            <p:ph sz="quarter" idx="1"/>
          </p:nvPr>
        </p:nvSpPr>
        <p:spPr>
          <a:xfrm>
            <a:off x="457200" y="1219200"/>
            <a:ext cx="8153400" cy="4876800"/>
          </a:xfrm>
        </p:spPr>
        <p:txBody>
          <a:bodyPr/>
          <a:lstStyle/>
          <a:p>
            <a:pPr marL="0" lvl="0" indent="0" algn="ctr" rtl="0">
              <a:buClr>
                <a:srgbClr val="DD8047"/>
              </a:buClr>
              <a:buNone/>
            </a:pPr>
            <a:r>
              <a:rPr lang="en-US" sz="2800" dirty="0">
                <a:solidFill>
                  <a:prstClr val="black"/>
                </a:solidFill>
              </a:rPr>
              <a:t>Results</a:t>
            </a:r>
          </a:p>
          <a:p>
            <a:pPr marL="0" lvl="0" indent="0" algn="ctr" rtl="0">
              <a:buClr>
                <a:srgbClr val="DD8047"/>
              </a:buClr>
              <a:buNone/>
            </a:pPr>
            <a:r>
              <a:rPr lang="en-US" sz="2400" dirty="0">
                <a:solidFill>
                  <a:prstClr val="black"/>
                </a:solidFill>
              </a:rPr>
              <a:t>Original Serial Program with 100000 steps ran in 1.83s</a:t>
            </a:r>
          </a:p>
          <a:p>
            <a:pPr indent="0" algn="l" rtl="0">
              <a:spcBef>
                <a:spcPts val="0"/>
              </a:spcBef>
              <a:buNone/>
            </a:pPr>
            <a:endParaRPr lang="fa-IR" sz="11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endParaRPr>
          </a:p>
          <a:p>
            <a:pPr indent="0" algn="l" rtl="0">
              <a:spcBef>
                <a:spcPts val="0"/>
              </a:spcBef>
              <a:buNone/>
            </a:pPr>
            <a:r>
              <a:rPr lang="en-US" sz="11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#include &lt;</a:t>
            </a:r>
            <a:r>
              <a:rPr lang="en-US" sz="1100"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omp.h</a:t>
            </a:r>
            <a:r>
              <a:rPr lang="en-US" sz="110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&gt;</a:t>
            </a:r>
          </a:p>
          <a:p>
            <a:pPr indent="0" algn="l" rtl="0">
              <a:spcBef>
                <a:spcPts val="0"/>
              </a:spcBef>
              <a:buNone/>
            </a:pPr>
            <a:r>
              <a:rPr lang="en-US" sz="105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static</a:t>
            </a:r>
            <a:r>
              <a:rPr lang="en-US" sz="1050" dirty="0">
                <a:latin typeface="Droid Sans Mono" panose="020B0609030804020204" pitchFamily="49" charset="0"/>
                <a:ea typeface="Droid Sans Mono" panose="020B0609030804020204" pitchFamily="49" charset="0"/>
                <a:cs typeface="Droid Sans Mono" panose="020B0609030804020204" pitchFamily="49" charset="0"/>
              </a:rPr>
              <a:t> </a:t>
            </a:r>
            <a:r>
              <a:rPr lang="en-US" sz="105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long</a:t>
            </a:r>
            <a:r>
              <a:rPr lang="en-US" sz="1050" dirty="0">
                <a:latin typeface="Droid Sans Mono" panose="020B0609030804020204" pitchFamily="49" charset="0"/>
                <a:ea typeface="Droid Sans Mono" panose="020B0609030804020204" pitchFamily="49" charset="0"/>
                <a:cs typeface="Droid Sans Mono" panose="020B0609030804020204" pitchFamily="49" charset="0"/>
              </a:rPr>
              <a:t> </a:t>
            </a:r>
            <a:r>
              <a:rPr lang="en-US" sz="1050" dirty="0" err="1">
                <a:latin typeface="Droid Sans Mono" panose="020B0609030804020204" pitchFamily="49" charset="0"/>
                <a:ea typeface="Droid Sans Mono" panose="020B0609030804020204" pitchFamily="49" charset="0"/>
                <a:cs typeface="Droid Sans Mono" panose="020B0609030804020204" pitchFamily="49" charset="0"/>
              </a:rPr>
              <a:t>num_steps</a:t>
            </a:r>
            <a:r>
              <a:rPr lang="en-US" sz="1050" dirty="0">
                <a:latin typeface="Droid Sans Mono" panose="020B0609030804020204" pitchFamily="49" charset="0"/>
                <a:ea typeface="Droid Sans Mono" panose="020B0609030804020204" pitchFamily="49" charset="0"/>
                <a:cs typeface="Droid Sans Mono" panose="020B0609030804020204" pitchFamily="49" charset="0"/>
              </a:rPr>
              <a:t> = 100000; </a:t>
            </a:r>
            <a:r>
              <a:rPr lang="en-US" sz="105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double</a:t>
            </a:r>
            <a:r>
              <a:rPr lang="en-US" sz="1050" dirty="0">
                <a:latin typeface="Droid Sans Mono" panose="020B0609030804020204" pitchFamily="49" charset="0"/>
                <a:ea typeface="Droid Sans Mono" panose="020B0609030804020204" pitchFamily="49" charset="0"/>
                <a:cs typeface="Droid Sans Mono" panose="020B0609030804020204" pitchFamily="49" charset="0"/>
              </a:rPr>
              <a:t> step;</a:t>
            </a:r>
          </a:p>
          <a:p>
            <a:pPr indent="0" algn="l" rtl="0">
              <a:spcBef>
                <a:spcPts val="0"/>
              </a:spcBef>
              <a:buNone/>
            </a:pPr>
            <a:r>
              <a:rPr lang="en-US" sz="105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#define NUM_THREADS 2</a:t>
            </a:r>
          </a:p>
          <a:p>
            <a:pPr indent="0" algn="l" rtl="0">
              <a:spcBef>
                <a:spcPts val="0"/>
              </a:spcBef>
              <a:buNone/>
            </a:pPr>
            <a:r>
              <a:rPr lang="en-US" sz="105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void</a:t>
            </a:r>
            <a:r>
              <a:rPr lang="en-US" sz="1050" dirty="0">
                <a:latin typeface="Droid Sans Mono" panose="020B0609030804020204" pitchFamily="49" charset="0"/>
                <a:ea typeface="Droid Sans Mono" panose="020B0609030804020204" pitchFamily="49" charset="0"/>
                <a:cs typeface="Droid Sans Mono" panose="020B0609030804020204" pitchFamily="49" charset="0"/>
              </a:rPr>
              <a:t> </a:t>
            </a:r>
            <a:r>
              <a:rPr lang="en-US" sz="105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main </a:t>
            </a:r>
            <a:r>
              <a:rPr lang="en-US" sz="1050" dirty="0">
                <a:latin typeface="Droid Sans Mono" panose="020B0609030804020204" pitchFamily="49" charset="0"/>
                <a:ea typeface="Droid Sans Mono" panose="020B0609030804020204" pitchFamily="49" charset="0"/>
                <a:cs typeface="Droid Sans Mono" panose="020B0609030804020204" pitchFamily="49" charset="0"/>
              </a:rPr>
              <a:t>() {</a:t>
            </a:r>
          </a:p>
          <a:p>
            <a:pPr indent="0" algn="l" rtl="0">
              <a:spcBef>
                <a:spcPts val="0"/>
              </a:spcBef>
              <a:buNone/>
            </a:pPr>
            <a:r>
              <a:rPr lang="en-US" sz="1050" dirty="0">
                <a:latin typeface="Droid Sans Mono" panose="020B0609030804020204" pitchFamily="49" charset="0"/>
                <a:ea typeface="Droid Sans Mono" panose="020B0609030804020204" pitchFamily="49" charset="0"/>
                <a:cs typeface="Droid Sans Mono" panose="020B0609030804020204" pitchFamily="49" charset="0"/>
              </a:rPr>
              <a:t>   </a:t>
            </a:r>
            <a:r>
              <a:rPr lang="en-US" sz="105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double</a:t>
            </a:r>
            <a:r>
              <a:rPr lang="en-US" sz="1050" dirty="0">
                <a:latin typeface="Droid Sans Mono" panose="020B0609030804020204" pitchFamily="49" charset="0"/>
                <a:ea typeface="Droid Sans Mono" panose="020B0609030804020204" pitchFamily="49" charset="0"/>
                <a:cs typeface="Droid Sans Mono" panose="020B0609030804020204" pitchFamily="49" charset="0"/>
              </a:rPr>
              <a:t> pi;</a:t>
            </a:r>
          </a:p>
          <a:p>
            <a:pPr indent="0" algn="l" rtl="0">
              <a:spcBef>
                <a:spcPts val="0"/>
              </a:spcBef>
              <a:buNone/>
            </a:pPr>
            <a:r>
              <a:rPr lang="en-US" sz="1050" dirty="0">
                <a:latin typeface="Droid Sans Mono" panose="020B0609030804020204" pitchFamily="49" charset="0"/>
                <a:ea typeface="Droid Sans Mono" panose="020B0609030804020204" pitchFamily="49" charset="0"/>
                <a:cs typeface="Droid Sans Mono" panose="020B0609030804020204" pitchFamily="49" charset="0"/>
              </a:rPr>
              <a:t>   step = 1.0/(</a:t>
            </a:r>
            <a:r>
              <a:rPr lang="en-US" sz="105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double</a:t>
            </a:r>
            <a:r>
              <a:rPr lang="en-US" sz="1050" dirty="0">
                <a:latin typeface="Droid Sans Mono" panose="020B0609030804020204" pitchFamily="49" charset="0"/>
                <a:ea typeface="Droid Sans Mono" panose="020B0609030804020204" pitchFamily="49" charset="0"/>
                <a:cs typeface="Droid Sans Mono" panose="020B0609030804020204" pitchFamily="49" charset="0"/>
              </a:rPr>
              <a:t>) </a:t>
            </a:r>
            <a:r>
              <a:rPr lang="en-US" sz="1050" dirty="0" err="1">
                <a:latin typeface="Droid Sans Mono" panose="020B0609030804020204" pitchFamily="49" charset="0"/>
                <a:ea typeface="Droid Sans Mono" panose="020B0609030804020204" pitchFamily="49" charset="0"/>
                <a:cs typeface="Droid Sans Mono" panose="020B0609030804020204" pitchFamily="49" charset="0"/>
              </a:rPr>
              <a:t>num_steps</a:t>
            </a:r>
            <a:r>
              <a:rPr lang="en-US" sz="1050" dirty="0">
                <a:latin typeface="Droid Sans Mono" panose="020B0609030804020204" pitchFamily="49" charset="0"/>
                <a:ea typeface="Droid Sans Mono" panose="020B0609030804020204" pitchFamily="49" charset="0"/>
                <a:cs typeface="Droid Sans Mono" panose="020B0609030804020204" pitchFamily="49" charset="0"/>
              </a:rPr>
              <a:t>;</a:t>
            </a:r>
          </a:p>
          <a:p>
            <a:pPr indent="0" algn="l" rtl="0">
              <a:spcBef>
                <a:spcPts val="0"/>
              </a:spcBef>
              <a:buNone/>
            </a:pPr>
            <a:r>
              <a:rPr lang="en-US" sz="105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050"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omp_set_num_threads</a:t>
            </a:r>
            <a:r>
              <a:rPr lang="en-US" sz="105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(NUM_THREADS);</a:t>
            </a:r>
          </a:p>
          <a:p>
            <a:pPr indent="0" algn="l" rtl="0">
              <a:spcBef>
                <a:spcPts val="0"/>
              </a:spcBef>
              <a:buNone/>
            </a:pPr>
            <a:r>
              <a:rPr lang="en-US" sz="105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#pragma </a:t>
            </a:r>
            <a:r>
              <a:rPr lang="en-US" sz="1050"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omp</a:t>
            </a:r>
            <a:r>
              <a:rPr lang="en-US" sz="105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parallel</a:t>
            </a:r>
          </a:p>
          <a:p>
            <a:pPr indent="0" algn="l" rtl="0">
              <a:spcBef>
                <a:spcPts val="0"/>
              </a:spcBef>
              <a:buNone/>
            </a:pPr>
            <a:r>
              <a:rPr lang="en-US" sz="1050" dirty="0">
                <a:latin typeface="Droid Sans Mono" panose="020B0609030804020204" pitchFamily="49" charset="0"/>
                <a:ea typeface="Droid Sans Mono" panose="020B0609030804020204" pitchFamily="49" charset="0"/>
                <a:cs typeface="Droid Sans Mono" panose="020B0609030804020204" pitchFamily="49" charset="0"/>
              </a:rPr>
              <a:t>   {</a:t>
            </a:r>
          </a:p>
          <a:p>
            <a:pPr indent="0" algn="l" rtl="0">
              <a:spcBef>
                <a:spcPts val="0"/>
              </a:spcBef>
              <a:buNone/>
            </a:pPr>
            <a:r>
              <a:rPr lang="en-US" sz="105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050" dirty="0" err="1">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int</a:t>
            </a:r>
            <a:r>
              <a:rPr lang="en-US" sz="105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050" dirty="0" err="1">
                <a:latin typeface="Droid Sans Mono" panose="020B0609030804020204" pitchFamily="49" charset="0"/>
                <a:ea typeface="Droid Sans Mono" panose="020B0609030804020204" pitchFamily="49" charset="0"/>
                <a:cs typeface="Droid Sans Mono" panose="020B0609030804020204" pitchFamily="49" charset="0"/>
              </a:rPr>
              <a:t>i</a:t>
            </a:r>
            <a:r>
              <a:rPr lang="en-US" sz="1050" dirty="0">
                <a:latin typeface="Droid Sans Mono" panose="020B0609030804020204" pitchFamily="49" charset="0"/>
                <a:ea typeface="Droid Sans Mono" panose="020B0609030804020204" pitchFamily="49" charset="0"/>
                <a:cs typeface="Droid Sans Mono" panose="020B0609030804020204" pitchFamily="49" charset="0"/>
              </a:rPr>
              <a:t>, id, </a:t>
            </a:r>
            <a:r>
              <a:rPr lang="en-US" sz="1050" dirty="0" err="1">
                <a:latin typeface="Droid Sans Mono" panose="020B0609030804020204" pitchFamily="49" charset="0"/>
                <a:ea typeface="Droid Sans Mono" panose="020B0609030804020204" pitchFamily="49" charset="0"/>
                <a:cs typeface="Droid Sans Mono" panose="020B0609030804020204" pitchFamily="49" charset="0"/>
              </a:rPr>
              <a:t>nthrds</a:t>
            </a:r>
            <a:r>
              <a:rPr lang="en-US" sz="1050" dirty="0">
                <a:latin typeface="Droid Sans Mono" panose="020B0609030804020204" pitchFamily="49" charset="0"/>
                <a:ea typeface="Droid Sans Mono" panose="020B0609030804020204" pitchFamily="49" charset="0"/>
                <a:cs typeface="Droid Sans Mono" panose="020B0609030804020204" pitchFamily="49" charset="0"/>
              </a:rPr>
              <a:t>; </a:t>
            </a:r>
            <a:r>
              <a:rPr lang="en-US" sz="105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double</a:t>
            </a:r>
            <a:r>
              <a:rPr lang="en-US" sz="1050" dirty="0">
                <a:latin typeface="Droid Sans Mono" panose="020B0609030804020204" pitchFamily="49" charset="0"/>
                <a:ea typeface="Droid Sans Mono" panose="020B0609030804020204" pitchFamily="49" charset="0"/>
                <a:cs typeface="Droid Sans Mono" panose="020B0609030804020204" pitchFamily="49" charset="0"/>
              </a:rPr>
              <a:t> x, sum;</a:t>
            </a:r>
          </a:p>
          <a:p>
            <a:pPr indent="0" algn="l" rtl="0">
              <a:spcBef>
                <a:spcPts val="0"/>
              </a:spcBef>
              <a:buNone/>
            </a:pPr>
            <a:r>
              <a:rPr lang="en-US" sz="1050" dirty="0">
                <a:latin typeface="Droid Sans Mono" panose="020B0609030804020204" pitchFamily="49" charset="0"/>
                <a:ea typeface="Droid Sans Mono" panose="020B0609030804020204" pitchFamily="49" charset="0"/>
                <a:cs typeface="Droid Sans Mono" panose="020B0609030804020204" pitchFamily="49" charset="0"/>
              </a:rPr>
              <a:t>      </a:t>
            </a:r>
            <a:r>
              <a:rPr lang="en-US" sz="105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id = </a:t>
            </a:r>
            <a:r>
              <a:rPr lang="en-US" sz="1050"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omp_get_thread_num</a:t>
            </a:r>
            <a:r>
              <a:rPr lang="en-US" sz="105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a:t>
            </a:r>
          </a:p>
          <a:p>
            <a:pPr indent="0" algn="l" rtl="0">
              <a:spcBef>
                <a:spcPts val="0"/>
              </a:spcBef>
              <a:buNone/>
            </a:pPr>
            <a:r>
              <a:rPr lang="en-US" sz="105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a:t>
            </a:r>
            <a:r>
              <a:rPr lang="en-US" sz="1050"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nthrds</a:t>
            </a:r>
            <a:r>
              <a:rPr lang="en-US" sz="105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 </a:t>
            </a:r>
            <a:r>
              <a:rPr lang="en-US" sz="1050"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omp_get_num_threads</a:t>
            </a:r>
            <a:r>
              <a:rPr lang="en-US" sz="105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a:t>
            </a:r>
          </a:p>
          <a:p>
            <a:pPr indent="0" algn="l" rtl="0">
              <a:spcBef>
                <a:spcPts val="0"/>
              </a:spcBef>
              <a:buNone/>
            </a:pPr>
            <a:r>
              <a:rPr lang="en-US" sz="1050" dirty="0">
                <a:solidFill>
                  <a:srgbClr val="0000FF"/>
                </a:solidFill>
                <a:latin typeface="Droid Sans Mono" panose="020B0609030804020204" pitchFamily="49" charset="0"/>
                <a:ea typeface="Droid Sans Mono" panose="020B0609030804020204" pitchFamily="49" charset="0"/>
                <a:cs typeface="Droid Sans Mono" panose="020B0609030804020204" pitchFamily="49" charset="0"/>
              </a:rPr>
              <a:t>      for</a:t>
            </a:r>
            <a:r>
              <a:rPr lang="en-US" sz="1050" dirty="0">
                <a:latin typeface="Droid Sans Mono" panose="020B0609030804020204" pitchFamily="49" charset="0"/>
                <a:ea typeface="Droid Sans Mono" panose="020B0609030804020204" pitchFamily="49" charset="0"/>
                <a:cs typeface="Droid Sans Mono" panose="020B0609030804020204" pitchFamily="49" charset="0"/>
              </a:rPr>
              <a:t> (</a:t>
            </a:r>
            <a:r>
              <a:rPr lang="en-US" sz="1050" dirty="0" err="1">
                <a:latin typeface="Droid Sans Mono" panose="020B0609030804020204" pitchFamily="49" charset="0"/>
                <a:ea typeface="Droid Sans Mono" panose="020B0609030804020204" pitchFamily="49" charset="0"/>
                <a:cs typeface="Droid Sans Mono" panose="020B0609030804020204" pitchFamily="49" charset="0"/>
              </a:rPr>
              <a:t>i</a:t>
            </a:r>
            <a:r>
              <a:rPr lang="en-US" sz="1050" dirty="0">
                <a:latin typeface="Droid Sans Mono" panose="020B0609030804020204" pitchFamily="49" charset="0"/>
                <a:ea typeface="Droid Sans Mono" panose="020B0609030804020204" pitchFamily="49" charset="0"/>
                <a:cs typeface="Droid Sans Mono" panose="020B0609030804020204" pitchFamily="49" charset="0"/>
              </a:rPr>
              <a:t>=</a:t>
            </a:r>
            <a:r>
              <a:rPr lang="en-US" sz="1050" dirty="0" err="1">
                <a:latin typeface="Droid Sans Mono" panose="020B0609030804020204" pitchFamily="49" charset="0"/>
                <a:ea typeface="Droid Sans Mono" panose="020B0609030804020204" pitchFamily="49" charset="0"/>
                <a:cs typeface="Droid Sans Mono" panose="020B0609030804020204" pitchFamily="49" charset="0"/>
              </a:rPr>
              <a:t>id,sum</a:t>
            </a:r>
            <a:r>
              <a:rPr lang="en-US" sz="1050" dirty="0">
                <a:latin typeface="Droid Sans Mono" panose="020B0609030804020204" pitchFamily="49" charset="0"/>
                <a:ea typeface="Droid Sans Mono" panose="020B0609030804020204" pitchFamily="49" charset="0"/>
                <a:cs typeface="Droid Sans Mono" panose="020B0609030804020204" pitchFamily="49" charset="0"/>
              </a:rPr>
              <a:t>=0.0; </a:t>
            </a:r>
            <a:r>
              <a:rPr lang="en-US" sz="1050" dirty="0" err="1">
                <a:latin typeface="Droid Sans Mono" panose="020B0609030804020204" pitchFamily="49" charset="0"/>
                <a:ea typeface="Droid Sans Mono" panose="020B0609030804020204" pitchFamily="49" charset="0"/>
                <a:cs typeface="Droid Sans Mono" panose="020B0609030804020204" pitchFamily="49" charset="0"/>
              </a:rPr>
              <a:t>i</a:t>
            </a:r>
            <a:r>
              <a:rPr lang="en-US" sz="1050" dirty="0">
                <a:latin typeface="Droid Sans Mono" panose="020B0609030804020204" pitchFamily="49" charset="0"/>
                <a:ea typeface="Droid Sans Mono" panose="020B0609030804020204" pitchFamily="49" charset="0"/>
                <a:cs typeface="Droid Sans Mono" panose="020B0609030804020204" pitchFamily="49" charset="0"/>
              </a:rPr>
              <a:t>&lt;</a:t>
            </a:r>
            <a:r>
              <a:rPr lang="en-US" sz="1050" dirty="0" err="1">
                <a:latin typeface="Droid Sans Mono" panose="020B0609030804020204" pitchFamily="49" charset="0"/>
                <a:ea typeface="Droid Sans Mono" panose="020B0609030804020204" pitchFamily="49" charset="0"/>
                <a:cs typeface="Droid Sans Mono" panose="020B0609030804020204" pitchFamily="49" charset="0"/>
              </a:rPr>
              <a:t>num_steps</a:t>
            </a:r>
            <a:r>
              <a:rPr lang="en-US" sz="1050" dirty="0">
                <a:latin typeface="Droid Sans Mono" panose="020B0609030804020204" pitchFamily="49" charset="0"/>
                <a:ea typeface="Droid Sans Mono" panose="020B0609030804020204" pitchFamily="49" charset="0"/>
                <a:cs typeface="Droid Sans Mono" panose="020B0609030804020204" pitchFamily="49" charset="0"/>
              </a:rPr>
              <a:t>; </a:t>
            </a:r>
            <a:r>
              <a:rPr lang="en-US" sz="1050" dirty="0" err="1">
                <a:latin typeface="Droid Sans Mono" panose="020B0609030804020204" pitchFamily="49" charset="0"/>
                <a:ea typeface="Droid Sans Mono" panose="020B0609030804020204" pitchFamily="49" charset="0"/>
                <a:cs typeface="Droid Sans Mono" panose="020B0609030804020204" pitchFamily="49" charset="0"/>
              </a:rPr>
              <a:t>i</a:t>
            </a:r>
            <a:r>
              <a:rPr lang="en-US" sz="1050" dirty="0">
                <a:latin typeface="Droid Sans Mono" panose="020B0609030804020204" pitchFamily="49" charset="0"/>
                <a:ea typeface="Droid Sans Mono" panose="020B0609030804020204" pitchFamily="49" charset="0"/>
                <a:cs typeface="Droid Sans Mono" panose="020B0609030804020204" pitchFamily="49" charset="0"/>
              </a:rPr>
              <a:t>=</a:t>
            </a:r>
            <a:r>
              <a:rPr lang="en-US" sz="1050" dirty="0" err="1">
                <a:latin typeface="Droid Sans Mono" panose="020B0609030804020204" pitchFamily="49" charset="0"/>
                <a:ea typeface="Droid Sans Mono" panose="020B0609030804020204" pitchFamily="49" charset="0"/>
                <a:cs typeface="Droid Sans Mono" panose="020B0609030804020204" pitchFamily="49" charset="0"/>
              </a:rPr>
              <a:t>i+nthrds</a:t>
            </a:r>
            <a:r>
              <a:rPr lang="en-US" sz="1050" dirty="0">
                <a:latin typeface="Droid Sans Mono" panose="020B0609030804020204" pitchFamily="49" charset="0"/>
                <a:ea typeface="Droid Sans Mono" panose="020B0609030804020204" pitchFamily="49" charset="0"/>
                <a:cs typeface="Droid Sans Mono" panose="020B0609030804020204" pitchFamily="49" charset="0"/>
              </a:rPr>
              <a:t>)</a:t>
            </a:r>
          </a:p>
          <a:p>
            <a:pPr indent="0" algn="l" rtl="0">
              <a:spcBef>
                <a:spcPts val="0"/>
              </a:spcBef>
              <a:buNone/>
            </a:pPr>
            <a:r>
              <a:rPr lang="en-US" sz="1050" dirty="0">
                <a:latin typeface="Droid Sans Mono" panose="020B0609030804020204" pitchFamily="49" charset="0"/>
                <a:ea typeface="Droid Sans Mono" panose="020B0609030804020204" pitchFamily="49" charset="0"/>
                <a:cs typeface="Droid Sans Mono" panose="020B0609030804020204" pitchFamily="49" charset="0"/>
              </a:rPr>
              <a:t>      {</a:t>
            </a:r>
          </a:p>
          <a:p>
            <a:pPr indent="0" algn="l" rtl="0">
              <a:spcBef>
                <a:spcPts val="0"/>
              </a:spcBef>
              <a:buNone/>
            </a:pPr>
            <a:r>
              <a:rPr lang="en-US" sz="1050" dirty="0">
                <a:latin typeface="Droid Sans Mono" panose="020B0609030804020204" pitchFamily="49" charset="0"/>
                <a:ea typeface="Droid Sans Mono" panose="020B0609030804020204" pitchFamily="49" charset="0"/>
                <a:cs typeface="Droid Sans Mono" panose="020B0609030804020204" pitchFamily="49" charset="0"/>
              </a:rPr>
              <a:t>         x = (i+0.5)*step;</a:t>
            </a:r>
          </a:p>
          <a:p>
            <a:pPr indent="0" algn="l" rtl="0">
              <a:spcBef>
                <a:spcPts val="0"/>
              </a:spcBef>
              <a:buNone/>
            </a:pPr>
            <a:r>
              <a:rPr lang="en-US" sz="1050" dirty="0">
                <a:latin typeface="Droid Sans Mono" panose="020B0609030804020204" pitchFamily="49" charset="0"/>
                <a:ea typeface="Droid Sans Mono" panose="020B0609030804020204" pitchFamily="49" charset="0"/>
                <a:cs typeface="Droid Sans Mono" panose="020B0609030804020204" pitchFamily="49" charset="0"/>
              </a:rPr>
              <a:t>         sum += 4.0/(1.0+x*x);</a:t>
            </a:r>
          </a:p>
          <a:p>
            <a:pPr indent="0" algn="l" rtl="0">
              <a:spcBef>
                <a:spcPts val="0"/>
              </a:spcBef>
              <a:buNone/>
            </a:pPr>
            <a:r>
              <a:rPr lang="en-US" sz="1050" dirty="0">
                <a:latin typeface="Droid Sans Mono" panose="020B0609030804020204" pitchFamily="49" charset="0"/>
                <a:ea typeface="Droid Sans Mono" panose="020B0609030804020204" pitchFamily="49" charset="0"/>
                <a:cs typeface="Droid Sans Mono" panose="020B0609030804020204" pitchFamily="49" charset="0"/>
              </a:rPr>
              <a:t>      }</a:t>
            </a:r>
          </a:p>
          <a:p>
            <a:pPr indent="0" algn="l" rtl="0">
              <a:spcBef>
                <a:spcPts val="0"/>
              </a:spcBef>
              <a:buNone/>
            </a:pPr>
            <a:r>
              <a:rPr lang="en-US" sz="105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#pragma </a:t>
            </a:r>
            <a:r>
              <a:rPr lang="en-US" sz="1050" dirty="0" err="1">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omp</a:t>
            </a:r>
            <a:r>
              <a:rPr lang="en-US" sz="1050" dirty="0">
                <a:solidFill>
                  <a:srgbClr val="FA5206"/>
                </a:solidFill>
                <a:latin typeface="Droid Sans Mono" panose="020B0609030804020204" pitchFamily="49" charset="0"/>
                <a:ea typeface="Droid Sans Mono" panose="020B0609030804020204" pitchFamily="49" charset="0"/>
                <a:cs typeface="Droid Sans Mono" panose="020B0609030804020204" pitchFamily="49" charset="0"/>
              </a:rPr>
              <a:t> critical</a:t>
            </a:r>
          </a:p>
          <a:p>
            <a:pPr indent="0" algn="l" rtl="0">
              <a:spcBef>
                <a:spcPts val="0"/>
              </a:spcBef>
              <a:buNone/>
            </a:pPr>
            <a:r>
              <a:rPr lang="en-US" sz="1050" dirty="0">
                <a:latin typeface="Droid Sans Mono" panose="020B0609030804020204" pitchFamily="49" charset="0"/>
                <a:ea typeface="Droid Sans Mono" panose="020B0609030804020204" pitchFamily="49" charset="0"/>
                <a:cs typeface="Droid Sans Mono" panose="020B0609030804020204" pitchFamily="49" charset="0"/>
              </a:rPr>
              <a:t>	  pi += sum * step;</a:t>
            </a:r>
          </a:p>
          <a:p>
            <a:pPr indent="0" algn="l" rtl="0">
              <a:spcBef>
                <a:spcPts val="0"/>
              </a:spcBef>
              <a:buNone/>
            </a:pPr>
            <a:r>
              <a:rPr lang="en-US" sz="1050" dirty="0">
                <a:latin typeface="Droid Sans Mono" panose="020B0609030804020204" pitchFamily="49" charset="0"/>
                <a:ea typeface="Droid Sans Mono" panose="020B0609030804020204" pitchFamily="49" charset="0"/>
                <a:cs typeface="Droid Sans Mono" panose="020B0609030804020204" pitchFamily="49" charset="0"/>
              </a:rPr>
              <a:t>   }</a:t>
            </a:r>
          </a:p>
          <a:p>
            <a:pPr indent="0" algn="l" rtl="0">
              <a:spcBef>
                <a:spcPts val="0"/>
              </a:spcBef>
              <a:buNone/>
            </a:pPr>
            <a:r>
              <a:rPr lang="en-US" sz="1050" dirty="0">
                <a:latin typeface="Droid Sans Mono" panose="020B0609030804020204" pitchFamily="49" charset="0"/>
                <a:ea typeface="Droid Sans Mono" panose="020B0609030804020204" pitchFamily="49" charset="0"/>
                <a:cs typeface="Droid Sans Mono" panose="020B0609030804020204" pitchFamily="49" charset="0"/>
              </a:rPr>
              <a:t>} </a:t>
            </a:r>
          </a:p>
          <a:p>
            <a:pPr marL="0" lvl="0" indent="0" algn="l" rtl="0" eaLnBrk="1" hangingPunct="1">
              <a:spcBef>
                <a:spcPct val="0"/>
              </a:spcBef>
              <a:buClrTx/>
              <a:buSzTx/>
              <a:buNone/>
            </a:pPr>
            <a:r>
              <a:rPr lang="en-US" sz="600" dirty="0">
                <a:solidFill>
                  <a:prstClr val="black"/>
                </a:solidFill>
                <a:latin typeface="Droid Sans Mono" panose="020B0609030804020204" pitchFamily="49" charset="0"/>
                <a:ea typeface="Droid Sans Mono" panose="020B0609030804020204" pitchFamily="49" charset="0"/>
                <a:cs typeface="Droid Sans Mono" panose="020B0609030804020204" pitchFamily="49" charset="0"/>
              </a:rPr>
              <a:t> </a:t>
            </a:r>
          </a:p>
        </p:txBody>
      </p:sp>
      <p:sp>
        <p:nvSpPr>
          <p:cNvPr id="4" name="Date Placeholder 3"/>
          <p:cNvSpPr>
            <a:spLocks noGrp="1"/>
          </p:cNvSpPr>
          <p:nvPr>
            <p:ph type="dt" sz="half" idx="10"/>
          </p:nvPr>
        </p:nvSpPr>
        <p:spPr/>
        <p:txBody>
          <a:bodyPr/>
          <a:lstStyle/>
          <a:p>
            <a:pPr>
              <a:defRPr/>
            </a:pPr>
            <a:r>
              <a:rPr lang="en-US" altLang="en-US"/>
              <a:t>Parallel Processing</a:t>
            </a:r>
          </a:p>
        </p:txBody>
      </p:sp>
      <p:sp>
        <p:nvSpPr>
          <p:cNvPr id="5" name="Footer Placeholder 4"/>
          <p:cNvSpPr>
            <a:spLocks noGrp="1"/>
          </p:cNvSpPr>
          <p:nvPr>
            <p:ph type="ftr" sz="quarter" idx="11"/>
          </p:nvPr>
        </p:nvSpPr>
        <p:spPr/>
        <p:txBody>
          <a:bodyPr/>
          <a:lstStyle/>
          <a:p>
            <a:pPr>
              <a:defRPr/>
            </a:pPr>
            <a:r>
              <a:rPr lang="en-US" altLang="en-US"/>
              <a:t>7. OpenMP</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A9DCC621-7EE1-4E7E-9D9E-207B534D683D}" type="slidenum">
              <a:rPr lang="en-US" altLang="en-US" smtClean="0"/>
              <a:pPr>
                <a:defRPr/>
              </a:pPr>
              <a:t>34</a:t>
            </a:fld>
            <a:endParaRPr lang="en-US" altLang="en-US" dirty="0"/>
          </a:p>
        </p:txBody>
      </p:sp>
      <p:graphicFrame>
        <p:nvGraphicFramePr>
          <p:cNvPr id="7" name="Table 6"/>
          <p:cNvGraphicFramePr>
            <a:graphicFrameLocks noGrp="1"/>
          </p:cNvGraphicFramePr>
          <p:nvPr/>
        </p:nvGraphicFramePr>
        <p:xfrm>
          <a:off x="4800600" y="2209800"/>
          <a:ext cx="3810000" cy="2123440"/>
        </p:xfrm>
        <a:graphic>
          <a:graphicData uri="http://schemas.openxmlformats.org/drawingml/2006/table">
            <a:tbl>
              <a:tblPr firstRow="1" bandRow="1">
                <a:tableStyleId>{9DCAF9ED-07DC-4A11-8D7F-57B35C25682E}</a:tableStyleId>
              </a:tblPr>
              <a:tblGrid>
                <a:gridCol w="838200">
                  <a:extLst>
                    <a:ext uri="{9D8B030D-6E8A-4147-A177-3AD203B41FA5}">
                      <a16:colId xmlns:a16="http://schemas.microsoft.com/office/drawing/2014/main" val="20000"/>
                    </a:ext>
                  </a:extLst>
                </a:gridCol>
                <a:gridCol w="990600">
                  <a:extLst>
                    <a:ext uri="{9D8B030D-6E8A-4147-A177-3AD203B41FA5}">
                      <a16:colId xmlns:a16="http://schemas.microsoft.com/office/drawing/2014/main" val="20001"/>
                    </a:ext>
                  </a:extLst>
                </a:gridCol>
                <a:gridCol w="1070113">
                  <a:extLst>
                    <a:ext uri="{9D8B030D-6E8A-4147-A177-3AD203B41FA5}">
                      <a16:colId xmlns:a16="http://schemas.microsoft.com/office/drawing/2014/main" val="20002"/>
                    </a:ext>
                  </a:extLst>
                </a:gridCol>
                <a:gridCol w="911087">
                  <a:extLst>
                    <a:ext uri="{9D8B030D-6E8A-4147-A177-3AD203B41FA5}">
                      <a16:colId xmlns:a16="http://schemas.microsoft.com/office/drawing/2014/main" val="20003"/>
                    </a:ext>
                  </a:extLst>
                </a:gridCol>
              </a:tblGrid>
              <a:tr h="370840">
                <a:tc>
                  <a:txBody>
                    <a:bodyPr/>
                    <a:lstStyle/>
                    <a:p>
                      <a:pPr algn="ctr"/>
                      <a:r>
                        <a:rPr lang="en-US" dirty="0"/>
                        <a:t>Threads</a:t>
                      </a:r>
                    </a:p>
                  </a:txBody>
                  <a:tcPr marL="0" marR="0" marT="0" marB="0" anchor="ctr"/>
                </a:tc>
                <a:tc>
                  <a:txBody>
                    <a:bodyPr/>
                    <a:lstStyle/>
                    <a:p>
                      <a:pPr algn="ctr"/>
                      <a:r>
                        <a:rPr lang="en-US" dirty="0"/>
                        <a:t>1</a:t>
                      </a:r>
                      <a:r>
                        <a:rPr lang="en-US" baseline="30000" dirty="0"/>
                        <a:t>st</a:t>
                      </a:r>
                      <a:r>
                        <a:rPr lang="en-US" dirty="0"/>
                        <a:t> SPMD</a:t>
                      </a:r>
                    </a:p>
                  </a:txBody>
                  <a:tcPr marL="0" marR="0" marT="0" marB="0" anchor="ctr"/>
                </a:tc>
                <a:tc>
                  <a:txBody>
                    <a:bodyPr/>
                    <a:lstStyle/>
                    <a:p>
                      <a:pPr algn="ctr"/>
                      <a:r>
                        <a:rPr lang="en-US" dirty="0"/>
                        <a:t>1</a:t>
                      </a:r>
                      <a:r>
                        <a:rPr lang="en-US" baseline="30000" dirty="0"/>
                        <a:t>st</a:t>
                      </a:r>
                      <a:r>
                        <a:rPr lang="en-US" dirty="0"/>
                        <a:t> SPMD</a:t>
                      </a:r>
                    </a:p>
                    <a:p>
                      <a:pPr algn="ctr"/>
                      <a:r>
                        <a:rPr lang="en-US" dirty="0"/>
                        <a:t>Padded</a:t>
                      </a:r>
                    </a:p>
                  </a:txBody>
                  <a:tcPr anchor="ctr"/>
                </a:tc>
                <a:tc>
                  <a:txBody>
                    <a:bodyPr/>
                    <a:lstStyle/>
                    <a:p>
                      <a:pPr algn="ctr"/>
                      <a:r>
                        <a:rPr lang="en-US" dirty="0"/>
                        <a:t>SPMD</a:t>
                      </a:r>
                      <a:r>
                        <a:rPr lang="en-US" baseline="0" dirty="0"/>
                        <a:t> Critical</a:t>
                      </a:r>
                      <a:endParaRPr lang="en-US" dirty="0"/>
                    </a:p>
                  </a:txBody>
                  <a:tcPr anchor="ctr"/>
                </a:tc>
                <a:extLst>
                  <a:ext uri="{0D108BD9-81ED-4DB2-BD59-A6C34878D82A}">
                    <a16:rowId xmlns:a16="http://schemas.microsoft.com/office/drawing/2014/main" val="10000"/>
                  </a:ext>
                </a:extLst>
              </a:tr>
              <a:tr h="370840">
                <a:tc>
                  <a:txBody>
                    <a:bodyPr/>
                    <a:lstStyle/>
                    <a:p>
                      <a:pPr algn="ctr"/>
                      <a:r>
                        <a:rPr lang="en-US" dirty="0"/>
                        <a:t>1</a:t>
                      </a:r>
                    </a:p>
                  </a:txBody>
                  <a:tcPr anchor="ctr"/>
                </a:tc>
                <a:tc>
                  <a:txBody>
                    <a:bodyPr/>
                    <a:lstStyle/>
                    <a:p>
                      <a:pPr algn="ctr"/>
                      <a:r>
                        <a:rPr lang="en-US" dirty="0"/>
                        <a:t>1.86</a:t>
                      </a:r>
                    </a:p>
                  </a:txBody>
                  <a:tcPr anchor="ctr"/>
                </a:tc>
                <a:tc>
                  <a:txBody>
                    <a:bodyPr/>
                    <a:lstStyle/>
                    <a:p>
                      <a:pPr algn="ctr"/>
                      <a:r>
                        <a:rPr lang="en-US" dirty="0"/>
                        <a:t>1.86</a:t>
                      </a:r>
                    </a:p>
                  </a:txBody>
                  <a:tcPr anchor="ctr"/>
                </a:tc>
                <a:tc>
                  <a:txBody>
                    <a:bodyPr/>
                    <a:lstStyle/>
                    <a:p>
                      <a:pPr algn="ctr"/>
                      <a:r>
                        <a:rPr lang="en-US" dirty="0"/>
                        <a:t>1.87</a:t>
                      </a:r>
                    </a:p>
                  </a:txBody>
                  <a:tcPr anchor="ctr"/>
                </a:tc>
                <a:extLst>
                  <a:ext uri="{0D108BD9-81ED-4DB2-BD59-A6C34878D82A}">
                    <a16:rowId xmlns:a16="http://schemas.microsoft.com/office/drawing/2014/main" val="10001"/>
                  </a:ext>
                </a:extLst>
              </a:tr>
              <a:tr h="370840">
                <a:tc>
                  <a:txBody>
                    <a:bodyPr/>
                    <a:lstStyle/>
                    <a:p>
                      <a:pPr algn="ctr"/>
                      <a:r>
                        <a:rPr lang="en-US" dirty="0"/>
                        <a:t>2</a:t>
                      </a:r>
                    </a:p>
                  </a:txBody>
                  <a:tcPr anchor="ctr"/>
                </a:tc>
                <a:tc>
                  <a:txBody>
                    <a:bodyPr/>
                    <a:lstStyle/>
                    <a:p>
                      <a:pPr algn="ctr"/>
                      <a:r>
                        <a:rPr lang="en-US" dirty="0"/>
                        <a:t>1.03</a:t>
                      </a:r>
                      <a:r>
                        <a:rPr lang="en-US" baseline="0" dirty="0"/>
                        <a:t> </a:t>
                      </a:r>
                      <a:endParaRPr lang="en-US" dirty="0"/>
                    </a:p>
                  </a:txBody>
                  <a:tcPr anchor="ctr"/>
                </a:tc>
                <a:tc>
                  <a:txBody>
                    <a:bodyPr/>
                    <a:lstStyle/>
                    <a:p>
                      <a:pPr algn="ctr"/>
                      <a:r>
                        <a:rPr lang="en-US" dirty="0"/>
                        <a:t>1.01</a:t>
                      </a:r>
                    </a:p>
                  </a:txBody>
                  <a:tcPr anchor="ctr"/>
                </a:tc>
                <a:tc>
                  <a:txBody>
                    <a:bodyPr/>
                    <a:lstStyle/>
                    <a:p>
                      <a:pPr algn="ctr"/>
                      <a:r>
                        <a:rPr lang="en-US" dirty="0"/>
                        <a:t>1.01</a:t>
                      </a:r>
                    </a:p>
                  </a:txBody>
                  <a:tcPr anchor="ctr"/>
                </a:tc>
                <a:extLst>
                  <a:ext uri="{0D108BD9-81ED-4DB2-BD59-A6C34878D82A}">
                    <a16:rowId xmlns:a16="http://schemas.microsoft.com/office/drawing/2014/main" val="10002"/>
                  </a:ext>
                </a:extLst>
              </a:tr>
              <a:tr h="370840">
                <a:tc>
                  <a:txBody>
                    <a:bodyPr/>
                    <a:lstStyle/>
                    <a:p>
                      <a:pPr algn="ctr"/>
                      <a:r>
                        <a:rPr lang="en-US" dirty="0"/>
                        <a:t>3</a:t>
                      </a:r>
                    </a:p>
                  </a:txBody>
                  <a:tcPr anchor="ctr"/>
                </a:tc>
                <a:tc>
                  <a:txBody>
                    <a:bodyPr/>
                    <a:lstStyle/>
                    <a:p>
                      <a:pPr algn="ctr"/>
                      <a:r>
                        <a:rPr lang="en-US" dirty="0"/>
                        <a:t>1.08</a:t>
                      </a:r>
                    </a:p>
                  </a:txBody>
                  <a:tcPr anchor="ctr"/>
                </a:tc>
                <a:tc>
                  <a:txBody>
                    <a:bodyPr/>
                    <a:lstStyle/>
                    <a:p>
                      <a:pPr algn="ctr"/>
                      <a:r>
                        <a:rPr lang="en-US" dirty="0"/>
                        <a:t>0.69</a:t>
                      </a:r>
                    </a:p>
                  </a:txBody>
                  <a:tcPr anchor="ctr"/>
                </a:tc>
                <a:tc>
                  <a:txBody>
                    <a:bodyPr/>
                    <a:lstStyle/>
                    <a:p>
                      <a:pPr algn="ctr"/>
                      <a:r>
                        <a:rPr lang="en-US" dirty="0"/>
                        <a:t>0.68</a:t>
                      </a:r>
                    </a:p>
                  </a:txBody>
                  <a:tcPr anchor="ctr"/>
                </a:tc>
                <a:extLst>
                  <a:ext uri="{0D108BD9-81ED-4DB2-BD59-A6C34878D82A}">
                    <a16:rowId xmlns:a16="http://schemas.microsoft.com/office/drawing/2014/main" val="10003"/>
                  </a:ext>
                </a:extLst>
              </a:tr>
              <a:tr h="370840">
                <a:tc>
                  <a:txBody>
                    <a:bodyPr/>
                    <a:lstStyle/>
                    <a:p>
                      <a:pPr algn="ctr"/>
                      <a:r>
                        <a:rPr lang="en-US" dirty="0"/>
                        <a:t>4</a:t>
                      </a:r>
                    </a:p>
                  </a:txBody>
                  <a:tcPr anchor="ctr"/>
                </a:tc>
                <a:tc>
                  <a:txBody>
                    <a:bodyPr/>
                    <a:lstStyle/>
                    <a:p>
                      <a:pPr algn="ctr"/>
                      <a:r>
                        <a:rPr lang="en-US" dirty="0"/>
                        <a:t>0.97</a:t>
                      </a:r>
                    </a:p>
                  </a:txBody>
                  <a:tcPr anchor="ctr"/>
                </a:tc>
                <a:tc>
                  <a:txBody>
                    <a:bodyPr/>
                    <a:lstStyle/>
                    <a:p>
                      <a:pPr algn="ctr"/>
                      <a:r>
                        <a:rPr lang="en-US" dirty="0"/>
                        <a:t>0.53</a:t>
                      </a:r>
                    </a:p>
                  </a:txBody>
                  <a:tcPr anchor="ctr"/>
                </a:tc>
                <a:tc>
                  <a:txBody>
                    <a:bodyPr/>
                    <a:lstStyle/>
                    <a:p>
                      <a:pPr algn="ctr"/>
                      <a:r>
                        <a:rPr lang="en-US" dirty="0"/>
                        <a:t>0.53</a:t>
                      </a:r>
                    </a:p>
                  </a:txBody>
                  <a:tcPr anchor="ctr"/>
                </a:tc>
                <a:extLst>
                  <a:ext uri="{0D108BD9-81ED-4DB2-BD59-A6C34878D82A}">
                    <a16:rowId xmlns:a16="http://schemas.microsoft.com/office/drawing/2014/main" val="10004"/>
                  </a:ext>
                </a:extLst>
              </a:tr>
            </a:tbl>
          </a:graphicData>
        </a:graphic>
      </p:graphicFrame>
      <p:sp>
        <p:nvSpPr>
          <p:cNvPr id="8" name="TextBox 7"/>
          <p:cNvSpPr txBox="1"/>
          <p:nvPr/>
        </p:nvSpPr>
        <p:spPr>
          <a:xfrm>
            <a:off x="1752600" y="5715000"/>
            <a:ext cx="6041975" cy="338554"/>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sz="1600" dirty="0">
                <a:latin typeface="+mj-lt"/>
              </a:rPr>
              <a:t>Intel Core i5 dual core (4 HW thread) 1.7 </a:t>
            </a:r>
            <a:r>
              <a:rPr lang="en-US" sz="1600" dirty="0" err="1">
                <a:latin typeface="+mj-lt"/>
              </a:rPr>
              <a:t>Ghz</a:t>
            </a:r>
            <a:r>
              <a:rPr lang="en-US" sz="1600" dirty="0">
                <a:latin typeface="+mj-lt"/>
              </a:rPr>
              <a:t>, with 4GB DDR3 memory</a:t>
            </a:r>
          </a:p>
        </p:txBody>
      </p:sp>
    </p:spTree>
    <p:extLst>
      <p:ext uri="{BB962C8B-B14F-4D97-AF65-F5344CB8AC3E}">
        <p14:creationId xmlns:p14="http://schemas.microsoft.com/office/powerpoint/2010/main" val="3373823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Median</Template>
  <TotalTime>7182</TotalTime>
  <Words>4039</Words>
  <Application>Microsoft Office PowerPoint</Application>
  <PresentationFormat>On-screen Show (4:3)</PresentationFormat>
  <Paragraphs>600</Paragraphs>
  <Slides>34</Slides>
  <Notes>19</Notes>
  <HiddenSlides>1</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34</vt:i4>
      </vt:variant>
    </vt:vector>
  </HeadingPairs>
  <TitlesOfParts>
    <vt:vector size="43" baseType="lpstr">
      <vt:lpstr>Arial</vt:lpstr>
      <vt:lpstr>B Nazanin</vt:lpstr>
      <vt:lpstr>Calibri</vt:lpstr>
      <vt:lpstr>Cambria Math</vt:lpstr>
      <vt:lpstr>Droid Sans</vt:lpstr>
      <vt:lpstr>Droid Sans Mono</vt:lpstr>
      <vt:lpstr>Wingdings</vt:lpstr>
      <vt:lpstr>Wingdings 2</vt:lpstr>
      <vt:lpstr>Median</vt:lpstr>
      <vt:lpstr>برنامه‌نویسی چندهسته‌ای  5- OpenMP (بخش اول)  محمود ممتازپور  </vt:lpstr>
      <vt:lpstr>فهرست</vt:lpstr>
      <vt:lpstr>فرآیند</vt:lpstr>
      <vt:lpstr>فرآیند</vt:lpstr>
      <vt:lpstr>نخ</vt:lpstr>
      <vt:lpstr>نخ</vt:lpstr>
      <vt:lpstr>مدل‌های برنامه‌نویسی چندنخی</vt:lpstr>
      <vt:lpstr>OpenMP  چیست؟</vt:lpstr>
      <vt:lpstr>OpenMP  چی نیست؟</vt:lpstr>
      <vt:lpstr>معماری لایه‌ای OpenMP</vt:lpstr>
      <vt:lpstr>هدف اصلی OpenMP: راحتی استفاده</vt:lpstr>
      <vt:lpstr>نحوه اجرای برنامه OpenMP</vt:lpstr>
      <vt:lpstr>موازی‌سازی انشعاب-پیوند</vt:lpstr>
      <vt:lpstr>قالب دستورالعمل‌های OpenMP</vt:lpstr>
      <vt:lpstr>ناحیه موازی   Parallel Region</vt:lpstr>
      <vt:lpstr>مثال اول از ناحیه موازی</vt:lpstr>
      <vt:lpstr>مثال دوم از ناحیه موازی</vt:lpstr>
      <vt:lpstr>کامپایلر چه می‌کند؟</vt:lpstr>
      <vt:lpstr>مثال: برنامه محاسبه π  </vt:lpstr>
      <vt:lpstr>مثال: برنامه محاسبه π </vt:lpstr>
      <vt:lpstr>مثال: برنامه محاسبه π </vt:lpstr>
      <vt:lpstr>علت مقیاس‌پذیری کم مثال قبل: False Sharing</vt:lpstr>
      <vt:lpstr>مثال: برنامه محاسبه π با استفاده از پدکردن</vt:lpstr>
      <vt:lpstr>مثال: برنامه محاسبه π با استفاده از پدکردن</vt:lpstr>
      <vt:lpstr>همگام‌سازی</vt:lpstr>
      <vt:lpstr>همگام‌سازی - مثالی از شرایط مسابقه</vt:lpstr>
      <vt:lpstr>مانع</vt:lpstr>
      <vt:lpstr>مانع: مثال</vt:lpstr>
      <vt:lpstr>چگونه یک مانع بسازیم؟</vt:lpstr>
      <vt:lpstr>ناحیه بحرانی</vt:lpstr>
      <vt:lpstr>ناحیه بحرانی: مثال</vt:lpstr>
      <vt:lpstr>عملیات اتمی        Atomic Operations</vt:lpstr>
      <vt:lpstr>مثال: برنامه محاسبه π با استفاده از ناحیه بحرانی</vt:lpstr>
      <vt:lpstr>مثال: برنامه محاسبه π با استفاده از ناحیه بحرانی</vt:lpstr>
    </vt:vector>
  </TitlesOfParts>
  <Company>Purdue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Topic Overview</dc:title>
  <dc:creator>rf</dc:creator>
  <cp:lastModifiedBy>M</cp:lastModifiedBy>
  <cp:revision>522</cp:revision>
  <dcterms:created xsi:type="dcterms:W3CDTF">2005-06-03T08:24:32Z</dcterms:created>
  <dcterms:modified xsi:type="dcterms:W3CDTF">2021-04-03T08:05:09Z</dcterms:modified>
</cp:coreProperties>
</file>