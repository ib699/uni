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33"/>
  </p:notesMasterIdLst>
  <p:sldIdLst>
    <p:sldId id="271" r:id="rId2"/>
    <p:sldId id="270" r:id="rId3"/>
    <p:sldId id="299" r:id="rId4"/>
    <p:sldId id="300" r:id="rId5"/>
    <p:sldId id="301" r:id="rId6"/>
    <p:sldId id="302" r:id="rId7"/>
    <p:sldId id="303" r:id="rId8"/>
    <p:sldId id="305" r:id="rId9"/>
    <p:sldId id="306" r:id="rId10"/>
    <p:sldId id="304" r:id="rId11"/>
    <p:sldId id="307" r:id="rId12"/>
    <p:sldId id="335" r:id="rId13"/>
    <p:sldId id="308" r:id="rId14"/>
    <p:sldId id="309" r:id="rId15"/>
    <p:sldId id="318" r:id="rId16"/>
    <p:sldId id="328" r:id="rId17"/>
    <p:sldId id="329" r:id="rId18"/>
    <p:sldId id="333" r:id="rId19"/>
    <p:sldId id="330" r:id="rId20"/>
    <p:sldId id="331" r:id="rId21"/>
    <p:sldId id="334" r:id="rId22"/>
    <p:sldId id="298" r:id="rId23"/>
    <p:sldId id="327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6FD"/>
    <a:srgbClr val="FF6600"/>
    <a:srgbClr val="008000"/>
    <a:srgbClr val="FF9900"/>
    <a:srgbClr val="66FF66"/>
    <a:srgbClr val="008080"/>
    <a:srgbClr val="CC0099"/>
    <a:srgbClr val="FF0000"/>
    <a:srgbClr val="0066FF"/>
    <a:srgbClr val="612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22" autoAdjust="0"/>
    <p:restoredTop sz="82104" autoAdjust="0"/>
  </p:normalViewPr>
  <p:slideViewPr>
    <p:cSldViewPr>
      <p:cViewPr varScale="1">
        <p:scale>
          <a:sx n="94" d="100"/>
          <a:sy n="94" d="100"/>
        </p:scale>
        <p:origin x="169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5A470DC-7C81-4DA4-8C0B-00C3524FB74D}" type="datetimeFigureOut">
              <a:rPr lang="en-US"/>
              <a:pPr>
                <a:defRPr/>
              </a:pPr>
              <a:t>5/8/2021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733EA2D-6917-409E-A3B4-BA2E769CB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811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6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79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03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59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22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09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دسترسی به </a:t>
            </a:r>
            <a:r>
              <a:rPr lang="en-US" dirty="0"/>
              <a:t>A</a:t>
            </a:r>
            <a:r>
              <a:rPr lang="fa-IR" dirty="0"/>
              <a:t> بله، و دسترسی</a:t>
            </a:r>
            <a:r>
              <a:rPr lang="fa-IR" baseline="0" dirty="0"/>
              <a:t> به </a:t>
            </a:r>
            <a:r>
              <a:rPr lang="en-US" baseline="0" dirty="0"/>
              <a:t>B</a:t>
            </a:r>
            <a:r>
              <a:rPr lang="fa-IR" baseline="0" dirty="0"/>
              <a:t> خیر. زیرا نخهای یک ریسمان دارای </a:t>
            </a:r>
            <a:r>
              <a:rPr lang="en-US" baseline="0" dirty="0" err="1"/>
              <a:t>threadIdx.x</a:t>
            </a:r>
            <a:r>
              <a:rPr lang="fa-IR" baseline="0" dirty="0"/>
              <a:t> متوالی هستند و در </a:t>
            </a:r>
            <a:r>
              <a:rPr lang="en-US" baseline="0" dirty="0"/>
              <a:t>A</a:t>
            </a:r>
            <a:r>
              <a:rPr lang="fa-IR" baseline="0" dirty="0"/>
              <a:t> به خانه‌های متوالی نیز دسترسی می یابند ولی در </a:t>
            </a:r>
            <a:r>
              <a:rPr lang="en-US" baseline="0" dirty="0"/>
              <a:t>B</a:t>
            </a:r>
            <a:r>
              <a:rPr lang="fa-IR" baseline="0" dirty="0"/>
              <a:t> خانه‌ها به اندازه </a:t>
            </a:r>
            <a:r>
              <a:rPr lang="en-US" baseline="0" dirty="0"/>
              <a:t>width</a:t>
            </a:r>
            <a:r>
              <a:rPr lang="fa-IR" baseline="0" dirty="0"/>
              <a:t> از هم فاصله دارند و تلفیق نمی‌شوند.</a:t>
            </a:r>
            <a:endParaRPr lang="fa-IR" dirty="0"/>
          </a:p>
          <a:p>
            <a:pPr algn="r" rtl="1"/>
            <a:r>
              <a:rPr lang="fa-IR" dirty="0"/>
              <a:t>به طور کلی، اگر اندیس خطی</a:t>
            </a:r>
            <a:r>
              <a:rPr lang="fa-IR" baseline="0" dirty="0"/>
              <a:t> شده ماتریس به صورت </a:t>
            </a:r>
          </a:p>
          <a:p>
            <a:pPr algn="r" rtl="1"/>
            <a:r>
              <a:rPr lang="en-US" baseline="0" dirty="0"/>
              <a:t>A</a:t>
            </a:r>
            <a:r>
              <a:rPr lang="en-US" dirty="0"/>
              <a:t>[(expression with terms independent of </a:t>
            </a:r>
            <a:r>
              <a:rPr lang="en-US" dirty="0" err="1"/>
              <a:t>threadIdx.x</a:t>
            </a:r>
            <a:r>
              <a:rPr lang="en-US" dirty="0"/>
              <a:t>) + </a:t>
            </a:r>
            <a:r>
              <a:rPr lang="en-US" dirty="0" err="1"/>
              <a:t>threadIdx.x</a:t>
            </a:r>
            <a:r>
              <a:rPr lang="en-US" dirty="0"/>
              <a:t>];</a:t>
            </a:r>
          </a:p>
          <a:p>
            <a:pPr algn="r" rtl="1"/>
            <a:r>
              <a:rPr lang="fa-IR" dirty="0"/>
              <a:t>باشد،</a:t>
            </a:r>
            <a:r>
              <a:rPr lang="fa-IR" baseline="0" dirty="0"/>
              <a:t> دسترسی نخهای یک ریسمان به خانه‌های متوالی خواهد بود و احتمال تلفیق بالا میرود.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38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آیا مثال برعکس کردن یک آرایه تلفیق شونده</a:t>
            </a:r>
            <a:r>
              <a:rPr lang="fa-IR" baseline="0" dirty="0"/>
              <a:t> است یا نیاز به استفاده از حافظه مشترک دارد؟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86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48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68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78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3B93544-E515-4998-91FF-24DFE15CC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128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5800"/>
          </a:xfrm>
        </p:spPr>
        <p:txBody>
          <a:bodyPr/>
          <a:lstStyle>
            <a:lvl1pPr algn="r" rtl="1">
              <a:defRPr baseline="0">
                <a:cs typeface="B Nazani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4876800"/>
          </a:xfrm>
        </p:spPr>
        <p:txBody>
          <a:bodyPr/>
          <a:lstStyle>
            <a:lvl1pPr algn="r" rtl="1">
              <a:defRPr sz="2800" baseline="0">
                <a:cs typeface="B Nazanin" panose="00000400000000000000" pitchFamily="2" charset="-78"/>
              </a:defRPr>
            </a:lvl1pPr>
            <a:lvl2pPr algn="r" rtl="1">
              <a:defRPr sz="2400" baseline="0">
                <a:cs typeface="B Nazanin" panose="00000400000000000000" pitchFamily="2" charset="-78"/>
              </a:defRPr>
            </a:lvl2pPr>
            <a:lvl3pPr algn="r" rtl="1">
              <a:defRPr sz="2000" baseline="0">
                <a:cs typeface="B Nazanin" panose="00000400000000000000" pitchFamily="2" charset="-78"/>
              </a:defRPr>
            </a:lvl3pPr>
            <a:lvl4pPr algn="r" rtl="1">
              <a:defRPr sz="1800" baseline="0">
                <a:cs typeface="B Nazanin" panose="00000400000000000000" pitchFamily="2" charset="-78"/>
              </a:defRPr>
            </a:lvl4pPr>
            <a:lvl5pPr algn="r" rtl="1">
              <a:defRPr sz="1800" baseline="0">
                <a:cs typeface="B Nazanin" panose="00000400000000000000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1">
              <a:defRPr baseline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95388" y="6248400"/>
            <a:ext cx="4811712" cy="381000"/>
          </a:xfrm>
        </p:spPr>
        <p:txBody>
          <a:bodyPr/>
          <a:lstStyle>
            <a:lvl1pPr rtl="1">
              <a:defRPr baseline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1">
              <a:defRPr baseline="0">
                <a:solidFill>
                  <a:srgbClr val="FFFFFF"/>
                </a:solidFill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458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1C4AC28-1BAE-4DCD-93DB-8AD7F1A467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279782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8273399-FC00-468E-8297-A5C757E777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269659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5EE0C74-F63E-4D14-B3D9-88056494A6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363898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51E03-F727-4562-A6EF-A0FC89A14B1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133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447DC95-5854-4724-B6D6-2075111991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28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26475-5554-4527-8CFD-5B621BF7CCB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9098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96818297-90BD-4146-99D5-0305732C0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413670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D6ACE-8AD5-4601-BF6F-3BD0F2FCF74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672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D028E-CEE5-4E72-AB72-60DE51AE86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76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235075"/>
            <a:ext cx="81534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81000"/>
          </a:xfrm>
          <a:prstGeom prst="rect">
            <a:avLst/>
          </a:prstGeom>
          <a:solidFill>
            <a:schemeClr val="accent1"/>
          </a:solidFill>
        </p:spPr>
        <p:txBody>
          <a:bodyPr vert="horz" anchor="ctr" anchorCtr="0"/>
          <a:lstStyle>
            <a:lvl1pPr algn="ct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248400"/>
            <a:ext cx="4811713" cy="381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/>
          <a:lstStyle>
            <a:lvl1pPr algn="ct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900113"/>
            <a:ext cx="9144000" cy="319087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0550" y="6248400"/>
            <a:ext cx="533400" cy="381000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990600"/>
            <a:ext cx="8172450" cy="160338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09600" y="6329363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fld id="{27132BE2-3AAD-4C99-84E8-86755902817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65" r:id="rId6"/>
    <p:sldLayoutId id="2147483973" r:id="rId7"/>
    <p:sldLayoutId id="2147483966" r:id="rId8"/>
    <p:sldLayoutId id="2147483974" r:id="rId9"/>
    <p:sldLayoutId id="2147483967" r:id="rId10"/>
    <p:sldLayoutId id="214748397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ce.cmu.edu/~ece740/f11/doku.php?id=wiki:lecture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8229600" cy="4876800"/>
          </a:xfrm>
        </p:spPr>
        <p:txBody>
          <a:bodyPr>
            <a:normAutofit/>
          </a:bodyPr>
          <a:lstStyle/>
          <a:p>
            <a:pPr algn="r" rtl="1" eaLnBrk="1" fontAlgn="auto" hangingPunct="1">
              <a:spcAft>
                <a:spcPts val="0"/>
              </a:spcAft>
              <a:defRPr/>
            </a:pPr>
            <a:r>
              <a:rPr lang="fa-IR" cap="none" dirty="0">
                <a:cs typeface="B Nazanin" panose="00000400000000000000" pitchFamily="2" charset="-78"/>
              </a:rPr>
              <a:t>برنامه‌نویسی چندهسته‌ای</a:t>
            </a:r>
            <a:br>
              <a:rPr lang="en-US" cap="none" dirty="0">
                <a:cs typeface="B Nazanin" panose="00000400000000000000" pitchFamily="2" charset="-78"/>
              </a:rPr>
            </a:br>
            <a:br>
              <a:rPr lang="fa-IR" cap="none" dirty="0">
                <a:cs typeface="B Nazanin" panose="00000400000000000000" pitchFamily="2" charset="-78"/>
              </a:rPr>
            </a:br>
            <a:r>
              <a:rPr lang="fa-IR" cap="none" dirty="0">
                <a:cs typeface="B Nazanin" panose="00000400000000000000" pitchFamily="2" charset="-78"/>
              </a:rPr>
              <a:t>6- </a:t>
            </a:r>
            <a:r>
              <a:rPr lang="en-US" cap="none" dirty="0">
                <a:cs typeface="B Nazanin" panose="00000400000000000000" pitchFamily="2" charset="-78"/>
              </a:rPr>
              <a:t>CUDA</a:t>
            </a:r>
            <a:r>
              <a:rPr lang="fa-IR" cap="none" dirty="0">
                <a:cs typeface="B Nazanin" panose="00000400000000000000" pitchFamily="2" charset="-78"/>
              </a:rPr>
              <a:t> (بخش چهارم)</a:t>
            </a:r>
            <a:br>
              <a:rPr lang="en-US" dirty="0">
                <a:cs typeface="B Nazanin" panose="00000400000000000000" pitchFamily="2" charset="-78"/>
              </a:rPr>
            </a:br>
            <a:br>
              <a:rPr lang="en-US" dirty="0">
                <a:cs typeface="B Nazanin" panose="00000400000000000000" pitchFamily="2" charset="-78"/>
              </a:rPr>
            </a:br>
            <a:r>
              <a:rPr lang="fa-IR" sz="3600" cap="none" dirty="0">
                <a:cs typeface="B Nazanin" panose="00000400000000000000" pitchFamily="2" charset="-78"/>
              </a:rPr>
              <a:t>محمود ممتازپور</a:t>
            </a:r>
            <a:br>
              <a:rPr lang="en-US" sz="3600" cap="none" dirty="0">
                <a:cs typeface="B Nazanin" panose="00000400000000000000" pitchFamily="2" charset="-78"/>
              </a:rPr>
            </a:br>
            <a:br>
              <a:rPr lang="en-US" dirty="0">
                <a:cs typeface="B Nazanin" panose="00000400000000000000" pitchFamily="2" charset="-78"/>
              </a:rPr>
            </a:br>
            <a:endParaRPr lang="en-US" sz="3000" cap="none" dirty="0">
              <a:cs typeface="B Nazanin" panose="00000400000000000000" pitchFamily="2" charset="-78"/>
            </a:endParaRPr>
          </a:p>
        </p:txBody>
      </p:sp>
      <p:sp>
        <p:nvSpPr>
          <p:cNvPr id="1024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algn="ctr" rtl="1" eaLnBrk="1" hangingPunct="1"/>
            <a:r>
              <a:rPr lang="fa-IR" altLang="en-US" dirty="0">
                <a:cs typeface="B Nazanin" panose="00000400000000000000" pitchFamily="2" charset="-78"/>
              </a:rPr>
              <a:t>دانشگاه صنعتی امیرکبیر</a:t>
            </a:r>
            <a:endParaRPr lang="en-US" altLang="en-US" dirty="0">
              <a:cs typeface="B Nazanin" panose="00000400000000000000" pitchFamily="2" charset="-78"/>
            </a:endParaRPr>
          </a:p>
        </p:txBody>
      </p:sp>
      <p:sp>
        <p:nvSpPr>
          <p:cNvPr id="10244" name="Date Placeholder 3"/>
          <p:cNvSpPr>
            <a:spLocks noGrp="1"/>
          </p:cNvSpPr>
          <p:nvPr>
            <p:ph type="dt" sz="quarter" idx="10"/>
          </p:nvPr>
        </p:nvSpPr>
        <p:spPr bwMode="auto">
          <a:xfrm>
            <a:off x="76200" y="6248400"/>
            <a:ext cx="20574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800">
                <a:solidFill>
                  <a:srgbClr val="FFFFFF"/>
                </a:solidFill>
                <a:latin typeface="Arial" pitchFamily="34" charset="0"/>
                <a:cs typeface="B Nazanin" panose="00000400000000000000" pitchFamily="2" charset="-78"/>
              </a:rPr>
              <a:t>برنامه‌نویسی چند‌هسته‌ای</a:t>
            </a:r>
            <a:endParaRPr lang="en-US" altLang="en-US" sz="1800" dirty="0">
              <a:solidFill>
                <a:srgbClr val="FFFFFF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  <p:sp>
        <p:nvSpPr>
          <p:cNvPr id="10245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t>6 - برنامه‌نویسی پردازنده گرافیکی با </a:t>
            </a:r>
            <a:r>
              <a:rPr lang="en-US" altLang="en-US" sz="140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t>CUDA</a:t>
            </a:r>
          </a:p>
        </p:txBody>
      </p:sp>
      <p:sp>
        <p:nvSpPr>
          <p:cNvPr id="1024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fld id="{D7895C56-766E-4F90-AE6B-6CA76F48B262}" type="slidenum">
              <a:rPr lang="en-US" altLang="en-US" sz="1400" smtClean="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pPr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tx2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22325"/>
          </a:xfrm>
          <a:noFill/>
        </p:spPr>
        <p:txBody>
          <a:bodyPr/>
          <a:lstStyle/>
          <a:p>
            <a:pPr eaLnBrk="1" hangingPunct="1"/>
            <a:r>
              <a:rPr lang="fa-IR" altLang="en-US" dirty="0"/>
              <a:t>فهرست</a:t>
            </a:r>
            <a:endParaRPr lang="en-US" altLang="en-US" dirty="0"/>
          </a:p>
        </p:txBody>
      </p:sp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6 - برنامه‌نویسی پردازنده گرافیکی با </a:t>
            </a:r>
            <a:r>
              <a:rPr lang="en-US" altLang="en-US" sz="1400">
                <a:solidFill>
                  <a:schemeClr val="tx2"/>
                </a:solidFill>
                <a:latin typeface="Arial" pitchFamily="34" charset="0"/>
              </a:rPr>
              <a:t>CUDA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1A49216-A321-4EE8-B001-158F3BAA2239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dirty="0"/>
              <a:t>ساختار حافظه </a:t>
            </a:r>
            <a:r>
              <a:rPr lang="en-US" altLang="en-US" dirty="0"/>
              <a:t>DRAM</a:t>
            </a:r>
            <a:r>
              <a:rPr lang="fa-IR" altLang="en-US" dirty="0"/>
              <a:t> و چالش پهنای باند حافظه</a:t>
            </a:r>
          </a:p>
          <a:p>
            <a:pPr eaLnBrk="1" hangingPunct="1"/>
            <a:r>
              <a:rPr lang="fa-IR" altLang="en-US" dirty="0"/>
              <a:t>تکنیک‌های افزایش پهنای باند حافظه</a:t>
            </a:r>
          </a:p>
          <a:p>
            <a:pPr lvl="1" eaLnBrk="1" hangingPunct="1"/>
            <a:r>
              <a:rPr lang="fa-IR" altLang="en-US" dirty="0"/>
              <a:t>ارتباط پشت سر هم</a:t>
            </a:r>
          </a:p>
          <a:p>
            <a:pPr lvl="1" eaLnBrk="1" hangingPunct="1"/>
            <a:r>
              <a:rPr lang="fa-IR" altLang="en-US" dirty="0"/>
              <a:t>ساختار چندبانکی</a:t>
            </a:r>
          </a:p>
          <a:p>
            <a:pPr lvl="1" eaLnBrk="1" hangingPunct="1"/>
            <a:r>
              <a:rPr lang="fa-IR" altLang="en-US" dirty="0"/>
              <a:t>تلفیق حافظه</a:t>
            </a:r>
            <a:endParaRPr lang="en-US" altLang="en-US" dirty="0"/>
          </a:p>
          <a:p>
            <a:pPr lvl="6"/>
            <a:endParaRPr lang="en-US" altLang="en-US" dirty="0"/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-1752600" y="4724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11271" name="Date Placeholder 7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پهنای باند حافظه سراسری (</a:t>
            </a:r>
            <a:r>
              <a:rPr lang="en-US" dirty="0"/>
              <a:t>DRAM</a:t>
            </a:r>
            <a:r>
              <a:rPr lang="fa-I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sp>
        <p:nvSpPr>
          <p:cNvPr id="7" name="Text Placeholder 5"/>
          <p:cNvSpPr>
            <a:spLocks noGrp="1"/>
          </p:cNvSpPr>
          <p:nvPr/>
        </p:nvSpPr>
        <p:spPr bwMode="auto">
          <a:xfrm>
            <a:off x="685800" y="1285876"/>
            <a:ext cx="4040188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0" indent="0" algn="l" defTabSz="449263" rtl="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49263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2000" b="1">
                <a:solidFill>
                  <a:srgbClr val="000000"/>
                </a:solidFill>
                <a:latin typeface="+mn-lt"/>
              </a:defRPr>
            </a:lvl2pPr>
            <a:lvl3pPr marL="914400" indent="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800" b="1">
                <a:solidFill>
                  <a:srgbClr val="000000"/>
                </a:solidFill>
                <a:latin typeface="+mn-lt"/>
              </a:defRPr>
            </a:lvl3pPr>
            <a:lvl4pPr marL="1371600" indent="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4pPr>
            <a:lvl5pPr marL="1828800" indent="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5pPr>
            <a:lvl6pPr marL="2286000" indent="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6pPr>
            <a:lvl7pPr marL="2743200" indent="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7pPr>
            <a:lvl8pPr marL="3200400" indent="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8pPr>
            <a:lvl9pPr marL="3657600" indent="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9pPr>
          </a:lstStyle>
          <a:p>
            <a:pPr algn="ctr"/>
            <a:r>
              <a:rPr lang="fa-IR" dirty="0">
                <a:cs typeface="B Nazanin" panose="00000400000000000000" pitchFamily="2" charset="-78"/>
              </a:rPr>
              <a:t>ایده‌آل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8" name="Text Placeholder 7"/>
          <p:cNvSpPr>
            <a:spLocks noGrp="1"/>
          </p:cNvSpPr>
          <p:nvPr/>
        </p:nvSpPr>
        <p:spPr bwMode="auto">
          <a:xfrm>
            <a:off x="4873625" y="1285876"/>
            <a:ext cx="40417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0" indent="0" algn="l" defTabSz="449263" rtl="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49263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2000" b="1">
                <a:solidFill>
                  <a:srgbClr val="000000"/>
                </a:solidFill>
                <a:latin typeface="+mn-lt"/>
              </a:defRPr>
            </a:lvl2pPr>
            <a:lvl3pPr marL="914400" indent="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800" b="1">
                <a:solidFill>
                  <a:srgbClr val="000000"/>
                </a:solidFill>
                <a:latin typeface="+mn-lt"/>
              </a:defRPr>
            </a:lvl3pPr>
            <a:lvl4pPr marL="1371600" indent="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4pPr>
            <a:lvl5pPr marL="1828800" indent="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5pPr>
            <a:lvl6pPr marL="2286000" indent="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6pPr>
            <a:lvl7pPr marL="2743200" indent="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7pPr>
            <a:lvl8pPr marL="3200400" indent="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8pPr>
            <a:lvl9pPr marL="3657600" indent="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defRPr sz="1600" b="1">
                <a:solidFill>
                  <a:srgbClr val="000000"/>
                </a:solidFill>
                <a:latin typeface="+mn-lt"/>
              </a:defRPr>
            </a:lvl9pPr>
          </a:lstStyle>
          <a:p>
            <a:pPr algn="ctr"/>
            <a:r>
              <a:rPr lang="fa-IR" dirty="0">
                <a:cs typeface="B Nazanin" panose="00000400000000000000" pitchFamily="2" charset="-78"/>
              </a:rPr>
              <a:t>واقعیت</a:t>
            </a:r>
            <a:endParaRPr lang="en-US" dirty="0">
              <a:cs typeface="B Nazanin" panose="00000400000000000000" pitchFamily="2" charset="-78"/>
            </a:endParaRPr>
          </a:p>
        </p:txBody>
      </p:sp>
      <p:pic>
        <p:nvPicPr>
          <p:cNvPr id="9" name="Picture 8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112963"/>
            <a:ext cx="2963863" cy="395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5363"/>
            <a:ext cx="4041775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0194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ساختار بانک حافظه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هر آرایه هسته، حدود 1 میلیون بیت را ذخیره می‌کند.</a:t>
            </a:r>
          </a:p>
          <a:p>
            <a:r>
              <a:rPr lang="fa-IR" dirty="0"/>
              <a:t>هر بیت در یک خازن که از یک ترانزیستور ساخته شده است ذخیره می‌شود.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grpSp>
        <p:nvGrpSpPr>
          <p:cNvPr id="45" name="Group 44"/>
          <p:cNvGrpSpPr/>
          <p:nvPr/>
        </p:nvGrpSpPr>
        <p:grpSpPr>
          <a:xfrm>
            <a:off x="762000" y="2439084"/>
            <a:ext cx="6172804" cy="3809316"/>
            <a:chOff x="1370996" y="1829484"/>
            <a:chExt cx="4203684" cy="2708078"/>
          </a:xfrm>
        </p:grpSpPr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2982387" y="1829484"/>
              <a:ext cx="1485900" cy="1028700"/>
            </a:xfrm>
            <a:prstGeom prst="rect">
              <a:avLst/>
            </a:prstGeom>
            <a:noFill/>
            <a:ln w="19050">
              <a:solidFill>
                <a:srgbClr val="76B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Memory Cell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Core Array</a:t>
              </a:r>
            </a:p>
          </p:txBody>
        </p:sp>
        <p:sp>
          <p:nvSpPr>
            <p:cNvPr id="27" name="Rectangle 5"/>
            <p:cNvSpPr>
              <a:spLocks noChangeArrowheads="1"/>
            </p:cNvSpPr>
            <p:nvPr/>
          </p:nvSpPr>
          <p:spPr bwMode="auto">
            <a:xfrm>
              <a:off x="1961821" y="1829484"/>
              <a:ext cx="800100" cy="1028700"/>
            </a:xfrm>
            <a:prstGeom prst="rect">
              <a:avLst/>
            </a:prstGeom>
            <a:noFill/>
            <a:ln w="19050">
              <a:solidFill>
                <a:srgbClr val="76B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Row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Decoder</a:t>
              </a:r>
            </a:p>
          </p:txBody>
        </p:sp>
        <p:sp>
          <p:nvSpPr>
            <p:cNvPr id="28" name="Rectangle 6"/>
            <p:cNvSpPr>
              <a:spLocks noChangeArrowheads="1"/>
            </p:cNvSpPr>
            <p:nvPr/>
          </p:nvSpPr>
          <p:spPr bwMode="auto">
            <a:xfrm>
              <a:off x="2990521" y="2986771"/>
              <a:ext cx="1485900" cy="214313"/>
            </a:xfrm>
            <a:prstGeom prst="rect">
              <a:avLst/>
            </a:prstGeom>
            <a:noFill/>
            <a:ln w="19050">
              <a:solidFill>
                <a:srgbClr val="76B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Sense Amps</a:t>
              </a:r>
            </a:p>
          </p:txBody>
        </p:sp>
        <p:sp>
          <p:nvSpPr>
            <p:cNvPr id="29" name="Rectangle 7"/>
            <p:cNvSpPr>
              <a:spLocks noChangeArrowheads="1"/>
            </p:cNvSpPr>
            <p:nvPr/>
          </p:nvSpPr>
          <p:spPr bwMode="auto">
            <a:xfrm>
              <a:off x="2990521" y="3329671"/>
              <a:ext cx="1485900" cy="214313"/>
            </a:xfrm>
            <a:prstGeom prst="rect">
              <a:avLst/>
            </a:prstGeom>
            <a:noFill/>
            <a:ln w="19050">
              <a:solidFill>
                <a:srgbClr val="76B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Column Latches</a:t>
              </a:r>
            </a:p>
          </p:txBody>
        </p:sp>
        <p:sp>
          <p:nvSpPr>
            <p:cNvPr id="30" name="Line 8"/>
            <p:cNvSpPr>
              <a:spLocks noChangeShapeType="1"/>
            </p:cNvSpPr>
            <p:nvPr/>
          </p:nvSpPr>
          <p:spPr bwMode="auto">
            <a:xfrm>
              <a:off x="2761921" y="2343834"/>
              <a:ext cx="228600" cy="0"/>
            </a:xfrm>
            <a:prstGeom prst="line">
              <a:avLst/>
            </a:prstGeom>
            <a:noFill/>
            <a:ln w="25400">
              <a:solidFill>
                <a:srgbClr val="76B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31" name="AutoShape 11"/>
            <p:cNvSpPr>
              <a:spLocks noChangeArrowheads="1"/>
            </p:cNvSpPr>
            <p:nvPr/>
          </p:nvSpPr>
          <p:spPr bwMode="auto">
            <a:xfrm>
              <a:off x="2990521" y="3801160"/>
              <a:ext cx="1485900" cy="169664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31 w 21600"/>
                <a:gd name="T13" fmla="*/ 4431 h 21600"/>
                <a:gd name="T14" fmla="*/ 17169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62" y="21600"/>
                  </a:lnTo>
                  <a:lnTo>
                    <a:pt x="1633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76B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Mux</a:t>
              </a:r>
            </a:p>
          </p:txBody>
        </p: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>
              <a:off x="3733471" y="3543984"/>
              <a:ext cx="0" cy="257175"/>
            </a:xfrm>
            <a:prstGeom prst="line">
              <a:avLst/>
            </a:prstGeom>
            <a:noFill/>
            <a:ln w="38100">
              <a:solidFill>
                <a:srgbClr val="76B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33" name="Line 13"/>
            <p:cNvSpPr>
              <a:spLocks noChangeShapeType="1"/>
            </p:cNvSpPr>
            <p:nvPr/>
          </p:nvSpPr>
          <p:spPr bwMode="auto">
            <a:xfrm>
              <a:off x="3733471" y="3972609"/>
              <a:ext cx="0" cy="257175"/>
            </a:xfrm>
            <a:prstGeom prst="line">
              <a:avLst/>
            </a:prstGeom>
            <a:noFill/>
            <a:ln w="12700">
              <a:solidFill>
                <a:srgbClr val="76B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34" name="Line 14"/>
            <p:cNvSpPr>
              <a:spLocks noChangeShapeType="1"/>
            </p:cNvSpPr>
            <p:nvPr/>
          </p:nvSpPr>
          <p:spPr bwMode="auto">
            <a:xfrm>
              <a:off x="1733221" y="2343834"/>
              <a:ext cx="228600" cy="0"/>
            </a:xfrm>
            <a:prstGeom prst="line">
              <a:avLst/>
            </a:prstGeom>
            <a:noFill/>
            <a:ln w="12700">
              <a:solidFill>
                <a:srgbClr val="76B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35" name="Line 15"/>
            <p:cNvSpPr>
              <a:spLocks noChangeShapeType="1"/>
            </p:cNvSpPr>
            <p:nvPr/>
          </p:nvSpPr>
          <p:spPr bwMode="auto">
            <a:xfrm>
              <a:off x="2819071" y="3886884"/>
              <a:ext cx="342900" cy="0"/>
            </a:xfrm>
            <a:prstGeom prst="line">
              <a:avLst/>
            </a:prstGeom>
            <a:noFill/>
            <a:ln w="12700">
              <a:solidFill>
                <a:srgbClr val="76B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36" name="Text Box 16"/>
            <p:cNvSpPr txBox="1">
              <a:spLocks noChangeArrowheads="1"/>
            </p:cNvSpPr>
            <p:nvPr/>
          </p:nvSpPr>
          <p:spPr bwMode="auto">
            <a:xfrm>
              <a:off x="1370996" y="2084047"/>
              <a:ext cx="5084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1" dirty="0">
                  <a:solidFill>
                    <a:srgbClr val="000000"/>
                  </a:solidFill>
                  <a:latin typeface="Arial" charset="0"/>
                </a:rPr>
                <a:t>Row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1" dirty="0" err="1">
                  <a:solidFill>
                    <a:srgbClr val="000000"/>
                  </a:solidFill>
                  <a:latin typeface="Arial" charset="0"/>
                </a:rPr>
                <a:t>Addr</a:t>
              </a:r>
              <a:endParaRPr lang="en-US" sz="1200" i="1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7" name="Text Box 17"/>
            <p:cNvSpPr txBox="1">
              <a:spLocks noChangeArrowheads="1"/>
            </p:cNvSpPr>
            <p:nvPr/>
          </p:nvSpPr>
          <p:spPr bwMode="auto">
            <a:xfrm>
              <a:off x="1508192" y="3689047"/>
              <a:ext cx="1339454" cy="46166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algn="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1" dirty="0">
                  <a:solidFill>
                    <a:srgbClr val="000000"/>
                  </a:solidFill>
                  <a:latin typeface="Arial" charset="0"/>
                </a:rPr>
                <a:t>Column</a:t>
              </a:r>
            </a:p>
            <a:p>
              <a:pPr algn="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1" dirty="0" err="1">
                  <a:solidFill>
                    <a:srgbClr val="000000"/>
                  </a:solidFill>
                  <a:latin typeface="Arial" charset="0"/>
                </a:rPr>
                <a:t>Addr</a:t>
              </a:r>
              <a:endParaRPr lang="en-US" sz="1200" i="1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2933372" y="4229785"/>
              <a:ext cx="1303498" cy="30777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i="1" dirty="0">
                  <a:solidFill>
                    <a:srgbClr val="000000"/>
                  </a:solidFill>
                  <a:latin typeface="Arial" charset="0"/>
                </a:rPr>
                <a:t>Off-chip Data</a:t>
              </a:r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3733471" y="3586846"/>
              <a:ext cx="552011" cy="2769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i="1" dirty="0">
                  <a:solidFill>
                    <a:srgbClr val="000000"/>
                  </a:solidFill>
                  <a:latin typeface="Arial" charset="0"/>
                </a:rPr>
                <a:t>Wide</a:t>
              </a:r>
            </a:p>
          </p:txBody>
        </p:sp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3733471" y="4015471"/>
              <a:ext cx="713657" cy="2769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i="1" dirty="0">
                  <a:solidFill>
                    <a:srgbClr val="000000"/>
                  </a:solidFill>
                  <a:latin typeface="Arial" charset="0"/>
                </a:rPr>
                <a:t>Narrow</a:t>
              </a:r>
            </a:p>
          </p:txBody>
        </p:sp>
        <p:cxnSp>
          <p:nvCxnSpPr>
            <p:cNvPr id="41" name="Straight Connector 22"/>
            <p:cNvCxnSpPr>
              <a:cxnSpLocks noChangeShapeType="1"/>
            </p:cNvCxnSpPr>
            <p:nvPr/>
          </p:nvCxnSpPr>
          <p:spPr bwMode="auto">
            <a:xfrm>
              <a:off x="2705222" y="4272646"/>
              <a:ext cx="2457450" cy="0"/>
            </a:xfrm>
            <a:prstGeom prst="line">
              <a:avLst/>
            </a:prstGeom>
            <a:noFill/>
            <a:ln w="9525" algn="ctr">
              <a:solidFill>
                <a:srgbClr val="76B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" name="TextBox 23"/>
            <p:cNvSpPr txBox="1">
              <a:spLocks noChangeArrowheads="1"/>
            </p:cNvSpPr>
            <p:nvPr/>
          </p:nvSpPr>
          <p:spPr bwMode="auto">
            <a:xfrm>
              <a:off x="4468287" y="4000671"/>
              <a:ext cx="110639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</a:rPr>
                <a:t>Pin Interface</a:t>
              </a:r>
            </a:p>
          </p:txBody>
        </p:sp>
        <p:sp>
          <p:nvSpPr>
            <p:cNvPr id="43" name="Line 9"/>
            <p:cNvSpPr>
              <a:spLocks noChangeShapeType="1"/>
            </p:cNvSpPr>
            <p:nvPr/>
          </p:nvSpPr>
          <p:spPr bwMode="auto">
            <a:xfrm>
              <a:off x="3733471" y="2858184"/>
              <a:ext cx="0" cy="128588"/>
            </a:xfrm>
            <a:prstGeom prst="line">
              <a:avLst/>
            </a:prstGeom>
            <a:noFill/>
            <a:ln w="34925">
              <a:solidFill>
                <a:srgbClr val="76B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44" name="Line 9"/>
            <p:cNvSpPr>
              <a:spLocks noChangeShapeType="1"/>
            </p:cNvSpPr>
            <p:nvPr/>
          </p:nvSpPr>
          <p:spPr bwMode="auto">
            <a:xfrm>
              <a:off x="3733800" y="3205162"/>
              <a:ext cx="0" cy="128588"/>
            </a:xfrm>
            <a:prstGeom prst="line">
              <a:avLst/>
            </a:prstGeom>
            <a:noFill/>
            <a:ln w="34925">
              <a:solidFill>
                <a:srgbClr val="76B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3102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یک آرایه هسته 8×2 بیت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sz="2400" dirty="0"/>
              <a:t>آرایه هسته به صورت یک ماتریس 4×4 پیاده‌سازی شده است.</a:t>
            </a:r>
          </a:p>
          <a:p>
            <a:r>
              <a:rPr lang="fa-IR" sz="2400" dirty="0"/>
              <a:t>ابتدا با 2 بیت آدرس یک ردیف 4 بیتی انتخاب می‌شود، سپس با بیت سوم آدرس، 2 بیت خروجی مورد نظر انتخاب می‌شود.</a:t>
            </a:r>
          </a:p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grpSp>
        <p:nvGrpSpPr>
          <p:cNvPr id="102" name="Group 101"/>
          <p:cNvGrpSpPr/>
          <p:nvPr/>
        </p:nvGrpSpPr>
        <p:grpSpPr>
          <a:xfrm>
            <a:off x="1447800" y="2590799"/>
            <a:ext cx="6137148" cy="3581401"/>
            <a:chOff x="1447800" y="2590800"/>
            <a:chExt cx="6137148" cy="3581401"/>
          </a:xfrm>
        </p:grpSpPr>
        <p:sp>
          <p:nvSpPr>
            <p:cNvPr id="51" name="Rectangle 4"/>
            <p:cNvSpPr>
              <a:spLocks noChangeArrowheads="1"/>
            </p:cNvSpPr>
            <p:nvPr/>
          </p:nvSpPr>
          <p:spPr bwMode="auto">
            <a:xfrm>
              <a:off x="5053374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2" name="Rectangle 5"/>
            <p:cNvSpPr>
              <a:spLocks noChangeArrowheads="1"/>
            </p:cNvSpPr>
            <p:nvPr/>
          </p:nvSpPr>
          <p:spPr bwMode="auto">
            <a:xfrm>
              <a:off x="5667089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3" name="Rectangle 6"/>
            <p:cNvSpPr>
              <a:spLocks noChangeArrowheads="1"/>
            </p:cNvSpPr>
            <p:nvPr/>
          </p:nvSpPr>
          <p:spPr bwMode="auto">
            <a:xfrm>
              <a:off x="6280804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4" name="Rectangle 7"/>
            <p:cNvSpPr>
              <a:spLocks noChangeArrowheads="1"/>
            </p:cNvSpPr>
            <p:nvPr/>
          </p:nvSpPr>
          <p:spPr bwMode="auto">
            <a:xfrm>
              <a:off x="6894519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5" name="Rectangle 8"/>
            <p:cNvSpPr>
              <a:spLocks noChangeArrowheads="1"/>
            </p:cNvSpPr>
            <p:nvPr/>
          </p:nvSpPr>
          <p:spPr bwMode="auto">
            <a:xfrm>
              <a:off x="5053374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6" name="Rectangle 9"/>
            <p:cNvSpPr>
              <a:spLocks noChangeArrowheads="1"/>
            </p:cNvSpPr>
            <p:nvPr/>
          </p:nvSpPr>
          <p:spPr bwMode="auto">
            <a:xfrm>
              <a:off x="6280804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7" name="Rectangle 10"/>
            <p:cNvSpPr>
              <a:spLocks noChangeArrowheads="1"/>
            </p:cNvSpPr>
            <p:nvPr/>
          </p:nvSpPr>
          <p:spPr bwMode="auto">
            <a:xfrm>
              <a:off x="6894519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8" name="Rectangle 11"/>
            <p:cNvSpPr>
              <a:spLocks noChangeArrowheads="1"/>
            </p:cNvSpPr>
            <p:nvPr/>
          </p:nvSpPr>
          <p:spPr bwMode="auto">
            <a:xfrm>
              <a:off x="5053374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5667089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0" name="Rectangle 13"/>
            <p:cNvSpPr>
              <a:spLocks noChangeArrowheads="1"/>
            </p:cNvSpPr>
            <p:nvPr/>
          </p:nvSpPr>
          <p:spPr bwMode="auto">
            <a:xfrm>
              <a:off x="5667089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1" name="Rectangle 14"/>
            <p:cNvSpPr>
              <a:spLocks noChangeArrowheads="1"/>
            </p:cNvSpPr>
            <p:nvPr/>
          </p:nvSpPr>
          <p:spPr bwMode="auto">
            <a:xfrm>
              <a:off x="6280804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2" name="Rectangle 15"/>
            <p:cNvSpPr>
              <a:spLocks noChangeArrowheads="1"/>
            </p:cNvSpPr>
            <p:nvPr/>
          </p:nvSpPr>
          <p:spPr bwMode="auto">
            <a:xfrm>
              <a:off x="6894519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3" name="Rectangle 16"/>
            <p:cNvSpPr>
              <a:spLocks noChangeArrowheads="1"/>
            </p:cNvSpPr>
            <p:nvPr/>
          </p:nvSpPr>
          <p:spPr bwMode="auto">
            <a:xfrm>
              <a:off x="5667089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4" name="Rectangle 17"/>
            <p:cNvSpPr>
              <a:spLocks noChangeArrowheads="1"/>
            </p:cNvSpPr>
            <p:nvPr/>
          </p:nvSpPr>
          <p:spPr bwMode="auto">
            <a:xfrm>
              <a:off x="6280804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5" name="Rectangle 18"/>
            <p:cNvSpPr>
              <a:spLocks noChangeArrowheads="1"/>
            </p:cNvSpPr>
            <p:nvPr/>
          </p:nvSpPr>
          <p:spPr bwMode="auto">
            <a:xfrm>
              <a:off x="5667089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6" name="Rectangle 19"/>
            <p:cNvSpPr>
              <a:spLocks noChangeArrowheads="1"/>
            </p:cNvSpPr>
            <p:nvPr/>
          </p:nvSpPr>
          <p:spPr bwMode="auto">
            <a:xfrm>
              <a:off x="5053374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7" name="Rectangle 20"/>
            <p:cNvSpPr>
              <a:spLocks noChangeArrowheads="1"/>
            </p:cNvSpPr>
            <p:nvPr/>
          </p:nvSpPr>
          <p:spPr bwMode="auto">
            <a:xfrm>
              <a:off x="6894519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8" name="Rectangle 21"/>
            <p:cNvSpPr>
              <a:spLocks noChangeArrowheads="1"/>
            </p:cNvSpPr>
            <p:nvPr/>
          </p:nvSpPr>
          <p:spPr bwMode="auto">
            <a:xfrm>
              <a:off x="3979374" y="2870596"/>
              <a:ext cx="613715" cy="1734739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69" name="Straight Arrow Connector 23"/>
            <p:cNvCxnSpPr>
              <a:cxnSpLocks noChangeShapeType="1"/>
              <a:endCxn id="54" idx="3"/>
            </p:cNvCxnSpPr>
            <p:nvPr/>
          </p:nvCxnSpPr>
          <p:spPr bwMode="auto">
            <a:xfrm>
              <a:off x="4593088" y="3094434"/>
              <a:ext cx="2915145" cy="116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Straight Arrow Connector 25"/>
            <p:cNvCxnSpPr>
              <a:cxnSpLocks noChangeShapeType="1"/>
              <a:endCxn id="57" idx="3"/>
            </p:cNvCxnSpPr>
            <p:nvPr/>
          </p:nvCxnSpPr>
          <p:spPr bwMode="auto">
            <a:xfrm>
              <a:off x="4593088" y="3542109"/>
              <a:ext cx="2915145" cy="1166"/>
            </a:xfrm>
            <a:prstGeom prst="straightConnector1">
              <a:avLst/>
            </a:prstGeom>
            <a:noFill/>
            <a:ln w="762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Straight Arrow Connector 33"/>
            <p:cNvCxnSpPr>
              <a:cxnSpLocks noChangeShapeType="1"/>
              <a:endCxn id="62" idx="3"/>
            </p:cNvCxnSpPr>
            <p:nvPr/>
          </p:nvCxnSpPr>
          <p:spPr bwMode="auto">
            <a:xfrm>
              <a:off x="4593088" y="3989783"/>
              <a:ext cx="2915145" cy="116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Straight Arrow Connector 35"/>
            <p:cNvCxnSpPr>
              <a:cxnSpLocks noChangeShapeType="1"/>
              <a:endCxn id="67" idx="3"/>
            </p:cNvCxnSpPr>
            <p:nvPr/>
          </p:nvCxnSpPr>
          <p:spPr bwMode="auto">
            <a:xfrm>
              <a:off x="4593088" y="4437458"/>
              <a:ext cx="2915145" cy="116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3" name="TextBox 36"/>
            <p:cNvSpPr txBox="1">
              <a:spLocks noChangeArrowheads="1"/>
            </p:cNvSpPr>
            <p:nvPr/>
          </p:nvSpPr>
          <p:spPr bwMode="auto">
            <a:xfrm rot="16200000">
              <a:off x="3741152" y="3402064"/>
              <a:ext cx="1094956" cy="495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imes New Roman" pitchFamily="18" charset="0"/>
                </a:rPr>
                <a:t>decode</a:t>
              </a:r>
            </a:p>
          </p:txBody>
        </p:sp>
        <p:sp>
          <p:nvSpPr>
            <p:cNvPr id="74" name="Rectangle 37"/>
            <p:cNvSpPr>
              <a:spLocks noChangeArrowheads="1"/>
            </p:cNvSpPr>
            <p:nvPr/>
          </p:nvSpPr>
          <p:spPr bwMode="auto">
            <a:xfrm>
              <a:off x="1447800" y="2627524"/>
              <a:ext cx="613715" cy="4476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0</a:t>
              </a:r>
            </a:p>
          </p:txBody>
        </p:sp>
        <p:sp>
          <p:nvSpPr>
            <p:cNvPr id="75" name="Rectangle 38"/>
            <p:cNvSpPr>
              <a:spLocks noChangeArrowheads="1"/>
            </p:cNvSpPr>
            <p:nvPr/>
          </p:nvSpPr>
          <p:spPr bwMode="auto">
            <a:xfrm>
              <a:off x="2061515" y="2627524"/>
              <a:ext cx="613715" cy="4476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1</a:t>
              </a:r>
            </a:p>
          </p:txBody>
        </p:sp>
        <p:sp>
          <p:nvSpPr>
            <p:cNvPr id="76" name="Rectangle 39"/>
            <p:cNvSpPr>
              <a:spLocks noChangeArrowheads="1"/>
            </p:cNvSpPr>
            <p:nvPr/>
          </p:nvSpPr>
          <p:spPr bwMode="auto">
            <a:xfrm>
              <a:off x="2675230" y="2627524"/>
              <a:ext cx="613715" cy="4476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1</a:t>
              </a:r>
            </a:p>
          </p:txBody>
        </p:sp>
        <p:cxnSp>
          <p:nvCxnSpPr>
            <p:cNvPr id="77" name="Straight Connector 41"/>
            <p:cNvCxnSpPr>
              <a:cxnSpLocks noChangeShapeType="1"/>
              <a:stCxn id="74" idx="2"/>
            </p:cNvCxnSpPr>
            <p:nvPr/>
          </p:nvCxnSpPr>
          <p:spPr bwMode="auto">
            <a:xfrm>
              <a:off x="1754657" y="3075198"/>
              <a:ext cx="0" cy="91400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Straight Arrow Connector 43"/>
            <p:cNvCxnSpPr>
              <a:cxnSpLocks noChangeShapeType="1"/>
            </p:cNvCxnSpPr>
            <p:nvPr/>
          </p:nvCxnSpPr>
          <p:spPr bwMode="auto">
            <a:xfrm>
              <a:off x="1754657" y="3989199"/>
              <a:ext cx="2224716" cy="584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Straight Connector 45"/>
            <p:cNvCxnSpPr>
              <a:cxnSpLocks noChangeShapeType="1"/>
              <a:stCxn id="75" idx="2"/>
            </p:cNvCxnSpPr>
            <p:nvPr/>
          </p:nvCxnSpPr>
          <p:spPr bwMode="auto">
            <a:xfrm>
              <a:off x="2368372" y="3075198"/>
              <a:ext cx="0" cy="559593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Straight Arrow Connector 47"/>
            <p:cNvCxnSpPr>
              <a:cxnSpLocks noChangeShapeType="1"/>
            </p:cNvCxnSpPr>
            <p:nvPr/>
          </p:nvCxnSpPr>
          <p:spPr bwMode="auto">
            <a:xfrm>
              <a:off x="2368372" y="3634792"/>
              <a:ext cx="1611001" cy="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" name="Rectangle 48"/>
            <p:cNvSpPr>
              <a:spLocks noChangeArrowheads="1"/>
            </p:cNvSpPr>
            <p:nvPr/>
          </p:nvSpPr>
          <p:spPr bwMode="auto">
            <a:xfrm>
              <a:off x="5053374" y="4997050"/>
              <a:ext cx="2531574" cy="335756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Sense amps</a:t>
              </a:r>
            </a:p>
          </p:txBody>
        </p:sp>
        <p:cxnSp>
          <p:nvCxnSpPr>
            <p:cNvPr id="82" name="Straight Arrow Connector 55"/>
            <p:cNvCxnSpPr>
              <a:cxnSpLocks noChangeShapeType="1"/>
            </p:cNvCxnSpPr>
            <p:nvPr/>
          </p:nvCxnSpPr>
          <p:spPr bwMode="auto">
            <a:xfrm rot="5400000">
              <a:off x="4032457" y="3765146"/>
              <a:ext cx="2350291" cy="1599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Straight Arrow Connector 57"/>
            <p:cNvCxnSpPr>
              <a:cxnSpLocks noChangeShapeType="1"/>
            </p:cNvCxnSpPr>
            <p:nvPr/>
          </p:nvCxnSpPr>
          <p:spPr bwMode="auto">
            <a:xfrm rot="5400000">
              <a:off x="4720706" y="3765730"/>
              <a:ext cx="2351457" cy="1597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Straight Arrow Connector 61"/>
            <p:cNvCxnSpPr>
              <a:cxnSpLocks noChangeShapeType="1"/>
            </p:cNvCxnSpPr>
            <p:nvPr/>
          </p:nvCxnSpPr>
          <p:spPr bwMode="auto">
            <a:xfrm rot="5400000">
              <a:off x="5336019" y="3765730"/>
              <a:ext cx="2351457" cy="1599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Straight Arrow Connector 62"/>
            <p:cNvCxnSpPr>
              <a:cxnSpLocks noChangeShapeType="1"/>
            </p:cNvCxnSpPr>
            <p:nvPr/>
          </p:nvCxnSpPr>
          <p:spPr bwMode="auto">
            <a:xfrm rot="5400000">
              <a:off x="5873019" y="3765730"/>
              <a:ext cx="2351457" cy="1599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6" name="AutoShape 11"/>
            <p:cNvSpPr>
              <a:spLocks noChangeArrowheads="1"/>
            </p:cNvSpPr>
            <p:nvPr/>
          </p:nvSpPr>
          <p:spPr bwMode="auto">
            <a:xfrm>
              <a:off x="5053374" y="5612603"/>
              <a:ext cx="2378145" cy="22383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31 w 21600"/>
                <a:gd name="T13" fmla="*/ 4431 h 21600"/>
                <a:gd name="T14" fmla="*/ 17169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62" y="21600"/>
                  </a:lnTo>
                  <a:lnTo>
                    <a:pt x="1633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Arial" charset="0"/>
                </a:rPr>
                <a:t>Mux</a:t>
              </a:r>
            </a:p>
          </p:txBody>
        </p:sp>
        <p:cxnSp>
          <p:nvCxnSpPr>
            <p:cNvPr id="87" name="Straight Connector 65"/>
            <p:cNvCxnSpPr>
              <a:cxnSpLocks noChangeShapeType="1"/>
              <a:stCxn id="76" idx="2"/>
            </p:cNvCxnSpPr>
            <p:nvPr/>
          </p:nvCxnSpPr>
          <p:spPr bwMode="auto">
            <a:xfrm>
              <a:off x="2982087" y="3075198"/>
              <a:ext cx="0" cy="2649323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Straight Arrow Connector 67"/>
            <p:cNvCxnSpPr>
              <a:cxnSpLocks noChangeShapeType="1"/>
            </p:cNvCxnSpPr>
            <p:nvPr/>
          </p:nvCxnSpPr>
          <p:spPr bwMode="auto">
            <a:xfrm rot="5400000" flipH="1" flipV="1">
              <a:off x="4170577" y="4519711"/>
              <a:ext cx="1166" cy="2378145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Straight Arrow Connector 69"/>
            <p:cNvCxnSpPr>
              <a:cxnSpLocks noChangeShapeType="1"/>
            </p:cNvCxnSpPr>
            <p:nvPr/>
          </p:nvCxnSpPr>
          <p:spPr bwMode="auto">
            <a:xfrm rot="5400000">
              <a:off x="5066905" y="5472273"/>
              <a:ext cx="279797" cy="319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Straight Arrow Connector 71"/>
            <p:cNvCxnSpPr>
              <a:cxnSpLocks noChangeShapeType="1"/>
            </p:cNvCxnSpPr>
            <p:nvPr/>
          </p:nvCxnSpPr>
          <p:spPr bwMode="auto">
            <a:xfrm rot="5400000">
              <a:off x="5757334" y="5472273"/>
              <a:ext cx="279797" cy="319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Straight Arrow Connector 73"/>
            <p:cNvCxnSpPr>
              <a:cxnSpLocks noChangeShapeType="1"/>
            </p:cNvCxnSpPr>
            <p:nvPr/>
          </p:nvCxnSpPr>
          <p:spPr bwMode="auto">
            <a:xfrm rot="5400000">
              <a:off x="6372433" y="5472489"/>
              <a:ext cx="278630" cy="1599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" name="Straight Arrow Connector 76"/>
            <p:cNvCxnSpPr>
              <a:cxnSpLocks noChangeShapeType="1"/>
            </p:cNvCxnSpPr>
            <p:nvPr/>
          </p:nvCxnSpPr>
          <p:spPr bwMode="auto">
            <a:xfrm rot="5400000">
              <a:off x="6908050" y="5472273"/>
              <a:ext cx="279797" cy="3196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" name="Straight Arrow Connector 80"/>
            <p:cNvCxnSpPr>
              <a:cxnSpLocks noChangeShapeType="1"/>
            </p:cNvCxnSpPr>
            <p:nvPr/>
          </p:nvCxnSpPr>
          <p:spPr bwMode="auto">
            <a:xfrm rot="5400000">
              <a:off x="5807452" y="6004102"/>
              <a:ext cx="334590" cy="1599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Straight Arrow Connector 73"/>
            <p:cNvCxnSpPr>
              <a:cxnSpLocks noChangeShapeType="1"/>
            </p:cNvCxnSpPr>
            <p:nvPr/>
          </p:nvCxnSpPr>
          <p:spPr bwMode="auto">
            <a:xfrm>
              <a:off x="6258433" y="5865587"/>
              <a:ext cx="0" cy="306613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Straight Arrow Connector 73"/>
            <p:cNvCxnSpPr>
              <a:cxnSpLocks noChangeShapeType="1"/>
            </p:cNvCxnSpPr>
            <p:nvPr/>
          </p:nvCxnSpPr>
          <p:spPr bwMode="auto">
            <a:xfrm rot="5400000">
              <a:off x="6372433" y="5472490"/>
              <a:ext cx="278630" cy="1599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Straight Arrow Connector 76"/>
            <p:cNvCxnSpPr>
              <a:cxnSpLocks noChangeShapeType="1"/>
            </p:cNvCxnSpPr>
            <p:nvPr/>
          </p:nvCxnSpPr>
          <p:spPr bwMode="auto">
            <a:xfrm rot="5400000">
              <a:off x="6908050" y="5472274"/>
              <a:ext cx="279797" cy="3196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Straight Arrow Connector 80"/>
            <p:cNvCxnSpPr>
              <a:cxnSpLocks noChangeShapeType="1"/>
            </p:cNvCxnSpPr>
            <p:nvPr/>
          </p:nvCxnSpPr>
          <p:spPr bwMode="auto">
            <a:xfrm rot="5400000">
              <a:off x="5807452" y="6004103"/>
              <a:ext cx="334590" cy="1599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Straight Arrow Connector 73"/>
            <p:cNvCxnSpPr>
              <a:cxnSpLocks noChangeShapeType="1"/>
            </p:cNvCxnSpPr>
            <p:nvPr/>
          </p:nvCxnSpPr>
          <p:spPr bwMode="auto">
            <a:xfrm>
              <a:off x="6258433" y="5865588"/>
              <a:ext cx="0" cy="306613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" name="Straight Arrow Connector 73"/>
            <p:cNvCxnSpPr>
              <a:cxnSpLocks noChangeShapeType="1"/>
            </p:cNvCxnSpPr>
            <p:nvPr/>
          </p:nvCxnSpPr>
          <p:spPr bwMode="auto">
            <a:xfrm rot="5400000">
              <a:off x="6372433" y="5472491"/>
              <a:ext cx="278630" cy="1599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1" name="Straight Arrow Connector 76"/>
            <p:cNvCxnSpPr>
              <a:cxnSpLocks noChangeShapeType="1"/>
            </p:cNvCxnSpPr>
            <p:nvPr/>
          </p:nvCxnSpPr>
          <p:spPr bwMode="auto">
            <a:xfrm rot="5400000">
              <a:off x="6908050" y="5472275"/>
              <a:ext cx="279797" cy="3196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16938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آرایه هسته در </a:t>
            </a:r>
            <a:r>
              <a:rPr lang="en-US" dirty="0"/>
              <a:t>DRAM</a:t>
            </a:r>
            <a:r>
              <a:rPr lang="fa-IR" dirty="0"/>
              <a:t> کند است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خواندن از سلول‌ها بسیار کند است.</a:t>
            </a:r>
          </a:p>
          <a:p>
            <a:pPr lvl="1" algn="l" rtl="0"/>
            <a:r>
              <a:rPr lang="en-US" dirty="0"/>
              <a:t>DDR: Core speed = ½ interface speed</a:t>
            </a:r>
          </a:p>
          <a:p>
            <a:pPr lvl="1" algn="l" rtl="0"/>
            <a:r>
              <a:rPr lang="en-US" dirty="0"/>
              <a:t>DDR2/GDDR3: Core speed = ¼ interface speed</a:t>
            </a:r>
          </a:p>
          <a:p>
            <a:pPr lvl="1" algn="l" rtl="0"/>
            <a:r>
              <a:rPr lang="en-US" dirty="0"/>
              <a:t>DDR3/GDDR4: Core speed = ⅛ interface speed</a:t>
            </a:r>
          </a:p>
          <a:p>
            <a:pPr lvl="1"/>
            <a:r>
              <a:rPr lang="fa-IR" dirty="0"/>
              <a:t>احتمالاً در آینده بدتر نیز می‌شود.</a:t>
            </a:r>
            <a:endParaRPr lang="en-US" dirty="0"/>
          </a:p>
          <a:p>
            <a:pPr lvl="1"/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454709" y="3893732"/>
            <a:ext cx="7073322" cy="2197550"/>
            <a:chOff x="50841" y="2729864"/>
            <a:chExt cx="5400284" cy="1667107"/>
          </a:xfrm>
        </p:grpSpPr>
        <p:sp>
          <p:nvSpPr>
            <p:cNvPr id="30" name="Rectangle 3"/>
            <p:cNvSpPr>
              <a:spLocks noChangeArrowheads="1"/>
            </p:cNvSpPr>
            <p:nvPr/>
          </p:nvSpPr>
          <p:spPr bwMode="auto">
            <a:xfrm>
              <a:off x="1054713" y="2729864"/>
              <a:ext cx="313731" cy="1094021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 rot="-5400000">
              <a:off x="819729" y="3109284"/>
              <a:ext cx="744114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decode</a:t>
              </a:r>
            </a:p>
          </p:txBody>
        </p:sp>
        <p:cxnSp>
          <p:nvCxnSpPr>
            <p:cNvPr id="32" name="Straight Arrow Connector 6"/>
            <p:cNvCxnSpPr>
              <a:cxnSpLocks noChangeShapeType="1"/>
            </p:cNvCxnSpPr>
            <p:nvPr/>
          </p:nvCxnSpPr>
          <p:spPr bwMode="auto">
            <a:xfrm>
              <a:off x="1371723" y="3104257"/>
              <a:ext cx="4000500" cy="893"/>
            </a:xfrm>
            <a:prstGeom prst="straightConnector1">
              <a:avLst/>
            </a:prstGeom>
            <a:noFill/>
            <a:ln w="571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Straight Arrow Connector 8"/>
            <p:cNvCxnSpPr>
              <a:cxnSpLocks noChangeShapeType="1"/>
            </p:cNvCxnSpPr>
            <p:nvPr/>
          </p:nvCxnSpPr>
          <p:spPr bwMode="auto">
            <a:xfrm rot="5400000">
              <a:off x="2269600" y="3544104"/>
              <a:ext cx="1284982" cy="1191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Straight Connector 10"/>
            <p:cNvCxnSpPr>
              <a:cxnSpLocks noChangeShapeType="1"/>
            </p:cNvCxnSpPr>
            <p:nvPr/>
          </p:nvCxnSpPr>
          <p:spPr bwMode="auto">
            <a:xfrm rot="5400000">
              <a:off x="3026388" y="3202379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Straight Connector 13"/>
            <p:cNvCxnSpPr>
              <a:cxnSpLocks noChangeShapeType="1"/>
            </p:cNvCxnSpPr>
            <p:nvPr/>
          </p:nvCxnSpPr>
          <p:spPr bwMode="auto">
            <a:xfrm>
              <a:off x="3054963" y="3288104"/>
              <a:ext cx="11430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Straight Connector 15"/>
            <p:cNvCxnSpPr>
              <a:cxnSpLocks noChangeShapeType="1"/>
            </p:cNvCxnSpPr>
            <p:nvPr/>
          </p:nvCxnSpPr>
          <p:spPr bwMode="auto">
            <a:xfrm>
              <a:off x="2997813" y="3373829"/>
              <a:ext cx="22860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Straight Connector 18"/>
            <p:cNvCxnSpPr>
              <a:cxnSpLocks noChangeShapeType="1"/>
            </p:cNvCxnSpPr>
            <p:nvPr/>
          </p:nvCxnSpPr>
          <p:spPr bwMode="auto">
            <a:xfrm rot="5400000">
              <a:off x="2954951" y="3416691"/>
              <a:ext cx="85725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Straight Connector 20"/>
            <p:cNvCxnSpPr>
              <a:cxnSpLocks noChangeShapeType="1"/>
            </p:cNvCxnSpPr>
            <p:nvPr/>
          </p:nvCxnSpPr>
          <p:spPr bwMode="auto">
            <a:xfrm rot="5400000">
              <a:off x="3183551" y="3416691"/>
              <a:ext cx="85725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Straight Connector 22"/>
            <p:cNvCxnSpPr>
              <a:cxnSpLocks noChangeShapeType="1"/>
            </p:cNvCxnSpPr>
            <p:nvPr/>
          </p:nvCxnSpPr>
          <p:spPr bwMode="auto">
            <a:xfrm>
              <a:off x="2883513" y="3459554"/>
              <a:ext cx="11430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Straight Connector 24"/>
            <p:cNvCxnSpPr>
              <a:cxnSpLocks noChangeShapeType="1"/>
            </p:cNvCxnSpPr>
            <p:nvPr/>
          </p:nvCxnSpPr>
          <p:spPr bwMode="auto">
            <a:xfrm>
              <a:off x="3226413" y="3459554"/>
              <a:ext cx="22860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Straight Connector 26"/>
            <p:cNvCxnSpPr>
              <a:cxnSpLocks noChangeShapeType="1"/>
            </p:cNvCxnSpPr>
            <p:nvPr/>
          </p:nvCxnSpPr>
          <p:spPr bwMode="auto">
            <a:xfrm rot="5400000">
              <a:off x="3390719" y="3523848"/>
              <a:ext cx="128588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Straight Connector 28"/>
            <p:cNvCxnSpPr>
              <a:cxnSpLocks noChangeShapeType="1"/>
            </p:cNvCxnSpPr>
            <p:nvPr/>
          </p:nvCxnSpPr>
          <p:spPr bwMode="auto">
            <a:xfrm>
              <a:off x="3340713" y="3588141"/>
              <a:ext cx="22860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Straight Connector 30"/>
            <p:cNvCxnSpPr>
              <a:cxnSpLocks noChangeShapeType="1"/>
            </p:cNvCxnSpPr>
            <p:nvPr/>
          </p:nvCxnSpPr>
          <p:spPr bwMode="auto">
            <a:xfrm>
              <a:off x="3340713" y="3673866"/>
              <a:ext cx="22860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Straight Connector 32"/>
            <p:cNvCxnSpPr>
              <a:cxnSpLocks noChangeShapeType="1"/>
            </p:cNvCxnSpPr>
            <p:nvPr/>
          </p:nvCxnSpPr>
          <p:spPr bwMode="auto">
            <a:xfrm rot="5400000">
              <a:off x="3412151" y="3716729"/>
              <a:ext cx="85725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Straight Connector 34"/>
            <p:cNvCxnSpPr>
              <a:cxnSpLocks noChangeShapeType="1"/>
            </p:cNvCxnSpPr>
            <p:nvPr/>
          </p:nvCxnSpPr>
          <p:spPr bwMode="auto">
            <a:xfrm>
              <a:off x="3340713" y="3759591"/>
              <a:ext cx="22860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36"/>
            <p:cNvCxnSpPr>
              <a:cxnSpLocks noChangeShapeType="1"/>
            </p:cNvCxnSpPr>
            <p:nvPr/>
          </p:nvCxnSpPr>
          <p:spPr bwMode="auto">
            <a:xfrm>
              <a:off x="3397863" y="3802454"/>
              <a:ext cx="11430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Straight Connector 44"/>
            <p:cNvCxnSpPr>
              <a:cxnSpLocks noChangeShapeType="1"/>
            </p:cNvCxnSpPr>
            <p:nvPr/>
          </p:nvCxnSpPr>
          <p:spPr bwMode="auto">
            <a:xfrm>
              <a:off x="3455013" y="3845316"/>
              <a:ext cx="571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" name="TextBox 47"/>
            <p:cNvSpPr txBox="1">
              <a:spLocks noChangeArrowheads="1"/>
            </p:cNvSpPr>
            <p:nvPr/>
          </p:nvSpPr>
          <p:spPr bwMode="auto">
            <a:xfrm>
              <a:off x="1856217" y="4169323"/>
              <a:ext cx="2800350" cy="2276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1350" kern="0" dirty="0">
                  <a:solidFill>
                    <a:srgbClr val="000000"/>
                  </a:solidFill>
                  <a:cs typeface="B Nazanin" panose="00000400000000000000" pitchFamily="2" charset="-78"/>
                </a:rPr>
                <a:t>ورودی تقویت کننده (</a:t>
              </a:r>
              <a:r>
                <a:rPr lang="en-US" sz="1350" kern="0" dirty="0">
                  <a:solidFill>
                    <a:srgbClr val="000000"/>
                  </a:solidFill>
                  <a:cs typeface="B Nazanin" panose="00000400000000000000" pitchFamily="2" charset="-78"/>
                </a:rPr>
                <a:t>Sense Amp</a:t>
              </a:r>
              <a:r>
                <a:rPr lang="fa-IR" sz="1350" kern="0" dirty="0">
                  <a:solidFill>
                    <a:srgbClr val="000000"/>
                  </a:solidFill>
                  <a:cs typeface="B Nazanin" panose="00000400000000000000" pitchFamily="2" charset="-78"/>
                </a:rPr>
                <a:t>)</a:t>
              </a: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B Nazanin" panose="00000400000000000000" pitchFamily="2" charset="-78"/>
              </a:endParaRPr>
            </a:p>
          </p:txBody>
        </p:sp>
        <p:sp>
          <p:nvSpPr>
            <p:cNvPr id="49" name="TextBox 49"/>
            <p:cNvSpPr txBox="1">
              <a:spLocks noChangeArrowheads="1"/>
            </p:cNvSpPr>
            <p:nvPr/>
          </p:nvSpPr>
          <p:spPr bwMode="auto">
            <a:xfrm>
              <a:off x="3508025" y="3459554"/>
              <a:ext cx="1943100" cy="2218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1300" kern="0" dirty="0">
                  <a:solidFill>
                    <a:srgbClr val="000000"/>
                  </a:solidFill>
                  <a:cs typeface="B Nazanin" panose="00000400000000000000" pitchFamily="2" charset="-78"/>
                </a:rPr>
                <a:t>یک خازن کوچک که مقدار بیت را نگه می‌دارد.</a:t>
              </a:r>
              <a:endPara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B Nazanin" panose="00000400000000000000" pitchFamily="2" charset="-78"/>
              </a:endParaRPr>
            </a:p>
          </p:txBody>
        </p:sp>
        <p:sp>
          <p:nvSpPr>
            <p:cNvPr id="50" name="TextBox 52"/>
            <p:cNvSpPr txBox="1">
              <a:spLocks noChangeArrowheads="1"/>
            </p:cNvSpPr>
            <p:nvPr/>
          </p:nvSpPr>
          <p:spPr bwMode="auto">
            <a:xfrm>
              <a:off x="50841" y="3575831"/>
              <a:ext cx="2803505" cy="373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13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حدود 1000 سلول در یک ستون </a:t>
              </a: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13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به خط عمودی</a:t>
              </a:r>
              <a:r>
                <a:rPr kumimoji="0" lang="fa-IR" sz="13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 متصلند.</a:t>
              </a:r>
              <a:endPara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B Nazanin" panose="000004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4744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انتقال پشت سر هم				 </a:t>
            </a:r>
            <a:r>
              <a:rPr lang="en-US" dirty="0"/>
              <a:t> Burst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در </a:t>
            </a:r>
            <a:r>
              <a:rPr lang="en-US" dirty="0"/>
              <a:t>DDR2</a:t>
            </a:r>
            <a:r>
              <a:rPr lang="fa-IR" dirty="0"/>
              <a:t> و </a:t>
            </a:r>
            <a:r>
              <a:rPr lang="en-US" dirty="0"/>
              <a:t>DDR3</a:t>
            </a:r>
            <a:r>
              <a:rPr lang="fa-IR" dirty="0"/>
              <a:t>، آرایه هسته با سرعت </a:t>
            </a:r>
            <a:r>
              <a:rPr lang="en-US" dirty="0"/>
              <a:t>1/N</a:t>
            </a:r>
            <a:r>
              <a:rPr lang="fa-IR" dirty="0"/>
              <a:t> سرعت باس کلاک می‌خورد.</a:t>
            </a:r>
          </a:p>
          <a:p>
            <a:pPr lvl="1"/>
            <a:r>
              <a:rPr lang="fa-IR" dirty="0"/>
              <a:t>هر بار </a:t>
            </a:r>
            <a:r>
              <a:rPr lang="en-US" dirty="0"/>
              <a:t>N</a:t>
            </a:r>
            <a:r>
              <a:rPr lang="fa-IR" dirty="0"/>
              <a:t>×پهنای باس بیت را یکجا از یک ردیف خوانده و در بافر قرار می‌دهد. سپس در </a:t>
            </a:r>
            <a:r>
              <a:rPr lang="en-US" dirty="0"/>
              <a:t>N</a:t>
            </a:r>
            <a:r>
              <a:rPr lang="fa-IR" dirty="0"/>
              <a:t> گام با سرعت باس به بیرون انتقال می‌دهد.</a:t>
            </a:r>
            <a:endParaRPr lang="en-US" dirty="0"/>
          </a:p>
          <a:p>
            <a:pPr lvl="1"/>
            <a:r>
              <a:rPr lang="fa-IR" dirty="0"/>
              <a:t>در </a:t>
            </a:r>
            <a:r>
              <a:rPr lang="en-US" dirty="0"/>
              <a:t>DDR3/GDDR4</a:t>
            </a:r>
            <a:r>
              <a:rPr lang="fa-IR" dirty="0"/>
              <a:t>، </a:t>
            </a:r>
            <a:r>
              <a:rPr lang="en-US" dirty="0"/>
              <a:t>N</a:t>
            </a:r>
            <a:r>
              <a:rPr lang="fa-IR" dirty="0"/>
              <a:t> برابر 8 است.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7967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انتقال پشت سر هم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مثال:</a:t>
            </a:r>
          </a:p>
          <a:p>
            <a:pPr lvl="1"/>
            <a:r>
              <a:rPr lang="fa-IR" dirty="0"/>
              <a:t>انتقال 2 بیت اول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620774" y="2286000"/>
            <a:ext cx="6137148" cy="3581401"/>
            <a:chOff x="1447800" y="2590800"/>
            <a:chExt cx="6137148" cy="3581401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5053374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5667089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6280804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6894519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5053374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6280804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6894519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5053374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5667089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5667089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6280804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6894519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5667089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6280804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5667089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5053374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6894519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3979374" y="2870596"/>
              <a:ext cx="613715" cy="1734739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26" name="Straight Arrow Connector 23"/>
            <p:cNvCxnSpPr>
              <a:cxnSpLocks noChangeShapeType="1"/>
              <a:endCxn id="11" idx="3"/>
            </p:cNvCxnSpPr>
            <p:nvPr/>
          </p:nvCxnSpPr>
          <p:spPr bwMode="auto">
            <a:xfrm>
              <a:off x="4593088" y="3094434"/>
              <a:ext cx="2915145" cy="116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25"/>
            <p:cNvCxnSpPr>
              <a:cxnSpLocks noChangeShapeType="1"/>
              <a:endCxn id="14" idx="3"/>
            </p:cNvCxnSpPr>
            <p:nvPr/>
          </p:nvCxnSpPr>
          <p:spPr bwMode="auto">
            <a:xfrm>
              <a:off x="4593088" y="3542109"/>
              <a:ext cx="2915145" cy="1166"/>
            </a:xfrm>
            <a:prstGeom prst="straightConnector1">
              <a:avLst/>
            </a:prstGeom>
            <a:noFill/>
            <a:ln w="762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Arrow Connector 33"/>
            <p:cNvCxnSpPr>
              <a:cxnSpLocks noChangeShapeType="1"/>
              <a:endCxn id="19" idx="3"/>
            </p:cNvCxnSpPr>
            <p:nvPr/>
          </p:nvCxnSpPr>
          <p:spPr bwMode="auto">
            <a:xfrm>
              <a:off x="4593088" y="3989783"/>
              <a:ext cx="2915145" cy="116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Straight Arrow Connector 35"/>
            <p:cNvCxnSpPr>
              <a:cxnSpLocks noChangeShapeType="1"/>
              <a:endCxn id="24" idx="3"/>
            </p:cNvCxnSpPr>
            <p:nvPr/>
          </p:nvCxnSpPr>
          <p:spPr bwMode="auto">
            <a:xfrm>
              <a:off x="4593088" y="4437458"/>
              <a:ext cx="2915145" cy="116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36"/>
            <p:cNvSpPr txBox="1">
              <a:spLocks noChangeArrowheads="1"/>
            </p:cNvSpPr>
            <p:nvPr/>
          </p:nvSpPr>
          <p:spPr bwMode="auto">
            <a:xfrm rot="16200000">
              <a:off x="3741152" y="3402064"/>
              <a:ext cx="1094956" cy="495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imes New Roman" pitchFamily="18" charset="0"/>
                </a:rPr>
                <a:t>decode</a:t>
              </a:r>
            </a:p>
          </p:txBody>
        </p:sp>
        <p:sp>
          <p:nvSpPr>
            <p:cNvPr id="31" name="Rectangle 37"/>
            <p:cNvSpPr>
              <a:spLocks noChangeArrowheads="1"/>
            </p:cNvSpPr>
            <p:nvPr/>
          </p:nvSpPr>
          <p:spPr bwMode="auto">
            <a:xfrm>
              <a:off x="1447800" y="2627524"/>
              <a:ext cx="613715" cy="4476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0</a:t>
              </a:r>
            </a:p>
          </p:txBody>
        </p:sp>
        <p:sp>
          <p:nvSpPr>
            <p:cNvPr id="32" name="Rectangle 38"/>
            <p:cNvSpPr>
              <a:spLocks noChangeArrowheads="1"/>
            </p:cNvSpPr>
            <p:nvPr/>
          </p:nvSpPr>
          <p:spPr bwMode="auto">
            <a:xfrm>
              <a:off x="2061515" y="2627524"/>
              <a:ext cx="613715" cy="4476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1</a:t>
              </a:r>
            </a:p>
          </p:txBody>
        </p:sp>
        <p:sp>
          <p:nvSpPr>
            <p:cNvPr id="33" name="Rectangle 39"/>
            <p:cNvSpPr>
              <a:spLocks noChangeArrowheads="1"/>
            </p:cNvSpPr>
            <p:nvPr/>
          </p:nvSpPr>
          <p:spPr bwMode="auto">
            <a:xfrm>
              <a:off x="2675230" y="2627524"/>
              <a:ext cx="613715" cy="4476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rebuchet MS"/>
                </a:rPr>
                <a:t>0</a:t>
              </a:r>
            </a:p>
          </p:txBody>
        </p:sp>
        <p:cxnSp>
          <p:nvCxnSpPr>
            <p:cNvPr id="34" name="Straight Connector 41"/>
            <p:cNvCxnSpPr>
              <a:cxnSpLocks noChangeShapeType="1"/>
              <a:stCxn id="31" idx="2"/>
            </p:cNvCxnSpPr>
            <p:nvPr/>
          </p:nvCxnSpPr>
          <p:spPr bwMode="auto">
            <a:xfrm>
              <a:off x="1754657" y="3075198"/>
              <a:ext cx="0" cy="91400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Straight Arrow Connector 43"/>
            <p:cNvCxnSpPr>
              <a:cxnSpLocks noChangeShapeType="1"/>
            </p:cNvCxnSpPr>
            <p:nvPr/>
          </p:nvCxnSpPr>
          <p:spPr bwMode="auto">
            <a:xfrm>
              <a:off x="1754657" y="3989199"/>
              <a:ext cx="2224716" cy="584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Straight Connector 45"/>
            <p:cNvCxnSpPr>
              <a:cxnSpLocks noChangeShapeType="1"/>
              <a:stCxn id="32" idx="2"/>
            </p:cNvCxnSpPr>
            <p:nvPr/>
          </p:nvCxnSpPr>
          <p:spPr bwMode="auto">
            <a:xfrm>
              <a:off x="2368372" y="3075198"/>
              <a:ext cx="0" cy="559593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Straight Arrow Connector 47"/>
            <p:cNvCxnSpPr>
              <a:cxnSpLocks noChangeShapeType="1"/>
            </p:cNvCxnSpPr>
            <p:nvPr/>
          </p:nvCxnSpPr>
          <p:spPr bwMode="auto">
            <a:xfrm>
              <a:off x="2368372" y="3634792"/>
              <a:ext cx="1611001" cy="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Rectangle 48"/>
            <p:cNvSpPr>
              <a:spLocks noChangeArrowheads="1"/>
            </p:cNvSpPr>
            <p:nvPr/>
          </p:nvSpPr>
          <p:spPr bwMode="auto">
            <a:xfrm>
              <a:off x="5053374" y="4997050"/>
              <a:ext cx="2531574" cy="335756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Sense amps</a:t>
              </a:r>
            </a:p>
          </p:txBody>
        </p:sp>
        <p:cxnSp>
          <p:nvCxnSpPr>
            <p:cNvPr id="39" name="Straight Arrow Connector 55"/>
            <p:cNvCxnSpPr>
              <a:cxnSpLocks noChangeShapeType="1"/>
            </p:cNvCxnSpPr>
            <p:nvPr/>
          </p:nvCxnSpPr>
          <p:spPr bwMode="auto">
            <a:xfrm rot="5400000">
              <a:off x="4032457" y="3765146"/>
              <a:ext cx="2350291" cy="1599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Straight Arrow Connector 57"/>
            <p:cNvCxnSpPr>
              <a:cxnSpLocks noChangeShapeType="1"/>
            </p:cNvCxnSpPr>
            <p:nvPr/>
          </p:nvCxnSpPr>
          <p:spPr bwMode="auto">
            <a:xfrm rot="5400000">
              <a:off x="4720706" y="3765730"/>
              <a:ext cx="2351457" cy="1597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Straight Arrow Connector 61"/>
            <p:cNvCxnSpPr>
              <a:cxnSpLocks noChangeShapeType="1"/>
            </p:cNvCxnSpPr>
            <p:nvPr/>
          </p:nvCxnSpPr>
          <p:spPr bwMode="auto">
            <a:xfrm rot="5400000">
              <a:off x="5336019" y="3765730"/>
              <a:ext cx="2351457" cy="1599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Straight Arrow Connector 62"/>
            <p:cNvCxnSpPr>
              <a:cxnSpLocks noChangeShapeType="1"/>
            </p:cNvCxnSpPr>
            <p:nvPr/>
          </p:nvCxnSpPr>
          <p:spPr bwMode="auto">
            <a:xfrm rot="5400000">
              <a:off x="5873019" y="3765730"/>
              <a:ext cx="2351457" cy="1599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" name="AutoShape 11"/>
            <p:cNvSpPr>
              <a:spLocks noChangeArrowheads="1"/>
            </p:cNvSpPr>
            <p:nvPr/>
          </p:nvSpPr>
          <p:spPr bwMode="auto">
            <a:xfrm>
              <a:off x="5053374" y="5612603"/>
              <a:ext cx="2378145" cy="22383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31 w 21600"/>
                <a:gd name="T13" fmla="*/ 4431 h 21600"/>
                <a:gd name="T14" fmla="*/ 17169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62" y="21600"/>
                  </a:lnTo>
                  <a:lnTo>
                    <a:pt x="1633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Arial" charset="0"/>
                </a:rPr>
                <a:t>Mux</a:t>
              </a:r>
            </a:p>
          </p:txBody>
        </p:sp>
        <p:cxnSp>
          <p:nvCxnSpPr>
            <p:cNvPr id="44" name="Straight Connector 65"/>
            <p:cNvCxnSpPr>
              <a:cxnSpLocks noChangeShapeType="1"/>
              <a:stCxn id="33" idx="2"/>
            </p:cNvCxnSpPr>
            <p:nvPr/>
          </p:nvCxnSpPr>
          <p:spPr bwMode="auto">
            <a:xfrm>
              <a:off x="2982087" y="3075198"/>
              <a:ext cx="0" cy="2649323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Straight Arrow Connector 67"/>
            <p:cNvCxnSpPr>
              <a:cxnSpLocks noChangeShapeType="1"/>
            </p:cNvCxnSpPr>
            <p:nvPr/>
          </p:nvCxnSpPr>
          <p:spPr bwMode="auto">
            <a:xfrm rot="5400000" flipH="1" flipV="1">
              <a:off x="4170577" y="4519711"/>
              <a:ext cx="1166" cy="2378145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Arrow Connector 80"/>
            <p:cNvCxnSpPr>
              <a:cxnSpLocks noChangeShapeType="1"/>
            </p:cNvCxnSpPr>
            <p:nvPr/>
          </p:nvCxnSpPr>
          <p:spPr bwMode="auto">
            <a:xfrm rot="5400000">
              <a:off x="5807452" y="6004102"/>
              <a:ext cx="334590" cy="1599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Arrow Connector 73"/>
            <p:cNvCxnSpPr>
              <a:cxnSpLocks noChangeShapeType="1"/>
            </p:cNvCxnSpPr>
            <p:nvPr/>
          </p:nvCxnSpPr>
          <p:spPr bwMode="auto">
            <a:xfrm>
              <a:off x="6258433" y="5865587"/>
              <a:ext cx="0" cy="306613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Arrow Connector 80"/>
            <p:cNvCxnSpPr>
              <a:cxnSpLocks noChangeShapeType="1"/>
            </p:cNvCxnSpPr>
            <p:nvPr/>
          </p:nvCxnSpPr>
          <p:spPr bwMode="auto">
            <a:xfrm rot="5400000">
              <a:off x="5807452" y="6004103"/>
              <a:ext cx="334590" cy="1599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Arrow Connector 73"/>
            <p:cNvCxnSpPr>
              <a:cxnSpLocks noChangeShapeType="1"/>
            </p:cNvCxnSpPr>
            <p:nvPr/>
          </p:nvCxnSpPr>
          <p:spPr bwMode="auto">
            <a:xfrm>
              <a:off x="6258433" y="5865588"/>
              <a:ext cx="0" cy="306613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Arrow Connector 73"/>
            <p:cNvCxnSpPr>
              <a:cxnSpLocks noChangeShapeType="1"/>
            </p:cNvCxnSpPr>
            <p:nvPr/>
          </p:nvCxnSpPr>
          <p:spPr bwMode="auto">
            <a:xfrm rot="5400000">
              <a:off x="5751381" y="5472491"/>
              <a:ext cx="278630" cy="1599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8" name="Straight Arrow Connector 69"/>
          <p:cNvCxnSpPr>
            <a:cxnSpLocks noChangeShapeType="1"/>
          </p:cNvCxnSpPr>
          <p:nvPr/>
        </p:nvCxnSpPr>
        <p:spPr bwMode="auto">
          <a:xfrm rot="5400000">
            <a:off x="6540453" y="5167501"/>
            <a:ext cx="279797" cy="3196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Straight Arrow Connector 69"/>
          <p:cNvCxnSpPr>
            <a:cxnSpLocks noChangeShapeType="1"/>
          </p:cNvCxnSpPr>
          <p:nvPr/>
        </p:nvCxnSpPr>
        <p:spPr bwMode="auto">
          <a:xfrm rot="5400000">
            <a:off x="7097503" y="5167501"/>
            <a:ext cx="279797" cy="3196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Straight Arrow Connector 73"/>
          <p:cNvCxnSpPr>
            <a:cxnSpLocks noChangeShapeType="1"/>
          </p:cNvCxnSpPr>
          <p:nvPr/>
        </p:nvCxnSpPr>
        <p:spPr bwMode="auto">
          <a:xfrm rot="5400000">
            <a:off x="5282195" y="5167717"/>
            <a:ext cx="278630" cy="1599"/>
          </a:xfrm>
          <a:prstGeom prst="straightConnector1">
            <a:avLst/>
          </a:prstGeom>
          <a:noFill/>
          <a:ln w="412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8330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انتقال پشت سر هم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مثال:</a:t>
            </a:r>
          </a:p>
          <a:p>
            <a:pPr lvl="1"/>
            <a:r>
              <a:rPr lang="fa-IR" dirty="0"/>
              <a:t>انتقال 2 بیت دوم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620774" y="2286000"/>
            <a:ext cx="6137148" cy="3581401"/>
            <a:chOff x="1447800" y="2590800"/>
            <a:chExt cx="6137148" cy="3581401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5053374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5667089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6280804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6894519" y="2870596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5053374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6280804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6894519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5053374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5667089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5667089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6280804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6894519" y="3765945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5667089" y="3318270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6280804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5667089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5053374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6894519" y="4213619"/>
              <a:ext cx="613715" cy="447675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3979374" y="2870596"/>
              <a:ext cx="613715" cy="1734739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26" name="Straight Arrow Connector 23"/>
            <p:cNvCxnSpPr>
              <a:cxnSpLocks noChangeShapeType="1"/>
              <a:endCxn id="11" idx="3"/>
            </p:cNvCxnSpPr>
            <p:nvPr/>
          </p:nvCxnSpPr>
          <p:spPr bwMode="auto">
            <a:xfrm>
              <a:off x="4593088" y="3094434"/>
              <a:ext cx="2915145" cy="116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25"/>
            <p:cNvCxnSpPr>
              <a:cxnSpLocks noChangeShapeType="1"/>
              <a:endCxn id="14" idx="3"/>
            </p:cNvCxnSpPr>
            <p:nvPr/>
          </p:nvCxnSpPr>
          <p:spPr bwMode="auto">
            <a:xfrm>
              <a:off x="4593088" y="3542109"/>
              <a:ext cx="2915145" cy="1166"/>
            </a:xfrm>
            <a:prstGeom prst="straightConnector1">
              <a:avLst/>
            </a:prstGeom>
            <a:noFill/>
            <a:ln w="762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Arrow Connector 33"/>
            <p:cNvCxnSpPr>
              <a:cxnSpLocks noChangeShapeType="1"/>
              <a:endCxn id="19" idx="3"/>
            </p:cNvCxnSpPr>
            <p:nvPr/>
          </p:nvCxnSpPr>
          <p:spPr bwMode="auto">
            <a:xfrm>
              <a:off x="4593088" y="3989783"/>
              <a:ext cx="2915145" cy="116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Straight Arrow Connector 35"/>
            <p:cNvCxnSpPr>
              <a:cxnSpLocks noChangeShapeType="1"/>
              <a:endCxn id="24" idx="3"/>
            </p:cNvCxnSpPr>
            <p:nvPr/>
          </p:nvCxnSpPr>
          <p:spPr bwMode="auto">
            <a:xfrm>
              <a:off x="4593088" y="4437458"/>
              <a:ext cx="2915145" cy="116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36"/>
            <p:cNvSpPr txBox="1">
              <a:spLocks noChangeArrowheads="1"/>
            </p:cNvSpPr>
            <p:nvPr/>
          </p:nvSpPr>
          <p:spPr bwMode="auto">
            <a:xfrm rot="16200000">
              <a:off x="3741152" y="3402064"/>
              <a:ext cx="1094956" cy="495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imes New Roman" pitchFamily="18" charset="0"/>
                </a:rPr>
                <a:t>decode</a:t>
              </a:r>
            </a:p>
          </p:txBody>
        </p:sp>
        <p:sp>
          <p:nvSpPr>
            <p:cNvPr id="31" name="Rectangle 37"/>
            <p:cNvSpPr>
              <a:spLocks noChangeArrowheads="1"/>
            </p:cNvSpPr>
            <p:nvPr/>
          </p:nvSpPr>
          <p:spPr bwMode="auto">
            <a:xfrm>
              <a:off x="1447800" y="2627524"/>
              <a:ext cx="613715" cy="4476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0</a:t>
              </a:r>
            </a:p>
          </p:txBody>
        </p:sp>
        <p:sp>
          <p:nvSpPr>
            <p:cNvPr id="32" name="Rectangle 38"/>
            <p:cNvSpPr>
              <a:spLocks noChangeArrowheads="1"/>
            </p:cNvSpPr>
            <p:nvPr/>
          </p:nvSpPr>
          <p:spPr bwMode="auto">
            <a:xfrm>
              <a:off x="2061515" y="2627524"/>
              <a:ext cx="613715" cy="4476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1</a:t>
              </a:r>
            </a:p>
          </p:txBody>
        </p:sp>
        <p:sp>
          <p:nvSpPr>
            <p:cNvPr id="33" name="Rectangle 39"/>
            <p:cNvSpPr>
              <a:spLocks noChangeArrowheads="1"/>
            </p:cNvSpPr>
            <p:nvPr/>
          </p:nvSpPr>
          <p:spPr bwMode="auto">
            <a:xfrm>
              <a:off x="2675230" y="2627524"/>
              <a:ext cx="613715" cy="4476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rebuchet MS"/>
                </a:rPr>
                <a:t>1</a:t>
              </a:r>
            </a:p>
          </p:txBody>
        </p:sp>
        <p:cxnSp>
          <p:nvCxnSpPr>
            <p:cNvPr id="34" name="Straight Connector 41"/>
            <p:cNvCxnSpPr>
              <a:cxnSpLocks noChangeShapeType="1"/>
              <a:stCxn id="31" idx="2"/>
            </p:cNvCxnSpPr>
            <p:nvPr/>
          </p:nvCxnSpPr>
          <p:spPr bwMode="auto">
            <a:xfrm>
              <a:off x="1754657" y="3075198"/>
              <a:ext cx="0" cy="91400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Straight Arrow Connector 43"/>
            <p:cNvCxnSpPr>
              <a:cxnSpLocks noChangeShapeType="1"/>
            </p:cNvCxnSpPr>
            <p:nvPr/>
          </p:nvCxnSpPr>
          <p:spPr bwMode="auto">
            <a:xfrm>
              <a:off x="1754657" y="3989199"/>
              <a:ext cx="2224716" cy="584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Straight Connector 45"/>
            <p:cNvCxnSpPr>
              <a:cxnSpLocks noChangeShapeType="1"/>
              <a:stCxn id="32" idx="2"/>
            </p:cNvCxnSpPr>
            <p:nvPr/>
          </p:nvCxnSpPr>
          <p:spPr bwMode="auto">
            <a:xfrm>
              <a:off x="2368372" y="3075198"/>
              <a:ext cx="0" cy="559593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Straight Arrow Connector 47"/>
            <p:cNvCxnSpPr>
              <a:cxnSpLocks noChangeShapeType="1"/>
            </p:cNvCxnSpPr>
            <p:nvPr/>
          </p:nvCxnSpPr>
          <p:spPr bwMode="auto">
            <a:xfrm>
              <a:off x="2368372" y="3634792"/>
              <a:ext cx="1611001" cy="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Rectangle 48"/>
            <p:cNvSpPr>
              <a:spLocks noChangeArrowheads="1"/>
            </p:cNvSpPr>
            <p:nvPr/>
          </p:nvSpPr>
          <p:spPr bwMode="auto">
            <a:xfrm>
              <a:off x="5053374" y="4997050"/>
              <a:ext cx="2531574" cy="335756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Sense amps</a:t>
              </a:r>
            </a:p>
          </p:txBody>
        </p:sp>
        <p:cxnSp>
          <p:nvCxnSpPr>
            <p:cNvPr id="39" name="Straight Arrow Connector 55"/>
            <p:cNvCxnSpPr>
              <a:cxnSpLocks noChangeShapeType="1"/>
            </p:cNvCxnSpPr>
            <p:nvPr/>
          </p:nvCxnSpPr>
          <p:spPr bwMode="auto">
            <a:xfrm rot="5400000">
              <a:off x="4032457" y="3765146"/>
              <a:ext cx="2350291" cy="1599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Straight Arrow Connector 57"/>
            <p:cNvCxnSpPr>
              <a:cxnSpLocks noChangeShapeType="1"/>
            </p:cNvCxnSpPr>
            <p:nvPr/>
          </p:nvCxnSpPr>
          <p:spPr bwMode="auto">
            <a:xfrm rot="5400000">
              <a:off x="4720706" y="3765730"/>
              <a:ext cx="2351457" cy="1597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Straight Arrow Connector 61"/>
            <p:cNvCxnSpPr>
              <a:cxnSpLocks noChangeShapeType="1"/>
            </p:cNvCxnSpPr>
            <p:nvPr/>
          </p:nvCxnSpPr>
          <p:spPr bwMode="auto">
            <a:xfrm rot="5400000">
              <a:off x="5336019" y="3765730"/>
              <a:ext cx="2351457" cy="1599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Straight Arrow Connector 62"/>
            <p:cNvCxnSpPr>
              <a:cxnSpLocks noChangeShapeType="1"/>
            </p:cNvCxnSpPr>
            <p:nvPr/>
          </p:nvCxnSpPr>
          <p:spPr bwMode="auto">
            <a:xfrm rot="5400000">
              <a:off x="5873019" y="3765730"/>
              <a:ext cx="2351457" cy="1599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" name="AutoShape 11"/>
            <p:cNvSpPr>
              <a:spLocks noChangeArrowheads="1"/>
            </p:cNvSpPr>
            <p:nvPr/>
          </p:nvSpPr>
          <p:spPr bwMode="auto">
            <a:xfrm>
              <a:off x="5053374" y="5612603"/>
              <a:ext cx="2378145" cy="22383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31 w 21600"/>
                <a:gd name="T13" fmla="*/ 4431 h 21600"/>
                <a:gd name="T14" fmla="*/ 17169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62" y="21600"/>
                  </a:lnTo>
                  <a:lnTo>
                    <a:pt x="1633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Arial" charset="0"/>
                </a:rPr>
                <a:t>Mux</a:t>
              </a:r>
            </a:p>
          </p:txBody>
        </p:sp>
        <p:cxnSp>
          <p:nvCxnSpPr>
            <p:cNvPr id="44" name="Straight Connector 65"/>
            <p:cNvCxnSpPr>
              <a:cxnSpLocks noChangeShapeType="1"/>
              <a:stCxn id="33" idx="2"/>
            </p:cNvCxnSpPr>
            <p:nvPr/>
          </p:nvCxnSpPr>
          <p:spPr bwMode="auto">
            <a:xfrm>
              <a:off x="2982087" y="3075198"/>
              <a:ext cx="0" cy="2649323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Straight Arrow Connector 67"/>
            <p:cNvCxnSpPr>
              <a:cxnSpLocks noChangeShapeType="1"/>
            </p:cNvCxnSpPr>
            <p:nvPr/>
          </p:nvCxnSpPr>
          <p:spPr bwMode="auto">
            <a:xfrm rot="5400000" flipH="1" flipV="1">
              <a:off x="4170577" y="4519711"/>
              <a:ext cx="1166" cy="2378145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Arrow Connector 69"/>
            <p:cNvCxnSpPr>
              <a:cxnSpLocks noChangeShapeType="1"/>
            </p:cNvCxnSpPr>
            <p:nvPr/>
          </p:nvCxnSpPr>
          <p:spPr bwMode="auto">
            <a:xfrm rot="5400000">
              <a:off x="5066905" y="5472273"/>
              <a:ext cx="279797" cy="319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Straight Arrow Connector 71"/>
            <p:cNvCxnSpPr>
              <a:cxnSpLocks noChangeShapeType="1"/>
            </p:cNvCxnSpPr>
            <p:nvPr/>
          </p:nvCxnSpPr>
          <p:spPr bwMode="auto">
            <a:xfrm rot="5400000">
              <a:off x="5757334" y="5472273"/>
              <a:ext cx="279797" cy="319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Arrow Connector 73"/>
            <p:cNvCxnSpPr>
              <a:cxnSpLocks noChangeShapeType="1"/>
            </p:cNvCxnSpPr>
            <p:nvPr/>
          </p:nvCxnSpPr>
          <p:spPr bwMode="auto">
            <a:xfrm rot="5400000">
              <a:off x="6372433" y="5472489"/>
              <a:ext cx="278630" cy="1599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Arrow Connector 76"/>
            <p:cNvCxnSpPr>
              <a:cxnSpLocks noChangeShapeType="1"/>
            </p:cNvCxnSpPr>
            <p:nvPr/>
          </p:nvCxnSpPr>
          <p:spPr bwMode="auto">
            <a:xfrm rot="5400000">
              <a:off x="6908050" y="5472273"/>
              <a:ext cx="279797" cy="3196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Arrow Connector 80"/>
            <p:cNvCxnSpPr>
              <a:cxnSpLocks noChangeShapeType="1"/>
            </p:cNvCxnSpPr>
            <p:nvPr/>
          </p:nvCxnSpPr>
          <p:spPr bwMode="auto">
            <a:xfrm rot="5400000">
              <a:off x="5807452" y="6004102"/>
              <a:ext cx="334590" cy="1599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Arrow Connector 73"/>
            <p:cNvCxnSpPr>
              <a:cxnSpLocks noChangeShapeType="1"/>
            </p:cNvCxnSpPr>
            <p:nvPr/>
          </p:nvCxnSpPr>
          <p:spPr bwMode="auto">
            <a:xfrm>
              <a:off x="6258433" y="5865587"/>
              <a:ext cx="0" cy="306613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Arrow Connector 73"/>
            <p:cNvCxnSpPr>
              <a:cxnSpLocks noChangeShapeType="1"/>
            </p:cNvCxnSpPr>
            <p:nvPr/>
          </p:nvCxnSpPr>
          <p:spPr bwMode="auto">
            <a:xfrm rot="5400000">
              <a:off x="6372433" y="5472490"/>
              <a:ext cx="278630" cy="1599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Arrow Connector 76"/>
            <p:cNvCxnSpPr>
              <a:cxnSpLocks noChangeShapeType="1"/>
            </p:cNvCxnSpPr>
            <p:nvPr/>
          </p:nvCxnSpPr>
          <p:spPr bwMode="auto">
            <a:xfrm rot="5400000">
              <a:off x="6908050" y="5472274"/>
              <a:ext cx="279797" cy="3196"/>
            </a:xfrm>
            <a:prstGeom prst="straightConnector1">
              <a:avLst/>
            </a:prstGeom>
            <a:noFill/>
            <a:ln w="4127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Arrow Connector 80"/>
            <p:cNvCxnSpPr>
              <a:cxnSpLocks noChangeShapeType="1"/>
            </p:cNvCxnSpPr>
            <p:nvPr/>
          </p:nvCxnSpPr>
          <p:spPr bwMode="auto">
            <a:xfrm rot="5400000">
              <a:off x="5807452" y="6004103"/>
              <a:ext cx="334590" cy="1599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Arrow Connector 73"/>
            <p:cNvCxnSpPr>
              <a:cxnSpLocks noChangeShapeType="1"/>
            </p:cNvCxnSpPr>
            <p:nvPr/>
          </p:nvCxnSpPr>
          <p:spPr bwMode="auto">
            <a:xfrm>
              <a:off x="6258433" y="5865588"/>
              <a:ext cx="0" cy="306613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Arrow Connector 73"/>
            <p:cNvCxnSpPr>
              <a:cxnSpLocks noChangeShapeType="1"/>
            </p:cNvCxnSpPr>
            <p:nvPr/>
          </p:nvCxnSpPr>
          <p:spPr bwMode="auto">
            <a:xfrm rot="5400000">
              <a:off x="6372433" y="5472491"/>
              <a:ext cx="278630" cy="1599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Arrow Connector 76"/>
            <p:cNvCxnSpPr>
              <a:cxnSpLocks noChangeShapeType="1"/>
            </p:cNvCxnSpPr>
            <p:nvPr/>
          </p:nvCxnSpPr>
          <p:spPr bwMode="auto">
            <a:xfrm rot="5400000">
              <a:off x="6908050" y="5472275"/>
              <a:ext cx="279797" cy="3196"/>
            </a:xfrm>
            <a:prstGeom prst="straightConnector1">
              <a:avLst/>
            </a:prstGeom>
            <a:noFill/>
            <a:ln w="412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72736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انتقال پشت سر هم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مثال:</a:t>
            </a:r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r>
              <a:rPr lang="fa-IR" dirty="0"/>
              <a:t>سیستم‌های </a:t>
            </a:r>
            <a:r>
              <a:rPr lang="en-US" dirty="0"/>
              <a:t>DRAM</a:t>
            </a:r>
            <a:r>
              <a:rPr lang="fa-IR" dirty="0"/>
              <a:t> مدرن معمولاً همیشه در حالت پشت سر هم کار می‌کنند. اگر دسترسی پردازنده به خانه‌های متوالی نیست، داده‌های اضافی دور ریخته می‌شود.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grpSp>
        <p:nvGrpSpPr>
          <p:cNvPr id="61" name="Group 60"/>
          <p:cNvGrpSpPr/>
          <p:nvPr/>
        </p:nvGrpSpPr>
        <p:grpSpPr>
          <a:xfrm>
            <a:off x="685800" y="1655803"/>
            <a:ext cx="8108219" cy="3033651"/>
            <a:chOff x="-184166" y="1279003"/>
            <a:chExt cx="6290808" cy="2060931"/>
          </a:xfrm>
        </p:grpSpPr>
        <p:cxnSp>
          <p:nvCxnSpPr>
            <p:cNvPr id="43" name="Straight Arrow Connector 4"/>
            <p:cNvCxnSpPr>
              <a:cxnSpLocks noChangeShapeType="1"/>
            </p:cNvCxnSpPr>
            <p:nvPr/>
          </p:nvCxnSpPr>
          <p:spPr bwMode="auto">
            <a:xfrm>
              <a:off x="152400" y="2212293"/>
              <a:ext cx="5750555" cy="0"/>
            </a:xfrm>
            <a:prstGeom prst="straightConnector1">
              <a:avLst/>
            </a:prstGeom>
            <a:noFill/>
            <a:ln w="7620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" name="TextBox 5"/>
            <p:cNvSpPr txBox="1">
              <a:spLocks noChangeArrowheads="1"/>
            </p:cNvSpPr>
            <p:nvPr/>
          </p:nvSpPr>
          <p:spPr bwMode="auto">
            <a:xfrm>
              <a:off x="5723334" y="1936946"/>
              <a:ext cx="383308" cy="219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1500" b="1" kern="0" dirty="0">
                  <a:solidFill>
                    <a:srgbClr val="000000"/>
                  </a:solidFill>
                  <a:cs typeface="B Nazanin" panose="00000400000000000000" pitchFamily="2" charset="-78"/>
                </a:rPr>
                <a:t>زمان</a:t>
              </a:r>
              <a:endPara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B Nazanin" panose="00000400000000000000" pitchFamily="2" charset="-78"/>
              </a:endParaRPr>
            </a:p>
          </p:txBody>
        </p:sp>
        <p:sp>
          <p:nvSpPr>
            <p:cNvPr id="45" name="TextBox 6"/>
            <p:cNvSpPr txBox="1">
              <a:spLocks noChangeArrowheads="1"/>
            </p:cNvSpPr>
            <p:nvPr/>
          </p:nvSpPr>
          <p:spPr bwMode="auto">
            <a:xfrm>
              <a:off x="-184166" y="1279003"/>
              <a:ext cx="1143000" cy="376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1500" b="1" kern="0" dirty="0">
                  <a:solidFill>
                    <a:srgbClr val="000000"/>
                  </a:solidFill>
                  <a:cs typeface="B Nazanin" panose="00000400000000000000" pitchFamily="2" charset="-78"/>
                </a:rPr>
                <a:t>قرار گرفتن آدرس در ورودی دیکدر</a:t>
              </a:r>
              <a:endPara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B Nazanin" panose="00000400000000000000" pitchFamily="2" charset="-78"/>
              </a:endParaRPr>
            </a:p>
          </p:txBody>
        </p:sp>
        <p:cxnSp>
          <p:nvCxnSpPr>
            <p:cNvPr id="46" name="Straight Arrow Connector 10"/>
            <p:cNvCxnSpPr>
              <a:cxnSpLocks noChangeShapeType="1"/>
            </p:cNvCxnSpPr>
            <p:nvPr/>
          </p:nvCxnSpPr>
          <p:spPr bwMode="auto">
            <a:xfrm rot="5400000">
              <a:off x="203002" y="1933090"/>
              <a:ext cx="471488" cy="1191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Straight Arrow Connector 12"/>
            <p:cNvCxnSpPr>
              <a:cxnSpLocks noChangeShapeType="1"/>
            </p:cNvCxnSpPr>
            <p:nvPr/>
          </p:nvCxnSpPr>
          <p:spPr bwMode="auto">
            <a:xfrm>
              <a:off x="438150" y="1997980"/>
              <a:ext cx="1908810" cy="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" name="TextBox 13"/>
            <p:cNvSpPr txBox="1">
              <a:spLocks noChangeArrowheads="1"/>
            </p:cNvSpPr>
            <p:nvPr/>
          </p:nvSpPr>
          <p:spPr bwMode="auto">
            <a:xfrm>
              <a:off x="537083" y="1746423"/>
              <a:ext cx="2057400" cy="219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تأخیر</a:t>
              </a:r>
              <a:r>
                <a:rPr kumimoji="0" lang="fa-IR" sz="1500" b="1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 دسترسی به آرایه هسته</a:t>
              </a:r>
              <a:endPara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B Nazanin" panose="00000400000000000000" pitchFamily="2" charset="-78"/>
              </a:endParaRPr>
            </a:p>
          </p:txBody>
        </p:sp>
        <p:cxnSp>
          <p:nvCxnSpPr>
            <p:cNvPr id="49" name="Straight Arrow Connector 15"/>
            <p:cNvCxnSpPr>
              <a:cxnSpLocks noChangeShapeType="1"/>
            </p:cNvCxnSpPr>
            <p:nvPr/>
          </p:nvCxnSpPr>
          <p:spPr bwMode="auto">
            <a:xfrm>
              <a:off x="2363529" y="2002666"/>
              <a:ext cx="285750" cy="89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" name="TextBox 20"/>
            <p:cNvSpPr txBox="1">
              <a:spLocks noChangeArrowheads="1"/>
            </p:cNvSpPr>
            <p:nvPr/>
          </p:nvSpPr>
          <p:spPr bwMode="auto">
            <a:xfrm>
              <a:off x="2144896" y="1580675"/>
              <a:ext cx="1038738" cy="376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1500" b="1" kern="0" dirty="0">
                  <a:solidFill>
                    <a:srgbClr val="000000"/>
                  </a:solidFill>
                  <a:cs typeface="B Nazanin" panose="00000400000000000000" pitchFamily="2" charset="-78"/>
                </a:rPr>
                <a:t>قرار گرفتن بیت‌ها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1500" b="1" kern="0" dirty="0">
                  <a:solidFill>
                    <a:srgbClr val="000000"/>
                  </a:solidFill>
                  <a:cs typeface="B Nazanin" panose="00000400000000000000" pitchFamily="2" charset="-78"/>
                </a:rPr>
                <a:t> بر روی باس</a:t>
              </a:r>
              <a:endPara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B Nazanin" panose="00000400000000000000" pitchFamily="2" charset="-78"/>
              </a:endParaRPr>
            </a:p>
          </p:txBody>
        </p:sp>
        <p:sp>
          <p:nvSpPr>
            <p:cNvPr id="51" name="Rectangle 23"/>
            <p:cNvSpPr>
              <a:spLocks noChangeArrowheads="1"/>
            </p:cNvSpPr>
            <p:nvPr/>
          </p:nvSpPr>
          <p:spPr bwMode="auto">
            <a:xfrm>
              <a:off x="466725" y="2380103"/>
              <a:ext cx="1885950" cy="128588"/>
            </a:xfrm>
            <a:prstGeom prst="rect">
              <a:avLst/>
            </a:prstGeom>
            <a:solidFill>
              <a:srgbClr val="333333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2" name="Rectangle 24"/>
            <p:cNvSpPr>
              <a:spLocks noChangeArrowheads="1"/>
            </p:cNvSpPr>
            <p:nvPr/>
          </p:nvSpPr>
          <p:spPr bwMode="auto">
            <a:xfrm>
              <a:off x="2352675" y="2380103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3" name="Rectangle 26"/>
            <p:cNvSpPr>
              <a:spLocks noChangeArrowheads="1"/>
            </p:cNvSpPr>
            <p:nvPr/>
          </p:nvSpPr>
          <p:spPr bwMode="auto">
            <a:xfrm>
              <a:off x="2581275" y="2380103"/>
              <a:ext cx="1885950" cy="128588"/>
            </a:xfrm>
            <a:prstGeom prst="rect">
              <a:avLst/>
            </a:prstGeom>
            <a:solidFill>
              <a:srgbClr val="333333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4" name="Rectangle 28"/>
            <p:cNvSpPr>
              <a:spLocks noChangeArrowheads="1"/>
            </p:cNvSpPr>
            <p:nvPr/>
          </p:nvSpPr>
          <p:spPr bwMode="auto">
            <a:xfrm>
              <a:off x="4467225" y="2380103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5" name="Rectangle 29"/>
            <p:cNvSpPr>
              <a:spLocks noChangeArrowheads="1"/>
            </p:cNvSpPr>
            <p:nvPr/>
          </p:nvSpPr>
          <p:spPr bwMode="auto">
            <a:xfrm>
              <a:off x="466725" y="2891484"/>
              <a:ext cx="1885950" cy="128588"/>
            </a:xfrm>
            <a:prstGeom prst="rect">
              <a:avLst/>
            </a:prstGeom>
            <a:solidFill>
              <a:srgbClr val="333333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6" name="Rectangle 30"/>
            <p:cNvSpPr>
              <a:spLocks noChangeArrowheads="1"/>
            </p:cNvSpPr>
            <p:nvPr/>
          </p:nvSpPr>
          <p:spPr bwMode="auto">
            <a:xfrm>
              <a:off x="2352675" y="2891484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7" name="Rectangle 31"/>
            <p:cNvSpPr>
              <a:spLocks noChangeArrowheads="1"/>
            </p:cNvSpPr>
            <p:nvPr/>
          </p:nvSpPr>
          <p:spPr bwMode="auto">
            <a:xfrm>
              <a:off x="2581275" y="2891484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8" name="TextBox 32"/>
            <p:cNvSpPr txBox="1">
              <a:spLocks noChangeArrowheads="1"/>
            </p:cNvSpPr>
            <p:nvPr/>
          </p:nvSpPr>
          <p:spPr bwMode="auto">
            <a:xfrm>
              <a:off x="2346960" y="2541018"/>
              <a:ext cx="291465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Non-burst timing</a:t>
              </a:r>
            </a:p>
          </p:txBody>
        </p:sp>
        <p:sp>
          <p:nvSpPr>
            <p:cNvPr id="59" name="Rectangle 33"/>
            <p:cNvSpPr>
              <a:spLocks noChangeArrowheads="1"/>
            </p:cNvSpPr>
            <p:nvPr/>
          </p:nvSpPr>
          <p:spPr bwMode="auto">
            <a:xfrm>
              <a:off x="2352676" y="3062935"/>
              <a:ext cx="101983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Trebuchet MS"/>
                </a:rPr>
                <a:t>Burst timing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294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</a:t>
            </a:r>
            <a:r>
              <a:rPr lang="fa-IR" dirty="0"/>
              <a:t> با چند بانک حافظه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grpSp>
        <p:nvGrpSpPr>
          <p:cNvPr id="299" name="Group 298"/>
          <p:cNvGrpSpPr/>
          <p:nvPr/>
        </p:nvGrpSpPr>
        <p:grpSpPr>
          <a:xfrm>
            <a:off x="1143000" y="1932265"/>
            <a:ext cx="6972300" cy="3450669"/>
            <a:chOff x="1447800" y="2166937"/>
            <a:chExt cx="5829300" cy="2807732"/>
          </a:xfrm>
        </p:grpSpPr>
        <p:sp>
          <p:nvSpPr>
            <p:cNvPr id="226" name="Rectangle 5"/>
            <p:cNvSpPr>
              <a:spLocks noChangeArrowheads="1"/>
            </p:cNvSpPr>
            <p:nvPr/>
          </p:nvSpPr>
          <p:spPr bwMode="auto">
            <a:xfrm>
              <a:off x="2533650" y="24241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7" name="Rectangle 6"/>
            <p:cNvSpPr>
              <a:spLocks noChangeArrowheads="1"/>
            </p:cNvSpPr>
            <p:nvPr/>
          </p:nvSpPr>
          <p:spPr bwMode="auto">
            <a:xfrm>
              <a:off x="2990850" y="24241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8" name="Rectangle 7"/>
            <p:cNvSpPr>
              <a:spLocks noChangeArrowheads="1"/>
            </p:cNvSpPr>
            <p:nvPr/>
          </p:nvSpPr>
          <p:spPr bwMode="auto">
            <a:xfrm>
              <a:off x="3448050" y="24241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9" name="Rectangle 8"/>
            <p:cNvSpPr>
              <a:spLocks noChangeArrowheads="1"/>
            </p:cNvSpPr>
            <p:nvPr/>
          </p:nvSpPr>
          <p:spPr bwMode="auto">
            <a:xfrm>
              <a:off x="3905250" y="24241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0" name="Rectangle 9"/>
            <p:cNvSpPr>
              <a:spLocks noChangeArrowheads="1"/>
            </p:cNvSpPr>
            <p:nvPr/>
          </p:nvSpPr>
          <p:spPr bwMode="auto">
            <a:xfrm>
              <a:off x="2533650" y="27670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1" name="Rectangle 10"/>
            <p:cNvSpPr>
              <a:spLocks noChangeArrowheads="1"/>
            </p:cNvSpPr>
            <p:nvPr/>
          </p:nvSpPr>
          <p:spPr bwMode="auto">
            <a:xfrm>
              <a:off x="3448050" y="27670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2" name="Rectangle 11"/>
            <p:cNvSpPr>
              <a:spLocks noChangeArrowheads="1"/>
            </p:cNvSpPr>
            <p:nvPr/>
          </p:nvSpPr>
          <p:spPr bwMode="auto">
            <a:xfrm>
              <a:off x="3905250" y="27670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3" name="Rectangle 12"/>
            <p:cNvSpPr>
              <a:spLocks noChangeArrowheads="1"/>
            </p:cNvSpPr>
            <p:nvPr/>
          </p:nvSpPr>
          <p:spPr bwMode="auto">
            <a:xfrm>
              <a:off x="2533650" y="31099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4" name="Rectangle 13"/>
            <p:cNvSpPr>
              <a:spLocks noChangeArrowheads="1"/>
            </p:cNvSpPr>
            <p:nvPr/>
          </p:nvSpPr>
          <p:spPr bwMode="auto">
            <a:xfrm>
              <a:off x="2990850" y="27670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5" name="Rectangle 14"/>
            <p:cNvSpPr>
              <a:spLocks noChangeArrowheads="1"/>
            </p:cNvSpPr>
            <p:nvPr/>
          </p:nvSpPr>
          <p:spPr bwMode="auto">
            <a:xfrm>
              <a:off x="2990850" y="31099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6" name="Rectangle 15"/>
            <p:cNvSpPr>
              <a:spLocks noChangeArrowheads="1"/>
            </p:cNvSpPr>
            <p:nvPr/>
          </p:nvSpPr>
          <p:spPr bwMode="auto">
            <a:xfrm>
              <a:off x="3448050" y="31099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7" name="Rectangle 16"/>
            <p:cNvSpPr>
              <a:spLocks noChangeArrowheads="1"/>
            </p:cNvSpPr>
            <p:nvPr/>
          </p:nvSpPr>
          <p:spPr bwMode="auto">
            <a:xfrm>
              <a:off x="3905250" y="31099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8" name="Rectangle 17"/>
            <p:cNvSpPr>
              <a:spLocks noChangeArrowheads="1"/>
            </p:cNvSpPr>
            <p:nvPr/>
          </p:nvSpPr>
          <p:spPr bwMode="auto">
            <a:xfrm>
              <a:off x="2990850" y="27670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9" name="Rectangle 18"/>
            <p:cNvSpPr>
              <a:spLocks noChangeArrowheads="1"/>
            </p:cNvSpPr>
            <p:nvPr/>
          </p:nvSpPr>
          <p:spPr bwMode="auto">
            <a:xfrm>
              <a:off x="3448050" y="34528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40" name="Rectangle 19"/>
            <p:cNvSpPr>
              <a:spLocks noChangeArrowheads="1"/>
            </p:cNvSpPr>
            <p:nvPr/>
          </p:nvSpPr>
          <p:spPr bwMode="auto">
            <a:xfrm>
              <a:off x="2990850" y="34528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41" name="Rectangle 20"/>
            <p:cNvSpPr>
              <a:spLocks noChangeArrowheads="1"/>
            </p:cNvSpPr>
            <p:nvPr/>
          </p:nvSpPr>
          <p:spPr bwMode="auto">
            <a:xfrm>
              <a:off x="2533650" y="34528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42" name="Rectangle 21"/>
            <p:cNvSpPr>
              <a:spLocks noChangeArrowheads="1"/>
            </p:cNvSpPr>
            <p:nvPr/>
          </p:nvSpPr>
          <p:spPr bwMode="auto">
            <a:xfrm>
              <a:off x="3905250" y="3452812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43" name="Rectangle 22"/>
            <p:cNvSpPr>
              <a:spLocks noChangeArrowheads="1"/>
            </p:cNvSpPr>
            <p:nvPr/>
          </p:nvSpPr>
          <p:spPr bwMode="auto">
            <a:xfrm>
              <a:off x="1733550" y="2424112"/>
              <a:ext cx="457200" cy="13287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244" name="Straight Arrow Connector 23"/>
            <p:cNvCxnSpPr>
              <a:cxnSpLocks noChangeShapeType="1"/>
              <a:endCxn id="229" idx="3"/>
            </p:cNvCxnSpPr>
            <p:nvPr/>
          </p:nvCxnSpPr>
          <p:spPr bwMode="auto">
            <a:xfrm>
              <a:off x="2190750" y="2595563"/>
              <a:ext cx="2171700" cy="89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" name="Straight Arrow Connector 24"/>
            <p:cNvCxnSpPr>
              <a:cxnSpLocks noChangeShapeType="1"/>
              <a:endCxn id="232" idx="3"/>
            </p:cNvCxnSpPr>
            <p:nvPr/>
          </p:nvCxnSpPr>
          <p:spPr bwMode="auto">
            <a:xfrm>
              <a:off x="2190750" y="2938463"/>
              <a:ext cx="2171700" cy="893"/>
            </a:xfrm>
            <a:prstGeom prst="straightConnector1">
              <a:avLst/>
            </a:prstGeom>
            <a:noFill/>
            <a:ln w="3810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" name="Straight Arrow Connector 25"/>
            <p:cNvCxnSpPr>
              <a:cxnSpLocks noChangeShapeType="1"/>
              <a:endCxn id="237" idx="3"/>
            </p:cNvCxnSpPr>
            <p:nvPr/>
          </p:nvCxnSpPr>
          <p:spPr bwMode="auto">
            <a:xfrm>
              <a:off x="2190750" y="3281363"/>
              <a:ext cx="2171700" cy="89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7" name="Straight Arrow Connector 26"/>
            <p:cNvCxnSpPr>
              <a:cxnSpLocks noChangeShapeType="1"/>
              <a:endCxn id="242" idx="3"/>
            </p:cNvCxnSpPr>
            <p:nvPr/>
          </p:nvCxnSpPr>
          <p:spPr bwMode="auto">
            <a:xfrm>
              <a:off x="2190750" y="3624263"/>
              <a:ext cx="2171700" cy="89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8" name="TextBox 27"/>
            <p:cNvSpPr txBox="1">
              <a:spLocks noChangeArrowheads="1"/>
            </p:cNvSpPr>
            <p:nvPr/>
          </p:nvSpPr>
          <p:spPr bwMode="auto">
            <a:xfrm rot="-5400000">
              <a:off x="1544592" y="2836396"/>
              <a:ext cx="838691" cy="36933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</a:rPr>
                <a:t>decode</a:t>
              </a:r>
            </a:p>
          </p:txBody>
        </p:sp>
        <p:sp>
          <p:nvSpPr>
            <p:cNvPr id="249" name="Rectangle 28"/>
            <p:cNvSpPr>
              <a:spLocks noChangeArrowheads="1"/>
            </p:cNvSpPr>
            <p:nvPr/>
          </p:nvSpPr>
          <p:spPr bwMode="auto">
            <a:xfrm>
              <a:off x="2533650" y="4052887"/>
              <a:ext cx="1885950" cy="2571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Sense amps</a:t>
              </a:r>
            </a:p>
          </p:txBody>
        </p:sp>
        <p:cxnSp>
          <p:nvCxnSpPr>
            <p:cNvPr id="250" name="Straight Arrow Connector 29"/>
            <p:cNvCxnSpPr>
              <a:cxnSpLocks noChangeShapeType="1"/>
            </p:cNvCxnSpPr>
            <p:nvPr/>
          </p:nvCxnSpPr>
          <p:spPr bwMode="auto">
            <a:xfrm rot="5400000">
              <a:off x="1748433" y="3109317"/>
              <a:ext cx="1800225" cy="1191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1" name="Straight Arrow Connector 30"/>
            <p:cNvCxnSpPr>
              <a:cxnSpLocks noChangeShapeType="1"/>
            </p:cNvCxnSpPr>
            <p:nvPr/>
          </p:nvCxnSpPr>
          <p:spPr bwMode="auto">
            <a:xfrm rot="5400000">
              <a:off x="2261147" y="3109764"/>
              <a:ext cx="1801118" cy="119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2" name="Straight Arrow Connector 31"/>
            <p:cNvCxnSpPr>
              <a:cxnSpLocks noChangeShapeType="1"/>
            </p:cNvCxnSpPr>
            <p:nvPr/>
          </p:nvCxnSpPr>
          <p:spPr bwMode="auto">
            <a:xfrm rot="5400000">
              <a:off x="2719537" y="3109764"/>
              <a:ext cx="1801118" cy="1191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3" name="Straight Arrow Connector 32"/>
            <p:cNvCxnSpPr>
              <a:cxnSpLocks noChangeShapeType="1"/>
            </p:cNvCxnSpPr>
            <p:nvPr/>
          </p:nvCxnSpPr>
          <p:spPr bwMode="auto">
            <a:xfrm rot="5400000">
              <a:off x="3119587" y="3109764"/>
              <a:ext cx="1801118" cy="1191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4" name="AutoShape 11"/>
            <p:cNvSpPr>
              <a:spLocks noChangeArrowheads="1"/>
            </p:cNvSpPr>
            <p:nvPr/>
          </p:nvSpPr>
          <p:spPr bwMode="auto">
            <a:xfrm>
              <a:off x="2533650" y="4524375"/>
              <a:ext cx="1771650" cy="1714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31 w 21600"/>
                <a:gd name="T13" fmla="*/ 4431 h 21600"/>
                <a:gd name="T14" fmla="*/ 17169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62" y="21600"/>
                  </a:lnTo>
                  <a:lnTo>
                    <a:pt x="1633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Mux</a:t>
              </a:r>
            </a:p>
          </p:txBody>
        </p:sp>
        <p:cxnSp>
          <p:nvCxnSpPr>
            <p:cNvPr id="255" name="Straight Arrow Connector 34"/>
            <p:cNvCxnSpPr>
              <a:cxnSpLocks noChangeShapeType="1"/>
            </p:cNvCxnSpPr>
            <p:nvPr/>
          </p:nvCxnSpPr>
          <p:spPr bwMode="auto">
            <a:xfrm rot="5400000">
              <a:off x="2540794" y="4416922"/>
              <a:ext cx="214313" cy="238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" name="Straight Arrow Connector 35"/>
            <p:cNvCxnSpPr>
              <a:cxnSpLocks noChangeShapeType="1"/>
            </p:cNvCxnSpPr>
            <p:nvPr/>
          </p:nvCxnSpPr>
          <p:spPr bwMode="auto">
            <a:xfrm rot="5400000">
              <a:off x="3055144" y="4416922"/>
              <a:ext cx="214313" cy="238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" name="Straight Arrow Connector 36"/>
            <p:cNvCxnSpPr>
              <a:cxnSpLocks noChangeShapeType="1"/>
            </p:cNvCxnSpPr>
            <p:nvPr/>
          </p:nvCxnSpPr>
          <p:spPr bwMode="auto">
            <a:xfrm rot="5400000">
              <a:off x="3513387" y="4417070"/>
              <a:ext cx="213419" cy="119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8" name="Straight Arrow Connector 37"/>
            <p:cNvCxnSpPr>
              <a:cxnSpLocks noChangeShapeType="1"/>
            </p:cNvCxnSpPr>
            <p:nvPr/>
          </p:nvCxnSpPr>
          <p:spPr bwMode="auto">
            <a:xfrm rot="5400000">
              <a:off x="3912394" y="4416922"/>
              <a:ext cx="214313" cy="238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9" name="Straight Arrow Connector 38"/>
            <p:cNvCxnSpPr>
              <a:cxnSpLocks noChangeShapeType="1"/>
            </p:cNvCxnSpPr>
            <p:nvPr/>
          </p:nvCxnSpPr>
          <p:spPr bwMode="auto">
            <a:xfrm rot="5400000">
              <a:off x="3091905" y="4824264"/>
              <a:ext cx="256282" cy="119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0" name="Straight Arrow Connector 259"/>
            <p:cNvCxnSpPr/>
            <p:nvPr/>
          </p:nvCxnSpPr>
          <p:spPr bwMode="auto">
            <a:xfrm rot="5400000">
              <a:off x="3377655" y="4824264"/>
              <a:ext cx="256282" cy="119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1" name="Straight Arrow Connector 41"/>
            <p:cNvCxnSpPr>
              <a:cxnSpLocks noChangeShapeType="1"/>
            </p:cNvCxnSpPr>
            <p:nvPr/>
          </p:nvCxnSpPr>
          <p:spPr bwMode="auto">
            <a:xfrm>
              <a:off x="1447800" y="4953000"/>
              <a:ext cx="5829300" cy="893"/>
            </a:xfrm>
            <a:prstGeom prst="straightConnector1">
              <a:avLst/>
            </a:prstGeom>
            <a:noFill/>
            <a:ln w="3810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2" name="Rectangle 42"/>
            <p:cNvSpPr>
              <a:spLocks noChangeArrowheads="1"/>
            </p:cNvSpPr>
            <p:nvPr/>
          </p:nvSpPr>
          <p:spPr bwMode="auto">
            <a:xfrm>
              <a:off x="5391150" y="23812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63" name="Rectangle 43"/>
            <p:cNvSpPr>
              <a:spLocks noChangeArrowheads="1"/>
            </p:cNvSpPr>
            <p:nvPr/>
          </p:nvSpPr>
          <p:spPr bwMode="auto">
            <a:xfrm>
              <a:off x="5848350" y="23812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64" name="Rectangle 44"/>
            <p:cNvSpPr>
              <a:spLocks noChangeArrowheads="1"/>
            </p:cNvSpPr>
            <p:nvPr/>
          </p:nvSpPr>
          <p:spPr bwMode="auto">
            <a:xfrm>
              <a:off x="6305550" y="23812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65" name="Rectangle 45"/>
            <p:cNvSpPr>
              <a:spLocks noChangeArrowheads="1"/>
            </p:cNvSpPr>
            <p:nvPr/>
          </p:nvSpPr>
          <p:spPr bwMode="auto">
            <a:xfrm>
              <a:off x="6762750" y="23812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66" name="Rectangle 46"/>
            <p:cNvSpPr>
              <a:spLocks noChangeArrowheads="1"/>
            </p:cNvSpPr>
            <p:nvPr/>
          </p:nvSpPr>
          <p:spPr bwMode="auto">
            <a:xfrm>
              <a:off x="5391150" y="27241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67" name="Rectangle 47"/>
            <p:cNvSpPr>
              <a:spLocks noChangeArrowheads="1"/>
            </p:cNvSpPr>
            <p:nvPr/>
          </p:nvSpPr>
          <p:spPr bwMode="auto">
            <a:xfrm>
              <a:off x="6305550" y="27241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68" name="Rectangle 48"/>
            <p:cNvSpPr>
              <a:spLocks noChangeArrowheads="1"/>
            </p:cNvSpPr>
            <p:nvPr/>
          </p:nvSpPr>
          <p:spPr bwMode="auto">
            <a:xfrm>
              <a:off x="6762750" y="27241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69" name="Rectangle 49"/>
            <p:cNvSpPr>
              <a:spLocks noChangeArrowheads="1"/>
            </p:cNvSpPr>
            <p:nvPr/>
          </p:nvSpPr>
          <p:spPr bwMode="auto">
            <a:xfrm>
              <a:off x="5391150" y="30670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0" name="Rectangle 50"/>
            <p:cNvSpPr>
              <a:spLocks noChangeArrowheads="1"/>
            </p:cNvSpPr>
            <p:nvPr/>
          </p:nvSpPr>
          <p:spPr bwMode="auto">
            <a:xfrm>
              <a:off x="5848350" y="27241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1" name="Rectangle 51"/>
            <p:cNvSpPr>
              <a:spLocks noChangeArrowheads="1"/>
            </p:cNvSpPr>
            <p:nvPr/>
          </p:nvSpPr>
          <p:spPr bwMode="auto">
            <a:xfrm>
              <a:off x="5848350" y="30670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2" name="Rectangle 52"/>
            <p:cNvSpPr>
              <a:spLocks noChangeArrowheads="1"/>
            </p:cNvSpPr>
            <p:nvPr/>
          </p:nvSpPr>
          <p:spPr bwMode="auto">
            <a:xfrm>
              <a:off x="6305550" y="30670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3" name="Rectangle 53"/>
            <p:cNvSpPr>
              <a:spLocks noChangeArrowheads="1"/>
            </p:cNvSpPr>
            <p:nvPr/>
          </p:nvSpPr>
          <p:spPr bwMode="auto">
            <a:xfrm>
              <a:off x="6762750" y="30670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4" name="Rectangle 54"/>
            <p:cNvSpPr>
              <a:spLocks noChangeArrowheads="1"/>
            </p:cNvSpPr>
            <p:nvPr/>
          </p:nvSpPr>
          <p:spPr bwMode="auto">
            <a:xfrm>
              <a:off x="5848350" y="27241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5" name="Rectangle 55"/>
            <p:cNvSpPr>
              <a:spLocks noChangeArrowheads="1"/>
            </p:cNvSpPr>
            <p:nvPr/>
          </p:nvSpPr>
          <p:spPr bwMode="auto">
            <a:xfrm>
              <a:off x="6305550" y="34099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6" name="Rectangle 56"/>
            <p:cNvSpPr>
              <a:spLocks noChangeArrowheads="1"/>
            </p:cNvSpPr>
            <p:nvPr/>
          </p:nvSpPr>
          <p:spPr bwMode="auto">
            <a:xfrm>
              <a:off x="5848350" y="34099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7" name="Rectangle 57"/>
            <p:cNvSpPr>
              <a:spLocks noChangeArrowheads="1"/>
            </p:cNvSpPr>
            <p:nvPr/>
          </p:nvSpPr>
          <p:spPr bwMode="auto">
            <a:xfrm>
              <a:off x="5391150" y="34099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8" name="Rectangle 58"/>
            <p:cNvSpPr>
              <a:spLocks noChangeArrowheads="1"/>
            </p:cNvSpPr>
            <p:nvPr/>
          </p:nvSpPr>
          <p:spPr bwMode="auto">
            <a:xfrm>
              <a:off x="6762750" y="3409950"/>
              <a:ext cx="457200" cy="3429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9" name="Rectangle 59"/>
            <p:cNvSpPr>
              <a:spLocks noChangeArrowheads="1"/>
            </p:cNvSpPr>
            <p:nvPr/>
          </p:nvSpPr>
          <p:spPr bwMode="auto">
            <a:xfrm>
              <a:off x="4591050" y="2381249"/>
              <a:ext cx="457200" cy="13287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280" name="Straight Arrow Connector 60"/>
            <p:cNvCxnSpPr>
              <a:cxnSpLocks noChangeShapeType="1"/>
              <a:endCxn id="265" idx="3"/>
            </p:cNvCxnSpPr>
            <p:nvPr/>
          </p:nvCxnSpPr>
          <p:spPr bwMode="auto">
            <a:xfrm>
              <a:off x="5048250" y="2552700"/>
              <a:ext cx="2171700" cy="89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1" name="Straight Arrow Connector 61"/>
            <p:cNvCxnSpPr>
              <a:cxnSpLocks noChangeShapeType="1"/>
              <a:endCxn id="268" idx="3"/>
            </p:cNvCxnSpPr>
            <p:nvPr/>
          </p:nvCxnSpPr>
          <p:spPr bwMode="auto">
            <a:xfrm>
              <a:off x="5048250" y="2895600"/>
              <a:ext cx="2171700" cy="893"/>
            </a:xfrm>
            <a:prstGeom prst="straightConnector1">
              <a:avLst/>
            </a:prstGeom>
            <a:noFill/>
            <a:ln w="3810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2" name="Straight Arrow Connector 62"/>
            <p:cNvCxnSpPr>
              <a:cxnSpLocks noChangeShapeType="1"/>
              <a:endCxn id="273" idx="3"/>
            </p:cNvCxnSpPr>
            <p:nvPr/>
          </p:nvCxnSpPr>
          <p:spPr bwMode="auto">
            <a:xfrm>
              <a:off x="5048250" y="3238500"/>
              <a:ext cx="2171700" cy="89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3" name="Straight Arrow Connector 63"/>
            <p:cNvCxnSpPr>
              <a:cxnSpLocks noChangeShapeType="1"/>
              <a:endCxn id="278" idx="3"/>
            </p:cNvCxnSpPr>
            <p:nvPr/>
          </p:nvCxnSpPr>
          <p:spPr bwMode="auto">
            <a:xfrm>
              <a:off x="5048250" y="3581400"/>
              <a:ext cx="2171700" cy="89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4" name="TextBox 64"/>
            <p:cNvSpPr txBox="1">
              <a:spLocks noChangeArrowheads="1"/>
            </p:cNvSpPr>
            <p:nvPr/>
          </p:nvSpPr>
          <p:spPr bwMode="auto">
            <a:xfrm rot="-5400000">
              <a:off x="4402092" y="2793534"/>
              <a:ext cx="838691" cy="36933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</a:rPr>
                <a:t>decode</a:t>
              </a:r>
            </a:p>
          </p:txBody>
        </p:sp>
        <p:sp>
          <p:nvSpPr>
            <p:cNvPr id="285" name="Rectangle 65"/>
            <p:cNvSpPr>
              <a:spLocks noChangeArrowheads="1"/>
            </p:cNvSpPr>
            <p:nvPr/>
          </p:nvSpPr>
          <p:spPr bwMode="auto">
            <a:xfrm>
              <a:off x="5391150" y="4010025"/>
              <a:ext cx="1885950" cy="2571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Sense amps</a:t>
              </a:r>
            </a:p>
          </p:txBody>
        </p:sp>
        <p:cxnSp>
          <p:nvCxnSpPr>
            <p:cNvPr id="286" name="Straight Arrow Connector 66"/>
            <p:cNvCxnSpPr>
              <a:cxnSpLocks noChangeShapeType="1"/>
            </p:cNvCxnSpPr>
            <p:nvPr/>
          </p:nvCxnSpPr>
          <p:spPr bwMode="auto">
            <a:xfrm rot="5400000">
              <a:off x="4605933" y="3066454"/>
              <a:ext cx="1800225" cy="1191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" name="Straight Arrow Connector 67"/>
            <p:cNvCxnSpPr>
              <a:cxnSpLocks noChangeShapeType="1"/>
            </p:cNvCxnSpPr>
            <p:nvPr/>
          </p:nvCxnSpPr>
          <p:spPr bwMode="auto">
            <a:xfrm rot="5400000">
              <a:off x="5118647" y="3066902"/>
              <a:ext cx="1801118" cy="119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" name="Straight Arrow Connector 68"/>
            <p:cNvCxnSpPr>
              <a:cxnSpLocks noChangeShapeType="1"/>
            </p:cNvCxnSpPr>
            <p:nvPr/>
          </p:nvCxnSpPr>
          <p:spPr bwMode="auto">
            <a:xfrm rot="5400000">
              <a:off x="5577037" y="3066901"/>
              <a:ext cx="1801118" cy="1191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" name="Straight Arrow Connector 69"/>
            <p:cNvCxnSpPr>
              <a:cxnSpLocks noChangeShapeType="1"/>
            </p:cNvCxnSpPr>
            <p:nvPr/>
          </p:nvCxnSpPr>
          <p:spPr bwMode="auto">
            <a:xfrm rot="5400000">
              <a:off x="5977087" y="3066901"/>
              <a:ext cx="1801118" cy="1191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0" name="AutoShape 11"/>
            <p:cNvSpPr>
              <a:spLocks noChangeArrowheads="1"/>
            </p:cNvSpPr>
            <p:nvPr/>
          </p:nvSpPr>
          <p:spPr bwMode="auto">
            <a:xfrm>
              <a:off x="5391150" y="4481512"/>
              <a:ext cx="1771650" cy="1714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31 w 21600"/>
                <a:gd name="T13" fmla="*/ 4431 h 21600"/>
                <a:gd name="T14" fmla="*/ 17169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62" y="21600"/>
                  </a:lnTo>
                  <a:lnTo>
                    <a:pt x="1633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Mux</a:t>
              </a:r>
            </a:p>
          </p:txBody>
        </p:sp>
        <p:cxnSp>
          <p:nvCxnSpPr>
            <p:cNvPr id="291" name="Straight Arrow Connector 71"/>
            <p:cNvCxnSpPr>
              <a:cxnSpLocks noChangeShapeType="1"/>
            </p:cNvCxnSpPr>
            <p:nvPr/>
          </p:nvCxnSpPr>
          <p:spPr bwMode="auto">
            <a:xfrm rot="5400000">
              <a:off x="5398294" y="4374059"/>
              <a:ext cx="214313" cy="238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2" name="Straight Arrow Connector 72"/>
            <p:cNvCxnSpPr>
              <a:cxnSpLocks noChangeShapeType="1"/>
            </p:cNvCxnSpPr>
            <p:nvPr/>
          </p:nvCxnSpPr>
          <p:spPr bwMode="auto">
            <a:xfrm rot="5400000">
              <a:off x="5912644" y="4374059"/>
              <a:ext cx="214313" cy="238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3" name="Straight Arrow Connector 73"/>
            <p:cNvCxnSpPr>
              <a:cxnSpLocks noChangeShapeType="1"/>
            </p:cNvCxnSpPr>
            <p:nvPr/>
          </p:nvCxnSpPr>
          <p:spPr bwMode="auto">
            <a:xfrm rot="5400000">
              <a:off x="6370887" y="4374207"/>
              <a:ext cx="213419" cy="119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4" name="Straight Arrow Connector 74"/>
            <p:cNvCxnSpPr>
              <a:cxnSpLocks noChangeShapeType="1"/>
            </p:cNvCxnSpPr>
            <p:nvPr/>
          </p:nvCxnSpPr>
          <p:spPr bwMode="auto">
            <a:xfrm rot="5400000">
              <a:off x="6769894" y="4374059"/>
              <a:ext cx="214313" cy="238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5" name="Straight Arrow Connector 75"/>
            <p:cNvCxnSpPr>
              <a:cxnSpLocks noChangeShapeType="1"/>
            </p:cNvCxnSpPr>
            <p:nvPr/>
          </p:nvCxnSpPr>
          <p:spPr bwMode="auto">
            <a:xfrm rot="5400000">
              <a:off x="5949405" y="4781401"/>
              <a:ext cx="256282" cy="119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6" name="Straight Arrow Connector 295"/>
            <p:cNvCxnSpPr/>
            <p:nvPr/>
          </p:nvCxnSpPr>
          <p:spPr bwMode="auto">
            <a:xfrm rot="5400000">
              <a:off x="6235155" y="4781401"/>
              <a:ext cx="256282" cy="1191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" name="TextBox 81"/>
            <p:cNvSpPr txBox="1">
              <a:spLocks noChangeArrowheads="1"/>
            </p:cNvSpPr>
            <p:nvPr/>
          </p:nvSpPr>
          <p:spPr bwMode="auto">
            <a:xfrm>
              <a:off x="2076451" y="4605337"/>
              <a:ext cx="84510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</a:rPr>
                <a:t>Bank 0</a:t>
              </a:r>
            </a:p>
          </p:txBody>
        </p:sp>
        <p:sp>
          <p:nvSpPr>
            <p:cNvPr id="298" name="TextBox 82"/>
            <p:cNvSpPr txBox="1">
              <a:spLocks noChangeArrowheads="1"/>
            </p:cNvSpPr>
            <p:nvPr/>
          </p:nvSpPr>
          <p:spPr bwMode="auto">
            <a:xfrm>
              <a:off x="4933951" y="4605337"/>
              <a:ext cx="84510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sz="2400">
                  <a:solidFill>
                    <a:schemeClr val="bg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</a:rPr>
                <a:t>Bank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8950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</a:t>
            </a:r>
            <a:r>
              <a:rPr lang="fa-IR" dirty="0"/>
              <a:t> با چند بانک و چند کانال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ارسال و دریافت داده بر روی کانال‌ها به صورت موازی با هم انجام می‌شود.</a:t>
            </a:r>
          </a:p>
          <a:p>
            <a:r>
              <a:rPr lang="fa-IR" dirty="0"/>
              <a:t>ارسال و دریافت بانکها بر روی هر کانال به صورت یکی در میان انجام می‌شود.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790" y="3235365"/>
            <a:ext cx="7411610" cy="278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62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انتقال پشت سر هم با چند بانک حافظه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114097" y="2819403"/>
            <a:ext cx="7258050" cy="2514597"/>
            <a:chOff x="2057400" y="3276600"/>
            <a:chExt cx="5657850" cy="1878324"/>
          </a:xfrm>
        </p:grpSpPr>
        <p:sp>
          <p:nvSpPr>
            <p:cNvPr id="114" name="Rectangle 29"/>
            <p:cNvSpPr>
              <a:spLocks noChangeArrowheads="1"/>
            </p:cNvSpPr>
            <p:nvPr/>
          </p:nvSpPr>
          <p:spPr bwMode="auto">
            <a:xfrm>
              <a:off x="2057400" y="3276600"/>
              <a:ext cx="1885950" cy="128588"/>
            </a:xfrm>
            <a:prstGeom prst="rect">
              <a:avLst/>
            </a:prstGeom>
            <a:solidFill>
              <a:srgbClr val="333333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5" name="Rectangle 30"/>
            <p:cNvSpPr>
              <a:spLocks noChangeArrowheads="1"/>
            </p:cNvSpPr>
            <p:nvPr/>
          </p:nvSpPr>
          <p:spPr bwMode="auto">
            <a:xfrm>
              <a:off x="3943350" y="327660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6" name="Rectangle 31"/>
            <p:cNvSpPr>
              <a:spLocks noChangeArrowheads="1"/>
            </p:cNvSpPr>
            <p:nvPr/>
          </p:nvSpPr>
          <p:spPr bwMode="auto">
            <a:xfrm>
              <a:off x="4171950" y="327660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7" name="Rectangle 33"/>
            <p:cNvSpPr>
              <a:spLocks noChangeArrowheads="1"/>
            </p:cNvSpPr>
            <p:nvPr/>
          </p:nvSpPr>
          <p:spPr bwMode="auto">
            <a:xfrm>
              <a:off x="3143250" y="3547475"/>
              <a:ext cx="3635292" cy="241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fa-IR" sz="1500" b="1" dirty="0">
                  <a:solidFill>
                    <a:srgbClr val="000000"/>
                  </a:solidFill>
                  <a:latin typeface="Trebuchet MS"/>
                  <a:cs typeface="B Nazanin" panose="00000400000000000000" pitchFamily="2" charset="-78"/>
                </a:rPr>
                <a:t>انتقال پشت سر هم با یک بانک منجر به ایجاد زمان‌های مرده می‌شود.</a:t>
              </a:r>
              <a:endParaRPr lang="en-US" sz="1500" b="1" dirty="0">
                <a:solidFill>
                  <a:srgbClr val="000000"/>
                </a:solidFill>
                <a:latin typeface="Trebuchet MS"/>
                <a:cs typeface="B Nazanin" panose="00000400000000000000" pitchFamily="2" charset="-78"/>
              </a:endParaRPr>
            </a:p>
          </p:txBody>
        </p:sp>
        <p:sp>
          <p:nvSpPr>
            <p:cNvPr id="118" name="Rectangle 25"/>
            <p:cNvSpPr>
              <a:spLocks noChangeArrowheads="1"/>
            </p:cNvSpPr>
            <p:nvPr/>
          </p:nvSpPr>
          <p:spPr bwMode="auto">
            <a:xfrm>
              <a:off x="4400550" y="327660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9" name="Rectangle 27"/>
            <p:cNvSpPr>
              <a:spLocks noChangeArrowheads="1"/>
            </p:cNvSpPr>
            <p:nvPr/>
          </p:nvSpPr>
          <p:spPr bwMode="auto">
            <a:xfrm>
              <a:off x="4629150" y="327660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0" name="Rectangle 36"/>
            <p:cNvSpPr>
              <a:spLocks noChangeArrowheads="1"/>
            </p:cNvSpPr>
            <p:nvPr/>
          </p:nvSpPr>
          <p:spPr bwMode="auto">
            <a:xfrm>
              <a:off x="4857750" y="3276600"/>
              <a:ext cx="1885950" cy="128588"/>
            </a:xfrm>
            <a:prstGeom prst="rect">
              <a:avLst/>
            </a:prstGeom>
            <a:solidFill>
              <a:srgbClr val="333333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1" name="Rectangle 37"/>
            <p:cNvSpPr>
              <a:spLocks noChangeArrowheads="1"/>
            </p:cNvSpPr>
            <p:nvPr/>
          </p:nvSpPr>
          <p:spPr bwMode="auto">
            <a:xfrm>
              <a:off x="6743700" y="327660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2" name="Rectangle 38"/>
            <p:cNvSpPr>
              <a:spLocks noChangeArrowheads="1"/>
            </p:cNvSpPr>
            <p:nvPr/>
          </p:nvSpPr>
          <p:spPr bwMode="auto">
            <a:xfrm>
              <a:off x="6972300" y="327660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3" name="Rectangle 39"/>
            <p:cNvSpPr>
              <a:spLocks noChangeArrowheads="1"/>
            </p:cNvSpPr>
            <p:nvPr/>
          </p:nvSpPr>
          <p:spPr bwMode="auto">
            <a:xfrm>
              <a:off x="7200900" y="327660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4" name="Rectangle 40"/>
            <p:cNvSpPr>
              <a:spLocks noChangeArrowheads="1"/>
            </p:cNvSpPr>
            <p:nvPr/>
          </p:nvSpPr>
          <p:spPr bwMode="auto">
            <a:xfrm>
              <a:off x="7429500" y="327660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5" name="Rectangle 41"/>
            <p:cNvSpPr>
              <a:spLocks noChangeArrowheads="1"/>
            </p:cNvSpPr>
            <p:nvPr/>
          </p:nvSpPr>
          <p:spPr bwMode="auto">
            <a:xfrm>
              <a:off x="2057400" y="4370560"/>
              <a:ext cx="1885950" cy="128588"/>
            </a:xfrm>
            <a:prstGeom prst="rect">
              <a:avLst/>
            </a:prstGeom>
            <a:solidFill>
              <a:srgbClr val="333333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6" name="Rectangle 42"/>
            <p:cNvSpPr>
              <a:spLocks noChangeArrowheads="1"/>
            </p:cNvSpPr>
            <p:nvPr/>
          </p:nvSpPr>
          <p:spPr bwMode="auto">
            <a:xfrm>
              <a:off x="3943350" y="437056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7" name="Rectangle 43"/>
            <p:cNvSpPr>
              <a:spLocks noChangeArrowheads="1"/>
            </p:cNvSpPr>
            <p:nvPr/>
          </p:nvSpPr>
          <p:spPr bwMode="auto">
            <a:xfrm>
              <a:off x="4171950" y="437056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8" name="Rectangle 44"/>
            <p:cNvSpPr>
              <a:spLocks noChangeArrowheads="1"/>
            </p:cNvSpPr>
            <p:nvPr/>
          </p:nvSpPr>
          <p:spPr bwMode="auto">
            <a:xfrm>
              <a:off x="4400550" y="437056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9" name="Rectangle 45"/>
            <p:cNvSpPr>
              <a:spLocks noChangeArrowheads="1"/>
            </p:cNvSpPr>
            <p:nvPr/>
          </p:nvSpPr>
          <p:spPr bwMode="auto">
            <a:xfrm>
              <a:off x="4629150" y="437056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0" name="Rectangle 46"/>
            <p:cNvSpPr>
              <a:spLocks noChangeArrowheads="1"/>
            </p:cNvSpPr>
            <p:nvPr/>
          </p:nvSpPr>
          <p:spPr bwMode="auto">
            <a:xfrm>
              <a:off x="4857750" y="4370560"/>
              <a:ext cx="1885950" cy="128588"/>
            </a:xfrm>
            <a:prstGeom prst="rect">
              <a:avLst/>
            </a:prstGeom>
            <a:solidFill>
              <a:srgbClr val="333333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1" name="Rectangle 47"/>
            <p:cNvSpPr>
              <a:spLocks noChangeArrowheads="1"/>
            </p:cNvSpPr>
            <p:nvPr/>
          </p:nvSpPr>
          <p:spPr bwMode="auto">
            <a:xfrm>
              <a:off x="6743700" y="437056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2" name="Rectangle 48"/>
            <p:cNvSpPr>
              <a:spLocks noChangeArrowheads="1"/>
            </p:cNvSpPr>
            <p:nvPr/>
          </p:nvSpPr>
          <p:spPr bwMode="auto">
            <a:xfrm>
              <a:off x="6972300" y="437056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3" name="Rectangle 49"/>
            <p:cNvSpPr>
              <a:spLocks noChangeArrowheads="1"/>
            </p:cNvSpPr>
            <p:nvPr/>
          </p:nvSpPr>
          <p:spPr bwMode="auto">
            <a:xfrm>
              <a:off x="7200900" y="437056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4" name="Rectangle 50"/>
            <p:cNvSpPr>
              <a:spLocks noChangeArrowheads="1"/>
            </p:cNvSpPr>
            <p:nvPr/>
          </p:nvSpPr>
          <p:spPr bwMode="auto">
            <a:xfrm>
              <a:off x="7429500" y="4370560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5" name="Rectangle 51"/>
            <p:cNvSpPr>
              <a:spLocks noChangeArrowheads="1"/>
            </p:cNvSpPr>
            <p:nvPr/>
          </p:nvSpPr>
          <p:spPr bwMode="auto">
            <a:xfrm>
              <a:off x="2057400" y="4670598"/>
              <a:ext cx="971550" cy="128588"/>
            </a:xfrm>
            <a:prstGeom prst="rect">
              <a:avLst/>
            </a:prstGeom>
            <a:solidFill>
              <a:srgbClr val="333333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6" name="Rectangle 52"/>
            <p:cNvSpPr>
              <a:spLocks noChangeArrowheads="1"/>
            </p:cNvSpPr>
            <p:nvPr/>
          </p:nvSpPr>
          <p:spPr bwMode="auto">
            <a:xfrm>
              <a:off x="3028950" y="4670598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7" name="Rectangle 53"/>
            <p:cNvSpPr>
              <a:spLocks noChangeArrowheads="1"/>
            </p:cNvSpPr>
            <p:nvPr/>
          </p:nvSpPr>
          <p:spPr bwMode="auto">
            <a:xfrm>
              <a:off x="3257550" y="4670598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8" name="Rectangle 54"/>
            <p:cNvSpPr>
              <a:spLocks noChangeArrowheads="1"/>
            </p:cNvSpPr>
            <p:nvPr/>
          </p:nvSpPr>
          <p:spPr bwMode="auto">
            <a:xfrm>
              <a:off x="3486150" y="4670598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9" name="Rectangle 55"/>
            <p:cNvSpPr>
              <a:spLocks noChangeArrowheads="1"/>
            </p:cNvSpPr>
            <p:nvPr/>
          </p:nvSpPr>
          <p:spPr bwMode="auto">
            <a:xfrm>
              <a:off x="3714750" y="4670598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0" name="Rectangle 56"/>
            <p:cNvSpPr>
              <a:spLocks noChangeArrowheads="1"/>
            </p:cNvSpPr>
            <p:nvPr/>
          </p:nvSpPr>
          <p:spPr bwMode="auto">
            <a:xfrm>
              <a:off x="3943350" y="4670598"/>
              <a:ext cx="1885950" cy="128588"/>
            </a:xfrm>
            <a:prstGeom prst="rect">
              <a:avLst/>
            </a:prstGeom>
            <a:solidFill>
              <a:srgbClr val="333333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1" name="Rectangle 57"/>
            <p:cNvSpPr>
              <a:spLocks noChangeArrowheads="1"/>
            </p:cNvSpPr>
            <p:nvPr/>
          </p:nvSpPr>
          <p:spPr bwMode="auto">
            <a:xfrm>
              <a:off x="5829300" y="4670598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2" name="Rectangle 58"/>
            <p:cNvSpPr>
              <a:spLocks noChangeArrowheads="1"/>
            </p:cNvSpPr>
            <p:nvPr/>
          </p:nvSpPr>
          <p:spPr bwMode="auto">
            <a:xfrm>
              <a:off x="6057900" y="4670598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3" name="Rectangle 59"/>
            <p:cNvSpPr>
              <a:spLocks noChangeArrowheads="1"/>
            </p:cNvSpPr>
            <p:nvPr/>
          </p:nvSpPr>
          <p:spPr bwMode="auto">
            <a:xfrm>
              <a:off x="6286500" y="4670598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4" name="Rectangle 60"/>
            <p:cNvSpPr>
              <a:spLocks noChangeArrowheads="1"/>
            </p:cNvSpPr>
            <p:nvPr/>
          </p:nvSpPr>
          <p:spPr bwMode="auto">
            <a:xfrm>
              <a:off x="6515100" y="4670598"/>
              <a:ext cx="228600" cy="128588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5" name="Rectangle 61"/>
            <p:cNvSpPr>
              <a:spLocks noChangeArrowheads="1"/>
            </p:cNvSpPr>
            <p:nvPr/>
          </p:nvSpPr>
          <p:spPr bwMode="auto">
            <a:xfrm>
              <a:off x="6743700" y="4670598"/>
              <a:ext cx="971550" cy="128588"/>
            </a:xfrm>
            <a:prstGeom prst="rect">
              <a:avLst/>
            </a:prstGeom>
            <a:solidFill>
              <a:srgbClr val="333333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6" name="Rectangle 62"/>
            <p:cNvSpPr>
              <a:spLocks noChangeArrowheads="1"/>
            </p:cNvSpPr>
            <p:nvPr/>
          </p:nvSpPr>
          <p:spPr bwMode="auto">
            <a:xfrm>
              <a:off x="2970931" y="4913530"/>
              <a:ext cx="4130128" cy="241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fa-IR" sz="1500" b="1" dirty="0">
                  <a:solidFill>
                    <a:srgbClr val="000000"/>
                  </a:solidFill>
                  <a:latin typeface="Trebuchet MS"/>
                  <a:cs typeface="B Nazanin" panose="00000400000000000000" pitchFamily="2" charset="-78"/>
                </a:rPr>
                <a:t>ادغام مکانیزم انتقال پشت سر هم با چند بانک، زمان‌های مرده را کاهش می‌دهد.</a:t>
              </a:r>
              <a:endParaRPr lang="en-US" sz="1500" b="1" dirty="0">
                <a:solidFill>
                  <a:srgbClr val="000000"/>
                </a:solidFill>
                <a:latin typeface="Trebuchet MS"/>
                <a:cs typeface="B Nazanin" panose="00000400000000000000" pitchFamily="2" charset="-78"/>
              </a:endParaRPr>
            </a:p>
          </p:txBody>
        </p:sp>
      </p:grpSp>
      <p:sp>
        <p:nvSpPr>
          <p:cNvPr id="148" name="TextBox 20"/>
          <p:cNvSpPr txBox="1">
            <a:spLocks noChangeArrowheads="1"/>
          </p:cNvSpPr>
          <p:nvPr/>
        </p:nvSpPr>
        <p:spPr bwMode="auto">
          <a:xfrm>
            <a:off x="2452130" y="4430170"/>
            <a:ext cx="925253" cy="3231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1500" b="1" kern="0" dirty="0">
                <a:solidFill>
                  <a:srgbClr val="000000"/>
                </a:solidFill>
                <a:cs typeface="B Nazanin" panose="00000400000000000000" pitchFamily="2" charset="-78"/>
              </a:rPr>
              <a:t>داده بانک 1</a:t>
            </a:r>
            <a:endParaRPr kumimoji="0" lang="en-US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  <p:sp>
        <p:nvSpPr>
          <p:cNvPr id="149" name="TextBox 20"/>
          <p:cNvSpPr txBox="1">
            <a:spLocks noChangeArrowheads="1"/>
          </p:cNvSpPr>
          <p:nvPr/>
        </p:nvSpPr>
        <p:spPr bwMode="auto">
          <a:xfrm>
            <a:off x="3633121" y="3962400"/>
            <a:ext cx="952505" cy="3231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1500" b="1" kern="0" dirty="0">
                <a:solidFill>
                  <a:srgbClr val="000000"/>
                </a:solidFill>
                <a:cs typeface="B Nazanin" panose="00000400000000000000" pitchFamily="2" charset="-78"/>
              </a:rPr>
              <a:t>داده بانک 2</a:t>
            </a:r>
            <a:endParaRPr kumimoji="0" lang="en-US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21480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مثال: سیستم حافظه </a:t>
            </a:r>
            <a:r>
              <a:rPr lang="en-US" dirty="0"/>
              <a:t>GTX280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حافظه </a:t>
            </a:r>
            <a:r>
              <a:rPr lang="en-US" dirty="0"/>
              <a:t>GDDR3</a:t>
            </a:r>
            <a:r>
              <a:rPr lang="fa-IR" dirty="0"/>
              <a:t> با فرکانس باس 1/1 گیگاهرتز</a:t>
            </a:r>
          </a:p>
          <a:p>
            <a:r>
              <a:rPr lang="fa-IR" dirty="0"/>
              <a:t>پهنای باس: 512 بیت</a:t>
            </a:r>
          </a:p>
          <a:p>
            <a:pPr lvl="1"/>
            <a:r>
              <a:rPr lang="fa-IR" dirty="0"/>
              <a:t>شامل 8 کانال 64 بیتی</a:t>
            </a:r>
          </a:p>
          <a:p>
            <a:r>
              <a:rPr lang="fa-IR" dirty="0"/>
              <a:t>پهنای باند 141/7 گیگابایت در ثانیه</a:t>
            </a:r>
          </a:p>
          <a:p>
            <a:pPr lvl="1"/>
            <a:r>
              <a:rPr lang="fa-IR" dirty="0"/>
              <a:t>8 کانال × 8 بایت × 1/1 گیگاهرتز ×</a:t>
            </a:r>
          </a:p>
          <a:p>
            <a:pPr marL="366713" lvl="1" indent="0">
              <a:buNone/>
            </a:pPr>
            <a:r>
              <a:rPr lang="fa-IR" dirty="0"/>
              <a:t>2 (دو انتقال در هر کلاک </a:t>
            </a:r>
            <a:r>
              <a:rPr lang="en-US" dirty="0"/>
              <a:t>DDR</a:t>
            </a:r>
            <a:r>
              <a:rPr lang="fa-IR" dirty="0"/>
              <a:t>) = 141/7</a:t>
            </a:r>
          </a:p>
          <a:p>
            <a:pPr lvl="1"/>
            <a:endParaRPr lang="fa-IR" dirty="0"/>
          </a:p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81200"/>
            <a:ext cx="3714750" cy="4191000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1628775" y="4309240"/>
            <a:ext cx="1484915" cy="927540"/>
            <a:chOff x="1628775" y="4309240"/>
            <a:chExt cx="1484915" cy="927540"/>
          </a:xfrm>
        </p:grpSpPr>
        <p:sp>
          <p:nvSpPr>
            <p:cNvPr id="10" name="Oval 9"/>
            <p:cNvSpPr/>
            <p:nvPr/>
          </p:nvSpPr>
          <p:spPr>
            <a:xfrm>
              <a:off x="1628775" y="4309240"/>
              <a:ext cx="581025" cy="228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1" name="Oval 10"/>
            <p:cNvSpPr/>
            <p:nvPr/>
          </p:nvSpPr>
          <p:spPr>
            <a:xfrm>
              <a:off x="2532665" y="5008180"/>
              <a:ext cx="581025" cy="228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sp>
        <p:nvSpPr>
          <p:cNvPr id="14" name="Oval 13"/>
          <p:cNvSpPr/>
          <p:nvPr/>
        </p:nvSpPr>
        <p:spPr>
          <a:xfrm>
            <a:off x="3378746" y="4311869"/>
            <a:ext cx="581025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5" name="Oval 14"/>
          <p:cNvSpPr/>
          <p:nvPr/>
        </p:nvSpPr>
        <p:spPr>
          <a:xfrm>
            <a:off x="3318640" y="4519449"/>
            <a:ext cx="709450" cy="2942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800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4" grpId="1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دید سیستمی انتقال پشت سر هم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فضای آدرس حافظه را می‌توان به بخشهای پشت سر هم تقسیم کرد.</a:t>
            </a:r>
          </a:p>
          <a:p>
            <a:pPr lvl="1"/>
            <a:r>
              <a:rPr lang="fa-IR" dirty="0"/>
              <a:t>هر گاه یکی از خانه‌های یک بخش تقاضا شود، کل خانه‌های آن بخش تحویل می‌شود.</a:t>
            </a:r>
          </a:p>
          <a:p>
            <a:pPr lvl="1"/>
            <a:r>
              <a:rPr lang="fa-IR" dirty="0"/>
              <a:t>مثلاً در شکل زیر، یک فضای آدرس 16 بایتی به چهار بخش چهار بایتی تقسیم شده است. اگر خانه 10 تقاضا شود، خانه‌های 8، 9 و 11 نیز به همراه آن تحویل پردازنده می‌شود.</a:t>
            </a:r>
          </a:p>
          <a:p>
            <a:pPr lvl="1"/>
            <a:r>
              <a:rPr lang="fa-IR" dirty="0"/>
              <a:t>در عمل فضای آدرس در حد چند گیگابایت و اندازه هر بخش حدود 128 بایت  یا بیشتر است.</a:t>
            </a:r>
          </a:p>
          <a:p>
            <a:pPr lvl="1"/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grpSp>
        <p:nvGrpSpPr>
          <p:cNvPr id="167" name="Group 166"/>
          <p:cNvGrpSpPr/>
          <p:nvPr/>
        </p:nvGrpSpPr>
        <p:grpSpPr>
          <a:xfrm>
            <a:off x="1143000" y="5029200"/>
            <a:ext cx="6781800" cy="685800"/>
            <a:chOff x="685800" y="1356538"/>
            <a:chExt cx="5524960" cy="605612"/>
          </a:xfrm>
        </p:grpSpPr>
        <p:sp>
          <p:nvSpPr>
            <p:cNvPr id="127" name="Rectangle 19"/>
            <p:cNvSpPr>
              <a:spLocks noChangeArrowheads="1"/>
            </p:cNvSpPr>
            <p:nvPr/>
          </p:nvSpPr>
          <p:spPr bwMode="auto">
            <a:xfrm>
              <a:off x="6858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8" name="Rectangle 20"/>
            <p:cNvSpPr>
              <a:spLocks noChangeArrowheads="1"/>
            </p:cNvSpPr>
            <p:nvPr/>
          </p:nvSpPr>
          <p:spPr bwMode="auto">
            <a:xfrm>
              <a:off x="10287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9" name="Rectangle 21"/>
            <p:cNvSpPr>
              <a:spLocks noChangeArrowheads="1"/>
            </p:cNvSpPr>
            <p:nvPr/>
          </p:nvSpPr>
          <p:spPr bwMode="auto">
            <a:xfrm>
              <a:off x="13716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0" name="Rectangle 22"/>
            <p:cNvSpPr>
              <a:spLocks noChangeArrowheads="1"/>
            </p:cNvSpPr>
            <p:nvPr/>
          </p:nvSpPr>
          <p:spPr bwMode="auto">
            <a:xfrm>
              <a:off x="17145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1" name="Rectangle 23"/>
            <p:cNvSpPr>
              <a:spLocks noChangeArrowheads="1"/>
            </p:cNvSpPr>
            <p:nvPr/>
          </p:nvSpPr>
          <p:spPr bwMode="auto">
            <a:xfrm>
              <a:off x="20574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2" name="Rectangle 24"/>
            <p:cNvSpPr>
              <a:spLocks noChangeArrowheads="1"/>
            </p:cNvSpPr>
            <p:nvPr/>
          </p:nvSpPr>
          <p:spPr bwMode="auto">
            <a:xfrm>
              <a:off x="24003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3" name="Rectangle 25"/>
            <p:cNvSpPr>
              <a:spLocks noChangeArrowheads="1"/>
            </p:cNvSpPr>
            <p:nvPr/>
          </p:nvSpPr>
          <p:spPr bwMode="auto">
            <a:xfrm>
              <a:off x="27432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4" name="Rectangle 26"/>
            <p:cNvSpPr>
              <a:spLocks noChangeArrowheads="1"/>
            </p:cNvSpPr>
            <p:nvPr/>
          </p:nvSpPr>
          <p:spPr bwMode="auto">
            <a:xfrm>
              <a:off x="30861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5" name="Rectangle 27"/>
            <p:cNvSpPr>
              <a:spLocks noChangeArrowheads="1"/>
            </p:cNvSpPr>
            <p:nvPr/>
          </p:nvSpPr>
          <p:spPr bwMode="auto">
            <a:xfrm>
              <a:off x="34290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6" name="Rectangle 28"/>
            <p:cNvSpPr>
              <a:spLocks noChangeArrowheads="1"/>
            </p:cNvSpPr>
            <p:nvPr/>
          </p:nvSpPr>
          <p:spPr bwMode="auto">
            <a:xfrm>
              <a:off x="37719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7" name="Rectangle 29"/>
            <p:cNvSpPr>
              <a:spLocks noChangeArrowheads="1"/>
            </p:cNvSpPr>
            <p:nvPr/>
          </p:nvSpPr>
          <p:spPr bwMode="auto">
            <a:xfrm>
              <a:off x="41148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8" name="Rectangle 30"/>
            <p:cNvSpPr>
              <a:spLocks noChangeArrowheads="1"/>
            </p:cNvSpPr>
            <p:nvPr/>
          </p:nvSpPr>
          <p:spPr bwMode="auto">
            <a:xfrm>
              <a:off x="44577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9" name="Rectangle 31"/>
            <p:cNvSpPr>
              <a:spLocks noChangeArrowheads="1"/>
            </p:cNvSpPr>
            <p:nvPr/>
          </p:nvSpPr>
          <p:spPr bwMode="auto">
            <a:xfrm>
              <a:off x="1371600" y="1619250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2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0" name="Rectangle 32"/>
            <p:cNvSpPr>
              <a:spLocks noChangeArrowheads="1"/>
            </p:cNvSpPr>
            <p:nvPr/>
          </p:nvSpPr>
          <p:spPr bwMode="auto">
            <a:xfrm>
              <a:off x="1028700" y="1619250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1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1" name="Rectangle 33"/>
            <p:cNvSpPr>
              <a:spLocks noChangeArrowheads="1"/>
            </p:cNvSpPr>
            <p:nvPr/>
          </p:nvSpPr>
          <p:spPr bwMode="auto">
            <a:xfrm>
              <a:off x="685800" y="1619250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2" name="Rectangle 34"/>
            <p:cNvSpPr>
              <a:spLocks noChangeArrowheads="1"/>
            </p:cNvSpPr>
            <p:nvPr/>
          </p:nvSpPr>
          <p:spPr bwMode="auto">
            <a:xfrm>
              <a:off x="1714500" y="1619250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3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3" name="Rectangle 35"/>
            <p:cNvSpPr>
              <a:spLocks noChangeArrowheads="1"/>
            </p:cNvSpPr>
            <p:nvPr/>
          </p:nvSpPr>
          <p:spPr bwMode="auto">
            <a:xfrm>
              <a:off x="2400300" y="1619250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5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4" name="Rectangle 36"/>
            <p:cNvSpPr>
              <a:spLocks noChangeArrowheads="1"/>
            </p:cNvSpPr>
            <p:nvPr/>
          </p:nvSpPr>
          <p:spPr bwMode="auto">
            <a:xfrm>
              <a:off x="2057400" y="1619250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4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5" name="Rectangle 37"/>
            <p:cNvSpPr>
              <a:spLocks noChangeArrowheads="1"/>
            </p:cNvSpPr>
            <p:nvPr/>
          </p:nvSpPr>
          <p:spPr bwMode="auto">
            <a:xfrm>
              <a:off x="2743200" y="1619250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6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6" name="Rectangle 38"/>
            <p:cNvSpPr>
              <a:spLocks noChangeArrowheads="1"/>
            </p:cNvSpPr>
            <p:nvPr/>
          </p:nvSpPr>
          <p:spPr bwMode="auto">
            <a:xfrm>
              <a:off x="3086100" y="1619250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7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3771900" y="1619250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9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8" name="Rectangle 40"/>
            <p:cNvSpPr>
              <a:spLocks noChangeArrowheads="1"/>
            </p:cNvSpPr>
            <p:nvPr/>
          </p:nvSpPr>
          <p:spPr bwMode="auto">
            <a:xfrm>
              <a:off x="3429000" y="1619250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8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9" name="Rectangle 41"/>
            <p:cNvSpPr>
              <a:spLocks noChangeArrowheads="1"/>
            </p:cNvSpPr>
            <p:nvPr/>
          </p:nvSpPr>
          <p:spPr bwMode="auto">
            <a:xfrm>
              <a:off x="4114800" y="1619250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10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0" name="Rectangle 42"/>
            <p:cNvSpPr>
              <a:spLocks noChangeArrowheads="1"/>
            </p:cNvSpPr>
            <p:nvPr/>
          </p:nvSpPr>
          <p:spPr bwMode="auto">
            <a:xfrm>
              <a:off x="4457700" y="1619250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11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1" name="Rectangle 59"/>
            <p:cNvSpPr>
              <a:spLocks noChangeArrowheads="1"/>
            </p:cNvSpPr>
            <p:nvPr/>
          </p:nvSpPr>
          <p:spPr bwMode="auto">
            <a:xfrm>
              <a:off x="48006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2" name="Rectangle 60"/>
            <p:cNvSpPr>
              <a:spLocks noChangeArrowheads="1"/>
            </p:cNvSpPr>
            <p:nvPr/>
          </p:nvSpPr>
          <p:spPr bwMode="auto">
            <a:xfrm>
              <a:off x="51435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3" name="Rectangle 61"/>
            <p:cNvSpPr>
              <a:spLocks noChangeArrowheads="1"/>
            </p:cNvSpPr>
            <p:nvPr/>
          </p:nvSpPr>
          <p:spPr bwMode="auto">
            <a:xfrm>
              <a:off x="54864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4" name="Rectangle 62"/>
            <p:cNvSpPr>
              <a:spLocks noChangeArrowheads="1"/>
            </p:cNvSpPr>
            <p:nvPr/>
          </p:nvSpPr>
          <p:spPr bwMode="auto">
            <a:xfrm>
              <a:off x="58293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5" name="Rectangle 63"/>
            <p:cNvSpPr>
              <a:spLocks noChangeArrowheads="1"/>
            </p:cNvSpPr>
            <p:nvPr/>
          </p:nvSpPr>
          <p:spPr bwMode="auto">
            <a:xfrm>
              <a:off x="48006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6" name="Rectangle 64"/>
            <p:cNvSpPr>
              <a:spLocks noChangeArrowheads="1"/>
            </p:cNvSpPr>
            <p:nvPr/>
          </p:nvSpPr>
          <p:spPr bwMode="auto">
            <a:xfrm>
              <a:off x="51435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7" name="Rectangle 65"/>
            <p:cNvSpPr>
              <a:spLocks noChangeArrowheads="1"/>
            </p:cNvSpPr>
            <p:nvPr/>
          </p:nvSpPr>
          <p:spPr bwMode="auto">
            <a:xfrm>
              <a:off x="54864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8" name="Rectangle 66"/>
            <p:cNvSpPr>
              <a:spLocks noChangeArrowheads="1"/>
            </p:cNvSpPr>
            <p:nvPr/>
          </p:nvSpPr>
          <p:spPr bwMode="auto">
            <a:xfrm>
              <a:off x="5829300" y="16192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9" name="Rectangle 67"/>
            <p:cNvSpPr>
              <a:spLocks noChangeArrowheads="1"/>
            </p:cNvSpPr>
            <p:nvPr/>
          </p:nvSpPr>
          <p:spPr bwMode="auto">
            <a:xfrm>
              <a:off x="5143500" y="1619250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13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60" name="Rectangle 68"/>
            <p:cNvSpPr>
              <a:spLocks noChangeArrowheads="1"/>
            </p:cNvSpPr>
            <p:nvPr/>
          </p:nvSpPr>
          <p:spPr bwMode="auto">
            <a:xfrm>
              <a:off x="4800600" y="1619250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12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61" name="Rectangle 69"/>
            <p:cNvSpPr>
              <a:spLocks noChangeArrowheads="1"/>
            </p:cNvSpPr>
            <p:nvPr/>
          </p:nvSpPr>
          <p:spPr bwMode="auto">
            <a:xfrm>
              <a:off x="5486400" y="1619250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14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62" name="Rectangle 70"/>
            <p:cNvSpPr>
              <a:spLocks noChangeArrowheads="1"/>
            </p:cNvSpPr>
            <p:nvPr/>
          </p:nvSpPr>
          <p:spPr bwMode="auto">
            <a:xfrm>
              <a:off x="5829300" y="1619250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15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857250" y="1361360"/>
              <a:ext cx="1245854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350" dirty="0">
                  <a:solidFill>
                    <a:srgbClr val="000000"/>
                  </a:solidFill>
                  <a:latin typeface="Trebuchet MS"/>
                </a:rPr>
                <a:t>Burst section 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2286000" y="1356538"/>
              <a:ext cx="1245854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350" dirty="0">
                  <a:solidFill>
                    <a:srgbClr val="000000"/>
                  </a:solidFill>
                  <a:latin typeface="Trebuchet MS"/>
                </a:rPr>
                <a:t>Burst section 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600450" y="1361360"/>
              <a:ext cx="1245854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350" dirty="0">
                  <a:solidFill>
                    <a:srgbClr val="000000"/>
                  </a:solidFill>
                  <a:latin typeface="Trebuchet MS"/>
                </a:rPr>
                <a:t>Burst section 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4964906" y="1361360"/>
              <a:ext cx="1245854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350" dirty="0">
                  <a:solidFill>
                    <a:srgbClr val="000000"/>
                  </a:solidFill>
                  <a:latin typeface="Trebuchet MS"/>
                </a:rPr>
                <a:t>Burst section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7839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97069"/>
            <a:ext cx="8153400" cy="685800"/>
          </a:xfrm>
        </p:spPr>
        <p:txBody>
          <a:bodyPr/>
          <a:lstStyle/>
          <a:p>
            <a:r>
              <a:rPr lang="fa-IR" dirty="0"/>
              <a:t>تلفیق حافظه	     </a:t>
            </a:r>
            <a:r>
              <a:rPr lang="en-US" dirty="0"/>
              <a:t>Memory Coalescing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وقتی همه نخ‌های یک ریسمان دستور بارگذاری را اجرا می‌کنند، اگر خانه‌های حافظه تقاضا شده در یک بخش پشت سر هم بیافتد، فقط یک درخواست بارگذاری به </a:t>
            </a:r>
            <a:r>
              <a:rPr lang="en-US" dirty="0"/>
              <a:t>DRAM</a:t>
            </a:r>
            <a:r>
              <a:rPr lang="fa-IR" dirty="0"/>
              <a:t> داده می‎شود.</a:t>
            </a:r>
          </a:p>
          <a:p>
            <a:pPr lvl="1"/>
            <a:r>
              <a:rPr lang="fa-IR" dirty="0"/>
              <a:t>در این حالت می‌‎گوییم دسترسی به حافظه به طور کامل تلفیق شده است.</a:t>
            </a:r>
          </a:p>
          <a:p>
            <a:pPr lvl="2"/>
            <a:r>
              <a:rPr lang="en-US" dirty="0"/>
              <a:t>Fully coalesced memory access</a:t>
            </a:r>
            <a:endParaRPr lang="fa-IR" dirty="0"/>
          </a:p>
          <a:p>
            <a:pPr lvl="1"/>
            <a:r>
              <a:rPr lang="fa-IR" dirty="0"/>
              <a:t>وقتی نخ‌ها به خانه‌های پشت سر هم دسترسی یابند، سرعت دسترسی به </a:t>
            </a:r>
            <a:r>
              <a:rPr lang="en-US" dirty="0"/>
              <a:t>DRAM</a:t>
            </a:r>
            <a:r>
              <a:rPr lang="fa-IR" dirty="0"/>
              <a:t> بیشینه است (تعداد درخواست‌ها به </a:t>
            </a:r>
            <a:r>
              <a:rPr lang="en-US" dirty="0"/>
              <a:t>DRAM</a:t>
            </a:r>
            <a:r>
              <a:rPr lang="fa-IR" dirty="0"/>
              <a:t> کاهش می‌یابد)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grpSp>
        <p:nvGrpSpPr>
          <p:cNvPr id="68" name="Group 67"/>
          <p:cNvGrpSpPr/>
          <p:nvPr/>
        </p:nvGrpSpPr>
        <p:grpSpPr>
          <a:xfrm>
            <a:off x="869015" y="4290848"/>
            <a:ext cx="7589185" cy="2033752"/>
            <a:chOff x="655063" y="1123950"/>
            <a:chExt cx="5517137" cy="1478484"/>
          </a:xfrm>
        </p:grpSpPr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>
              <a:off x="6586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0" name="Rectangle 20"/>
            <p:cNvSpPr>
              <a:spLocks noChangeArrowheads="1"/>
            </p:cNvSpPr>
            <p:nvPr/>
          </p:nvSpPr>
          <p:spPr bwMode="auto">
            <a:xfrm>
              <a:off x="10015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1" name="Rectangle 21"/>
            <p:cNvSpPr>
              <a:spLocks noChangeArrowheads="1"/>
            </p:cNvSpPr>
            <p:nvPr/>
          </p:nvSpPr>
          <p:spPr bwMode="auto">
            <a:xfrm>
              <a:off x="13444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2" name="Rectangle 22"/>
            <p:cNvSpPr>
              <a:spLocks noChangeArrowheads="1"/>
            </p:cNvSpPr>
            <p:nvPr/>
          </p:nvSpPr>
          <p:spPr bwMode="auto">
            <a:xfrm>
              <a:off x="16873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3" name="Rectangle 23"/>
            <p:cNvSpPr>
              <a:spLocks noChangeArrowheads="1"/>
            </p:cNvSpPr>
            <p:nvPr/>
          </p:nvSpPr>
          <p:spPr bwMode="auto">
            <a:xfrm>
              <a:off x="20302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4" name="Rectangle 24"/>
            <p:cNvSpPr>
              <a:spLocks noChangeArrowheads="1"/>
            </p:cNvSpPr>
            <p:nvPr/>
          </p:nvSpPr>
          <p:spPr bwMode="auto">
            <a:xfrm>
              <a:off x="23731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5" name="Rectangle 25"/>
            <p:cNvSpPr>
              <a:spLocks noChangeArrowheads="1"/>
            </p:cNvSpPr>
            <p:nvPr/>
          </p:nvSpPr>
          <p:spPr bwMode="auto">
            <a:xfrm>
              <a:off x="27160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6" name="Rectangle 26"/>
            <p:cNvSpPr>
              <a:spLocks noChangeArrowheads="1"/>
            </p:cNvSpPr>
            <p:nvPr/>
          </p:nvSpPr>
          <p:spPr bwMode="auto">
            <a:xfrm>
              <a:off x="30589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7" name="Rectangle 27"/>
            <p:cNvSpPr>
              <a:spLocks noChangeArrowheads="1"/>
            </p:cNvSpPr>
            <p:nvPr/>
          </p:nvSpPr>
          <p:spPr bwMode="auto">
            <a:xfrm>
              <a:off x="34018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8" name="Rectangle 28"/>
            <p:cNvSpPr>
              <a:spLocks noChangeArrowheads="1"/>
            </p:cNvSpPr>
            <p:nvPr/>
          </p:nvSpPr>
          <p:spPr bwMode="auto">
            <a:xfrm>
              <a:off x="37447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9" name="Rectangle 29"/>
            <p:cNvSpPr>
              <a:spLocks noChangeArrowheads="1"/>
            </p:cNvSpPr>
            <p:nvPr/>
          </p:nvSpPr>
          <p:spPr bwMode="auto">
            <a:xfrm>
              <a:off x="40876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0" name="Rectangle 30"/>
            <p:cNvSpPr>
              <a:spLocks noChangeArrowheads="1"/>
            </p:cNvSpPr>
            <p:nvPr/>
          </p:nvSpPr>
          <p:spPr bwMode="auto">
            <a:xfrm>
              <a:off x="44305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1344428" y="1943168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2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2" name="Rectangle 32"/>
            <p:cNvSpPr>
              <a:spLocks noChangeArrowheads="1"/>
            </p:cNvSpPr>
            <p:nvPr/>
          </p:nvSpPr>
          <p:spPr bwMode="auto">
            <a:xfrm>
              <a:off x="1001528" y="1943168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1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3" name="Rectangle 33"/>
            <p:cNvSpPr>
              <a:spLocks noChangeArrowheads="1"/>
            </p:cNvSpPr>
            <p:nvPr/>
          </p:nvSpPr>
          <p:spPr bwMode="auto">
            <a:xfrm>
              <a:off x="658628" y="1943168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4" name="Rectangle 34"/>
            <p:cNvSpPr>
              <a:spLocks noChangeArrowheads="1"/>
            </p:cNvSpPr>
            <p:nvPr/>
          </p:nvSpPr>
          <p:spPr bwMode="auto">
            <a:xfrm>
              <a:off x="1687328" y="1943168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3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5" name="Rectangle 35"/>
            <p:cNvSpPr>
              <a:spLocks noChangeArrowheads="1"/>
            </p:cNvSpPr>
            <p:nvPr/>
          </p:nvSpPr>
          <p:spPr bwMode="auto">
            <a:xfrm>
              <a:off x="2373128" y="1943168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5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6" name="Rectangle 36"/>
            <p:cNvSpPr>
              <a:spLocks noChangeArrowheads="1"/>
            </p:cNvSpPr>
            <p:nvPr/>
          </p:nvSpPr>
          <p:spPr bwMode="auto">
            <a:xfrm>
              <a:off x="2030228" y="1943168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4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7" name="Rectangle 37"/>
            <p:cNvSpPr>
              <a:spLocks noChangeArrowheads="1"/>
            </p:cNvSpPr>
            <p:nvPr/>
          </p:nvSpPr>
          <p:spPr bwMode="auto">
            <a:xfrm>
              <a:off x="2716028" y="1943168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6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8" name="Rectangle 38"/>
            <p:cNvSpPr>
              <a:spLocks noChangeArrowheads="1"/>
            </p:cNvSpPr>
            <p:nvPr/>
          </p:nvSpPr>
          <p:spPr bwMode="auto">
            <a:xfrm>
              <a:off x="3058928" y="1943168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7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9" name="Rectangle 39"/>
            <p:cNvSpPr>
              <a:spLocks noChangeArrowheads="1"/>
            </p:cNvSpPr>
            <p:nvPr/>
          </p:nvSpPr>
          <p:spPr bwMode="auto">
            <a:xfrm>
              <a:off x="3744728" y="1943168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9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0" name="Rectangle 40"/>
            <p:cNvSpPr>
              <a:spLocks noChangeArrowheads="1"/>
            </p:cNvSpPr>
            <p:nvPr/>
          </p:nvSpPr>
          <p:spPr bwMode="auto">
            <a:xfrm>
              <a:off x="3401828" y="1943168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8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1" name="Rectangle 41"/>
            <p:cNvSpPr>
              <a:spLocks noChangeArrowheads="1"/>
            </p:cNvSpPr>
            <p:nvPr/>
          </p:nvSpPr>
          <p:spPr bwMode="auto">
            <a:xfrm>
              <a:off x="4087628" y="1943168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10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2" name="Rectangle 42"/>
            <p:cNvSpPr>
              <a:spLocks noChangeArrowheads="1"/>
            </p:cNvSpPr>
            <p:nvPr/>
          </p:nvSpPr>
          <p:spPr bwMode="auto">
            <a:xfrm>
              <a:off x="4430528" y="1943168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11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3" name="Rectangle 59"/>
            <p:cNvSpPr>
              <a:spLocks noChangeArrowheads="1"/>
            </p:cNvSpPr>
            <p:nvPr/>
          </p:nvSpPr>
          <p:spPr bwMode="auto">
            <a:xfrm>
              <a:off x="47734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4" name="Rectangle 60"/>
            <p:cNvSpPr>
              <a:spLocks noChangeArrowheads="1"/>
            </p:cNvSpPr>
            <p:nvPr/>
          </p:nvSpPr>
          <p:spPr bwMode="auto">
            <a:xfrm>
              <a:off x="51163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5" name="Rectangle 61"/>
            <p:cNvSpPr>
              <a:spLocks noChangeArrowheads="1"/>
            </p:cNvSpPr>
            <p:nvPr/>
          </p:nvSpPr>
          <p:spPr bwMode="auto">
            <a:xfrm>
              <a:off x="54592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6" name="Rectangle 62"/>
            <p:cNvSpPr>
              <a:spLocks noChangeArrowheads="1"/>
            </p:cNvSpPr>
            <p:nvPr/>
          </p:nvSpPr>
          <p:spPr bwMode="auto">
            <a:xfrm>
              <a:off x="58021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7" name="Rectangle 63"/>
            <p:cNvSpPr>
              <a:spLocks noChangeArrowheads="1"/>
            </p:cNvSpPr>
            <p:nvPr/>
          </p:nvSpPr>
          <p:spPr bwMode="auto">
            <a:xfrm>
              <a:off x="47734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8" name="Rectangle 64"/>
            <p:cNvSpPr>
              <a:spLocks noChangeArrowheads="1"/>
            </p:cNvSpPr>
            <p:nvPr/>
          </p:nvSpPr>
          <p:spPr bwMode="auto">
            <a:xfrm>
              <a:off x="51163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9" name="Rectangle 65"/>
            <p:cNvSpPr>
              <a:spLocks noChangeArrowheads="1"/>
            </p:cNvSpPr>
            <p:nvPr/>
          </p:nvSpPr>
          <p:spPr bwMode="auto">
            <a:xfrm>
              <a:off x="54592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0" name="Rectangle 66"/>
            <p:cNvSpPr>
              <a:spLocks noChangeArrowheads="1"/>
            </p:cNvSpPr>
            <p:nvPr/>
          </p:nvSpPr>
          <p:spPr bwMode="auto">
            <a:xfrm>
              <a:off x="5802128" y="1943168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1" name="Rectangle 67"/>
            <p:cNvSpPr>
              <a:spLocks noChangeArrowheads="1"/>
            </p:cNvSpPr>
            <p:nvPr/>
          </p:nvSpPr>
          <p:spPr bwMode="auto">
            <a:xfrm>
              <a:off x="5116328" y="1943168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13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2" name="Rectangle 68"/>
            <p:cNvSpPr>
              <a:spLocks noChangeArrowheads="1"/>
            </p:cNvSpPr>
            <p:nvPr/>
          </p:nvSpPr>
          <p:spPr bwMode="auto">
            <a:xfrm>
              <a:off x="4773428" y="1943168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12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3" name="Rectangle 69"/>
            <p:cNvSpPr>
              <a:spLocks noChangeArrowheads="1"/>
            </p:cNvSpPr>
            <p:nvPr/>
          </p:nvSpPr>
          <p:spPr bwMode="auto">
            <a:xfrm>
              <a:off x="5459228" y="1943168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14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4" name="Rectangle 70"/>
            <p:cNvSpPr>
              <a:spLocks noChangeArrowheads="1"/>
            </p:cNvSpPr>
            <p:nvPr/>
          </p:nvSpPr>
          <p:spPr bwMode="auto">
            <a:xfrm>
              <a:off x="5802128" y="1943168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15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818689" y="2302352"/>
              <a:ext cx="124585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Burst section 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247439" y="2297530"/>
              <a:ext cx="124585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Burst section 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561889" y="2302352"/>
              <a:ext cx="124585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Burst section 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926346" y="2302352"/>
              <a:ext cx="124585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Burst section </a:t>
              </a:r>
            </a:p>
          </p:txBody>
        </p:sp>
        <p:sp>
          <p:nvSpPr>
            <p:cNvPr id="109" name="Text Box 73"/>
            <p:cNvSpPr txBox="1">
              <a:spLocks noChangeArrowheads="1"/>
            </p:cNvSpPr>
            <p:nvPr/>
          </p:nvSpPr>
          <p:spPr bwMode="auto">
            <a:xfrm>
              <a:off x="736791" y="1267127"/>
              <a:ext cx="316112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kumimoji="0" lang="en-US" sz="105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10" name="Text Box 74"/>
            <p:cNvSpPr txBox="1">
              <a:spLocks noChangeArrowheads="1"/>
            </p:cNvSpPr>
            <p:nvPr/>
          </p:nvSpPr>
          <p:spPr bwMode="auto">
            <a:xfrm>
              <a:off x="1079691" y="1267127"/>
              <a:ext cx="316112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kumimoji="0" lang="en-US" sz="105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1" name="Text Box 75"/>
            <p:cNvSpPr txBox="1">
              <a:spLocks noChangeArrowheads="1"/>
            </p:cNvSpPr>
            <p:nvPr/>
          </p:nvSpPr>
          <p:spPr bwMode="auto">
            <a:xfrm>
              <a:off x="1422591" y="1267127"/>
              <a:ext cx="316112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kumimoji="0" lang="en-US" sz="105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2" name="Text Box 76"/>
            <p:cNvSpPr txBox="1">
              <a:spLocks noChangeArrowheads="1"/>
            </p:cNvSpPr>
            <p:nvPr/>
          </p:nvSpPr>
          <p:spPr bwMode="auto">
            <a:xfrm>
              <a:off x="1765491" y="1267127"/>
              <a:ext cx="316112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kumimoji="0" lang="en-US" sz="105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3" name="Text Box 79"/>
            <p:cNvSpPr txBox="1">
              <a:spLocks noChangeArrowheads="1"/>
            </p:cNvSpPr>
            <p:nvPr/>
          </p:nvSpPr>
          <p:spPr bwMode="auto">
            <a:xfrm>
              <a:off x="741865" y="1123950"/>
              <a:ext cx="1229825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Coalesced Loads</a:t>
              </a:r>
            </a:p>
          </p:txBody>
        </p:sp>
        <p:sp>
          <p:nvSpPr>
            <p:cNvPr id="114" name="Rectangle 94"/>
            <p:cNvSpPr>
              <a:spLocks noChangeArrowheads="1"/>
            </p:cNvSpPr>
            <p:nvPr/>
          </p:nvSpPr>
          <p:spPr bwMode="auto">
            <a:xfrm>
              <a:off x="655063" y="1129240"/>
              <a:ext cx="1543050" cy="37828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115" name="Straight Arrow Connector 114"/>
            <p:cNvCxnSpPr>
              <a:stCxn id="69" idx="0"/>
            </p:cNvCxnSpPr>
            <p:nvPr/>
          </p:nvCxnSpPr>
          <p:spPr>
            <a:xfrm flipV="1">
              <a:off x="830078" y="1507525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116" name="Straight Arrow Connector 115"/>
            <p:cNvCxnSpPr/>
            <p:nvPr/>
          </p:nvCxnSpPr>
          <p:spPr>
            <a:xfrm flipV="1">
              <a:off x="1172978" y="1507525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117" name="Straight Arrow Connector 116"/>
            <p:cNvCxnSpPr/>
            <p:nvPr/>
          </p:nvCxnSpPr>
          <p:spPr>
            <a:xfrm flipV="1">
              <a:off x="1504490" y="1506727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118" name="Straight Arrow Connector 117"/>
            <p:cNvCxnSpPr/>
            <p:nvPr/>
          </p:nvCxnSpPr>
          <p:spPr>
            <a:xfrm flipV="1">
              <a:off x="1847390" y="1498786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sp>
          <p:nvSpPr>
            <p:cNvPr id="119" name="Text Box 73"/>
            <p:cNvSpPr txBox="1">
              <a:spLocks noChangeArrowheads="1"/>
            </p:cNvSpPr>
            <p:nvPr/>
          </p:nvSpPr>
          <p:spPr bwMode="auto">
            <a:xfrm>
              <a:off x="3500336" y="1280645"/>
              <a:ext cx="316112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kumimoji="0" lang="en-US" sz="105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20" name="Text Box 74"/>
            <p:cNvSpPr txBox="1">
              <a:spLocks noChangeArrowheads="1"/>
            </p:cNvSpPr>
            <p:nvPr/>
          </p:nvSpPr>
          <p:spPr bwMode="auto">
            <a:xfrm>
              <a:off x="3843236" y="1280645"/>
              <a:ext cx="316112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kumimoji="0" lang="en-US" sz="105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21" name="Text Box 75"/>
            <p:cNvSpPr txBox="1">
              <a:spLocks noChangeArrowheads="1"/>
            </p:cNvSpPr>
            <p:nvPr/>
          </p:nvSpPr>
          <p:spPr bwMode="auto">
            <a:xfrm>
              <a:off x="4186136" y="1280645"/>
              <a:ext cx="316112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kumimoji="0" lang="en-US" sz="105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22" name="Text Box 76"/>
            <p:cNvSpPr txBox="1">
              <a:spLocks noChangeArrowheads="1"/>
            </p:cNvSpPr>
            <p:nvPr/>
          </p:nvSpPr>
          <p:spPr bwMode="auto">
            <a:xfrm>
              <a:off x="4529036" y="1280645"/>
              <a:ext cx="316112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kumimoji="0" lang="en-US" sz="105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23" name="Text Box 79"/>
            <p:cNvSpPr txBox="1">
              <a:spLocks noChangeArrowheads="1"/>
            </p:cNvSpPr>
            <p:nvPr/>
          </p:nvSpPr>
          <p:spPr bwMode="auto">
            <a:xfrm>
              <a:off x="3505410" y="1137468"/>
              <a:ext cx="1229825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Coalesced Loads</a:t>
              </a:r>
            </a:p>
          </p:txBody>
        </p:sp>
        <p:sp>
          <p:nvSpPr>
            <p:cNvPr id="124" name="Rectangle 94"/>
            <p:cNvSpPr>
              <a:spLocks noChangeArrowheads="1"/>
            </p:cNvSpPr>
            <p:nvPr/>
          </p:nvSpPr>
          <p:spPr bwMode="auto">
            <a:xfrm>
              <a:off x="3418608" y="1142758"/>
              <a:ext cx="1543050" cy="37828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125" name="Straight Arrow Connector 124"/>
            <p:cNvCxnSpPr/>
            <p:nvPr/>
          </p:nvCxnSpPr>
          <p:spPr>
            <a:xfrm flipV="1">
              <a:off x="3593623" y="1521043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126" name="Straight Arrow Connector 125"/>
            <p:cNvCxnSpPr/>
            <p:nvPr/>
          </p:nvCxnSpPr>
          <p:spPr>
            <a:xfrm flipV="1">
              <a:off x="3936523" y="1521043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127" name="Straight Arrow Connector 126"/>
            <p:cNvCxnSpPr/>
            <p:nvPr/>
          </p:nvCxnSpPr>
          <p:spPr>
            <a:xfrm flipV="1">
              <a:off x="4268035" y="1520245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128" name="Straight Arrow Connector 127"/>
            <p:cNvCxnSpPr/>
            <p:nvPr/>
          </p:nvCxnSpPr>
          <p:spPr>
            <a:xfrm flipV="1">
              <a:off x="4610935" y="1512304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15215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97069"/>
            <a:ext cx="8153400" cy="685800"/>
          </a:xfrm>
        </p:spPr>
        <p:txBody>
          <a:bodyPr/>
          <a:lstStyle/>
          <a:p>
            <a:r>
              <a:rPr lang="fa-IR" dirty="0"/>
              <a:t>تلفیق حافظه	     </a:t>
            </a:r>
            <a:r>
              <a:rPr lang="en-US" dirty="0"/>
              <a:t>Memory Coalescing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وقتی خانه‌های حافظه تقاضا شده در چند بخش پشت سر هم بیافتد، چند درخواست بارگذاری به </a:t>
            </a:r>
            <a:r>
              <a:rPr lang="en-US" dirty="0"/>
              <a:t>DRAM</a:t>
            </a:r>
            <a:r>
              <a:rPr lang="fa-IR" dirty="0"/>
              <a:t> داده می‎شود.</a:t>
            </a:r>
          </a:p>
          <a:p>
            <a:pPr lvl="1"/>
            <a:r>
              <a:rPr lang="fa-IR" dirty="0"/>
              <a:t>در این حالت می‌‎گوییم دسترسی به حافظه به طور کامل تلفیق نشده است.</a:t>
            </a:r>
          </a:p>
          <a:p>
            <a:pPr lvl="2"/>
            <a:r>
              <a:rPr lang="fa-IR" dirty="0"/>
              <a:t>برخی بایت‌های منتقل شده توسط نخ‌ها استفاده نمی‌شود.</a:t>
            </a:r>
          </a:p>
          <a:p>
            <a:pPr lvl="1"/>
            <a:r>
              <a:rPr lang="fa-IR" dirty="0"/>
              <a:t>در مثال‌های زیر، دو بخش در دو درخواست مجزا از </a:t>
            </a:r>
            <a:r>
              <a:rPr lang="en-US" dirty="0"/>
              <a:t>DRAM</a:t>
            </a:r>
            <a:r>
              <a:rPr lang="fa-IR" dirty="0"/>
              <a:t> بارگذاری می‌شود، بنابراین سرعت دسترسی کمتر شده است.</a:t>
            </a:r>
          </a:p>
          <a:p>
            <a:pPr lvl="2"/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881958" y="3886200"/>
            <a:ext cx="7423842" cy="2209800"/>
            <a:chOff x="657244" y="4149604"/>
            <a:chExt cx="5514956" cy="1641596"/>
          </a:xfrm>
        </p:grpSpPr>
        <p:sp>
          <p:nvSpPr>
            <p:cNvPr id="189" name="Rectangle 19"/>
            <p:cNvSpPr>
              <a:spLocks noChangeArrowheads="1"/>
            </p:cNvSpPr>
            <p:nvPr/>
          </p:nvSpPr>
          <p:spPr bwMode="auto">
            <a:xfrm>
              <a:off x="6586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0" name="Rectangle 20"/>
            <p:cNvSpPr>
              <a:spLocks noChangeArrowheads="1"/>
            </p:cNvSpPr>
            <p:nvPr/>
          </p:nvSpPr>
          <p:spPr bwMode="auto">
            <a:xfrm>
              <a:off x="10015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1" name="Rectangle 21"/>
            <p:cNvSpPr>
              <a:spLocks noChangeArrowheads="1"/>
            </p:cNvSpPr>
            <p:nvPr/>
          </p:nvSpPr>
          <p:spPr bwMode="auto">
            <a:xfrm>
              <a:off x="13444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2" name="Rectangle 22"/>
            <p:cNvSpPr>
              <a:spLocks noChangeArrowheads="1"/>
            </p:cNvSpPr>
            <p:nvPr/>
          </p:nvSpPr>
          <p:spPr bwMode="auto">
            <a:xfrm>
              <a:off x="16873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3" name="Rectangle 23"/>
            <p:cNvSpPr>
              <a:spLocks noChangeArrowheads="1"/>
            </p:cNvSpPr>
            <p:nvPr/>
          </p:nvSpPr>
          <p:spPr bwMode="auto">
            <a:xfrm>
              <a:off x="20302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4" name="Rectangle 24"/>
            <p:cNvSpPr>
              <a:spLocks noChangeArrowheads="1"/>
            </p:cNvSpPr>
            <p:nvPr/>
          </p:nvSpPr>
          <p:spPr bwMode="auto">
            <a:xfrm>
              <a:off x="23731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5" name="Rectangle 25"/>
            <p:cNvSpPr>
              <a:spLocks noChangeArrowheads="1"/>
            </p:cNvSpPr>
            <p:nvPr/>
          </p:nvSpPr>
          <p:spPr bwMode="auto">
            <a:xfrm>
              <a:off x="27160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6" name="Rectangle 26"/>
            <p:cNvSpPr>
              <a:spLocks noChangeArrowheads="1"/>
            </p:cNvSpPr>
            <p:nvPr/>
          </p:nvSpPr>
          <p:spPr bwMode="auto">
            <a:xfrm>
              <a:off x="30589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7" name="Rectangle 27"/>
            <p:cNvSpPr>
              <a:spLocks noChangeArrowheads="1"/>
            </p:cNvSpPr>
            <p:nvPr/>
          </p:nvSpPr>
          <p:spPr bwMode="auto">
            <a:xfrm>
              <a:off x="34018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8" name="Rectangle 28"/>
            <p:cNvSpPr>
              <a:spLocks noChangeArrowheads="1"/>
            </p:cNvSpPr>
            <p:nvPr/>
          </p:nvSpPr>
          <p:spPr bwMode="auto">
            <a:xfrm>
              <a:off x="37447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99" name="Rectangle 29"/>
            <p:cNvSpPr>
              <a:spLocks noChangeArrowheads="1"/>
            </p:cNvSpPr>
            <p:nvPr/>
          </p:nvSpPr>
          <p:spPr bwMode="auto">
            <a:xfrm>
              <a:off x="40876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0" name="Rectangle 30"/>
            <p:cNvSpPr>
              <a:spLocks noChangeArrowheads="1"/>
            </p:cNvSpPr>
            <p:nvPr/>
          </p:nvSpPr>
          <p:spPr bwMode="auto">
            <a:xfrm>
              <a:off x="44305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1" name="Rectangle 31"/>
            <p:cNvSpPr>
              <a:spLocks noChangeArrowheads="1"/>
            </p:cNvSpPr>
            <p:nvPr/>
          </p:nvSpPr>
          <p:spPr bwMode="auto">
            <a:xfrm>
              <a:off x="1344428" y="5131934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2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2" name="Rectangle 32"/>
            <p:cNvSpPr>
              <a:spLocks noChangeArrowheads="1"/>
            </p:cNvSpPr>
            <p:nvPr/>
          </p:nvSpPr>
          <p:spPr bwMode="auto">
            <a:xfrm>
              <a:off x="1001528" y="5131934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1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3" name="Rectangle 33"/>
            <p:cNvSpPr>
              <a:spLocks noChangeArrowheads="1"/>
            </p:cNvSpPr>
            <p:nvPr/>
          </p:nvSpPr>
          <p:spPr bwMode="auto">
            <a:xfrm>
              <a:off x="658628" y="5131934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4" name="Rectangle 34"/>
            <p:cNvSpPr>
              <a:spLocks noChangeArrowheads="1"/>
            </p:cNvSpPr>
            <p:nvPr/>
          </p:nvSpPr>
          <p:spPr bwMode="auto">
            <a:xfrm>
              <a:off x="1687328" y="5131934"/>
              <a:ext cx="342900" cy="3429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3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5" name="Rectangle 35"/>
            <p:cNvSpPr>
              <a:spLocks noChangeArrowheads="1"/>
            </p:cNvSpPr>
            <p:nvPr/>
          </p:nvSpPr>
          <p:spPr bwMode="auto">
            <a:xfrm>
              <a:off x="2373128" y="5131934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5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6" name="Rectangle 36"/>
            <p:cNvSpPr>
              <a:spLocks noChangeArrowheads="1"/>
            </p:cNvSpPr>
            <p:nvPr/>
          </p:nvSpPr>
          <p:spPr bwMode="auto">
            <a:xfrm>
              <a:off x="2030228" y="5131934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4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7" name="Rectangle 37"/>
            <p:cNvSpPr>
              <a:spLocks noChangeArrowheads="1"/>
            </p:cNvSpPr>
            <p:nvPr/>
          </p:nvSpPr>
          <p:spPr bwMode="auto">
            <a:xfrm>
              <a:off x="2716028" y="5131934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6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8" name="Rectangle 38"/>
            <p:cNvSpPr>
              <a:spLocks noChangeArrowheads="1"/>
            </p:cNvSpPr>
            <p:nvPr/>
          </p:nvSpPr>
          <p:spPr bwMode="auto">
            <a:xfrm>
              <a:off x="3058928" y="5131934"/>
              <a:ext cx="342900" cy="3429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7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09" name="Rectangle 39"/>
            <p:cNvSpPr>
              <a:spLocks noChangeArrowheads="1"/>
            </p:cNvSpPr>
            <p:nvPr/>
          </p:nvSpPr>
          <p:spPr bwMode="auto">
            <a:xfrm>
              <a:off x="3744728" y="5131934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9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0" name="Rectangle 40"/>
            <p:cNvSpPr>
              <a:spLocks noChangeArrowheads="1"/>
            </p:cNvSpPr>
            <p:nvPr/>
          </p:nvSpPr>
          <p:spPr bwMode="auto">
            <a:xfrm>
              <a:off x="3401828" y="5131934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8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1" name="Rectangle 41"/>
            <p:cNvSpPr>
              <a:spLocks noChangeArrowheads="1"/>
            </p:cNvSpPr>
            <p:nvPr/>
          </p:nvSpPr>
          <p:spPr bwMode="auto">
            <a:xfrm>
              <a:off x="4087628" y="5131934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10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2" name="Rectangle 42"/>
            <p:cNvSpPr>
              <a:spLocks noChangeArrowheads="1"/>
            </p:cNvSpPr>
            <p:nvPr/>
          </p:nvSpPr>
          <p:spPr bwMode="auto">
            <a:xfrm>
              <a:off x="4430528" y="5131934"/>
              <a:ext cx="342900" cy="342900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11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3" name="Rectangle 59"/>
            <p:cNvSpPr>
              <a:spLocks noChangeArrowheads="1"/>
            </p:cNvSpPr>
            <p:nvPr/>
          </p:nvSpPr>
          <p:spPr bwMode="auto">
            <a:xfrm>
              <a:off x="47734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4" name="Rectangle 60"/>
            <p:cNvSpPr>
              <a:spLocks noChangeArrowheads="1"/>
            </p:cNvSpPr>
            <p:nvPr/>
          </p:nvSpPr>
          <p:spPr bwMode="auto">
            <a:xfrm>
              <a:off x="51163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5" name="Rectangle 61"/>
            <p:cNvSpPr>
              <a:spLocks noChangeArrowheads="1"/>
            </p:cNvSpPr>
            <p:nvPr/>
          </p:nvSpPr>
          <p:spPr bwMode="auto">
            <a:xfrm>
              <a:off x="54592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6" name="Rectangle 62"/>
            <p:cNvSpPr>
              <a:spLocks noChangeArrowheads="1"/>
            </p:cNvSpPr>
            <p:nvPr/>
          </p:nvSpPr>
          <p:spPr bwMode="auto">
            <a:xfrm>
              <a:off x="58021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7" name="Rectangle 63"/>
            <p:cNvSpPr>
              <a:spLocks noChangeArrowheads="1"/>
            </p:cNvSpPr>
            <p:nvPr/>
          </p:nvSpPr>
          <p:spPr bwMode="auto">
            <a:xfrm>
              <a:off x="47734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8" name="Rectangle 64"/>
            <p:cNvSpPr>
              <a:spLocks noChangeArrowheads="1"/>
            </p:cNvSpPr>
            <p:nvPr/>
          </p:nvSpPr>
          <p:spPr bwMode="auto">
            <a:xfrm>
              <a:off x="51163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19" name="Rectangle 65"/>
            <p:cNvSpPr>
              <a:spLocks noChangeArrowheads="1"/>
            </p:cNvSpPr>
            <p:nvPr/>
          </p:nvSpPr>
          <p:spPr bwMode="auto">
            <a:xfrm>
              <a:off x="54592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0" name="Rectangle 66"/>
            <p:cNvSpPr>
              <a:spLocks noChangeArrowheads="1"/>
            </p:cNvSpPr>
            <p:nvPr/>
          </p:nvSpPr>
          <p:spPr bwMode="auto">
            <a:xfrm>
              <a:off x="5802128" y="5131934"/>
              <a:ext cx="342900" cy="342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1" name="Rectangle 67"/>
            <p:cNvSpPr>
              <a:spLocks noChangeArrowheads="1"/>
            </p:cNvSpPr>
            <p:nvPr/>
          </p:nvSpPr>
          <p:spPr bwMode="auto">
            <a:xfrm>
              <a:off x="5116328" y="5131934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13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2" name="Rectangle 68"/>
            <p:cNvSpPr>
              <a:spLocks noChangeArrowheads="1"/>
            </p:cNvSpPr>
            <p:nvPr/>
          </p:nvSpPr>
          <p:spPr bwMode="auto">
            <a:xfrm>
              <a:off x="4773428" y="5131934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12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3" name="Rectangle 69"/>
            <p:cNvSpPr>
              <a:spLocks noChangeArrowheads="1"/>
            </p:cNvSpPr>
            <p:nvPr/>
          </p:nvSpPr>
          <p:spPr bwMode="auto">
            <a:xfrm>
              <a:off x="5459228" y="5131934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14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4" name="Rectangle 70"/>
            <p:cNvSpPr>
              <a:spLocks noChangeArrowheads="1"/>
            </p:cNvSpPr>
            <p:nvPr/>
          </p:nvSpPr>
          <p:spPr bwMode="auto">
            <a:xfrm>
              <a:off x="5802128" y="5131934"/>
              <a:ext cx="342900" cy="3429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15</a:t>
              </a:r>
              <a:endPara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818689" y="5491118"/>
              <a:ext cx="124585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350" dirty="0">
                  <a:solidFill>
                    <a:srgbClr val="000000"/>
                  </a:solidFill>
                  <a:latin typeface="Trebuchet MS"/>
                </a:rPr>
                <a:t>Burst section </a:t>
              </a:r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2247439" y="5486296"/>
              <a:ext cx="124585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350" dirty="0">
                  <a:solidFill>
                    <a:srgbClr val="000000"/>
                  </a:solidFill>
                  <a:latin typeface="Trebuchet MS"/>
                </a:rPr>
                <a:t>Burst section </a:t>
              </a: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3561889" y="5491118"/>
              <a:ext cx="124585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350" dirty="0">
                  <a:solidFill>
                    <a:srgbClr val="000000"/>
                  </a:solidFill>
                  <a:latin typeface="Trebuchet MS"/>
                </a:rPr>
                <a:t>Burst section </a:t>
              </a:r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4926346" y="5491118"/>
              <a:ext cx="124585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350" dirty="0">
                  <a:solidFill>
                    <a:srgbClr val="000000"/>
                  </a:solidFill>
                  <a:latin typeface="Trebuchet MS"/>
                </a:rPr>
                <a:t>Burst section </a:t>
              </a:r>
            </a:p>
          </p:txBody>
        </p:sp>
        <p:sp>
          <p:nvSpPr>
            <p:cNvPr id="229" name="Text Box 73"/>
            <p:cNvSpPr txBox="1">
              <a:spLocks noChangeArrowheads="1"/>
            </p:cNvSpPr>
            <p:nvPr/>
          </p:nvSpPr>
          <p:spPr bwMode="auto">
            <a:xfrm>
              <a:off x="4079804" y="4406005"/>
              <a:ext cx="3369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120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0" name="Text Box 74"/>
            <p:cNvSpPr txBox="1">
              <a:spLocks noChangeArrowheads="1"/>
            </p:cNvSpPr>
            <p:nvPr/>
          </p:nvSpPr>
          <p:spPr bwMode="auto">
            <a:xfrm>
              <a:off x="4422704" y="4406005"/>
              <a:ext cx="3369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12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1" name="Text Box 75"/>
            <p:cNvSpPr txBox="1">
              <a:spLocks noChangeArrowheads="1"/>
            </p:cNvSpPr>
            <p:nvPr/>
          </p:nvSpPr>
          <p:spPr bwMode="auto">
            <a:xfrm>
              <a:off x="4765604" y="4406005"/>
              <a:ext cx="3369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12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2" name="Text Box 76"/>
            <p:cNvSpPr txBox="1">
              <a:spLocks noChangeArrowheads="1"/>
            </p:cNvSpPr>
            <p:nvPr/>
          </p:nvSpPr>
          <p:spPr bwMode="auto">
            <a:xfrm>
              <a:off x="5108504" y="4406005"/>
              <a:ext cx="3369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12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33" name="Text Box 79"/>
            <p:cNvSpPr txBox="1">
              <a:spLocks noChangeArrowheads="1"/>
            </p:cNvSpPr>
            <p:nvPr/>
          </p:nvSpPr>
          <p:spPr bwMode="auto">
            <a:xfrm>
              <a:off x="4128132" y="4184240"/>
              <a:ext cx="143981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Un-coalesced Loads</a:t>
              </a:r>
            </a:p>
          </p:txBody>
        </p:sp>
        <p:sp>
          <p:nvSpPr>
            <p:cNvPr id="234" name="Rectangle 94"/>
            <p:cNvSpPr>
              <a:spLocks noChangeArrowheads="1"/>
            </p:cNvSpPr>
            <p:nvPr/>
          </p:nvSpPr>
          <p:spPr bwMode="auto">
            <a:xfrm>
              <a:off x="4079804" y="4183069"/>
              <a:ext cx="1488146" cy="50726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235" name="Straight Arrow Connector 234"/>
            <p:cNvCxnSpPr/>
            <p:nvPr/>
          </p:nvCxnSpPr>
          <p:spPr>
            <a:xfrm flipV="1">
              <a:off x="4254819" y="4697476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236" name="Straight Arrow Connector 235"/>
            <p:cNvCxnSpPr/>
            <p:nvPr/>
          </p:nvCxnSpPr>
          <p:spPr>
            <a:xfrm flipV="1">
              <a:off x="4597719" y="4697476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237" name="Straight Arrow Connector 236"/>
            <p:cNvCxnSpPr/>
            <p:nvPr/>
          </p:nvCxnSpPr>
          <p:spPr>
            <a:xfrm flipV="1">
              <a:off x="4929231" y="4696678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238" name="Straight Arrow Connector 237"/>
            <p:cNvCxnSpPr/>
            <p:nvPr/>
          </p:nvCxnSpPr>
          <p:spPr>
            <a:xfrm flipV="1">
              <a:off x="5272131" y="4688737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sp>
          <p:nvSpPr>
            <p:cNvPr id="239" name="Text Box 73"/>
            <p:cNvSpPr txBox="1">
              <a:spLocks noChangeArrowheads="1"/>
            </p:cNvSpPr>
            <p:nvPr/>
          </p:nvSpPr>
          <p:spPr bwMode="auto">
            <a:xfrm>
              <a:off x="657245" y="4381511"/>
              <a:ext cx="3369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120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40" name="Text Box 74"/>
            <p:cNvSpPr txBox="1">
              <a:spLocks noChangeArrowheads="1"/>
            </p:cNvSpPr>
            <p:nvPr/>
          </p:nvSpPr>
          <p:spPr bwMode="auto">
            <a:xfrm>
              <a:off x="1346282" y="4381511"/>
              <a:ext cx="3369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120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41" name="Text Box 75"/>
            <p:cNvSpPr txBox="1">
              <a:spLocks noChangeArrowheads="1"/>
            </p:cNvSpPr>
            <p:nvPr/>
          </p:nvSpPr>
          <p:spPr bwMode="auto">
            <a:xfrm>
              <a:off x="1998581" y="4381511"/>
              <a:ext cx="3369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120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42" name="Text Box 76"/>
            <p:cNvSpPr txBox="1">
              <a:spLocks noChangeArrowheads="1"/>
            </p:cNvSpPr>
            <p:nvPr/>
          </p:nvSpPr>
          <p:spPr bwMode="auto">
            <a:xfrm>
              <a:off x="2699978" y="4381511"/>
              <a:ext cx="3682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120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43" name="Text Box 79"/>
            <p:cNvSpPr txBox="1">
              <a:spLocks noChangeArrowheads="1"/>
            </p:cNvSpPr>
            <p:nvPr/>
          </p:nvSpPr>
          <p:spPr bwMode="auto">
            <a:xfrm>
              <a:off x="1176904" y="4149604"/>
              <a:ext cx="158088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Un-coalesced Loads</a:t>
              </a:r>
            </a:p>
          </p:txBody>
        </p:sp>
        <p:sp>
          <p:nvSpPr>
            <p:cNvPr id="244" name="Rectangle 94"/>
            <p:cNvSpPr>
              <a:spLocks noChangeArrowheads="1"/>
            </p:cNvSpPr>
            <p:nvPr/>
          </p:nvSpPr>
          <p:spPr bwMode="auto">
            <a:xfrm>
              <a:off x="657244" y="4171590"/>
              <a:ext cx="2723645" cy="52508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245" name="Straight Arrow Connector 244"/>
            <p:cNvCxnSpPr/>
            <p:nvPr/>
          </p:nvCxnSpPr>
          <p:spPr>
            <a:xfrm flipV="1">
              <a:off x="832259" y="4681594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246" name="Straight Arrow Connector 245"/>
            <p:cNvCxnSpPr/>
            <p:nvPr/>
          </p:nvCxnSpPr>
          <p:spPr>
            <a:xfrm flipV="1">
              <a:off x="1494939" y="4673240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247" name="Straight Arrow Connector 246"/>
            <p:cNvCxnSpPr/>
            <p:nvPr/>
          </p:nvCxnSpPr>
          <p:spPr>
            <a:xfrm flipV="1">
              <a:off x="2180739" y="4697476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248" name="Straight Arrow Connector 247"/>
            <p:cNvCxnSpPr/>
            <p:nvPr/>
          </p:nvCxnSpPr>
          <p:spPr>
            <a:xfrm flipV="1">
              <a:off x="2866539" y="4673239"/>
              <a:ext cx="0" cy="435643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904660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چند مثال از الگوهای تلفیق شونده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l" rtl="0">
              <a:buNone/>
            </a:pPr>
            <a:endParaRPr lang="en-US" sz="2000" dirty="0">
              <a:latin typeface="Droid Sans" panose="020B0606030804020204" pitchFamily="34" charset="0"/>
              <a:ea typeface="Droid Sans" panose="020B0606030804020204" pitchFamily="34" charset="0"/>
            </a:endParaRPr>
          </a:p>
          <a:p>
            <a:pPr marL="0" indent="0" algn="l" rtl="0">
              <a:buNone/>
            </a:pPr>
            <a:r>
              <a:rPr lang="fa-IR" sz="2000" dirty="0">
                <a:solidFill>
                  <a:srgbClr val="FF6600"/>
                </a:solidFill>
                <a:latin typeface="Droid Sans" panose="020B0606030804020204" pitchFamily="34" charset="0"/>
                <a:ea typeface="Droid Sans" panose="020B0606030804020204" pitchFamily="34" charset="0"/>
              </a:rPr>
              <a:t>__</a:t>
            </a:r>
            <a:r>
              <a:rPr lang="en-US" sz="2000" dirty="0">
                <a:solidFill>
                  <a:srgbClr val="FF660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global__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</a:t>
            </a:r>
            <a:r>
              <a:rPr lang="en-US" sz="20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void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foo(</a:t>
            </a:r>
            <a:r>
              <a:rPr lang="en-US" sz="20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float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*g)</a:t>
            </a:r>
          </a:p>
          <a:p>
            <a:pPr marL="0" indent="0" algn="l" rtl="0">
              <a:buNone/>
            </a:pP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{</a:t>
            </a:r>
          </a:p>
          <a:p>
            <a:pPr marL="0" indent="0" algn="l" rtl="0">
              <a:buNone/>
            </a:pP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</a:t>
            </a:r>
            <a:r>
              <a:rPr lang="en-US" sz="20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float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a = 3.14;</a:t>
            </a:r>
          </a:p>
          <a:p>
            <a:pPr marL="0" indent="0" algn="l" rtl="0">
              <a:buNone/>
            </a:pP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</a:t>
            </a:r>
            <a:r>
              <a:rPr lang="en-US" sz="2000" dirty="0" err="1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int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</a:t>
            </a:r>
            <a:r>
              <a:rPr lang="en-US" sz="20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= </a:t>
            </a:r>
            <a:r>
              <a:rPr lang="en-US" sz="20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threadIdx.x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;</a:t>
            </a:r>
          </a:p>
          <a:p>
            <a:pPr marL="0" indent="0" algn="l" rtl="0">
              <a:buNone/>
            </a:pP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g[</a:t>
            </a:r>
            <a:r>
              <a:rPr lang="en-US" sz="20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] = a;</a:t>
            </a:r>
          </a:p>
          <a:p>
            <a:pPr marL="0" indent="0" algn="l" rtl="0">
              <a:buNone/>
            </a:pP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a = g[</a:t>
            </a:r>
            <a:r>
              <a:rPr lang="en-US" sz="20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];</a:t>
            </a:r>
          </a:p>
          <a:p>
            <a:pPr marL="0" indent="0" algn="l" rtl="0">
              <a:buNone/>
            </a:pP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g[2*</a:t>
            </a:r>
            <a:r>
              <a:rPr lang="en-US" sz="20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] = a;</a:t>
            </a:r>
          </a:p>
          <a:p>
            <a:pPr marL="0" indent="0" algn="l" rtl="0">
              <a:buNone/>
            </a:pP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a = g[</a:t>
            </a:r>
            <a:r>
              <a:rPr lang="en-US" sz="20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Block_WIDTH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/2 + </a:t>
            </a:r>
            <a:r>
              <a:rPr lang="en-US" sz="20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];</a:t>
            </a:r>
          </a:p>
          <a:p>
            <a:pPr marL="0" indent="0" algn="l" rtl="0">
              <a:buNone/>
            </a:pP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g[</a:t>
            </a:r>
            <a:r>
              <a:rPr lang="en-US" sz="20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Block_WIDTH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- 1 - </a:t>
            </a:r>
            <a:r>
              <a:rPr lang="en-US" sz="20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</a:t>
            </a: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] = a;</a:t>
            </a:r>
          </a:p>
          <a:p>
            <a:pPr marL="0" indent="0" algn="l" rtl="0">
              <a:buNone/>
            </a:pPr>
            <a:r>
              <a:rPr lang="en-US" sz="20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19600" y="2667000"/>
            <a:ext cx="41910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2400" dirty="0">
                <a:cs typeface="B Nazanin" panose="00000400000000000000" pitchFamily="2" charset="-78"/>
              </a:rPr>
              <a:t>کدامیک از این دسترسی‌ها تلفیق می‌شوند؟</a:t>
            </a:r>
          </a:p>
        </p:txBody>
      </p:sp>
    </p:spTree>
    <p:extLst>
      <p:ext uri="{BB962C8B-B14F-4D97-AF65-F5344CB8AC3E}">
        <p14:creationId xmlns:p14="http://schemas.microsoft.com/office/powerpoint/2010/main" val="213149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نحوه ذخیره یک آرایه دوبعدی به صورت خطی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یادآوری این نکته که در </a:t>
            </a:r>
            <a:r>
              <a:rPr lang="en-US" dirty="0"/>
              <a:t>C/C++</a:t>
            </a:r>
            <a:r>
              <a:rPr lang="fa-IR" dirty="0"/>
              <a:t>، ماتریس‌ها به صورت ردیفی در حافظه ذخیره می‌شوند.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grpSp>
        <p:nvGrpSpPr>
          <p:cNvPr id="85" name="Group 84"/>
          <p:cNvGrpSpPr/>
          <p:nvPr/>
        </p:nvGrpSpPr>
        <p:grpSpPr>
          <a:xfrm>
            <a:off x="572814" y="2590800"/>
            <a:ext cx="7981617" cy="2743200"/>
            <a:chOff x="502444" y="1308913"/>
            <a:chExt cx="5669756" cy="1948637"/>
          </a:xfrm>
        </p:grpSpPr>
        <p:sp>
          <p:nvSpPr>
            <p:cNvPr id="86" name="Rectangle 2"/>
            <p:cNvSpPr>
              <a:spLocks noChangeArrowheads="1"/>
            </p:cNvSpPr>
            <p:nvPr/>
          </p:nvSpPr>
          <p:spPr bwMode="auto">
            <a:xfrm>
              <a:off x="2743200" y="2080438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7" name="Rectangle 3"/>
            <p:cNvSpPr>
              <a:spLocks noChangeArrowheads="1"/>
            </p:cNvSpPr>
            <p:nvPr/>
          </p:nvSpPr>
          <p:spPr bwMode="auto">
            <a:xfrm>
              <a:off x="3086100" y="2080438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8" name="Rectangle 4"/>
            <p:cNvSpPr>
              <a:spLocks noChangeArrowheads="1"/>
            </p:cNvSpPr>
            <p:nvPr/>
          </p:nvSpPr>
          <p:spPr bwMode="auto">
            <a:xfrm>
              <a:off x="3429000" y="1308913"/>
              <a:ext cx="342900" cy="25717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0,2</a:t>
              </a:r>
            </a:p>
          </p:txBody>
        </p:sp>
        <p:sp>
          <p:nvSpPr>
            <p:cNvPr id="89" name="Rectangle 5"/>
            <p:cNvSpPr>
              <a:spLocks noChangeArrowheads="1"/>
            </p:cNvSpPr>
            <p:nvPr/>
          </p:nvSpPr>
          <p:spPr bwMode="auto">
            <a:xfrm>
              <a:off x="3086100" y="182326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0" name="Rectangle 6"/>
            <p:cNvSpPr>
              <a:spLocks noChangeArrowheads="1"/>
            </p:cNvSpPr>
            <p:nvPr/>
          </p:nvSpPr>
          <p:spPr bwMode="auto">
            <a:xfrm>
              <a:off x="3086100" y="1566088"/>
              <a:ext cx="342900" cy="2571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1,1</a:t>
              </a:r>
            </a:p>
          </p:txBody>
        </p:sp>
        <p:sp>
          <p:nvSpPr>
            <p:cNvPr id="91" name="Rectangle 7"/>
            <p:cNvSpPr>
              <a:spLocks noChangeArrowheads="1"/>
            </p:cNvSpPr>
            <p:nvPr/>
          </p:nvSpPr>
          <p:spPr bwMode="auto">
            <a:xfrm>
              <a:off x="3086100" y="1308913"/>
              <a:ext cx="342900" cy="25717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0,1</a:t>
              </a:r>
            </a:p>
          </p:txBody>
        </p:sp>
        <p:sp>
          <p:nvSpPr>
            <p:cNvPr id="92" name="Rectangle 8"/>
            <p:cNvSpPr>
              <a:spLocks noChangeArrowheads="1"/>
            </p:cNvSpPr>
            <p:nvPr/>
          </p:nvSpPr>
          <p:spPr bwMode="auto">
            <a:xfrm>
              <a:off x="2743200" y="1308913"/>
              <a:ext cx="342900" cy="25717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0,0</a:t>
              </a:r>
            </a:p>
          </p:txBody>
        </p:sp>
        <p:sp>
          <p:nvSpPr>
            <p:cNvPr id="93" name="Rectangle 9"/>
            <p:cNvSpPr>
              <a:spLocks noChangeArrowheads="1"/>
            </p:cNvSpPr>
            <p:nvPr/>
          </p:nvSpPr>
          <p:spPr bwMode="auto">
            <a:xfrm>
              <a:off x="2743200" y="1566088"/>
              <a:ext cx="342900" cy="2571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1,0</a:t>
              </a:r>
            </a:p>
          </p:txBody>
        </p:sp>
        <p:sp>
          <p:nvSpPr>
            <p:cNvPr id="94" name="Rectangle 10"/>
            <p:cNvSpPr>
              <a:spLocks noChangeArrowheads="1"/>
            </p:cNvSpPr>
            <p:nvPr/>
          </p:nvSpPr>
          <p:spPr bwMode="auto">
            <a:xfrm>
              <a:off x="2743200" y="182326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5" name="Rectangle 11"/>
            <p:cNvSpPr>
              <a:spLocks noChangeArrowheads="1"/>
            </p:cNvSpPr>
            <p:nvPr/>
          </p:nvSpPr>
          <p:spPr bwMode="auto">
            <a:xfrm>
              <a:off x="3771900" y="1308913"/>
              <a:ext cx="342900" cy="25717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0,3</a:t>
              </a:r>
            </a:p>
          </p:txBody>
        </p:sp>
        <p:sp>
          <p:nvSpPr>
            <p:cNvPr id="96" name="Rectangle 12"/>
            <p:cNvSpPr>
              <a:spLocks noChangeArrowheads="1"/>
            </p:cNvSpPr>
            <p:nvPr/>
          </p:nvSpPr>
          <p:spPr bwMode="auto">
            <a:xfrm>
              <a:off x="3429000" y="2080438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7" name="Rectangle 13"/>
            <p:cNvSpPr>
              <a:spLocks noChangeArrowheads="1"/>
            </p:cNvSpPr>
            <p:nvPr/>
          </p:nvSpPr>
          <p:spPr bwMode="auto">
            <a:xfrm>
              <a:off x="3429000" y="182326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8" name="Rectangle 14"/>
            <p:cNvSpPr>
              <a:spLocks noChangeArrowheads="1"/>
            </p:cNvSpPr>
            <p:nvPr/>
          </p:nvSpPr>
          <p:spPr bwMode="auto">
            <a:xfrm>
              <a:off x="3429000" y="1566088"/>
              <a:ext cx="342900" cy="2571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1,2</a:t>
              </a:r>
            </a:p>
          </p:txBody>
        </p:sp>
        <p:sp>
          <p:nvSpPr>
            <p:cNvPr id="99" name="Rectangle 15"/>
            <p:cNvSpPr>
              <a:spLocks noChangeArrowheads="1"/>
            </p:cNvSpPr>
            <p:nvPr/>
          </p:nvSpPr>
          <p:spPr bwMode="auto">
            <a:xfrm>
              <a:off x="3771900" y="2080438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0" name="Rectangle 16"/>
            <p:cNvSpPr>
              <a:spLocks noChangeArrowheads="1"/>
            </p:cNvSpPr>
            <p:nvPr/>
          </p:nvSpPr>
          <p:spPr bwMode="auto">
            <a:xfrm>
              <a:off x="3771900" y="182326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1" name="Rectangle 17"/>
            <p:cNvSpPr>
              <a:spLocks noChangeArrowheads="1"/>
            </p:cNvSpPr>
            <p:nvPr/>
          </p:nvSpPr>
          <p:spPr bwMode="auto">
            <a:xfrm>
              <a:off x="3771900" y="1566088"/>
              <a:ext cx="342900" cy="2571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1,3</a:t>
              </a:r>
            </a:p>
          </p:txBody>
        </p:sp>
        <p:sp>
          <p:nvSpPr>
            <p:cNvPr id="102" name="Rectangle 19"/>
            <p:cNvSpPr>
              <a:spLocks noChangeArrowheads="1"/>
            </p:cNvSpPr>
            <p:nvPr/>
          </p:nvSpPr>
          <p:spPr bwMode="auto">
            <a:xfrm>
              <a:off x="6858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3" name="Rectangle 20"/>
            <p:cNvSpPr>
              <a:spLocks noChangeArrowheads="1"/>
            </p:cNvSpPr>
            <p:nvPr/>
          </p:nvSpPr>
          <p:spPr bwMode="auto">
            <a:xfrm>
              <a:off x="10287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4" name="Rectangle 21"/>
            <p:cNvSpPr>
              <a:spLocks noChangeArrowheads="1"/>
            </p:cNvSpPr>
            <p:nvPr/>
          </p:nvSpPr>
          <p:spPr bwMode="auto">
            <a:xfrm>
              <a:off x="13716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5" name="Rectangle 22"/>
            <p:cNvSpPr>
              <a:spLocks noChangeArrowheads="1"/>
            </p:cNvSpPr>
            <p:nvPr/>
          </p:nvSpPr>
          <p:spPr bwMode="auto">
            <a:xfrm>
              <a:off x="17145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6" name="Rectangle 23"/>
            <p:cNvSpPr>
              <a:spLocks noChangeArrowheads="1"/>
            </p:cNvSpPr>
            <p:nvPr/>
          </p:nvSpPr>
          <p:spPr bwMode="auto">
            <a:xfrm>
              <a:off x="20574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7" name="Rectangle 24"/>
            <p:cNvSpPr>
              <a:spLocks noChangeArrowheads="1"/>
            </p:cNvSpPr>
            <p:nvPr/>
          </p:nvSpPr>
          <p:spPr bwMode="auto">
            <a:xfrm>
              <a:off x="24003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8" name="Rectangle 25"/>
            <p:cNvSpPr>
              <a:spLocks noChangeArrowheads="1"/>
            </p:cNvSpPr>
            <p:nvPr/>
          </p:nvSpPr>
          <p:spPr bwMode="auto">
            <a:xfrm>
              <a:off x="27432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9" name="Rectangle 26"/>
            <p:cNvSpPr>
              <a:spLocks noChangeArrowheads="1"/>
            </p:cNvSpPr>
            <p:nvPr/>
          </p:nvSpPr>
          <p:spPr bwMode="auto">
            <a:xfrm>
              <a:off x="30861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0" name="Rectangle 27"/>
            <p:cNvSpPr>
              <a:spLocks noChangeArrowheads="1"/>
            </p:cNvSpPr>
            <p:nvPr/>
          </p:nvSpPr>
          <p:spPr bwMode="auto">
            <a:xfrm>
              <a:off x="34290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1" name="Rectangle 28"/>
            <p:cNvSpPr>
              <a:spLocks noChangeArrowheads="1"/>
            </p:cNvSpPr>
            <p:nvPr/>
          </p:nvSpPr>
          <p:spPr bwMode="auto">
            <a:xfrm>
              <a:off x="37719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2" name="Rectangle 29"/>
            <p:cNvSpPr>
              <a:spLocks noChangeArrowheads="1"/>
            </p:cNvSpPr>
            <p:nvPr/>
          </p:nvSpPr>
          <p:spPr bwMode="auto">
            <a:xfrm>
              <a:off x="41148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3" name="Rectangle 30"/>
            <p:cNvSpPr>
              <a:spLocks noChangeArrowheads="1"/>
            </p:cNvSpPr>
            <p:nvPr/>
          </p:nvSpPr>
          <p:spPr bwMode="auto">
            <a:xfrm>
              <a:off x="44577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4" name="Rectangle 31"/>
            <p:cNvSpPr>
              <a:spLocks noChangeArrowheads="1"/>
            </p:cNvSpPr>
            <p:nvPr/>
          </p:nvSpPr>
          <p:spPr bwMode="auto">
            <a:xfrm>
              <a:off x="1371600" y="2680513"/>
              <a:ext cx="342900" cy="25717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0,2</a:t>
              </a:r>
            </a:p>
          </p:txBody>
        </p:sp>
        <p:sp>
          <p:nvSpPr>
            <p:cNvPr id="115" name="Rectangle 32"/>
            <p:cNvSpPr>
              <a:spLocks noChangeArrowheads="1"/>
            </p:cNvSpPr>
            <p:nvPr/>
          </p:nvSpPr>
          <p:spPr bwMode="auto">
            <a:xfrm>
              <a:off x="1028700" y="2680513"/>
              <a:ext cx="342900" cy="25717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0,1</a:t>
              </a:r>
            </a:p>
          </p:txBody>
        </p:sp>
        <p:sp>
          <p:nvSpPr>
            <p:cNvPr id="116" name="Rectangle 33"/>
            <p:cNvSpPr>
              <a:spLocks noChangeArrowheads="1"/>
            </p:cNvSpPr>
            <p:nvPr/>
          </p:nvSpPr>
          <p:spPr bwMode="auto">
            <a:xfrm>
              <a:off x="685800" y="2680513"/>
              <a:ext cx="342900" cy="25717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0,0</a:t>
              </a:r>
            </a:p>
          </p:txBody>
        </p:sp>
        <p:sp>
          <p:nvSpPr>
            <p:cNvPr id="117" name="Rectangle 34"/>
            <p:cNvSpPr>
              <a:spLocks noChangeArrowheads="1"/>
            </p:cNvSpPr>
            <p:nvPr/>
          </p:nvSpPr>
          <p:spPr bwMode="auto">
            <a:xfrm>
              <a:off x="1714500" y="2680513"/>
              <a:ext cx="342900" cy="25717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0,3</a:t>
              </a:r>
            </a:p>
          </p:txBody>
        </p:sp>
        <p:sp>
          <p:nvSpPr>
            <p:cNvPr id="118" name="Rectangle 35"/>
            <p:cNvSpPr>
              <a:spLocks noChangeArrowheads="1"/>
            </p:cNvSpPr>
            <p:nvPr/>
          </p:nvSpPr>
          <p:spPr bwMode="auto">
            <a:xfrm>
              <a:off x="2400300" y="2680513"/>
              <a:ext cx="342900" cy="2571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1,1</a:t>
              </a:r>
            </a:p>
          </p:txBody>
        </p:sp>
        <p:sp>
          <p:nvSpPr>
            <p:cNvPr id="119" name="Rectangle 36"/>
            <p:cNvSpPr>
              <a:spLocks noChangeArrowheads="1"/>
            </p:cNvSpPr>
            <p:nvPr/>
          </p:nvSpPr>
          <p:spPr bwMode="auto">
            <a:xfrm>
              <a:off x="2057400" y="2680513"/>
              <a:ext cx="342900" cy="2571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1,0</a:t>
              </a:r>
            </a:p>
          </p:txBody>
        </p:sp>
        <p:sp>
          <p:nvSpPr>
            <p:cNvPr id="120" name="Rectangle 37"/>
            <p:cNvSpPr>
              <a:spLocks noChangeArrowheads="1"/>
            </p:cNvSpPr>
            <p:nvPr/>
          </p:nvSpPr>
          <p:spPr bwMode="auto">
            <a:xfrm>
              <a:off x="2743200" y="2680513"/>
              <a:ext cx="342900" cy="2571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1,2</a:t>
              </a:r>
            </a:p>
          </p:txBody>
        </p:sp>
        <p:sp>
          <p:nvSpPr>
            <p:cNvPr id="121" name="Rectangle 38"/>
            <p:cNvSpPr>
              <a:spLocks noChangeArrowheads="1"/>
            </p:cNvSpPr>
            <p:nvPr/>
          </p:nvSpPr>
          <p:spPr bwMode="auto">
            <a:xfrm>
              <a:off x="3086100" y="2680513"/>
              <a:ext cx="342900" cy="2571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1,3</a:t>
              </a:r>
            </a:p>
          </p:txBody>
        </p:sp>
        <p:sp>
          <p:nvSpPr>
            <p:cNvPr id="122" name="Rectangle 39"/>
            <p:cNvSpPr>
              <a:spLocks noChangeArrowheads="1"/>
            </p:cNvSpPr>
            <p:nvPr/>
          </p:nvSpPr>
          <p:spPr bwMode="auto">
            <a:xfrm>
              <a:off x="3771900" y="2680513"/>
              <a:ext cx="342900" cy="257175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2,1</a:t>
              </a:r>
            </a:p>
          </p:txBody>
        </p:sp>
        <p:sp>
          <p:nvSpPr>
            <p:cNvPr id="123" name="Rectangle 40"/>
            <p:cNvSpPr>
              <a:spLocks noChangeArrowheads="1"/>
            </p:cNvSpPr>
            <p:nvPr/>
          </p:nvSpPr>
          <p:spPr bwMode="auto">
            <a:xfrm>
              <a:off x="3429000" y="2680513"/>
              <a:ext cx="342900" cy="257175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2,0</a:t>
              </a:r>
            </a:p>
          </p:txBody>
        </p:sp>
        <p:sp>
          <p:nvSpPr>
            <p:cNvPr id="124" name="Rectangle 41"/>
            <p:cNvSpPr>
              <a:spLocks noChangeArrowheads="1"/>
            </p:cNvSpPr>
            <p:nvPr/>
          </p:nvSpPr>
          <p:spPr bwMode="auto">
            <a:xfrm>
              <a:off x="4114800" y="2680513"/>
              <a:ext cx="342900" cy="257175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2,2</a:t>
              </a:r>
            </a:p>
          </p:txBody>
        </p:sp>
        <p:sp>
          <p:nvSpPr>
            <p:cNvPr id="125" name="Rectangle 42"/>
            <p:cNvSpPr>
              <a:spLocks noChangeArrowheads="1"/>
            </p:cNvSpPr>
            <p:nvPr/>
          </p:nvSpPr>
          <p:spPr bwMode="auto">
            <a:xfrm>
              <a:off x="4457700" y="2680513"/>
              <a:ext cx="342900" cy="257175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2,3</a:t>
              </a:r>
            </a:p>
          </p:txBody>
        </p:sp>
        <p:sp>
          <p:nvSpPr>
            <p:cNvPr id="126" name="Rectangle 43"/>
            <p:cNvSpPr>
              <a:spLocks noChangeArrowheads="1"/>
            </p:cNvSpPr>
            <p:nvPr/>
          </p:nvSpPr>
          <p:spPr bwMode="auto">
            <a:xfrm>
              <a:off x="2743200" y="182326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7" name="Rectangle 44"/>
            <p:cNvSpPr>
              <a:spLocks noChangeArrowheads="1"/>
            </p:cNvSpPr>
            <p:nvPr/>
          </p:nvSpPr>
          <p:spPr bwMode="auto">
            <a:xfrm>
              <a:off x="3086100" y="182326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8" name="Rectangle 45"/>
            <p:cNvSpPr>
              <a:spLocks noChangeArrowheads="1"/>
            </p:cNvSpPr>
            <p:nvPr/>
          </p:nvSpPr>
          <p:spPr bwMode="auto">
            <a:xfrm>
              <a:off x="3429000" y="182326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29" name="Rectangle 46"/>
            <p:cNvSpPr>
              <a:spLocks noChangeArrowheads="1"/>
            </p:cNvSpPr>
            <p:nvPr/>
          </p:nvSpPr>
          <p:spPr bwMode="auto">
            <a:xfrm>
              <a:off x="3771900" y="182326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0" name="Rectangle 47"/>
            <p:cNvSpPr>
              <a:spLocks noChangeArrowheads="1"/>
            </p:cNvSpPr>
            <p:nvPr/>
          </p:nvSpPr>
          <p:spPr bwMode="auto">
            <a:xfrm>
              <a:off x="3086100" y="1823263"/>
              <a:ext cx="342900" cy="257175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2,1</a:t>
              </a:r>
            </a:p>
          </p:txBody>
        </p:sp>
        <p:sp>
          <p:nvSpPr>
            <p:cNvPr id="131" name="Rectangle 48"/>
            <p:cNvSpPr>
              <a:spLocks noChangeArrowheads="1"/>
            </p:cNvSpPr>
            <p:nvPr/>
          </p:nvSpPr>
          <p:spPr bwMode="auto">
            <a:xfrm>
              <a:off x="2743200" y="1823263"/>
              <a:ext cx="342900" cy="257175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2,0</a:t>
              </a:r>
            </a:p>
          </p:txBody>
        </p:sp>
        <p:sp>
          <p:nvSpPr>
            <p:cNvPr id="132" name="Rectangle 49"/>
            <p:cNvSpPr>
              <a:spLocks noChangeArrowheads="1"/>
            </p:cNvSpPr>
            <p:nvPr/>
          </p:nvSpPr>
          <p:spPr bwMode="auto">
            <a:xfrm>
              <a:off x="3429000" y="1823263"/>
              <a:ext cx="342900" cy="257175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2,2</a:t>
              </a:r>
            </a:p>
          </p:txBody>
        </p:sp>
        <p:sp>
          <p:nvSpPr>
            <p:cNvPr id="133" name="Rectangle 50"/>
            <p:cNvSpPr>
              <a:spLocks noChangeArrowheads="1"/>
            </p:cNvSpPr>
            <p:nvPr/>
          </p:nvSpPr>
          <p:spPr bwMode="auto">
            <a:xfrm>
              <a:off x="3771900" y="1823263"/>
              <a:ext cx="342900" cy="257175"/>
            </a:xfrm>
            <a:prstGeom prst="rect">
              <a:avLst/>
            </a:prstGeom>
            <a:solidFill>
              <a:srgbClr val="0000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2,3</a:t>
              </a:r>
            </a:p>
          </p:txBody>
        </p:sp>
        <p:sp>
          <p:nvSpPr>
            <p:cNvPr id="134" name="Rectangle 51"/>
            <p:cNvSpPr>
              <a:spLocks noChangeArrowheads="1"/>
            </p:cNvSpPr>
            <p:nvPr/>
          </p:nvSpPr>
          <p:spPr bwMode="auto">
            <a:xfrm>
              <a:off x="2743200" y="2080438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5" name="Rectangle 52"/>
            <p:cNvSpPr>
              <a:spLocks noChangeArrowheads="1"/>
            </p:cNvSpPr>
            <p:nvPr/>
          </p:nvSpPr>
          <p:spPr bwMode="auto">
            <a:xfrm>
              <a:off x="3086100" y="2080438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6" name="Rectangle 53"/>
            <p:cNvSpPr>
              <a:spLocks noChangeArrowheads="1"/>
            </p:cNvSpPr>
            <p:nvPr/>
          </p:nvSpPr>
          <p:spPr bwMode="auto">
            <a:xfrm>
              <a:off x="3429000" y="2080438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7" name="Rectangle 54"/>
            <p:cNvSpPr>
              <a:spLocks noChangeArrowheads="1"/>
            </p:cNvSpPr>
            <p:nvPr/>
          </p:nvSpPr>
          <p:spPr bwMode="auto">
            <a:xfrm>
              <a:off x="3771900" y="2080438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8" name="Rectangle 55"/>
            <p:cNvSpPr>
              <a:spLocks noChangeArrowheads="1"/>
            </p:cNvSpPr>
            <p:nvPr/>
          </p:nvSpPr>
          <p:spPr bwMode="auto">
            <a:xfrm>
              <a:off x="3086100" y="2080438"/>
              <a:ext cx="342900" cy="257175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3,1</a:t>
              </a:r>
            </a:p>
          </p:txBody>
        </p:sp>
        <p:sp>
          <p:nvSpPr>
            <p:cNvPr id="139" name="Rectangle 56"/>
            <p:cNvSpPr>
              <a:spLocks noChangeArrowheads="1"/>
            </p:cNvSpPr>
            <p:nvPr/>
          </p:nvSpPr>
          <p:spPr bwMode="auto">
            <a:xfrm>
              <a:off x="2743200" y="2080438"/>
              <a:ext cx="342900" cy="257175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3,0</a:t>
              </a:r>
            </a:p>
          </p:txBody>
        </p:sp>
        <p:sp>
          <p:nvSpPr>
            <p:cNvPr id="140" name="Rectangle 57"/>
            <p:cNvSpPr>
              <a:spLocks noChangeArrowheads="1"/>
            </p:cNvSpPr>
            <p:nvPr/>
          </p:nvSpPr>
          <p:spPr bwMode="auto">
            <a:xfrm>
              <a:off x="3429000" y="2080438"/>
              <a:ext cx="342900" cy="257175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3,2</a:t>
              </a:r>
            </a:p>
          </p:txBody>
        </p:sp>
        <p:sp>
          <p:nvSpPr>
            <p:cNvPr id="141" name="Rectangle 58"/>
            <p:cNvSpPr>
              <a:spLocks noChangeArrowheads="1"/>
            </p:cNvSpPr>
            <p:nvPr/>
          </p:nvSpPr>
          <p:spPr bwMode="auto">
            <a:xfrm>
              <a:off x="3771900" y="2080438"/>
              <a:ext cx="342900" cy="257175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3,3</a:t>
              </a:r>
            </a:p>
          </p:txBody>
        </p:sp>
        <p:sp>
          <p:nvSpPr>
            <p:cNvPr id="142" name="Rectangle 59"/>
            <p:cNvSpPr>
              <a:spLocks noChangeArrowheads="1"/>
            </p:cNvSpPr>
            <p:nvPr/>
          </p:nvSpPr>
          <p:spPr bwMode="auto">
            <a:xfrm>
              <a:off x="48006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3" name="Rectangle 60"/>
            <p:cNvSpPr>
              <a:spLocks noChangeArrowheads="1"/>
            </p:cNvSpPr>
            <p:nvPr/>
          </p:nvSpPr>
          <p:spPr bwMode="auto">
            <a:xfrm>
              <a:off x="51435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4" name="Rectangle 61"/>
            <p:cNvSpPr>
              <a:spLocks noChangeArrowheads="1"/>
            </p:cNvSpPr>
            <p:nvPr/>
          </p:nvSpPr>
          <p:spPr bwMode="auto">
            <a:xfrm>
              <a:off x="54864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5" name="Rectangle 62"/>
            <p:cNvSpPr>
              <a:spLocks noChangeArrowheads="1"/>
            </p:cNvSpPr>
            <p:nvPr/>
          </p:nvSpPr>
          <p:spPr bwMode="auto">
            <a:xfrm>
              <a:off x="58293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6" name="Rectangle 63"/>
            <p:cNvSpPr>
              <a:spLocks noChangeArrowheads="1"/>
            </p:cNvSpPr>
            <p:nvPr/>
          </p:nvSpPr>
          <p:spPr bwMode="auto">
            <a:xfrm>
              <a:off x="48006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7" name="Rectangle 64"/>
            <p:cNvSpPr>
              <a:spLocks noChangeArrowheads="1"/>
            </p:cNvSpPr>
            <p:nvPr/>
          </p:nvSpPr>
          <p:spPr bwMode="auto">
            <a:xfrm>
              <a:off x="51435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8" name="Rectangle 65"/>
            <p:cNvSpPr>
              <a:spLocks noChangeArrowheads="1"/>
            </p:cNvSpPr>
            <p:nvPr/>
          </p:nvSpPr>
          <p:spPr bwMode="auto">
            <a:xfrm>
              <a:off x="54864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9" name="Rectangle 66"/>
            <p:cNvSpPr>
              <a:spLocks noChangeArrowheads="1"/>
            </p:cNvSpPr>
            <p:nvPr/>
          </p:nvSpPr>
          <p:spPr bwMode="auto">
            <a:xfrm>
              <a:off x="5829300" y="2680513"/>
              <a:ext cx="342900" cy="2571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0" name="Rectangle 67"/>
            <p:cNvSpPr>
              <a:spLocks noChangeArrowheads="1"/>
            </p:cNvSpPr>
            <p:nvPr/>
          </p:nvSpPr>
          <p:spPr bwMode="auto">
            <a:xfrm>
              <a:off x="5143500" y="2680513"/>
              <a:ext cx="342900" cy="257175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3,1</a:t>
              </a:r>
            </a:p>
          </p:txBody>
        </p:sp>
        <p:sp>
          <p:nvSpPr>
            <p:cNvPr id="151" name="Rectangle 68"/>
            <p:cNvSpPr>
              <a:spLocks noChangeArrowheads="1"/>
            </p:cNvSpPr>
            <p:nvPr/>
          </p:nvSpPr>
          <p:spPr bwMode="auto">
            <a:xfrm>
              <a:off x="4800600" y="2680513"/>
              <a:ext cx="342900" cy="257175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3,0</a:t>
              </a:r>
            </a:p>
          </p:txBody>
        </p:sp>
        <p:sp>
          <p:nvSpPr>
            <p:cNvPr id="152" name="Rectangle 69"/>
            <p:cNvSpPr>
              <a:spLocks noChangeArrowheads="1"/>
            </p:cNvSpPr>
            <p:nvPr/>
          </p:nvSpPr>
          <p:spPr bwMode="auto">
            <a:xfrm>
              <a:off x="5486400" y="2680513"/>
              <a:ext cx="342900" cy="257175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3,2</a:t>
              </a:r>
            </a:p>
          </p:txBody>
        </p:sp>
        <p:sp>
          <p:nvSpPr>
            <p:cNvPr id="153" name="Rectangle 70"/>
            <p:cNvSpPr>
              <a:spLocks noChangeArrowheads="1"/>
            </p:cNvSpPr>
            <p:nvPr/>
          </p:nvSpPr>
          <p:spPr bwMode="auto">
            <a:xfrm>
              <a:off x="5829300" y="2680513"/>
              <a:ext cx="342900" cy="257175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M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3,3</a:t>
              </a:r>
            </a:p>
          </p:txBody>
        </p:sp>
        <p:sp>
          <p:nvSpPr>
            <p:cNvPr id="154" name="Line 71"/>
            <p:cNvSpPr>
              <a:spLocks noChangeShapeType="1"/>
            </p:cNvSpPr>
            <p:nvPr/>
          </p:nvSpPr>
          <p:spPr bwMode="auto">
            <a:xfrm>
              <a:off x="685800" y="2466200"/>
              <a:ext cx="0" cy="171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5" name="Text Box 72"/>
            <p:cNvSpPr txBox="1">
              <a:spLocks noChangeArrowheads="1"/>
            </p:cNvSpPr>
            <p:nvPr/>
          </p:nvSpPr>
          <p:spPr bwMode="auto">
            <a:xfrm>
              <a:off x="502444" y="2190273"/>
              <a:ext cx="38985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M</a:t>
              </a:r>
            </a:p>
          </p:txBody>
        </p:sp>
        <p:sp>
          <p:nvSpPr>
            <p:cNvPr id="156" name="AutoShape 74"/>
            <p:cNvSpPr>
              <a:spLocks noChangeArrowheads="1"/>
            </p:cNvSpPr>
            <p:nvPr/>
          </p:nvSpPr>
          <p:spPr bwMode="auto">
            <a:xfrm>
              <a:off x="3257550" y="2423338"/>
              <a:ext cx="342900" cy="171450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57" name="Text Box 75"/>
            <p:cNvSpPr txBox="1">
              <a:spLocks noChangeArrowheads="1"/>
            </p:cNvSpPr>
            <p:nvPr/>
          </p:nvSpPr>
          <p:spPr bwMode="auto">
            <a:xfrm>
              <a:off x="1896667" y="2980551"/>
              <a:ext cx="273023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linearized order in increasing address</a:t>
              </a:r>
            </a:p>
          </p:txBody>
        </p:sp>
        <p:sp>
          <p:nvSpPr>
            <p:cNvPr id="158" name="Line 74"/>
            <p:cNvSpPr>
              <a:spLocks noChangeShapeType="1"/>
            </p:cNvSpPr>
            <p:nvPr/>
          </p:nvSpPr>
          <p:spPr bwMode="auto">
            <a:xfrm>
              <a:off x="2514600" y="2980550"/>
              <a:ext cx="1485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159" name="Straight Arrow Connector 158"/>
            <p:cNvCxnSpPr>
              <a:stCxn id="92" idx="1"/>
              <a:endCxn id="102" idx="0"/>
            </p:cNvCxnSpPr>
            <p:nvPr/>
          </p:nvCxnSpPr>
          <p:spPr>
            <a:xfrm flipH="1">
              <a:off x="857250" y="1437500"/>
              <a:ext cx="1885950" cy="1243013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160" name="Straight Arrow Connector 159"/>
            <p:cNvCxnSpPr>
              <a:stCxn id="93" idx="1"/>
              <a:endCxn id="106" idx="0"/>
            </p:cNvCxnSpPr>
            <p:nvPr/>
          </p:nvCxnSpPr>
          <p:spPr>
            <a:xfrm flipH="1">
              <a:off x="2228850" y="1694675"/>
              <a:ext cx="514350" cy="985838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161" name="Straight Arrow Connector 160"/>
            <p:cNvCxnSpPr>
              <a:stCxn id="131" idx="1"/>
              <a:endCxn id="123" idx="0"/>
            </p:cNvCxnSpPr>
            <p:nvPr/>
          </p:nvCxnSpPr>
          <p:spPr>
            <a:xfrm>
              <a:off x="2743200" y="1951850"/>
              <a:ext cx="857250" cy="728663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cxnSp>
          <p:nvCxnSpPr>
            <p:cNvPr id="162" name="Straight Arrow Connector 161"/>
            <p:cNvCxnSpPr>
              <a:stCxn id="86" idx="1"/>
              <a:endCxn id="142" idx="0"/>
            </p:cNvCxnSpPr>
            <p:nvPr/>
          </p:nvCxnSpPr>
          <p:spPr>
            <a:xfrm>
              <a:off x="2743200" y="2209025"/>
              <a:ext cx="2228850" cy="471488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430544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a-IR" dirty="0"/>
                  <a:t>مثال محاسبه ترانهاده یک ماتریس </a:t>
                </a:r>
                <a14:m>
                  <m:oMath xmlns:m="http://schemas.openxmlformats.org/officeDocument/2006/math">
                    <m:r>
                      <a:rPr lang="en-US" sz="4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4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4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fa-IR" sz="4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5"/>
                <a:stretch>
                  <a:fillRect t="-20536" r="-2992" b="-51786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-US" sz="1800" dirty="0">
                <a:solidFill>
                  <a:srgbClr val="FF660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__global__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</a:t>
            </a:r>
            <a:r>
              <a:rPr lang="en-US" sz="18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void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transposeNaive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(</a:t>
            </a:r>
            <a:r>
              <a:rPr lang="en-US" sz="18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float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*A, </a:t>
            </a:r>
            <a:r>
              <a:rPr lang="en-US" sz="18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float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*B, </a:t>
            </a:r>
            <a:r>
              <a:rPr lang="en-US" sz="1800" dirty="0" err="1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int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width)</a:t>
            </a:r>
          </a:p>
          <a:p>
            <a:pPr marL="0" indent="0" algn="l" rtl="0">
              <a:buNone/>
            </a:pP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{</a:t>
            </a:r>
          </a:p>
          <a:p>
            <a:pPr marL="0" indent="0" algn="l" rtl="0">
              <a:buNone/>
            </a:pP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 </a:t>
            </a:r>
            <a:r>
              <a:rPr lang="en-US" sz="18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int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Col = 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blockIdx.x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* 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blockDim.x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+ 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threadIdx.x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;</a:t>
            </a:r>
          </a:p>
          <a:p>
            <a:pPr marL="0" indent="0" algn="l" rtl="0">
              <a:buNone/>
            </a:pP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 </a:t>
            </a:r>
            <a:r>
              <a:rPr lang="en-US" sz="18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int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Row = 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blockIdx.y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* 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blockDim.y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+ 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threadIdx.y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;</a:t>
            </a:r>
          </a:p>
          <a:p>
            <a:pPr marL="0" indent="0" algn="l" rtl="0">
              <a:buNone/>
            </a:pPr>
            <a:endParaRPr lang="en-US" sz="1100" dirty="0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  <a:p>
            <a:pPr marL="0" indent="0" algn="l" rtl="0">
              <a:buNone/>
            </a:pP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 </a:t>
            </a:r>
            <a:r>
              <a:rPr lang="en-US" sz="1800" dirty="0" err="1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int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index_in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= Col + width * Row;</a:t>
            </a:r>
          </a:p>
          <a:p>
            <a:pPr marL="0" indent="0" algn="l" rtl="0">
              <a:buNone/>
            </a:pP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 </a:t>
            </a:r>
            <a:r>
              <a:rPr lang="en-US" sz="1800" dirty="0" err="1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int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index_out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= Row + width * Col;</a:t>
            </a:r>
          </a:p>
          <a:p>
            <a:pPr marL="0" indent="0" algn="l" rtl="0">
              <a:buNone/>
            </a:pPr>
            <a:endParaRPr lang="en-US" sz="1100" dirty="0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  <a:p>
            <a:pPr marL="0" indent="0" algn="l" rtl="0">
              <a:buNone/>
            </a:pP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   B[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index_out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] = A[</a:t>
            </a:r>
            <a:r>
              <a:rPr lang="en-US" sz="18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index_in</a:t>
            </a: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];</a:t>
            </a:r>
          </a:p>
          <a:p>
            <a:pPr marL="0" indent="0" algn="l" rtl="0">
              <a:buNone/>
            </a:pPr>
            <a:r>
              <a:rPr lang="en-US" sz="18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}</a:t>
            </a:r>
            <a:endParaRPr lang="fa-IR" sz="1800" dirty="0">
              <a:latin typeface="Droid Sans" panose="020B0606030804020204" pitchFamily="34" charset="0"/>
              <a:ea typeface="Droid Sans" panose="020B0606030804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48" name="Rectangle 47"/>
          <p:cNvSpPr/>
          <p:nvPr/>
        </p:nvSpPr>
        <p:spPr>
          <a:xfrm>
            <a:off x="4876800" y="4064630"/>
            <a:ext cx="1447800" cy="1447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9" name="Rectangle 48"/>
          <p:cNvSpPr/>
          <p:nvPr/>
        </p:nvSpPr>
        <p:spPr>
          <a:xfrm>
            <a:off x="6821424" y="4064630"/>
            <a:ext cx="1447800" cy="1447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50" name="TextBox 49"/>
          <p:cNvSpPr txBox="1"/>
          <p:nvPr/>
        </p:nvSpPr>
        <p:spPr>
          <a:xfrm>
            <a:off x="5391807" y="3689130"/>
            <a:ext cx="3993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</a:t>
            </a:r>
            <a:endParaRPr lang="fa-IR" dirty="0"/>
          </a:p>
        </p:txBody>
      </p:sp>
      <p:sp>
        <p:nvSpPr>
          <p:cNvPr id="51" name="TextBox 50"/>
          <p:cNvSpPr txBox="1"/>
          <p:nvPr/>
        </p:nvSpPr>
        <p:spPr>
          <a:xfrm>
            <a:off x="7315200" y="3689130"/>
            <a:ext cx="3993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</a:t>
            </a:r>
            <a:endParaRPr lang="fa-IR" dirty="0"/>
          </a:p>
        </p:txBody>
      </p:sp>
      <p:sp>
        <p:nvSpPr>
          <p:cNvPr id="53" name="Rectangle 52"/>
          <p:cNvSpPr/>
          <p:nvPr/>
        </p:nvSpPr>
        <p:spPr>
          <a:xfrm>
            <a:off x="5710227" y="4189218"/>
            <a:ext cx="609600" cy="76200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6400800" y="4788530"/>
            <a:ext cx="30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62000" y="5131676"/>
            <a:ext cx="3535417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2400" dirty="0">
                <a:cs typeface="B Nazanin" panose="00000400000000000000" pitchFamily="2" charset="-78"/>
              </a:rPr>
              <a:t>آیا دسترسی به ماتریس‌های </a:t>
            </a:r>
            <a:r>
              <a:rPr lang="en-US" sz="2400" dirty="0">
                <a:latin typeface="+mj-lt"/>
                <a:cs typeface="B Nazanin" panose="00000400000000000000" pitchFamily="2" charset="-78"/>
              </a:rPr>
              <a:t>A</a:t>
            </a:r>
            <a:r>
              <a:rPr lang="fa-IR" sz="2400" dirty="0">
                <a:cs typeface="B Nazanin" panose="00000400000000000000" pitchFamily="2" charset="-78"/>
              </a:rPr>
              <a:t> و </a:t>
            </a:r>
            <a:r>
              <a:rPr lang="en-US" sz="2400" dirty="0">
                <a:latin typeface="+mj-lt"/>
                <a:cs typeface="B Nazanin" panose="00000400000000000000" pitchFamily="2" charset="-78"/>
              </a:rPr>
              <a:t>B</a:t>
            </a:r>
            <a:r>
              <a:rPr lang="fa-IR" sz="2400" dirty="0">
                <a:cs typeface="B Nazanin" panose="00000400000000000000" pitchFamily="2" charset="-78"/>
              </a:rPr>
              <a:t> تلفیق شونده است؟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10227" y="4063873"/>
            <a:ext cx="609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59" name="Rectangle 58"/>
          <p:cNvSpPr/>
          <p:nvPr/>
        </p:nvSpPr>
        <p:spPr>
          <a:xfrm rot="5400000">
            <a:off x="6678322" y="5170555"/>
            <a:ext cx="609600" cy="76200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60" name="Rectangle 59"/>
          <p:cNvSpPr/>
          <p:nvPr/>
        </p:nvSpPr>
        <p:spPr>
          <a:xfrm>
            <a:off x="6821424" y="4902830"/>
            <a:ext cx="609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883273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a-IR" dirty="0"/>
                  <a:t>مثال محاسبه ترانهاده یک ماتریس </a:t>
                </a:r>
                <a14:m>
                  <m:oMath xmlns:m="http://schemas.openxmlformats.org/officeDocument/2006/math">
                    <m:r>
                      <a:rPr lang="en-US" sz="4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4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4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fa-IR" sz="4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5"/>
                <a:stretch>
                  <a:fillRect t="-20536" r="-2992" b="-51786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با استفاده از حافظه مشترک، می‌توان دسترسی به حافظه را به صورت تلفیق شده درآورد.</a:t>
            </a:r>
          </a:p>
          <a:p>
            <a:pPr marL="0" indent="0" algn="l" rtl="0">
              <a:buNone/>
            </a:pP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212188" y="2971800"/>
            <a:ext cx="7057036" cy="2178270"/>
            <a:chOff x="2362200" y="3689130"/>
            <a:chExt cx="5907024" cy="1823300"/>
          </a:xfrm>
        </p:grpSpPr>
        <p:sp>
          <p:nvSpPr>
            <p:cNvPr id="47" name="Rectangle 46"/>
            <p:cNvSpPr/>
            <p:nvPr/>
          </p:nvSpPr>
          <p:spPr>
            <a:xfrm>
              <a:off x="2362200" y="4064630"/>
              <a:ext cx="1447800" cy="1447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821424" y="4064630"/>
              <a:ext cx="1447800" cy="1447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877207" y="3689130"/>
              <a:ext cx="399393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/>
                <a:t>A</a:t>
              </a:r>
              <a:endParaRPr lang="fa-IR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315200" y="3689130"/>
              <a:ext cx="399393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/>
                <a:t>B</a:t>
              </a:r>
              <a:endParaRPr lang="fa-IR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195627" y="4189218"/>
              <a:ext cx="609600" cy="76200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6096000" y="4788530"/>
              <a:ext cx="304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/>
            <p:cNvSpPr/>
            <p:nvPr/>
          </p:nvSpPr>
          <p:spPr>
            <a:xfrm>
              <a:off x="3195627" y="4063873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821424" y="5029200"/>
              <a:ext cx="609600" cy="76200"/>
            </a:xfrm>
            <a:prstGeom prst="rect">
              <a:avLst/>
            </a:prstGeom>
            <a:solidFill>
              <a:srgbClr val="1B46F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821424" y="490283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953000" y="4544945"/>
              <a:ext cx="609600" cy="76200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953000" y="44196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58" name="Straight Arrow Connector 57"/>
            <p:cNvCxnSpPr/>
            <p:nvPr/>
          </p:nvCxnSpPr>
          <p:spPr>
            <a:xfrm>
              <a:off x="4267200" y="4783913"/>
              <a:ext cx="304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759918" y="4042652"/>
              <a:ext cx="14351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>
                  <a:cs typeface="B Nazanin" panose="00000400000000000000" pitchFamily="2" charset="-78"/>
                </a:rPr>
                <a:t>حافظه مشترک</a:t>
              </a:r>
            </a:p>
          </p:txBody>
        </p:sp>
        <p:sp>
          <p:nvSpPr>
            <p:cNvPr id="59" name="Rectangle 58"/>
            <p:cNvSpPr/>
            <p:nvPr/>
          </p:nvSpPr>
          <p:spPr>
            <a:xfrm rot="5400000">
              <a:off x="4819036" y="4686300"/>
              <a:ext cx="609600" cy="76200"/>
            </a:xfrm>
            <a:prstGeom prst="rect">
              <a:avLst/>
            </a:prstGeom>
            <a:solidFill>
              <a:srgbClr val="1B46F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</p:spTree>
    <p:extLst>
      <p:ext uri="{BB962C8B-B14F-4D97-AF65-F5344CB8AC3E}">
        <p14:creationId xmlns:p14="http://schemas.microsoft.com/office/powerpoint/2010/main" val="4077149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مراجع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dirty="0"/>
              <a:t>Accelerated Computing Online Course</a:t>
            </a:r>
          </a:p>
          <a:p>
            <a:pPr lvl="1" algn="l" rtl="0"/>
            <a:r>
              <a:rPr lang="en-US" dirty="0"/>
              <a:t>Video lectures: http://syllabus.gputeachingkit.com/</a:t>
            </a:r>
          </a:p>
          <a:p>
            <a:pPr lvl="1" algn="l" rtl="0"/>
            <a:r>
              <a:rPr lang="en-US" dirty="0"/>
              <a:t>By: Wen-</a:t>
            </a:r>
            <a:r>
              <a:rPr lang="en-US" dirty="0" err="1"/>
              <a:t>mei</a:t>
            </a:r>
            <a:r>
              <a:rPr lang="en-US" dirty="0"/>
              <a:t> </a:t>
            </a:r>
            <a:r>
              <a:rPr lang="en-US" dirty="0" err="1"/>
              <a:t>Hwu</a:t>
            </a:r>
            <a:r>
              <a:rPr lang="en-US" dirty="0"/>
              <a:t>  (University of Illinois)</a:t>
            </a:r>
          </a:p>
          <a:p>
            <a:pPr lvl="1" algn="l" rtl="0"/>
            <a:r>
              <a:rPr lang="en-US" dirty="0"/>
              <a:t>Slides that contain voices, available on the course website</a:t>
            </a:r>
          </a:p>
          <a:p>
            <a:pPr algn="l" rtl="0"/>
            <a:r>
              <a:rPr lang="en-US" dirty="0"/>
              <a:t>Programming Massively Parallel Processors</a:t>
            </a:r>
          </a:p>
          <a:p>
            <a:pPr lvl="1" algn="l" rtl="0"/>
            <a:r>
              <a:rPr lang="en-US" dirty="0"/>
              <a:t>David B. Kirk and 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3</a:t>
            </a:r>
            <a:r>
              <a:rPr lang="en-US" baseline="30000" dirty="0"/>
              <a:t>rd</a:t>
            </a:r>
            <a:r>
              <a:rPr lang="en-US" dirty="0"/>
              <a:t> Edition</a:t>
            </a:r>
          </a:p>
          <a:p>
            <a:pPr algn="l" rtl="0"/>
            <a:r>
              <a:rPr lang="en-US" dirty="0">
                <a:hlinkClick r:id="rId2"/>
              </a:rPr>
              <a:t>http://www.ece.cmu.edu/~ece740/f11/doku.php?id=wiki:lectures</a:t>
            </a:r>
            <a:endParaRPr lang="en-US" dirty="0"/>
          </a:p>
          <a:p>
            <a:pPr lvl="1" algn="l" rtl="0"/>
            <a:r>
              <a:rPr lang="en-US" dirty="0"/>
              <a:t>Computer architecture course @ CMU</a:t>
            </a:r>
          </a:p>
          <a:p>
            <a:pPr algn="l" rt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9DCC621-7EE1-4E7E-9D9E-207B534D683D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81873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پیوست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مروری بر زیرسیستم حافظه در سیستم‌های کامپیوتری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4080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زیرسیستم حافظه   </a:t>
            </a:r>
            <a:r>
              <a:rPr lang="en-US" dirty="0"/>
              <a:t>Memory Subsystem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سازمان‌دهی سخت‌افزاری حافظه در سیستم‌های کامپیوتری </a:t>
            </a:r>
          </a:p>
          <a:p>
            <a:endParaRPr lang="fa-IR" dirty="0"/>
          </a:p>
          <a:p>
            <a:pPr lvl="1"/>
            <a:r>
              <a:rPr lang="fa-IR" dirty="0"/>
              <a:t>کانال		</a:t>
            </a:r>
            <a:r>
              <a:rPr lang="en-US" dirty="0"/>
              <a:t>Channel</a:t>
            </a:r>
          </a:p>
          <a:p>
            <a:pPr lvl="1"/>
            <a:r>
              <a:rPr lang="fa-IR" dirty="0"/>
              <a:t>ماژول حافظه 	</a:t>
            </a:r>
            <a:r>
              <a:rPr lang="en-US" dirty="0"/>
              <a:t> DIMM   </a:t>
            </a:r>
          </a:p>
          <a:p>
            <a:pPr lvl="1"/>
            <a:r>
              <a:rPr lang="fa-IR" dirty="0"/>
              <a:t>رتبه		</a:t>
            </a:r>
            <a:r>
              <a:rPr lang="en-US" dirty="0"/>
              <a:t>Rank     </a:t>
            </a:r>
            <a:endParaRPr lang="fa-IR" dirty="0"/>
          </a:p>
          <a:p>
            <a:pPr lvl="1"/>
            <a:r>
              <a:rPr lang="fa-IR" dirty="0"/>
              <a:t>تراشه		     </a:t>
            </a:r>
            <a:r>
              <a:rPr lang="en-US" dirty="0"/>
              <a:t>Chip</a:t>
            </a:r>
            <a:endParaRPr lang="fa-IR" dirty="0"/>
          </a:p>
          <a:p>
            <a:pPr lvl="1"/>
            <a:r>
              <a:rPr lang="fa-IR" dirty="0"/>
              <a:t>بانک		    </a:t>
            </a:r>
            <a:r>
              <a:rPr lang="en-US" dirty="0"/>
              <a:t>Bank</a:t>
            </a:r>
            <a:endParaRPr lang="fa-IR" dirty="0"/>
          </a:p>
          <a:p>
            <a:pPr lvl="1"/>
            <a:r>
              <a:rPr lang="fa-IR" dirty="0"/>
              <a:t>ردیف/ستون	   </a:t>
            </a:r>
            <a:r>
              <a:rPr lang="en-US" dirty="0"/>
              <a:t>Row/Column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174492"/>
            <a:ext cx="1972424" cy="278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96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زیرسیستم حافظه   </a:t>
            </a:r>
            <a:r>
              <a:rPr lang="en-US" dirty="0"/>
              <a:t>Memory Subsystem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مثالی از حافظه با دو کانال، و هر کانال شامل دو </a:t>
            </a:r>
            <a:r>
              <a:rPr lang="en-US" dirty="0"/>
              <a:t>DIMM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269" y="2084819"/>
            <a:ext cx="6360158" cy="408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70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زیرسیستم حافظه   </a:t>
            </a:r>
            <a:r>
              <a:rPr lang="en-US" dirty="0"/>
              <a:t>Memory Subsystem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دو طرف یک </a:t>
            </a:r>
            <a:r>
              <a:rPr lang="en-US" dirty="0"/>
              <a:t>DIMM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54150"/>
            <a:ext cx="7924800" cy="373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85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زیرسیستم حافظه   </a:t>
            </a:r>
            <a:r>
              <a:rPr lang="en-US" dirty="0"/>
              <a:t>Memory Subsystem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رتبه، مجموعه‌ای از تراشه‌ها است که همه با هم به یک سیگنال فعالساز </a:t>
            </a:r>
            <a:r>
              <a:rPr lang="en-US" dirty="0"/>
              <a:t>chip-select (CS)</a:t>
            </a:r>
            <a:r>
              <a:rPr lang="fa-IR" dirty="0"/>
              <a:t> متصل‌اند و با هم فعال می‌شوند.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17" y="2362199"/>
            <a:ext cx="7453661" cy="385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28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رتبه							   </a:t>
            </a:r>
            <a:r>
              <a:rPr lang="en-US" dirty="0"/>
              <a:t>Rank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مثال: یک کانال 64 بیتی شامل دو رتبه 64 بیتی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10681"/>
            <a:ext cx="6553200" cy="436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95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زیرسیستم حافظه   </a:t>
            </a:r>
            <a:r>
              <a:rPr lang="en-US" dirty="0"/>
              <a:t>Memory Subsystem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هر رتبه 64 بیتی شامل 8 عدد تراشه است که پهنای باس هر کدام 8 بیت است.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36" y="2112874"/>
            <a:ext cx="7470564" cy="398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26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زیرسیستم حافظه   </a:t>
            </a:r>
            <a:r>
              <a:rPr lang="en-US" dirty="0"/>
              <a:t>Memory Subsystem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هر تراشه شامل 8 بانک با پهنای باس 8 بیت است.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8670"/>
            <a:ext cx="7162800" cy="43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19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97069"/>
            <a:ext cx="8153400" cy="685800"/>
          </a:xfrm>
        </p:spPr>
        <p:txBody>
          <a:bodyPr/>
          <a:lstStyle/>
          <a:p>
            <a:r>
              <a:rPr lang="fa-IR" dirty="0"/>
              <a:t>زیرسیستم حافظه   </a:t>
            </a:r>
            <a:r>
              <a:rPr lang="en-US" dirty="0"/>
              <a:t>Memory Subsystem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در نهایت، هر بانک شامل ردیفها و ستونهایی است.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3553"/>
            <a:ext cx="6467803" cy="422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95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12139</TotalTime>
  <Words>1863</Words>
  <Application>Microsoft Office PowerPoint</Application>
  <PresentationFormat>On-screen Show (4:3)</PresentationFormat>
  <Paragraphs>417</Paragraphs>
  <Slides>31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Cambria Math</vt:lpstr>
      <vt:lpstr>Droid Sans</vt:lpstr>
      <vt:lpstr>Palatino</vt:lpstr>
      <vt:lpstr>Times New Roman</vt:lpstr>
      <vt:lpstr>Trebuchet MS</vt:lpstr>
      <vt:lpstr>Wingdings</vt:lpstr>
      <vt:lpstr>Wingdings 2</vt:lpstr>
      <vt:lpstr>Median</vt:lpstr>
      <vt:lpstr>برنامه‌نویسی چندهسته‌ای  6- CUDA (بخش چهارم)  محمود ممتازپور  </vt:lpstr>
      <vt:lpstr>فهرست</vt:lpstr>
      <vt:lpstr>پهنای باند حافظه سراسری (DRAM)</vt:lpstr>
      <vt:lpstr>ساختار بانک حافظه</vt:lpstr>
      <vt:lpstr>یک آرایه هسته 8×2 بیت</vt:lpstr>
      <vt:lpstr>آرایه هسته در DRAM کند است</vt:lpstr>
      <vt:lpstr>انتقال پشت سر هم      Burst</vt:lpstr>
      <vt:lpstr>انتقال پشت سر هم</vt:lpstr>
      <vt:lpstr>انتقال پشت سر هم</vt:lpstr>
      <vt:lpstr>انتقال پشت سر هم</vt:lpstr>
      <vt:lpstr>DRAM با چند بانک حافظه</vt:lpstr>
      <vt:lpstr>DRAM با چند بانک و چند کانال</vt:lpstr>
      <vt:lpstr>انتقال پشت سر هم با چند بانک حافظه</vt:lpstr>
      <vt:lpstr>مثال: سیستم حافظه GTX280</vt:lpstr>
      <vt:lpstr>دید سیستمی انتقال پشت سر هم</vt:lpstr>
      <vt:lpstr>تلفیق حافظه      Memory Coalescing</vt:lpstr>
      <vt:lpstr>تلفیق حافظه      Memory Coalescing</vt:lpstr>
      <vt:lpstr>چند مثال از الگوهای تلفیق شونده</vt:lpstr>
      <vt:lpstr>نحوه ذخیره یک آرایه دوبعدی به صورت خطی</vt:lpstr>
      <vt:lpstr>مثال محاسبه ترانهاده یک ماتریس B=A^T</vt:lpstr>
      <vt:lpstr>مثال محاسبه ترانهاده یک ماتریس B=A^T</vt:lpstr>
      <vt:lpstr>مراجع</vt:lpstr>
      <vt:lpstr>پیوست</vt:lpstr>
      <vt:lpstr>زیرسیستم حافظه   Memory Subsystem</vt:lpstr>
      <vt:lpstr>زیرسیستم حافظه   Memory Subsystem</vt:lpstr>
      <vt:lpstr>زیرسیستم حافظه   Memory Subsystem</vt:lpstr>
      <vt:lpstr>زیرسیستم حافظه   Memory Subsystem</vt:lpstr>
      <vt:lpstr>رتبه          Rank</vt:lpstr>
      <vt:lpstr>زیرسیستم حافظه   Memory Subsystem</vt:lpstr>
      <vt:lpstr>زیرسیستم حافظه   Memory Subsystem</vt:lpstr>
      <vt:lpstr>زیرسیستم حافظه   Memory Subsystem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Overview</dc:title>
  <dc:creator>rf</dc:creator>
  <cp:lastModifiedBy>M</cp:lastModifiedBy>
  <cp:revision>953</cp:revision>
  <dcterms:created xsi:type="dcterms:W3CDTF">2005-06-03T08:24:32Z</dcterms:created>
  <dcterms:modified xsi:type="dcterms:W3CDTF">2021-05-08T06:41:36Z</dcterms:modified>
</cp:coreProperties>
</file>